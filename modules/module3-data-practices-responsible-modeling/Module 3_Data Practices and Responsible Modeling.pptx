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comments+xml" PartName="/ppt/comments/comment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commentAuthors+xml" PartName="/ppt/commentAuthors.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Lst>
  <p:sldSz cy="5143500" cx="9144000"/>
  <p:notesSz cx="6858000" cy="9144000"/>
  <p:embeddedFontLst>
    <p:embeddedFont>
      <p:font typeface="Roboto"/>
      <p:regular r:id="rId34"/>
      <p:bold r:id="rId35"/>
      <p:italic r:id="rId36"/>
      <p:boldItalic r:id="rId37"/>
    </p:embeddedFont>
    <p:embeddedFont>
      <p:font typeface="Inter"/>
      <p:regular r:id="rId38"/>
      <p:bold r:id="rId39"/>
      <p:italic r:id="rId40"/>
      <p:boldItalic r:id="rId4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 uri="GoogleSlidesCustomDataVersion2">
      <go:slidesCustomData xmlns:go="http://customooxmlschemas.google.com/" r:id="rId42" roundtripDataSignature="AMtx7mjrNlD/XumvmLHqzk32ALLyNsqKog=="/>
    </p:ext>
  </p:extLst>
</p:presentation>
</file>

<file path=ppt/commentAuthors.xml><?xml version="1.0" encoding="utf-8"?>
<p:cmAuthor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Author clrIdx="0" id="0" initials="" lastIdx="1" name="S G"/>
</p:cmAuthorLst>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Inter-italic.fntdata"/><Relationship Id="rId20" Type="http://schemas.openxmlformats.org/officeDocument/2006/relationships/slide" Target="slides/slide14.xml"/><Relationship Id="rId42" Type="http://customschemas.google.com/relationships/presentationmetadata" Target="metadata"/><Relationship Id="rId41" Type="http://schemas.openxmlformats.org/officeDocument/2006/relationships/font" Target="fonts/Inter-boldItalic.fntdata"/><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commentAuthors" Target="commentAuthor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11" Type="http://schemas.openxmlformats.org/officeDocument/2006/relationships/slide" Target="slides/slide5.xml"/><Relationship Id="rId33" Type="http://schemas.openxmlformats.org/officeDocument/2006/relationships/slide" Target="slides/slide27.xml"/><Relationship Id="rId10" Type="http://schemas.openxmlformats.org/officeDocument/2006/relationships/slide" Target="slides/slide4.xml"/><Relationship Id="rId32" Type="http://schemas.openxmlformats.org/officeDocument/2006/relationships/slide" Target="slides/slide26.xml"/><Relationship Id="rId13" Type="http://schemas.openxmlformats.org/officeDocument/2006/relationships/slide" Target="slides/slide7.xml"/><Relationship Id="rId35" Type="http://schemas.openxmlformats.org/officeDocument/2006/relationships/font" Target="fonts/Roboto-bold.fntdata"/><Relationship Id="rId12" Type="http://schemas.openxmlformats.org/officeDocument/2006/relationships/slide" Target="slides/slide6.xml"/><Relationship Id="rId34" Type="http://schemas.openxmlformats.org/officeDocument/2006/relationships/font" Target="fonts/Roboto-regular.fntdata"/><Relationship Id="rId15" Type="http://schemas.openxmlformats.org/officeDocument/2006/relationships/slide" Target="slides/slide9.xml"/><Relationship Id="rId37" Type="http://schemas.openxmlformats.org/officeDocument/2006/relationships/font" Target="fonts/Roboto-boldItalic.fntdata"/><Relationship Id="rId14" Type="http://schemas.openxmlformats.org/officeDocument/2006/relationships/slide" Target="slides/slide8.xml"/><Relationship Id="rId36" Type="http://schemas.openxmlformats.org/officeDocument/2006/relationships/font" Target="fonts/Roboto-italic.fntdata"/><Relationship Id="rId17" Type="http://schemas.openxmlformats.org/officeDocument/2006/relationships/slide" Target="slides/slide11.xml"/><Relationship Id="rId39" Type="http://schemas.openxmlformats.org/officeDocument/2006/relationships/font" Target="fonts/Inter-bold.fntdata"/><Relationship Id="rId16" Type="http://schemas.openxmlformats.org/officeDocument/2006/relationships/slide" Target="slides/slide10.xml"/><Relationship Id="rId38" Type="http://schemas.openxmlformats.org/officeDocument/2006/relationships/font" Target="fonts/Inter-regular.fntdata"/><Relationship Id="rId19" Type="http://schemas.openxmlformats.org/officeDocument/2006/relationships/slide" Target="slides/slide13.xml"/><Relationship Id="rId18" Type="http://schemas.openxmlformats.org/officeDocument/2006/relationships/slide" Target="slides/slide12.xml"/></Relationships>
</file>

<file path=ppt/comments/comment1.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1" dt="2026-04-10T01:15:59.654">
    <p:pos x="5" y="0"/>
    <p:text>The learning outcomes are good, but the rest of the deck does not fully deliver on them. Imputation and datasheets/model cards are named here, but they do not get enough explicit instructional treatment later. Please align the body of the lecture much more tightly to these stated outcomes</p:text>
    <p:extLst>
      <p:ext uri="{C676402C-5697-4E1C-873F-D02D1690AC5C}">
        <p15:threadingInfo timeZoneBias="0"/>
      </p:ext>
      <p:ext uri="http://customooxmlschemas.google.com/">
        <go:slidesCustomData xmlns:go="http://customooxmlschemas.google.com/" commentPostId="AAAB3IjJL_I"/>
      </p:ext>
    </p:extLs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ww.figma.com/board/1AVs1SqMRlsZIOPEd22Ins/HCDS-Pedagogy-Tool-FigJam?node-id=191-712&amp;t=6NFo1EypqFU0JT4j-1" TargetMode="Externa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1: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2" name="Google Shape;52;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u="sng">
                <a:solidFill>
                  <a:schemeClr val="hlink"/>
                </a:solidFill>
                <a:hlinkClick r:id="rId2"/>
              </a:rPr>
              <a:t>https://www.figma.com/board/1AVs1SqMRlsZIOPEd22Ins/HCDS-Pedagogy-Tool-FigJam?node-id=191-712&amp;t=6NFo1EypqFU0JT4j-1</a:t>
            </a:r>
            <a:endParaRPr/>
          </a:p>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 name="Shape 60"/>
        <p:cNvGrpSpPr/>
        <p:nvPr/>
      </p:nvGrpSpPr>
      <p:grpSpPr>
        <a:xfrm>
          <a:off x="0" y="0"/>
          <a:ext cx="0" cy="0"/>
          <a:chOff x="0" y="0"/>
          <a:chExt cx="0" cy="0"/>
        </a:xfrm>
      </p:grpSpPr>
      <p:sp>
        <p:nvSpPr>
          <p:cNvPr id="61" name="Google Shape;61;p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2" name="Google Shape;62;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 name="Shape 73"/>
        <p:cNvGrpSpPr/>
        <p:nvPr/>
      </p:nvGrpSpPr>
      <p:grpSpPr>
        <a:xfrm>
          <a:off x="0" y="0"/>
          <a:ext cx="0" cy="0"/>
          <a:chOff x="0" y="0"/>
          <a:chExt cx="0" cy="0"/>
        </a:xfrm>
      </p:grpSpPr>
      <p:sp>
        <p:nvSpPr>
          <p:cNvPr id="74" name="Google Shape;74;p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5" name="Google Shape;75;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g3d855c145fb_1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1" name="Google Shape;91;g3d855c145fb_1_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p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7" name="Google Shape;107;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g3c5d521f515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1" name="Google Shape;131;g3c5d521f515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g3e049f9ed10_0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5" name="Google Shape;155;g3e049f9ed10_0_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g3d6a77b1699_1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2" name="Google Shape;182;g3d6a77b1699_1_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Add slide for each DT and k-means: </a:t>
            </a:r>
            <a:r>
              <a:rPr lang="en" sz="1050">
                <a:solidFill>
                  <a:srgbClr val="444746"/>
                </a:solidFill>
                <a:highlight>
                  <a:srgbClr val="FFFFFF"/>
                </a:highlight>
                <a:latin typeface="Roboto"/>
                <a:ea typeface="Roboto"/>
                <a:cs typeface="Roboto"/>
                <a:sym typeface="Roboto"/>
              </a:rPr>
              <a:t>training data, intended use, out-of-scope use, assumptions, limitations, evaluation, subgroup considerations, and failure modes</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g3e049f9ed10_0_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0" name="Google Shape;210;g3e049f9ed10_0_7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Add slide for each DT and k-means: </a:t>
            </a:r>
            <a:r>
              <a:rPr lang="en" sz="1050">
                <a:solidFill>
                  <a:srgbClr val="444746"/>
                </a:solidFill>
                <a:highlight>
                  <a:srgbClr val="FFFFFF"/>
                </a:highlight>
                <a:latin typeface="Roboto"/>
                <a:ea typeface="Roboto"/>
                <a:cs typeface="Roboto"/>
                <a:sym typeface="Roboto"/>
              </a:rPr>
              <a:t>training data, intended use, out-of-scope use, assumptions, limitations, evaluation, subgroup considerations, and failure modes</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g3c5d521f515_1_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8" name="Google Shape;238;g3c5d521f515_1_9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120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 name="Shape 256"/>
        <p:cNvGrpSpPr/>
        <p:nvPr/>
      </p:nvGrpSpPr>
      <p:grpSpPr>
        <a:xfrm>
          <a:off x="0" y="0"/>
          <a:ext cx="0" cy="0"/>
          <a:chOff x="0" y="0"/>
          <a:chExt cx="0" cy="0"/>
        </a:xfrm>
      </p:grpSpPr>
      <p:sp>
        <p:nvSpPr>
          <p:cNvPr id="257" name="Google Shape;257;p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58" name="Google Shape;258;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 name="Shape 267"/>
        <p:cNvGrpSpPr/>
        <p:nvPr/>
      </p:nvGrpSpPr>
      <p:grpSpPr>
        <a:xfrm>
          <a:off x="0" y="0"/>
          <a:ext cx="0" cy="0"/>
          <a:chOff x="0" y="0"/>
          <a:chExt cx="0" cy="0"/>
        </a:xfrm>
      </p:grpSpPr>
      <p:sp>
        <p:nvSpPr>
          <p:cNvPr id="268" name="Google Shape;268;g3d855c145fb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69" name="Google Shape;269;g3d855c145fb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8" name="Shape 278"/>
        <p:cNvGrpSpPr/>
        <p:nvPr/>
      </p:nvGrpSpPr>
      <p:grpSpPr>
        <a:xfrm>
          <a:off x="0" y="0"/>
          <a:ext cx="0" cy="0"/>
          <a:chOff x="0" y="0"/>
          <a:chExt cx="0" cy="0"/>
        </a:xfrm>
      </p:grpSpPr>
      <p:sp>
        <p:nvSpPr>
          <p:cNvPr id="279" name="Google Shape;279;g3c5d521f515_0_1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80" name="Google Shape;280;g3c5d521f515_0_16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8" name="Shape 288"/>
        <p:cNvGrpSpPr/>
        <p:nvPr/>
      </p:nvGrpSpPr>
      <p:grpSpPr>
        <a:xfrm>
          <a:off x="0" y="0"/>
          <a:ext cx="0" cy="0"/>
          <a:chOff x="0" y="0"/>
          <a:chExt cx="0" cy="0"/>
        </a:xfrm>
      </p:grpSpPr>
      <p:sp>
        <p:nvSpPr>
          <p:cNvPr id="289" name="Google Shape;289;p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90" name="Google Shape;290;p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8" name="Shape 298"/>
        <p:cNvGrpSpPr/>
        <p:nvPr/>
      </p:nvGrpSpPr>
      <p:grpSpPr>
        <a:xfrm>
          <a:off x="0" y="0"/>
          <a:ext cx="0" cy="0"/>
          <a:chOff x="0" y="0"/>
          <a:chExt cx="0" cy="0"/>
        </a:xfrm>
      </p:grpSpPr>
      <p:sp>
        <p:nvSpPr>
          <p:cNvPr id="299" name="Google Shape;299;g3d855c145fb_0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00" name="Google Shape;300;g3d855c145fb_0_2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8" name="Shape 308"/>
        <p:cNvGrpSpPr/>
        <p:nvPr/>
      </p:nvGrpSpPr>
      <p:grpSpPr>
        <a:xfrm>
          <a:off x="0" y="0"/>
          <a:ext cx="0" cy="0"/>
          <a:chOff x="0" y="0"/>
          <a:chExt cx="0" cy="0"/>
        </a:xfrm>
      </p:grpSpPr>
      <p:sp>
        <p:nvSpPr>
          <p:cNvPr id="309" name="Google Shape;309;p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10" name="Google Shape;310;p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2" name="Shape 332"/>
        <p:cNvGrpSpPr/>
        <p:nvPr/>
      </p:nvGrpSpPr>
      <p:grpSpPr>
        <a:xfrm>
          <a:off x="0" y="0"/>
          <a:ext cx="0" cy="0"/>
          <a:chOff x="0" y="0"/>
          <a:chExt cx="0" cy="0"/>
        </a:xfrm>
      </p:grpSpPr>
      <p:sp>
        <p:nvSpPr>
          <p:cNvPr id="333" name="Google Shape;333;g3c5d521f515_0_2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34" name="Google Shape;334;g3c5d521f515_0_2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2" name="Shape 342"/>
        <p:cNvGrpSpPr/>
        <p:nvPr/>
      </p:nvGrpSpPr>
      <p:grpSpPr>
        <a:xfrm>
          <a:off x="0" y="0"/>
          <a:ext cx="0" cy="0"/>
          <a:chOff x="0" y="0"/>
          <a:chExt cx="0" cy="0"/>
        </a:xfrm>
      </p:grpSpPr>
      <p:sp>
        <p:nvSpPr>
          <p:cNvPr id="343" name="Google Shape;343;g3c5d521f515_0_2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44" name="Google Shape;344;g3c5d521f515_0_22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4" name="Shape 354"/>
        <p:cNvGrpSpPr/>
        <p:nvPr/>
      </p:nvGrpSpPr>
      <p:grpSpPr>
        <a:xfrm>
          <a:off x="0" y="0"/>
          <a:ext cx="0" cy="0"/>
          <a:chOff x="0" y="0"/>
          <a:chExt cx="0" cy="0"/>
        </a:xfrm>
      </p:grpSpPr>
      <p:sp>
        <p:nvSpPr>
          <p:cNvPr id="355" name="Google Shape;355;g3d855c145fb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56" name="Google Shape;356;g3d855c145fb_0_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7" name="Shape 367"/>
        <p:cNvGrpSpPr/>
        <p:nvPr/>
      </p:nvGrpSpPr>
      <p:grpSpPr>
        <a:xfrm>
          <a:off x="0" y="0"/>
          <a:ext cx="0" cy="0"/>
          <a:chOff x="0" y="0"/>
          <a:chExt cx="0" cy="0"/>
        </a:xfrm>
      </p:grpSpPr>
      <p:sp>
        <p:nvSpPr>
          <p:cNvPr id="368" name="Google Shape;368;g3c5d521f515_0_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69" name="Google Shape;369;g3c5d521f515_0_6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6" name="Shape 376"/>
        <p:cNvGrpSpPr/>
        <p:nvPr/>
      </p:nvGrpSpPr>
      <p:grpSpPr>
        <a:xfrm>
          <a:off x="0" y="0"/>
          <a:ext cx="0" cy="0"/>
          <a:chOff x="0" y="0"/>
          <a:chExt cx="0" cy="0"/>
        </a:xfrm>
      </p:grpSpPr>
      <p:sp>
        <p:nvSpPr>
          <p:cNvPr id="377" name="Google Shape;377;g3c5d521f515_1_1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78" name="Google Shape;378;g3c5d521f515_1_12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2" name="Shape 392"/>
        <p:cNvGrpSpPr/>
        <p:nvPr/>
      </p:nvGrpSpPr>
      <p:grpSpPr>
        <a:xfrm>
          <a:off x="0" y="0"/>
          <a:ext cx="0" cy="0"/>
          <a:chOff x="0" y="0"/>
          <a:chExt cx="0" cy="0"/>
        </a:xfrm>
      </p:grpSpPr>
      <p:sp>
        <p:nvSpPr>
          <p:cNvPr id="393" name="Google Shape;393;g3c5d521f515_1_1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94" name="Google Shape;394;g3c5d521f515_1_14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8" name="Shape 408"/>
        <p:cNvGrpSpPr/>
        <p:nvPr/>
      </p:nvGrpSpPr>
      <p:grpSpPr>
        <a:xfrm>
          <a:off x="0" y="0"/>
          <a:ext cx="0" cy="0"/>
          <a:chOff x="0" y="0"/>
          <a:chExt cx="0" cy="0"/>
        </a:xfrm>
      </p:grpSpPr>
      <p:sp>
        <p:nvSpPr>
          <p:cNvPr id="409" name="Google Shape;409;g3c5d521f515_0_1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10" name="Google Shape;410;g3c5d521f515_0_13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7" name="Shape 417"/>
        <p:cNvGrpSpPr/>
        <p:nvPr/>
      </p:nvGrpSpPr>
      <p:grpSpPr>
        <a:xfrm>
          <a:off x="0" y="0"/>
          <a:ext cx="0" cy="0"/>
          <a:chOff x="0" y="0"/>
          <a:chExt cx="0" cy="0"/>
        </a:xfrm>
      </p:grpSpPr>
      <p:sp>
        <p:nvSpPr>
          <p:cNvPr id="418" name="Google Shape;418;g3deba3393e7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19" name="Google Shape;419;g3deba3393e7_0_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Add arrows</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3" name="Shape 443"/>
        <p:cNvGrpSpPr/>
        <p:nvPr/>
      </p:nvGrpSpPr>
      <p:grpSpPr>
        <a:xfrm>
          <a:off x="0" y="0"/>
          <a:ext cx="0" cy="0"/>
          <a:chOff x="0" y="0"/>
          <a:chExt cx="0" cy="0"/>
        </a:xfrm>
      </p:grpSpPr>
      <p:sp>
        <p:nvSpPr>
          <p:cNvPr id="444" name="Google Shape;444;g3c5d521f515_0_1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45" name="Google Shape;445;g3c5d521f515_0_18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7" name="Shape 467"/>
        <p:cNvGrpSpPr/>
        <p:nvPr/>
      </p:nvGrpSpPr>
      <p:grpSpPr>
        <a:xfrm>
          <a:off x="0" y="0"/>
          <a:ext cx="0" cy="0"/>
          <a:chOff x="0" y="0"/>
          <a:chExt cx="0" cy="0"/>
        </a:xfrm>
      </p:grpSpPr>
      <p:sp>
        <p:nvSpPr>
          <p:cNvPr id="468" name="Google Shape;468;p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69" name="Google Shape;469;p2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8" name="Shape 478"/>
        <p:cNvGrpSpPr/>
        <p:nvPr/>
      </p:nvGrpSpPr>
      <p:grpSpPr>
        <a:xfrm>
          <a:off x="0" y="0"/>
          <a:ext cx="0" cy="0"/>
          <a:chOff x="0" y="0"/>
          <a:chExt cx="0" cy="0"/>
        </a:xfrm>
      </p:grpSpPr>
      <p:sp>
        <p:nvSpPr>
          <p:cNvPr id="479" name="Google Shape;479;p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80" name="Google Shape;480;p2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8"/>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11" name="Google Shape;11;p28"/>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3" name="Shape 13"/>
        <p:cNvGrpSpPr/>
        <p:nvPr/>
      </p:nvGrpSpPr>
      <p:grpSpPr>
        <a:xfrm>
          <a:off x="0" y="0"/>
          <a:ext cx="0" cy="0"/>
          <a:chOff x="0" y="0"/>
          <a:chExt cx="0" cy="0"/>
        </a:xfrm>
      </p:grpSpPr>
      <p:sp>
        <p:nvSpPr>
          <p:cNvPr id="14" name="Google Shape;14;p2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5" name="Shape 15"/>
        <p:cNvGrpSpPr/>
        <p:nvPr/>
      </p:nvGrpSpPr>
      <p:grpSpPr>
        <a:xfrm>
          <a:off x="0" y="0"/>
          <a:ext cx="0" cy="0"/>
          <a:chOff x="0" y="0"/>
          <a:chExt cx="0" cy="0"/>
        </a:xfrm>
      </p:grpSpPr>
      <p:sp>
        <p:nvSpPr>
          <p:cNvPr id="16" name="Google Shape;16;p30"/>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17" name="Google Shape;17;p3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8" name="Shape 18"/>
        <p:cNvGrpSpPr/>
        <p:nvPr/>
      </p:nvGrpSpPr>
      <p:grpSpPr>
        <a:xfrm>
          <a:off x="0" y="0"/>
          <a:ext cx="0" cy="0"/>
          <a:chOff x="0" y="0"/>
          <a:chExt cx="0" cy="0"/>
        </a:xfrm>
      </p:grpSpPr>
      <p:sp>
        <p:nvSpPr>
          <p:cNvPr id="19" name="Google Shape;19;p3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0" name="Google Shape;20;p3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21" name="Google Shape;21;p3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2" name="Shape 22"/>
        <p:cNvGrpSpPr/>
        <p:nvPr/>
      </p:nvGrpSpPr>
      <p:grpSpPr>
        <a:xfrm>
          <a:off x="0" y="0"/>
          <a:ext cx="0" cy="0"/>
          <a:chOff x="0" y="0"/>
          <a:chExt cx="0" cy="0"/>
        </a:xfrm>
      </p:grpSpPr>
      <p:sp>
        <p:nvSpPr>
          <p:cNvPr id="23" name="Google Shape;23;p32"/>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4" name="Google Shape;24;p32"/>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5" name="Google Shape;25;p32"/>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6" name="Google Shape;26;p3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7" name="Shape 27"/>
        <p:cNvGrpSpPr/>
        <p:nvPr/>
      </p:nvGrpSpPr>
      <p:grpSpPr>
        <a:xfrm>
          <a:off x="0" y="0"/>
          <a:ext cx="0" cy="0"/>
          <a:chOff x="0" y="0"/>
          <a:chExt cx="0" cy="0"/>
        </a:xfrm>
      </p:grpSpPr>
      <p:sp>
        <p:nvSpPr>
          <p:cNvPr id="28" name="Google Shape;28;p3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9" name="Google Shape;29;p3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0" name="Shape 30"/>
        <p:cNvGrpSpPr/>
        <p:nvPr/>
      </p:nvGrpSpPr>
      <p:grpSpPr>
        <a:xfrm>
          <a:off x="0" y="0"/>
          <a:ext cx="0" cy="0"/>
          <a:chOff x="0" y="0"/>
          <a:chExt cx="0" cy="0"/>
        </a:xfrm>
      </p:grpSpPr>
      <p:sp>
        <p:nvSpPr>
          <p:cNvPr id="31" name="Google Shape;31;p34"/>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32" name="Google Shape;32;p34"/>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33" name="Google Shape;33;p3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4" name="Shape 34"/>
        <p:cNvGrpSpPr/>
        <p:nvPr/>
      </p:nvGrpSpPr>
      <p:grpSpPr>
        <a:xfrm>
          <a:off x="0" y="0"/>
          <a:ext cx="0" cy="0"/>
          <a:chOff x="0" y="0"/>
          <a:chExt cx="0" cy="0"/>
        </a:xfrm>
      </p:grpSpPr>
      <p:sp>
        <p:nvSpPr>
          <p:cNvPr id="35" name="Google Shape;35;p35"/>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36" name="Google Shape;36;p3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7" name="Shape 37"/>
        <p:cNvGrpSpPr/>
        <p:nvPr/>
      </p:nvGrpSpPr>
      <p:grpSpPr>
        <a:xfrm>
          <a:off x="0" y="0"/>
          <a:ext cx="0" cy="0"/>
          <a:chOff x="0" y="0"/>
          <a:chExt cx="0" cy="0"/>
        </a:xfrm>
      </p:grpSpPr>
      <p:sp>
        <p:nvSpPr>
          <p:cNvPr id="38" name="Google Shape;38;p36"/>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 name="Google Shape;39;p36"/>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40" name="Google Shape;40;p36"/>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41" name="Google Shape;41;p36"/>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42" name="Google Shape;42;p3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3" name="Shape 43"/>
        <p:cNvGrpSpPr/>
        <p:nvPr/>
      </p:nvGrpSpPr>
      <p:grpSpPr>
        <a:xfrm>
          <a:off x="0" y="0"/>
          <a:ext cx="0" cy="0"/>
          <a:chOff x="0" y="0"/>
          <a:chExt cx="0" cy="0"/>
        </a:xfrm>
      </p:grpSpPr>
      <p:sp>
        <p:nvSpPr>
          <p:cNvPr id="44" name="Google Shape;44;p37"/>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1800"/>
              <a:buNone/>
              <a:defRPr/>
            </a:lvl1pPr>
          </a:lstStyle>
          <a:p/>
        </p:txBody>
      </p:sp>
      <p:sp>
        <p:nvSpPr>
          <p:cNvPr id="45" name="Google Shape;45;p3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6" name="Shape 46"/>
        <p:cNvGrpSpPr/>
        <p:nvPr/>
      </p:nvGrpSpPr>
      <p:grpSpPr>
        <a:xfrm>
          <a:off x="0" y="0"/>
          <a:ext cx="0" cy="0"/>
          <a:chOff x="0" y="0"/>
          <a:chExt cx="0" cy="0"/>
        </a:xfrm>
      </p:grpSpPr>
      <p:sp>
        <p:nvSpPr>
          <p:cNvPr id="47" name="Google Shape;47;p38"/>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48" name="Google Shape;48;p38"/>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rm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0"/>
              </a:spcBef>
              <a:spcAft>
                <a:spcPts val="0"/>
              </a:spcAft>
              <a:buSzPts val="1400"/>
              <a:buChar char="○"/>
              <a:defRPr/>
            </a:lvl2pPr>
            <a:lvl3pPr indent="-317500" lvl="2" marL="1371600" algn="ctr">
              <a:lnSpc>
                <a:spcPct val="115000"/>
              </a:lnSpc>
              <a:spcBef>
                <a:spcPts val="0"/>
              </a:spcBef>
              <a:spcAft>
                <a:spcPts val="0"/>
              </a:spcAft>
              <a:buSzPts val="1400"/>
              <a:buChar char="■"/>
              <a:defRPr/>
            </a:lvl3pPr>
            <a:lvl4pPr indent="-317500" lvl="3" marL="1828800" algn="ctr">
              <a:lnSpc>
                <a:spcPct val="115000"/>
              </a:lnSpc>
              <a:spcBef>
                <a:spcPts val="0"/>
              </a:spcBef>
              <a:spcAft>
                <a:spcPts val="0"/>
              </a:spcAft>
              <a:buSzPts val="1400"/>
              <a:buChar char="●"/>
              <a:defRPr/>
            </a:lvl4pPr>
            <a:lvl5pPr indent="-317500" lvl="4" marL="2286000" algn="ctr">
              <a:lnSpc>
                <a:spcPct val="115000"/>
              </a:lnSpc>
              <a:spcBef>
                <a:spcPts val="0"/>
              </a:spcBef>
              <a:spcAft>
                <a:spcPts val="0"/>
              </a:spcAft>
              <a:buSzPts val="1400"/>
              <a:buChar char="○"/>
              <a:defRPr/>
            </a:lvl5pPr>
            <a:lvl6pPr indent="-317500" lvl="5" marL="2743200" algn="ctr">
              <a:lnSpc>
                <a:spcPct val="115000"/>
              </a:lnSpc>
              <a:spcBef>
                <a:spcPts val="0"/>
              </a:spcBef>
              <a:spcAft>
                <a:spcPts val="0"/>
              </a:spcAft>
              <a:buSzPts val="1400"/>
              <a:buChar char="■"/>
              <a:defRPr/>
            </a:lvl6pPr>
            <a:lvl7pPr indent="-317500" lvl="6" marL="3200400" algn="ctr">
              <a:lnSpc>
                <a:spcPct val="115000"/>
              </a:lnSpc>
              <a:spcBef>
                <a:spcPts val="0"/>
              </a:spcBef>
              <a:spcAft>
                <a:spcPts val="0"/>
              </a:spcAft>
              <a:buSzPts val="1400"/>
              <a:buChar char="●"/>
              <a:defRPr/>
            </a:lvl7pPr>
            <a:lvl8pPr indent="-317500" lvl="7" marL="3657600" algn="ctr">
              <a:lnSpc>
                <a:spcPct val="115000"/>
              </a:lnSpc>
              <a:spcBef>
                <a:spcPts val="0"/>
              </a:spcBef>
              <a:spcAft>
                <a:spcPts val="0"/>
              </a:spcAft>
              <a:buSzPts val="1400"/>
              <a:buChar char="○"/>
              <a:defRPr/>
            </a:lvl8pPr>
            <a:lvl9pPr indent="-317500" lvl="8" marL="4114800" algn="ctr">
              <a:lnSpc>
                <a:spcPct val="115000"/>
              </a:lnSpc>
              <a:spcBef>
                <a:spcPts val="0"/>
              </a:spcBef>
              <a:spcAft>
                <a:spcPts val="0"/>
              </a:spcAft>
              <a:buSzPts val="1400"/>
              <a:buChar char="■"/>
              <a:defRPr/>
            </a:lvl9pPr>
          </a:lstStyle>
          <a:p/>
        </p:txBody>
      </p:sp>
      <p:sp>
        <p:nvSpPr>
          <p:cNvPr id="49" name="Google Shape;49;p3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27"/>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7" name="Google Shape;7;p27"/>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8" name="Google Shape;8;p2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 Id="rId4" Type="http://schemas.openxmlformats.org/officeDocument/2006/relationships/image" Target="../media/image10.png"/><Relationship Id="rId5" Type="http://schemas.openxmlformats.org/officeDocument/2006/relationships/image" Target="../media/image6.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comments" Target="../comments/comment1.xml"/><Relationship Id="rId4" Type="http://schemas.openxmlformats.org/officeDocument/2006/relationships/image" Target="../media/image2.png"/><Relationship Id="rId5" Type="http://schemas.openxmlformats.org/officeDocument/2006/relationships/image" Target="../media/image3.png"/><Relationship Id="rId6" Type="http://schemas.openxmlformats.org/officeDocument/2006/relationships/image" Target="../media/image7.png"/><Relationship Id="rId7" Type="http://schemas.openxmlformats.org/officeDocument/2006/relationships/image" Target="../media/image4.png"/><Relationship Id="rId8" Type="http://schemas.openxmlformats.org/officeDocument/2006/relationships/image" Target="../media/image1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2.png"/><Relationship Id="rId4" Type="http://schemas.openxmlformats.org/officeDocument/2006/relationships/image" Target="../media/image6.png"/><Relationship Id="rId5" Type="http://schemas.openxmlformats.org/officeDocument/2006/relationships/hyperlink" Target="http://kaggle.com/datasets/elemento/nyc-yellow-taxi-trip-data"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2.png"/><Relationship Id="rId4" Type="http://schemas.openxmlformats.org/officeDocument/2006/relationships/image" Target="../media/image1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2.png"/><Relationship Id="rId4" Type="http://schemas.openxmlformats.org/officeDocument/2006/relationships/image" Target="../media/image9.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2.png"/><Relationship Id="rId4" Type="http://schemas.openxmlformats.org/officeDocument/2006/relationships/image" Target="../media/image8.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2.png"/><Relationship Id="rId4" Type="http://schemas.openxmlformats.org/officeDocument/2006/relationships/image" Target="../media/image12.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2.png"/><Relationship Id="rId4" Type="http://schemas.openxmlformats.org/officeDocument/2006/relationships/image" Target="../media/image6.png"/><Relationship Id="rId5" Type="http://schemas.openxmlformats.org/officeDocument/2006/relationships/image" Target="../media/image13.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7.png"/><Relationship Id="rId6" Type="http://schemas.openxmlformats.org/officeDocument/2006/relationships/image" Target="../media/image4.png"/><Relationship Id="rId7" Type="http://schemas.openxmlformats.org/officeDocument/2006/relationships/image" Target="../media/image1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2.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2.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2.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2.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2.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2.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2.png"/><Relationship Id="rId4" Type="http://schemas.openxmlformats.org/officeDocument/2006/relationships/image" Target="../media/image6.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hyperlink" Target="https://doi.org/10.1126/science.aax2342" TargetMode="External"/><Relationship Id="rId4" Type="http://schemas.openxmlformats.org/officeDocument/2006/relationships/hyperlink" Target="https://proceedings.mlr.press/v81/buolamwini18a.html" TargetMode="External"/><Relationship Id="rId9" Type="http://schemas.openxmlformats.org/officeDocument/2006/relationships/image" Target="../media/image6.png"/><Relationship Id="rId5" Type="http://schemas.openxmlformats.org/officeDocument/2006/relationships/hyperlink" Target="https://doi.org/10.1145/3670947.3670976" TargetMode="External"/><Relationship Id="rId6" Type="http://schemas.openxmlformats.org/officeDocument/2006/relationships/hyperlink" Target="https://www.kaggle.com/datasets/sujithmandala/simple-loan-classification-dataset" TargetMode="External"/><Relationship Id="rId7" Type="http://schemas.openxmlformats.org/officeDocument/2006/relationships/hyperlink" Target="https://www.kaggle.com/datasets/camnugent/california-housing-prices" TargetMode="External"/><Relationship Id="rId8"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
          <p:cNvSpPr txBox="1"/>
          <p:nvPr>
            <p:ph idx="1" type="subTitle"/>
          </p:nvPr>
        </p:nvSpPr>
        <p:spPr>
          <a:xfrm>
            <a:off x="452725" y="1134000"/>
            <a:ext cx="5493300" cy="24129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3027"/>
              <a:buNone/>
            </a:pPr>
            <a:r>
              <a:rPr b="1" lang="en" sz="4800">
                <a:solidFill>
                  <a:schemeClr val="dk1"/>
                </a:solidFill>
                <a:latin typeface="Inter"/>
                <a:ea typeface="Inter"/>
                <a:cs typeface="Inter"/>
                <a:sym typeface="Inter"/>
              </a:rPr>
              <a:t>Data Practices &amp;</a:t>
            </a:r>
            <a:r>
              <a:rPr b="1" lang="en" sz="4800">
                <a:solidFill>
                  <a:schemeClr val="dk1"/>
                </a:solidFill>
                <a:latin typeface="Inter"/>
                <a:ea typeface="Inter"/>
                <a:cs typeface="Inter"/>
                <a:sym typeface="Inter"/>
              </a:rPr>
              <a:t> </a:t>
            </a:r>
            <a:endParaRPr b="1" sz="4800">
              <a:solidFill>
                <a:schemeClr val="dk1"/>
              </a:solidFill>
              <a:latin typeface="Inter"/>
              <a:ea typeface="Inter"/>
              <a:cs typeface="Inter"/>
              <a:sym typeface="Inter"/>
            </a:endParaRPr>
          </a:p>
          <a:p>
            <a:pPr indent="0" lvl="0" marL="0" rtl="0" algn="l">
              <a:lnSpc>
                <a:spcPct val="100000"/>
              </a:lnSpc>
              <a:spcBef>
                <a:spcPts val="0"/>
              </a:spcBef>
              <a:spcAft>
                <a:spcPts val="0"/>
              </a:spcAft>
              <a:buSzPts val="3027"/>
              <a:buNone/>
            </a:pPr>
            <a:r>
              <a:rPr b="1" lang="en" sz="4800">
                <a:solidFill>
                  <a:schemeClr val="dk1"/>
                </a:solidFill>
                <a:latin typeface="Inter"/>
                <a:ea typeface="Inter"/>
                <a:cs typeface="Inter"/>
                <a:sym typeface="Inter"/>
              </a:rPr>
              <a:t>Responsible Modeling </a:t>
            </a:r>
            <a:endParaRPr b="1" sz="4800">
              <a:solidFill>
                <a:schemeClr val="dk1"/>
              </a:solidFill>
              <a:latin typeface="Inter"/>
              <a:ea typeface="Inter"/>
              <a:cs typeface="Inter"/>
              <a:sym typeface="Inter"/>
            </a:endParaRPr>
          </a:p>
        </p:txBody>
      </p:sp>
      <p:grpSp>
        <p:nvGrpSpPr>
          <p:cNvPr id="55" name="Google Shape;55;p1"/>
          <p:cNvGrpSpPr/>
          <p:nvPr/>
        </p:nvGrpSpPr>
        <p:grpSpPr>
          <a:xfrm>
            <a:off x="8625" y="0"/>
            <a:ext cx="9144000" cy="267600"/>
            <a:chOff x="8625" y="0"/>
            <a:chExt cx="9144000" cy="267600"/>
          </a:xfrm>
        </p:grpSpPr>
        <p:sp>
          <p:nvSpPr>
            <p:cNvPr id="56" name="Google Shape;56;p1"/>
            <p:cNvSpPr/>
            <p:nvPr/>
          </p:nvSpPr>
          <p:spPr>
            <a:xfrm>
              <a:off x="8625" y="0"/>
              <a:ext cx="9144000" cy="2676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57" name="Google Shape;57;p1" title="Logo Header.png"/>
            <p:cNvPicPr preferRelativeResize="0"/>
            <p:nvPr/>
          </p:nvPicPr>
          <p:blipFill rotWithShape="1">
            <a:blip r:embed="rId3">
              <a:alphaModFix/>
            </a:blip>
            <a:srcRect b="0" l="0" r="0" t="0"/>
            <a:stretch/>
          </p:blipFill>
          <p:spPr>
            <a:xfrm>
              <a:off x="8348195" y="15790"/>
              <a:ext cx="634775" cy="199625"/>
            </a:xfrm>
            <a:prstGeom prst="rect">
              <a:avLst/>
            </a:prstGeom>
            <a:noFill/>
            <a:ln>
              <a:noFill/>
            </a:ln>
          </p:spPr>
        </p:pic>
      </p:grpSp>
      <p:pic>
        <p:nvPicPr>
          <p:cNvPr id="58" name="Google Shape;58;p1" title="diamond.png"/>
          <p:cNvPicPr preferRelativeResize="0"/>
          <p:nvPr/>
        </p:nvPicPr>
        <p:blipFill rotWithShape="1">
          <a:blip r:embed="rId4">
            <a:alphaModFix/>
          </a:blip>
          <a:srcRect b="0" l="0" r="0" t="0"/>
          <a:stretch/>
        </p:blipFill>
        <p:spPr>
          <a:xfrm>
            <a:off x="3437553" y="2922050"/>
            <a:ext cx="651733" cy="434500"/>
          </a:xfrm>
          <a:prstGeom prst="rect">
            <a:avLst/>
          </a:prstGeom>
          <a:noFill/>
          <a:ln>
            <a:noFill/>
          </a:ln>
        </p:spPr>
      </p:pic>
      <p:pic>
        <p:nvPicPr>
          <p:cNvPr id="59" name="Google Shape;59;p1" title="Logo Main.png"/>
          <p:cNvPicPr preferRelativeResize="0"/>
          <p:nvPr/>
        </p:nvPicPr>
        <p:blipFill rotWithShape="1">
          <a:blip r:embed="rId5">
            <a:alphaModFix/>
          </a:blip>
          <a:srcRect b="0" l="0" r="0" t="0"/>
          <a:stretch/>
        </p:blipFill>
        <p:spPr>
          <a:xfrm>
            <a:off x="452725" y="4090625"/>
            <a:ext cx="1529475" cy="434512"/>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 name="Shape 63"/>
        <p:cNvGrpSpPr/>
        <p:nvPr/>
      </p:nvGrpSpPr>
      <p:grpSpPr>
        <a:xfrm>
          <a:off x="0" y="0"/>
          <a:ext cx="0" cy="0"/>
          <a:chOff x="0" y="0"/>
          <a:chExt cx="0" cy="0"/>
        </a:xfrm>
      </p:grpSpPr>
      <p:sp>
        <p:nvSpPr>
          <p:cNvPr id="64" name="Google Shape;64;p2"/>
          <p:cNvSpPr txBox="1"/>
          <p:nvPr>
            <p:ph idx="1" type="subTitle"/>
          </p:nvPr>
        </p:nvSpPr>
        <p:spPr>
          <a:xfrm>
            <a:off x="529200" y="1195859"/>
            <a:ext cx="5076000" cy="3443400"/>
          </a:xfrm>
          <a:prstGeom prst="rect">
            <a:avLst/>
          </a:prstGeom>
          <a:noFill/>
          <a:ln>
            <a:noFill/>
          </a:ln>
        </p:spPr>
        <p:txBody>
          <a:bodyPr anchorCtr="0" anchor="t" bIns="91425" lIns="91425" spcFirstLastPara="1" rIns="91425" wrap="square" tIns="91425">
            <a:noAutofit/>
          </a:bodyPr>
          <a:lstStyle/>
          <a:p>
            <a:pPr indent="0" lvl="0" marL="457200" rtl="0" algn="l">
              <a:lnSpc>
                <a:spcPct val="100000"/>
              </a:lnSpc>
              <a:spcBef>
                <a:spcPts val="1200"/>
              </a:spcBef>
              <a:spcAft>
                <a:spcPts val="0"/>
              </a:spcAft>
              <a:buNone/>
            </a:pPr>
            <a:r>
              <a:rPr lang="en" sz="1400">
                <a:solidFill>
                  <a:schemeClr val="dk1"/>
                </a:solidFill>
                <a:latin typeface="Inter"/>
                <a:ea typeface="Inter"/>
                <a:cs typeface="Inter"/>
                <a:sym typeface="Inter"/>
              </a:rPr>
              <a:t>Collect, clean, and document data responsibly, including imputation</a:t>
            </a:r>
            <a:endParaRPr sz="1400">
              <a:solidFill>
                <a:schemeClr val="dk1"/>
              </a:solidFill>
              <a:latin typeface="Inter"/>
              <a:ea typeface="Inter"/>
              <a:cs typeface="Inter"/>
              <a:sym typeface="Inter"/>
            </a:endParaRPr>
          </a:p>
          <a:p>
            <a:pPr indent="0" lvl="0" marL="457200" rtl="0" algn="l">
              <a:lnSpc>
                <a:spcPct val="100000"/>
              </a:lnSpc>
              <a:spcBef>
                <a:spcPts val="1200"/>
              </a:spcBef>
              <a:spcAft>
                <a:spcPts val="0"/>
              </a:spcAft>
              <a:buNone/>
            </a:pPr>
            <a:r>
              <a:t/>
            </a:r>
            <a:endParaRPr sz="1400">
              <a:solidFill>
                <a:schemeClr val="dk1"/>
              </a:solidFill>
              <a:latin typeface="Inter"/>
              <a:ea typeface="Inter"/>
              <a:cs typeface="Inter"/>
              <a:sym typeface="Inter"/>
            </a:endParaRPr>
          </a:p>
          <a:p>
            <a:pPr indent="0" lvl="0" marL="457200" rtl="0" algn="l">
              <a:lnSpc>
                <a:spcPct val="100000"/>
              </a:lnSpc>
              <a:spcBef>
                <a:spcPts val="1200"/>
              </a:spcBef>
              <a:spcAft>
                <a:spcPts val="0"/>
              </a:spcAft>
              <a:buNone/>
            </a:pPr>
            <a:r>
              <a:rPr lang="en" sz="1400">
                <a:solidFill>
                  <a:schemeClr val="dk1"/>
                </a:solidFill>
                <a:latin typeface="Inter"/>
                <a:ea typeface="Inter"/>
                <a:cs typeface="Inter"/>
                <a:sym typeface="Inter"/>
              </a:rPr>
              <a:t>Discuss data representation (such as underrepresentation)</a:t>
            </a:r>
            <a:endParaRPr sz="1400">
              <a:solidFill>
                <a:schemeClr val="dk1"/>
              </a:solidFill>
              <a:latin typeface="Inter"/>
              <a:ea typeface="Inter"/>
              <a:cs typeface="Inter"/>
              <a:sym typeface="Inter"/>
            </a:endParaRPr>
          </a:p>
          <a:p>
            <a:pPr indent="457200" lvl="0" marL="0" rtl="0" algn="l">
              <a:lnSpc>
                <a:spcPct val="150000"/>
              </a:lnSpc>
              <a:spcBef>
                <a:spcPts val="1200"/>
              </a:spcBef>
              <a:spcAft>
                <a:spcPts val="0"/>
              </a:spcAft>
              <a:buNone/>
            </a:pPr>
            <a:r>
              <a:t/>
            </a:r>
            <a:endParaRPr sz="1400">
              <a:solidFill>
                <a:schemeClr val="dk1"/>
              </a:solidFill>
              <a:latin typeface="Inter"/>
              <a:ea typeface="Inter"/>
              <a:cs typeface="Inter"/>
              <a:sym typeface="Inter"/>
            </a:endParaRPr>
          </a:p>
          <a:p>
            <a:pPr indent="457200" lvl="0" marL="0" rtl="0" algn="l">
              <a:lnSpc>
                <a:spcPct val="150000"/>
              </a:lnSpc>
              <a:spcBef>
                <a:spcPts val="1200"/>
              </a:spcBef>
              <a:spcAft>
                <a:spcPts val="0"/>
              </a:spcAft>
              <a:buNone/>
            </a:pPr>
            <a:r>
              <a:rPr lang="en" sz="1400">
                <a:solidFill>
                  <a:schemeClr val="dk1"/>
                </a:solidFill>
                <a:latin typeface="Inter"/>
                <a:ea typeface="Inter"/>
                <a:cs typeface="Inter"/>
                <a:sym typeface="Inter"/>
              </a:rPr>
              <a:t>Interpret models with subgroup analysis</a:t>
            </a:r>
            <a:endParaRPr sz="1400">
              <a:solidFill>
                <a:schemeClr val="dk1"/>
              </a:solidFill>
              <a:latin typeface="Inter"/>
              <a:ea typeface="Inter"/>
              <a:cs typeface="Inter"/>
              <a:sym typeface="Inter"/>
            </a:endParaRPr>
          </a:p>
          <a:p>
            <a:pPr indent="457200" lvl="0" marL="0" rtl="0" algn="l">
              <a:lnSpc>
                <a:spcPct val="150000"/>
              </a:lnSpc>
              <a:spcBef>
                <a:spcPts val="1200"/>
              </a:spcBef>
              <a:spcAft>
                <a:spcPts val="0"/>
              </a:spcAft>
              <a:buNone/>
            </a:pPr>
            <a:r>
              <a:t/>
            </a:r>
            <a:endParaRPr sz="1400">
              <a:solidFill>
                <a:schemeClr val="dk1"/>
              </a:solidFill>
              <a:latin typeface="Inter"/>
              <a:ea typeface="Inter"/>
              <a:cs typeface="Inter"/>
              <a:sym typeface="Inter"/>
            </a:endParaRPr>
          </a:p>
          <a:p>
            <a:pPr indent="457200" lvl="0" marL="0" rtl="0" algn="l">
              <a:lnSpc>
                <a:spcPct val="150000"/>
              </a:lnSpc>
              <a:spcBef>
                <a:spcPts val="1200"/>
              </a:spcBef>
              <a:spcAft>
                <a:spcPts val="0"/>
              </a:spcAft>
              <a:buNone/>
            </a:pPr>
            <a:r>
              <a:rPr lang="en" sz="1400">
                <a:solidFill>
                  <a:schemeClr val="dk1"/>
                </a:solidFill>
                <a:latin typeface="Inter"/>
                <a:ea typeface="Inter"/>
                <a:cs typeface="Inter"/>
                <a:sym typeface="Inter"/>
              </a:rPr>
              <a:t>Introduce model-cards and datasheets</a:t>
            </a:r>
            <a:endParaRPr sz="1400">
              <a:solidFill>
                <a:schemeClr val="dk1"/>
              </a:solidFill>
              <a:latin typeface="Inter"/>
              <a:ea typeface="Inter"/>
              <a:cs typeface="Inter"/>
              <a:sym typeface="Inter"/>
            </a:endParaRPr>
          </a:p>
          <a:p>
            <a:pPr indent="0" lvl="0" marL="457200" rtl="0" algn="l">
              <a:lnSpc>
                <a:spcPct val="115000"/>
              </a:lnSpc>
              <a:spcBef>
                <a:spcPts val="1200"/>
              </a:spcBef>
              <a:spcAft>
                <a:spcPts val="0"/>
              </a:spcAft>
              <a:buSzPts val="2800"/>
              <a:buNone/>
            </a:pPr>
            <a:r>
              <a:t/>
            </a:r>
            <a:endParaRPr sz="1400">
              <a:solidFill>
                <a:schemeClr val="dk1"/>
              </a:solidFill>
              <a:latin typeface="Inter"/>
              <a:ea typeface="Inter"/>
              <a:cs typeface="Inter"/>
              <a:sym typeface="Inter"/>
            </a:endParaRPr>
          </a:p>
        </p:txBody>
      </p:sp>
      <p:sp>
        <p:nvSpPr>
          <p:cNvPr id="65" name="Google Shape;65;p2"/>
          <p:cNvSpPr txBox="1"/>
          <p:nvPr>
            <p:ph idx="1" type="subTitle"/>
          </p:nvPr>
        </p:nvSpPr>
        <p:spPr>
          <a:xfrm>
            <a:off x="409575" y="447125"/>
            <a:ext cx="4453200" cy="7572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2800"/>
              <a:buNone/>
            </a:pPr>
            <a:r>
              <a:rPr b="1" lang="en" sz="3500">
                <a:solidFill>
                  <a:schemeClr val="dk1"/>
                </a:solidFill>
                <a:latin typeface="Inter"/>
                <a:ea typeface="Inter"/>
                <a:cs typeface="Inter"/>
                <a:sym typeface="Inter"/>
              </a:rPr>
              <a:t>Learning Outcomes</a:t>
            </a:r>
            <a:endParaRPr b="1" sz="3500">
              <a:solidFill>
                <a:schemeClr val="dk1"/>
              </a:solidFill>
              <a:latin typeface="Inter"/>
              <a:ea typeface="Inter"/>
              <a:cs typeface="Inter"/>
              <a:sym typeface="Inter"/>
            </a:endParaRPr>
          </a:p>
        </p:txBody>
      </p:sp>
      <p:grpSp>
        <p:nvGrpSpPr>
          <p:cNvPr id="66" name="Google Shape;66;p2"/>
          <p:cNvGrpSpPr/>
          <p:nvPr/>
        </p:nvGrpSpPr>
        <p:grpSpPr>
          <a:xfrm>
            <a:off x="8625" y="0"/>
            <a:ext cx="9144000" cy="267600"/>
            <a:chOff x="8625" y="0"/>
            <a:chExt cx="9144000" cy="267600"/>
          </a:xfrm>
        </p:grpSpPr>
        <p:sp>
          <p:nvSpPr>
            <p:cNvPr id="67" name="Google Shape;67;p2"/>
            <p:cNvSpPr/>
            <p:nvPr/>
          </p:nvSpPr>
          <p:spPr>
            <a:xfrm>
              <a:off x="8625" y="0"/>
              <a:ext cx="9144000" cy="2676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68" name="Google Shape;68;p2" title="Logo Header.png"/>
            <p:cNvPicPr preferRelativeResize="0"/>
            <p:nvPr/>
          </p:nvPicPr>
          <p:blipFill rotWithShape="1">
            <a:blip r:embed="rId4">
              <a:alphaModFix/>
            </a:blip>
            <a:srcRect b="0" l="0" r="0" t="0"/>
            <a:stretch/>
          </p:blipFill>
          <p:spPr>
            <a:xfrm>
              <a:off x="8348195" y="15790"/>
              <a:ext cx="634775" cy="199625"/>
            </a:xfrm>
            <a:prstGeom prst="rect">
              <a:avLst/>
            </a:prstGeom>
            <a:noFill/>
            <a:ln>
              <a:noFill/>
            </a:ln>
          </p:spPr>
        </p:pic>
      </p:grpSp>
      <p:pic>
        <p:nvPicPr>
          <p:cNvPr id="69" name="Google Shape;69;p2" title="cone.png"/>
          <p:cNvPicPr preferRelativeResize="0"/>
          <p:nvPr/>
        </p:nvPicPr>
        <p:blipFill rotWithShape="1">
          <a:blip r:embed="rId5">
            <a:alphaModFix/>
          </a:blip>
          <a:srcRect b="0" l="0" r="0" t="0"/>
          <a:stretch/>
        </p:blipFill>
        <p:spPr>
          <a:xfrm>
            <a:off x="372864" y="2155643"/>
            <a:ext cx="467000" cy="457025"/>
          </a:xfrm>
          <a:prstGeom prst="rect">
            <a:avLst/>
          </a:prstGeom>
          <a:noFill/>
          <a:ln>
            <a:noFill/>
          </a:ln>
        </p:spPr>
      </p:pic>
      <p:pic>
        <p:nvPicPr>
          <p:cNvPr id="70" name="Google Shape;70;p2" title="cube 1.png"/>
          <p:cNvPicPr preferRelativeResize="0"/>
          <p:nvPr/>
        </p:nvPicPr>
        <p:blipFill rotWithShape="1">
          <a:blip r:embed="rId6">
            <a:alphaModFix/>
          </a:blip>
          <a:srcRect b="0" l="0" r="0" t="0"/>
          <a:stretch/>
        </p:blipFill>
        <p:spPr>
          <a:xfrm>
            <a:off x="504250" y="3195029"/>
            <a:ext cx="311425" cy="351200"/>
          </a:xfrm>
          <a:prstGeom prst="rect">
            <a:avLst/>
          </a:prstGeom>
          <a:noFill/>
          <a:ln>
            <a:noFill/>
          </a:ln>
        </p:spPr>
      </p:pic>
      <p:pic>
        <p:nvPicPr>
          <p:cNvPr id="71" name="Google Shape;71;p2" title="cube 2.png"/>
          <p:cNvPicPr preferRelativeResize="0"/>
          <p:nvPr/>
        </p:nvPicPr>
        <p:blipFill rotWithShape="1">
          <a:blip r:embed="rId7">
            <a:alphaModFix/>
          </a:blip>
          <a:srcRect b="0" l="0" r="0" t="0"/>
          <a:stretch/>
        </p:blipFill>
        <p:spPr>
          <a:xfrm>
            <a:off x="504240" y="1271623"/>
            <a:ext cx="311425" cy="416786"/>
          </a:xfrm>
          <a:prstGeom prst="rect">
            <a:avLst/>
          </a:prstGeom>
          <a:noFill/>
          <a:ln>
            <a:noFill/>
          </a:ln>
        </p:spPr>
      </p:pic>
      <p:pic>
        <p:nvPicPr>
          <p:cNvPr id="72" name="Google Shape;72;p2" title="asterisk.png"/>
          <p:cNvPicPr preferRelativeResize="0"/>
          <p:nvPr/>
        </p:nvPicPr>
        <p:blipFill rotWithShape="1">
          <a:blip r:embed="rId8">
            <a:alphaModFix/>
          </a:blip>
          <a:srcRect b="0" l="0" r="0" t="0"/>
          <a:stretch/>
        </p:blipFill>
        <p:spPr>
          <a:xfrm>
            <a:off x="504240" y="4212602"/>
            <a:ext cx="311425" cy="31142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 name="Shape 76"/>
        <p:cNvGrpSpPr/>
        <p:nvPr/>
      </p:nvGrpSpPr>
      <p:grpSpPr>
        <a:xfrm>
          <a:off x="0" y="0"/>
          <a:ext cx="0" cy="0"/>
          <a:chOff x="0" y="0"/>
          <a:chExt cx="0" cy="0"/>
        </a:xfrm>
      </p:grpSpPr>
      <p:sp>
        <p:nvSpPr>
          <p:cNvPr id="77" name="Google Shape;77;p4"/>
          <p:cNvSpPr/>
          <p:nvPr/>
        </p:nvSpPr>
        <p:spPr>
          <a:xfrm>
            <a:off x="4998550" y="1436350"/>
            <a:ext cx="3753000" cy="3283800"/>
          </a:xfrm>
          <a:prstGeom prst="roundRect">
            <a:avLst>
              <a:gd fmla="val 16667" name="adj"/>
            </a:avLst>
          </a:prstGeom>
          <a:solidFill>
            <a:srgbClr val="D4E4D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i="0" sz="1400" u="none" cap="none" strike="noStrike">
              <a:solidFill>
                <a:srgbClr val="000000"/>
              </a:solidFill>
              <a:latin typeface="Inter"/>
              <a:ea typeface="Inter"/>
              <a:cs typeface="Inter"/>
              <a:sym typeface="Inter"/>
            </a:endParaRPr>
          </a:p>
        </p:txBody>
      </p:sp>
      <p:sp>
        <p:nvSpPr>
          <p:cNvPr id="78" name="Google Shape;78;p4"/>
          <p:cNvSpPr/>
          <p:nvPr/>
        </p:nvSpPr>
        <p:spPr>
          <a:xfrm>
            <a:off x="368650" y="1436350"/>
            <a:ext cx="4013400" cy="3283800"/>
          </a:xfrm>
          <a:prstGeom prst="roundRect">
            <a:avLst>
              <a:gd fmla="val 16667" name="adj"/>
            </a:avLst>
          </a:prstGeom>
          <a:solidFill>
            <a:srgbClr val="F5F0E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i="0" sz="1400" u="none" cap="none" strike="noStrike">
              <a:solidFill>
                <a:srgbClr val="000000"/>
              </a:solidFill>
              <a:latin typeface="Inter"/>
              <a:ea typeface="Inter"/>
              <a:cs typeface="Inter"/>
              <a:sym typeface="Inter"/>
            </a:endParaRPr>
          </a:p>
        </p:txBody>
      </p:sp>
      <p:sp>
        <p:nvSpPr>
          <p:cNvPr id="79" name="Google Shape;79;p4"/>
          <p:cNvSpPr/>
          <p:nvPr/>
        </p:nvSpPr>
        <p:spPr>
          <a:xfrm>
            <a:off x="695315" y="1691640"/>
            <a:ext cx="19203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1A2E"/>
              </a:buClr>
              <a:buSzPts val="1400"/>
              <a:buFont typeface="Georgia"/>
              <a:buNone/>
            </a:pPr>
            <a:r>
              <a:rPr b="1" lang="en">
                <a:solidFill>
                  <a:srgbClr val="1A1A2E"/>
                </a:solidFill>
                <a:latin typeface="Inter"/>
                <a:ea typeface="Inter"/>
                <a:cs typeface="Inter"/>
                <a:sym typeface="Inter"/>
              </a:rPr>
              <a:t>What Are ML Models?</a:t>
            </a:r>
            <a:endParaRPr b="1" i="0" sz="1400" u="none" cap="none" strike="noStrike">
              <a:solidFill>
                <a:srgbClr val="000000"/>
              </a:solidFill>
              <a:latin typeface="Inter"/>
              <a:ea typeface="Inter"/>
              <a:cs typeface="Inter"/>
              <a:sym typeface="Inter"/>
            </a:endParaRPr>
          </a:p>
        </p:txBody>
      </p:sp>
      <p:sp>
        <p:nvSpPr>
          <p:cNvPr id="80" name="Google Shape;80;p4"/>
          <p:cNvSpPr/>
          <p:nvPr/>
        </p:nvSpPr>
        <p:spPr>
          <a:xfrm>
            <a:off x="733950" y="1950724"/>
            <a:ext cx="495300" cy="18300"/>
          </a:xfrm>
          <a:prstGeom prst="rect">
            <a:avLst/>
          </a:prstGeom>
          <a:solidFill>
            <a:srgbClr val="B85C3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i="0" sz="1400" u="none" cap="none" strike="noStrike">
              <a:solidFill>
                <a:srgbClr val="000000"/>
              </a:solidFill>
              <a:latin typeface="Inter"/>
              <a:ea typeface="Inter"/>
              <a:cs typeface="Inter"/>
              <a:sym typeface="Inter"/>
            </a:endParaRPr>
          </a:p>
        </p:txBody>
      </p:sp>
      <p:sp>
        <p:nvSpPr>
          <p:cNvPr id="81" name="Google Shape;81;p4"/>
          <p:cNvSpPr/>
          <p:nvPr/>
        </p:nvSpPr>
        <p:spPr>
          <a:xfrm>
            <a:off x="5361840" y="1691640"/>
            <a:ext cx="19203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1A2E"/>
              </a:buClr>
              <a:buSzPts val="1400"/>
              <a:buFont typeface="Georgia"/>
              <a:buNone/>
            </a:pPr>
            <a:r>
              <a:rPr b="1" lang="en">
                <a:solidFill>
                  <a:srgbClr val="1A1A2E"/>
                </a:solidFill>
                <a:latin typeface="Inter"/>
                <a:ea typeface="Inter"/>
                <a:cs typeface="Inter"/>
                <a:sym typeface="Inter"/>
              </a:rPr>
              <a:t>Why We Use ML</a:t>
            </a:r>
            <a:endParaRPr b="1" i="0" sz="1400" u="none" cap="none" strike="noStrike">
              <a:solidFill>
                <a:srgbClr val="000000"/>
              </a:solidFill>
              <a:latin typeface="Inter"/>
              <a:ea typeface="Inter"/>
              <a:cs typeface="Inter"/>
              <a:sym typeface="Inter"/>
            </a:endParaRPr>
          </a:p>
        </p:txBody>
      </p:sp>
      <p:sp>
        <p:nvSpPr>
          <p:cNvPr id="82" name="Google Shape;82;p4"/>
          <p:cNvSpPr/>
          <p:nvPr/>
        </p:nvSpPr>
        <p:spPr>
          <a:xfrm>
            <a:off x="5390487" y="1950720"/>
            <a:ext cx="426600" cy="18300"/>
          </a:xfrm>
          <a:prstGeom prst="rect">
            <a:avLst/>
          </a:prstGeom>
          <a:solidFill>
            <a:srgbClr val="2C6E6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i="0" sz="1400" u="none" cap="none" strike="noStrike">
              <a:solidFill>
                <a:srgbClr val="000000"/>
              </a:solidFill>
              <a:latin typeface="Inter"/>
              <a:ea typeface="Inter"/>
              <a:cs typeface="Inter"/>
              <a:sym typeface="Inter"/>
            </a:endParaRPr>
          </a:p>
        </p:txBody>
      </p:sp>
      <p:grpSp>
        <p:nvGrpSpPr>
          <p:cNvPr id="83" name="Google Shape;83;p4"/>
          <p:cNvGrpSpPr/>
          <p:nvPr/>
        </p:nvGrpSpPr>
        <p:grpSpPr>
          <a:xfrm>
            <a:off x="8625" y="0"/>
            <a:ext cx="9144000" cy="267600"/>
            <a:chOff x="8625" y="0"/>
            <a:chExt cx="9144000" cy="267600"/>
          </a:xfrm>
        </p:grpSpPr>
        <p:sp>
          <p:nvSpPr>
            <p:cNvPr id="84" name="Google Shape;84;p4"/>
            <p:cNvSpPr/>
            <p:nvPr/>
          </p:nvSpPr>
          <p:spPr>
            <a:xfrm>
              <a:off x="8625" y="0"/>
              <a:ext cx="9144000" cy="2676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85" name="Google Shape;85;p4" title="Logo Header.png"/>
            <p:cNvPicPr preferRelativeResize="0"/>
            <p:nvPr/>
          </p:nvPicPr>
          <p:blipFill rotWithShape="1">
            <a:blip r:embed="rId3">
              <a:alphaModFix/>
            </a:blip>
            <a:srcRect b="0" l="0" r="0" t="0"/>
            <a:stretch/>
          </p:blipFill>
          <p:spPr>
            <a:xfrm>
              <a:off x="8348195" y="15790"/>
              <a:ext cx="634775" cy="199625"/>
            </a:xfrm>
            <a:prstGeom prst="rect">
              <a:avLst/>
            </a:prstGeom>
            <a:noFill/>
            <a:ln>
              <a:noFill/>
            </a:ln>
          </p:spPr>
        </p:pic>
      </p:grpSp>
      <p:sp>
        <p:nvSpPr>
          <p:cNvPr id="86" name="Google Shape;86;p4"/>
          <p:cNvSpPr txBox="1"/>
          <p:nvPr>
            <p:ph idx="1" type="subTitle"/>
          </p:nvPr>
        </p:nvSpPr>
        <p:spPr>
          <a:xfrm>
            <a:off x="368650" y="447125"/>
            <a:ext cx="5545500" cy="8097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2800"/>
              <a:buNone/>
            </a:pPr>
            <a:r>
              <a:rPr b="1" lang="en" sz="2700">
                <a:solidFill>
                  <a:schemeClr val="dk1"/>
                </a:solidFill>
                <a:latin typeface="Inter"/>
                <a:ea typeface="Inter"/>
                <a:cs typeface="Inter"/>
                <a:sym typeface="Inter"/>
              </a:rPr>
              <a:t>What is Machine Learning?</a:t>
            </a:r>
            <a:endParaRPr b="1" sz="2700">
              <a:solidFill>
                <a:schemeClr val="dk1"/>
              </a:solidFill>
              <a:latin typeface="Inter"/>
              <a:ea typeface="Inter"/>
              <a:cs typeface="Inter"/>
              <a:sym typeface="Inter"/>
            </a:endParaRPr>
          </a:p>
        </p:txBody>
      </p:sp>
      <p:sp>
        <p:nvSpPr>
          <p:cNvPr id="87" name="Google Shape;87;p4"/>
          <p:cNvSpPr txBox="1"/>
          <p:nvPr/>
        </p:nvSpPr>
        <p:spPr>
          <a:xfrm>
            <a:off x="571500" y="2095500"/>
            <a:ext cx="3568200" cy="23547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lang="en" sz="1800">
                <a:solidFill>
                  <a:schemeClr val="dk2"/>
                </a:solidFill>
                <a:latin typeface="Inter"/>
                <a:ea typeface="Inter"/>
                <a:cs typeface="Inter"/>
                <a:sym typeface="Inter"/>
              </a:rPr>
              <a:t>Machine Learning (ML) is the scientific study of Algorithms and Statistical Models used by data scientists to perform specific tasks.</a:t>
            </a:r>
            <a:endParaRPr sz="1800">
              <a:solidFill>
                <a:schemeClr val="dk2"/>
              </a:solidFill>
              <a:latin typeface="Inter"/>
              <a:ea typeface="Inter"/>
              <a:cs typeface="Inter"/>
              <a:sym typeface="Inter"/>
            </a:endParaRPr>
          </a:p>
          <a:p>
            <a:pPr indent="0" lvl="0" marL="0" rtl="0" algn="l">
              <a:spcBef>
                <a:spcPts val="1200"/>
              </a:spcBef>
              <a:spcAft>
                <a:spcPts val="0"/>
              </a:spcAft>
              <a:buNone/>
            </a:pPr>
            <a:r>
              <a:t/>
            </a:r>
            <a:endParaRPr sz="1800">
              <a:solidFill>
                <a:schemeClr val="dk2"/>
              </a:solidFill>
              <a:latin typeface="Inter"/>
              <a:ea typeface="Inter"/>
              <a:cs typeface="Inter"/>
              <a:sym typeface="Inter"/>
            </a:endParaRPr>
          </a:p>
        </p:txBody>
      </p:sp>
      <p:sp>
        <p:nvSpPr>
          <p:cNvPr id="88" name="Google Shape;88;p4"/>
          <p:cNvSpPr txBox="1"/>
          <p:nvPr/>
        </p:nvSpPr>
        <p:spPr>
          <a:xfrm>
            <a:off x="5195250" y="1973350"/>
            <a:ext cx="3311100" cy="2209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lang="en" sz="1500">
                <a:solidFill>
                  <a:schemeClr val="dk2"/>
                </a:solidFill>
                <a:latin typeface="Inter"/>
                <a:ea typeface="Inter"/>
                <a:cs typeface="Inter"/>
                <a:sym typeface="Inter"/>
              </a:rPr>
              <a:t>With increasingly larger datasets available, data cleaning, preparing and analyzing has become increasingly time consuming and even impossible to do manually. </a:t>
            </a:r>
            <a:endParaRPr sz="1500">
              <a:solidFill>
                <a:schemeClr val="dk2"/>
              </a:solidFill>
              <a:latin typeface="Inter"/>
              <a:ea typeface="Inter"/>
              <a:cs typeface="Inter"/>
              <a:sym typeface="Inter"/>
            </a:endParaRPr>
          </a:p>
          <a:p>
            <a:pPr indent="0" lvl="0" marL="0" rtl="0" algn="l">
              <a:lnSpc>
                <a:spcPct val="115000"/>
              </a:lnSpc>
              <a:spcBef>
                <a:spcPts val="1200"/>
              </a:spcBef>
              <a:spcAft>
                <a:spcPts val="0"/>
              </a:spcAft>
              <a:buNone/>
            </a:pPr>
            <a:r>
              <a:rPr lang="en" sz="1500">
                <a:solidFill>
                  <a:schemeClr val="dk2"/>
                </a:solidFill>
                <a:latin typeface="Inter"/>
                <a:ea typeface="Inter"/>
                <a:cs typeface="Inter"/>
                <a:sym typeface="Inter"/>
              </a:rPr>
              <a:t>ML allows data scientists to find patterns and relationships in large data sets more efficiently.</a:t>
            </a:r>
            <a:endParaRPr sz="1500">
              <a:solidFill>
                <a:schemeClr val="dk2"/>
              </a:solidFill>
              <a:latin typeface="Inter"/>
              <a:ea typeface="Inter"/>
              <a:cs typeface="Inter"/>
              <a:sym typeface="Inter"/>
            </a:endParaRPr>
          </a:p>
          <a:p>
            <a:pPr indent="0" lvl="0" marL="0" rtl="0" algn="l">
              <a:spcBef>
                <a:spcPts val="1200"/>
              </a:spcBef>
              <a:spcAft>
                <a:spcPts val="0"/>
              </a:spcAft>
              <a:buNone/>
            </a:pPr>
            <a:r>
              <a:t/>
            </a:r>
            <a:endParaRPr sz="1700">
              <a:solidFill>
                <a:schemeClr val="dk2"/>
              </a:solidFill>
              <a:latin typeface="Inter"/>
              <a:ea typeface="Inter"/>
              <a:cs typeface="Inter"/>
              <a:sym typeface="Inte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sp>
        <p:nvSpPr>
          <p:cNvPr id="93" name="Google Shape;93;g3d855c145fb_1_4"/>
          <p:cNvSpPr/>
          <p:nvPr/>
        </p:nvSpPr>
        <p:spPr>
          <a:xfrm>
            <a:off x="4998550" y="1436350"/>
            <a:ext cx="3753000" cy="3283800"/>
          </a:xfrm>
          <a:prstGeom prst="roundRect">
            <a:avLst>
              <a:gd fmla="val 16667" name="adj"/>
            </a:avLst>
          </a:prstGeom>
          <a:solidFill>
            <a:srgbClr val="D4E4D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i="0" sz="1400" u="none" cap="none" strike="noStrike">
              <a:solidFill>
                <a:srgbClr val="000000"/>
              </a:solidFill>
              <a:latin typeface="Inter"/>
              <a:ea typeface="Inter"/>
              <a:cs typeface="Inter"/>
              <a:sym typeface="Inter"/>
            </a:endParaRPr>
          </a:p>
        </p:txBody>
      </p:sp>
      <p:sp>
        <p:nvSpPr>
          <p:cNvPr id="94" name="Google Shape;94;g3d855c145fb_1_4"/>
          <p:cNvSpPr/>
          <p:nvPr/>
        </p:nvSpPr>
        <p:spPr>
          <a:xfrm>
            <a:off x="368650" y="1436350"/>
            <a:ext cx="4013400" cy="3283800"/>
          </a:xfrm>
          <a:prstGeom prst="roundRect">
            <a:avLst>
              <a:gd fmla="val 16667" name="adj"/>
            </a:avLst>
          </a:prstGeom>
          <a:solidFill>
            <a:srgbClr val="F5F0E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i="0" sz="1400" u="none" cap="none" strike="noStrike">
              <a:solidFill>
                <a:srgbClr val="000000"/>
              </a:solidFill>
              <a:latin typeface="Inter"/>
              <a:ea typeface="Inter"/>
              <a:cs typeface="Inter"/>
              <a:sym typeface="Inter"/>
            </a:endParaRPr>
          </a:p>
        </p:txBody>
      </p:sp>
      <p:sp>
        <p:nvSpPr>
          <p:cNvPr id="95" name="Google Shape;95;g3d855c145fb_1_4"/>
          <p:cNvSpPr/>
          <p:nvPr/>
        </p:nvSpPr>
        <p:spPr>
          <a:xfrm>
            <a:off x="572325" y="1691650"/>
            <a:ext cx="33111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1A2E"/>
              </a:buClr>
              <a:buSzPts val="1400"/>
              <a:buFont typeface="Georgia"/>
              <a:buNone/>
            </a:pPr>
            <a:r>
              <a:rPr b="1" lang="en">
                <a:solidFill>
                  <a:srgbClr val="1A1A2E"/>
                </a:solidFill>
                <a:latin typeface="Inter"/>
                <a:ea typeface="Inter"/>
                <a:cs typeface="Inter"/>
                <a:sym typeface="Inter"/>
              </a:rPr>
              <a:t>What is “Human-Centered” ML?</a:t>
            </a:r>
            <a:endParaRPr b="1" i="0" sz="1400" u="none" cap="none" strike="noStrike">
              <a:solidFill>
                <a:srgbClr val="000000"/>
              </a:solidFill>
              <a:latin typeface="Inter"/>
              <a:ea typeface="Inter"/>
              <a:cs typeface="Inter"/>
              <a:sym typeface="Inter"/>
            </a:endParaRPr>
          </a:p>
        </p:txBody>
      </p:sp>
      <p:sp>
        <p:nvSpPr>
          <p:cNvPr id="96" name="Google Shape;96;g3d855c145fb_1_4"/>
          <p:cNvSpPr/>
          <p:nvPr/>
        </p:nvSpPr>
        <p:spPr>
          <a:xfrm>
            <a:off x="628116" y="1950724"/>
            <a:ext cx="495300" cy="18300"/>
          </a:xfrm>
          <a:prstGeom prst="rect">
            <a:avLst/>
          </a:prstGeom>
          <a:solidFill>
            <a:srgbClr val="B85C3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i="0" sz="1400" u="none" cap="none" strike="noStrike">
              <a:solidFill>
                <a:srgbClr val="000000"/>
              </a:solidFill>
              <a:latin typeface="Inter"/>
              <a:ea typeface="Inter"/>
              <a:cs typeface="Inter"/>
              <a:sym typeface="Inter"/>
            </a:endParaRPr>
          </a:p>
        </p:txBody>
      </p:sp>
      <p:sp>
        <p:nvSpPr>
          <p:cNvPr id="97" name="Google Shape;97;g3d855c145fb_1_4"/>
          <p:cNvSpPr/>
          <p:nvPr/>
        </p:nvSpPr>
        <p:spPr>
          <a:xfrm>
            <a:off x="5361856" y="1691650"/>
            <a:ext cx="30519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1A2E"/>
              </a:buClr>
              <a:buSzPts val="1400"/>
              <a:buFont typeface="Georgia"/>
              <a:buNone/>
            </a:pPr>
            <a:r>
              <a:rPr b="1" lang="en">
                <a:solidFill>
                  <a:srgbClr val="1A1A2E"/>
                </a:solidFill>
                <a:latin typeface="Inter"/>
                <a:ea typeface="Inter"/>
                <a:cs typeface="Inter"/>
                <a:sym typeface="Inter"/>
              </a:rPr>
              <a:t>Implementation Strategies</a:t>
            </a:r>
            <a:endParaRPr b="1" i="0" sz="1400" u="none" cap="none" strike="noStrike">
              <a:solidFill>
                <a:srgbClr val="000000"/>
              </a:solidFill>
              <a:latin typeface="Inter"/>
              <a:ea typeface="Inter"/>
              <a:cs typeface="Inter"/>
              <a:sym typeface="Inter"/>
            </a:endParaRPr>
          </a:p>
        </p:txBody>
      </p:sp>
      <p:sp>
        <p:nvSpPr>
          <p:cNvPr id="98" name="Google Shape;98;g3d855c145fb_1_4"/>
          <p:cNvSpPr/>
          <p:nvPr/>
        </p:nvSpPr>
        <p:spPr>
          <a:xfrm>
            <a:off x="5390487" y="1950720"/>
            <a:ext cx="426600" cy="18300"/>
          </a:xfrm>
          <a:prstGeom prst="rect">
            <a:avLst/>
          </a:prstGeom>
          <a:solidFill>
            <a:srgbClr val="2C6E6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i="0" sz="1400" u="none" cap="none" strike="noStrike">
              <a:solidFill>
                <a:srgbClr val="000000"/>
              </a:solidFill>
              <a:latin typeface="Inter"/>
              <a:ea typeface="Inter"/>
              <a:cs typeface="Inter"/>
              <a:sym typeface="Inter"/>
            </a:endParaRPr>
          </a:p>
        </p:txBody>
      </p:sp>
      <p:grpSp>
        <p:nvGrpSpPr>
          <p:cNvPr id="99" name="Google Shape;99;g3d855c145fb_1_4"/>
          <p:cNvGrpSpPr/>
          <p:nvPr/>
        </p:nvGrpSpPr>
        <p:grpSpPr>
          <a:xfrm>
            <a:off x="8625" y="0"/>
            <a:ext cx="9144000" cy="267600"/>
            <a:chOff x="8625" y="0"/>
            <a:chExt cx="9144000" cy="267600"/>
          </a:xfrm>
        </p:grpSpPr>
        <p:sp>
          <p:nvSpPr>
            <p:cNvPr id="100" name="Google Shape;100;g3d855c145fb_1_4"/>
            <p:cNvSpPr/>
            <p:nvPr/>
          </p:nvSpPr>
          <p:spPr>
            <a:xfrm>
              <a:off x="8625" y="0"/>
              <a:ext cx="9144000" cy="2676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01" name="Google Shape;101;g3d855c145fb_1_4" title="Logo Header.png"/>
            <p:cNvPicPr preferRelativeResize="0"/>
            <p:nvPr/>
          </p:nvPicPr>
          <p:blipFill rotWithShape="1">
            <a:blip r:embed="rId3">
              <a:alphaModFix/>
            </a:blip>
            <a:srcRect b="0" l="0" r="0" t="0"/>
            <a:stretch/>
          </p:blipFill>
          <p:spPr>
            <a:xfrm>
              <a:off x="8348195" y="15790"/>
              <a:ext cx="634775" cy="199625"/>
            </a:xfrm>
            <a:prstGeom prst="rect">
              <a:avLst/>
            </a:prstGeom>
            <a:noFill/>
            <a:ln>
              <a:noFill/>
            </a:ln>
          </p:spPr>
        </p:pic>
      </p:grpSp>
      <p:sp>
        <p:nvSpPr>
          <p:cNvPr id="102" name="Google Shape;102;g3d855c145fb_1_4"/>
          <p:cNvSpPr txBox="1"/>
          <p:nvPr>
            <p:ph idx="1" type="subTitle"/>
          </p:nvPr>
        </p:nvSpPr>
        <p:spPr>
          <a:xfrm>
            <a:off x="368650" y="447125"/>
            <a:ext cx="5545500" cy="8097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2800"/>
              <a:buNone/>
            </a:pPr>
            <a:r>
              <a:rPr b="1" lang="en" sz="2700">
                <a:solidFill>
                  <a:schemeClr val="dk1"/>
                </a:solidFill>
                <a:latin typeface="Inter"/>
                <a:ea typeface="Inter"/>
                <a:cs typeface="Inter"/>
                <a:sym typeface="Inter"/>
              </a:rPr>
              <a:t>Human-Centered ML</a:t>
            </a:r>
            <a:endParaRPr b="1" sz="2700">
              <a:solidFill>
                <a:schemeClr val="dk1"/>
              </a:solidFill>
              <a:latin typeface="Inter"/>
              <a:ea typeface="Inter"/>
              <a:cs typeface="Inter"/>
              <a:sym typeface="Inter"/>
            </a:endParaRPr>
          </a:p>
        </p:txBody>
      </p:sp>
      <p:sp>
        <p:nvSpPr>
          <p:cNvPr id="103" name="Google Shape;103;g3d855c145fb_1_4"/>
          <p:cNvSpPr txBox="1"/>
          <p:nvPr/>
        </p:nvSpPr>
        <p:spPr>
          <a:xfrm>
            <a:off x="571500" y="2095500"/>
            <a:ext cx="3568200" cy="23547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lang="en">
                <a:solidFill>
                  <a:schemeClr val="dk2"/>
                </a:solidFill>
                <a:latin typeface="Inter"/>
                <a:ea typeface="Inter"/>
                <a:cs typeface="Inter"/>
                <a:sym typeface="Inter"/>
              </a:rPr>
              <a:t>Prioritizing human values, social justice, and stakeholder </a:t>
            </a:r>
            <a:r>
              <a:rPr lang="en">
                <a:solidFill>
                  <a:schemeClr val="dk2"/>
                </a:solidFill>
                <a:latin typeface="Inter"/>
                <a:ea typeface="Inter"/>
                <a:cs typeface="Inter"/>
                <a:sym typeface="Inter"/>
              </a:rPr>
              <a:t>experiences</a:t>
            </a:r>
            <a:r>
              <a:rPr lang="en">
                <a:solidFill>
                  <a:schemeClr val="dk2"/>
                </a:solidFill>
                <a:latin typeface="Inter"/>
                <a:ea typeface="Inter"/>
                <a:cs typeface="Inter"/>
                <a:sym typeface="Inter"/>
              </a:rPr>
              <a:t> create fairer, more transparent, responsible ML models.</a:t>
            </a:r>
            <a:endParaRPr>
              <a:solidFill>
                <a:schemeClr val="dk2"/>
              </a:solidFill>
              <a:latin typeface="Inter"/>
              <a:ea typeface="Inter"/>
              <a:cs typeface="Inter"/>
              <a:sym typeface="Inter"/>
            </a:endParaRPr>
          </a:p>
          <a:p>
            <a:pPr indent="0" lvl="0" marL="0" rtl="0" algn="l">
              <a:lnSpc>
                <a:spcPct val="115000"/>
              </a:lnSpc>
              <a:spcBef>
                <a:spcPts val="1200"/>
              </a:spcBef>
              <a:spcAft>
                <a:spcPts val="0"/>
              </a:spcAft>
              <a:buNone/>
            </a:pPr>
            <a:r>
              <a:rPr lang="en">
                <a:solidFill>
                  <a:schemeClr val="dk2"/>
                </a:solidFill>
                <a:latin typeface="Inter"/>
                <a:ea typeface="Inter"/>
                <a:cs typeface="Inter"/>
                <a:sym typeface="Inter"/>
              </a:rPr>
              <a:t>Collaborative </a:t>
            </a:r>
            <a:r>
              <a:rPr lang="en">
                <a:solidFill>
                  <a:schemeClr val="dk2"/>
                </a:solidFill>
                <a:latin typeface="Inter"/>
                <a:ea typeface="Inter"/>
                <a:cs typeface="Inter"/>
                <a:sym typeface="Inter"/>
              </a:rPr>
              <a:t>conversations</a:t>
            </a:r>
            <a:r>
              <a:rPr lang="en">
                <a:solidFill>
                  <a:schemeClr val="dk2"/>
                </a:solidFill>
                <a:latin typeface="Inter"/>
                <a:ea typeface="Inter"/>
                <a:cs typeface="Inter"/>
                <a:sym typeface="Inter"/>
              </a:rPr>
              <a:t> can provide important context regarding training data, model implementation, and </a:t>
            </a:r>
            <a:r>
              <a:rPr lang="en">
                <a:solidFill>
                  <a:schemeClr val="dk2"/>
                </a:solidFill>
                <a:latin typeface="Inter"/>
                <a:ea typeface="Inter"/>
                <a:cs typeface="Inter"/>
                <a:sym typeface="Inter"/>
              </a:rPr>
              <a:t>validation</a:t>
            </a:r>
            <a:r>
              <a:rPr lang="en">
                <a:solidFill>
                  <a:schemeClr val="dk2"/>
                </a:solidFill>
                <a:latin typeface="Inter"/>
                <a:ea typeface="Inter"/>
                <a:cs typeface="Inter"/>
                <a:sym typeface="Inter"/>
              </a:rPr>
              <a:t>. </a:t>
            </a:r>
            <a:endParaRPr>
              <a:solidFill>
                <a:schemeClr val="dk2"/>
              </a:solidFill>
              <a:latin typeface="Inter"/>
              <a:ea typeface="Inter"/>
              <a:cs typeface="Inter"/>
              <a:sym typeface="Inter"/>
            </a:endParaRPr>
          </a:p>
          <a:p>
            <a:pPr indent="0" lvl="0" marL="0" rtl="0" algn="l">
              <a:spcBef>
                <a:spcPts val="1200"/>
              </a:spcBef>
              <a:spcAft>
                <a:spcPts val="0"/>
              </a:spcAft>
              <a:buNone/>
            </a:pPr>
            <a:r>
              <a:t/>
            </a:r>
            <a:endParaRPr>
              <a:solidFill>
                <a:schemeClr val="dk2"/>
              </a:solidFill>
              <a:latin typeface="Inter"/>
              <a:ea typeface="Inter"/>
              <a:cs typeface="Inter"/>
              <a:sym typeface="Inter"/>
            </a:endParaRPr>
          </a:p>
        </p:txBody>
      </p:sp>
      <p:sp>
        <p:nvSpPr>
          <p:cNvPr id="104" name="Google Shape;104;g3d855c145fb_1_4"/>
          <p:cNvSpPr txBox="1"/>
          <p:nvPr/>
        </p:nvSpPr>
        <p:spPr>
          <a:xfrm>
            <a:off x="5195250" y="1973350"/>
            <a:ext cx="3311100" cy="2209800"/>
          </a:xfrm>
          <a:prstGeom prst="rect">
            <a:avLst/>
          </a:prstGeom>
          <a:noFill/>
          <a:ln>
            <a:noFill/>
          </a:ln>
        </p:spPr>
        <p:txBody>
          <a:bodyPr anchorCtr="0" anchor="t" bIns="91425" lIns="91425" spcFirstLastPara="1" rIns="91425" wrap="square" tIns="91425">
            <a:noAutofit/>
          </a:bodyPr>
          <a:lstStyle/>
          <a:p>
            <a:pPr indent="-336550" lvl="0" marL="457200" rtl="0" algn="l">
              <a:spcBef>
                <a:spcPts val="0"/>
              </a:spcBef>
              <a:spcAft>
                <a:spcPts val="0"/>
              </a:spcAft>
              <a:buClr>
                <a:schemeClr val="dk2"/>
              </a:buClr>
              <a:buSzPts val="1700"/>
              <a:buFont typeface="Inter"/>
              <a:buChar char="●"/>
            </a:pPr>
            <a:r>
              <a:rPr lang="en" sz="1500">
                <a:solidFill>
                  <a:schemeClr val="dk2"/>
                </a:solidFill>
                <a:latin typeface="Inter"/>
                <a:ea typeface="Inter"/>
                <a:cs typeface="Inter"/>
                <a:sym typeface="Inter"/>
              </a:rPr>
              <a:t>Speak to end users about their needs/wants for ML tools</a:t>
            </a:r>
            <a:endParaRPr sz="1500">
              <a:solidFill>
                <a:schemeClr val="dk2"/>
              </a:solidFill>
              <a:latin typeface="Inter"/>
              <a:ea typeface="Inter"/>
              <a:cs typeface="Inter"/>
              <a:sym typeface="Inter"/>
            </a:endParaRPr>
          </a:p>
          <a:p>
            <a:pPr indent="-323850" lvl="0" marL="457200" rtl="0" algn="l">
              <a:spcBef>
                <a:spcPts val="0"/>
              </a:spcBef>
              <a:spcAft>
                <a:spcPts val="0"/>
              </a:spcAft>
              <a:buClr>
                <a:schemeClr val="dk2"/>
              </a:buClr>
              <a:buSzPts val="1500"/>
              <a:buFont typeface="Inter"/>
              <a:buChar char="●"/>
            </a:pPr>
            <a:r>
              <a:rPr lang="en" sz="1500">
                <a:solidFill>
                  <a:schemeClr val="dk2"/>
                </a:solidFill>
                <a:latin typeface="Inter"/>
                <a:ea typeface="Inter"/>
                <a:cs typeface="Inter"/>
                <a:sym typeface="Inter"/>
              </a:rPr>
              <a:t>Prioritize transparent sharing of your model and/or results</a:t>
            </a:r>
            <a:endParaRPr sz="1500">
              <a:solidFill>
                <a:schemeClr val="dk2"/>
              </a:solidFill>
              <a:latin typeface="Inter"/>
              <a:ea typeface="Inter"/>
              <a:cs typeface="Inter"/>
              <a:sym typeface="Inter"/>
            </a:endParaRPr>
          </a:p>
          <a:p>
            <a:pPr indent="-323850" lvl="0" marL="457200" rtl="0" algn="l">
              <a:spcBef>
                <a:spcPts val="0"/>
              </a:spcBef>
              <a:spcAft>
                <a:spcPts val="0"/>
              </a:spcAft>
              <a:buClr>
                <a:schemeClr val="dk2"/>
              </a:buClr>
              <a:buSzPts val="1500"/>
              <a:buFont typeface="Inter"/>
              <a:buChar char="●"/>
            </a:pPr>
            <a:r>
              <a:rPr lang="en" sz="1500">
                <a:solidFill>
                  <a:schemeClr val="dk2"/>
                </a:solidFill>
                <a:latin typeface="Inter"/>
                <a:ea typeface="Inter"/>
                <a:cs typeface="Inter"/>
                <a:sym typeface="Inter"/>
              </a:rPr>
              <a:t>Understand potential biases at each stage of development and mitigate as they arise</a:t>
            </a:r>
            <a:endParaRPr sz="1500">
              <a:solidFill>
                <a:schemeClr val="dk2"/>
              </a:solidFill>
              <a:latin typeface="Inter"/>
              <a:ea typeface="Inter"/>
              <a:cs typeface="Inter"/>
              <a:sym typeface="Inte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sp>
        <p:nvSpPr>
          <p:cNvPr id="109" name="Google Shape;109;p5"/>
          <p:cNvSpPr/>
          <p:nvPr/>
        </p:nvSpPr>
        <p:spPr>
          <a:xfrm>
            <a:off x="405848" y="3418991"/>
            <a:ext cx="7955400" cy="1288800"/>
          </a:xfrm>
          <a:prstGeom prst="roundRect">
            <a:avLst>
              <a:gd fmla="val 16667" name="adj"/>
            </a:avLst>
          </a:prstGeom>
          <a:solidFill>
            <a:srgbClr val="F4CCCC"/>
          </a:solidFill>
          <a:ln>
            <a:noFill/>
          </a:ln>
        </p:spPr>
        <p:txBody>
          <a:bodyPr anchorCtr="0" anchor="ctr" bIns="91425" lIns="91425" spcFirstLastPara="1" rIns="91425" wrap="square" tIns="91425">
            <a:noAutofit/>
          </a:bodyPr>
          <a:lstStyle/>
          <a:p>
            <a:pPr indent="0" lvl="0" marL="2743200" marR="0" rtl="0" algn="ctr">
              <a:lnSpc>
                <a:spcPct val="100000"/>
              </a:lnSpc>
              <a:spcBef>
                <a:spcPts val="0"/>
              </a:spcBef>
              <a:spcAft>
                <a:spcPts val="0"/>
              </a:spcAft>
              <a:buClr>
                <a:srgbClr val="000000"/>
              </a:buClr>
              <a:buSzPts val="1400"/>
              <a:buFont typeface="Arial"/>
              <a:buNone/>
            </a:pPr>
            <a:r>
              <a:t/>
            </a:r>
            <a:endParaRPr i="0" sz="1400" u="none" cap="none" strike="noStrike">
              <a:solidFill>
                <a:srgbClr val="000000"/>
              </a:solidFill>
              <a:latin typeface="Inter"/>
              <a:ea typeface="Inter"/>
              <a:cs typeface="Inter"/>
              <a:sym typeface="Inter"/>
            </a:endParaRPr>
          </a:p>
        </p:txBody>
      </p:sp>
      <p:sp>
        <p:nvSpPr>
          <p:cNvPr id="110" name="Google Shape;110;p5"/>
          <p:cNvSpPr/>
          <p:nvPr/>
        </p:nvSpPr>
        <p:spPr>
          <a:xfrm>
            <a:off x="5934573" y="1115993"/>
            <a:ext cx="2443800" cy="2118300"/>
          </a:xfrm>
          <a:prstGeom prst="roundRect">
            <a:avLst>
              <a:gd fmla="val 16667" name="adj"/>
            </a:avLst>
          </a:prstGeom>
          <a:solidFill>
            <a:srgbClr val="CFE2F3"/>
          </a:solidFill>
          <a:ln>
            <a:noFill/>
          </a:ln>
        </p:spPr>
        <p:txBody>
          <a:bodyPr anchorCtr="0" anchor="ctr" bIns="91425" lIns="91425" spcFirstLastPara="1" rIns="91425" wrap="square" tIns="91425">
            <a:noAutofit/>
          </a:bodyPr>
          <a:lstStyle/>
          <a:p>
            <a:pPr indent="0" lvl="0" marL="2743200" marR="0" rtl="0" algn="ctr">
              <a:lnSpc>
                <a:spcPct val="100000"/>
              </a:lnSpc>
              <a:spcBef>
                <a:spcPts val="0"/>
              </a:spcBef>
              <a:spcAft>
                <a:spcPts val="0"/>
              </a:spcAft>
              <a:buClr>
                <a:srgbClr val="000000"/>
              </a:buClr>
              <a:buSzPts val="1400"/>
              <a:buFont typeface="Arial"/>
              <a:buNone/>
            </a:pPr>
            <a:r>
              <a:t/>
            </a:r>
            <a:endParaRPr i="0" sz="1400" u="none" cap="none" strike="noStrike">
              <a:solidFill>
                <a:srgbClr val="000000"/>
              </a:solidFill>
              <a:latin typeface="Inter"/>
              <a:ea typeface="Inter"/>
              <a:cs typeface="Inter"/>
              <a:sym typeface="Inter"/>
            </a:endParaRPr>
          </a:p>
        </p:txBody>
      </p:sp>
      <p:sp>
        <p:nvSpPr>
          <p:cNvPr id="111" name="Google Shape;111;p5"/>
          <p:cNvSpPr/>
          <p:nvPr/>
        </p:nvSpPr>
        <p:spPr>
          <a:xfrm>
            <a:off x="3191373" y="1137568"/>
            <a:ext cx="2443800" cy="2118300"/>
          </a:xfrm>
          <a:prstGeom prst="roundRect">
            <a:avLst>
              <a:gd fmla="val 16667" name="adj"/>
            </a:avLst>
          </a:prstGeom>
          <a:solidFill>
            <a:srgbClr val="D4E4D1"/>
          </a:solidFill>
          <a:ln>
            <a:noFill/>
          </a:ln>
        </p:spPr>
        <p:txBody>
          <a:bodyPr anchorCtr="0" anchor="ctr" bIns="91425" lIns="91425" spcFirstLastPara="1" rIns="91425" wrap="square" tIns="91425">
            <a:noAutofit/>
          </a:bodyPr>
          <a:lstStyle/>
          <a:p>
            <a:pPr indent="0" lvl="0" marL="2743200" marR="0" rtl="0" algn="ctr">
              <a:lnSpc>
                <a:spcPct val="100000"/>
              </a:lnSpc>
              <a:spcBef>
                <a:spcPts val="0"/>
              </a:spcBef>
              <a:spcAft>
                <a:spcPts val="0"/>
              </a:spcAft>
              <a:buClr>
                <a:srgbClr val="000000"/>
              </a:buClr>
              <a:buSzPts val="1400"/>
              <a:buFont typeface="Arial"/>
              <a:buNone/>
            </a:pPr>
            <a:r>
              <a:t/>
            </a:r>
            <a:endParaRPr i="0" sz="1400" u="none" cap="none" strike="noStrike">
              <a:solidFill>
                <a:srgbClr val="000000"/>
              </a:solidFill>
              <a:latin typeface="Inter"/>
              <a:ea typeface="Inter"/>
              <a:cs typeface="Inter"/>
              <a:sym typeface="Inter"/>
            </a:endParaRPr>
          </a:p>
        </p:txBody>
      </p:sp>
      <p:sp>
        <p:nvSpPr>
          <p:cNvPr id="112" name="Google Shape;112;p5"/>
          <p:cNvSpPr/>
          <p:nvPr/>
        </p:nvSpPr>
        <p:spPr>
          <a:xfrm>
            <a:off x="448173" y="1143868"/>
            <a:ext cx="2443800" cy="2118300"/>
          </a:xfrm>
          <a:prstGeom prst="roundRect">
            <a:avLst>
              <a:gd fmla="val 16667" name="adj"/>
            </a:avLst>
          </a:prstGeom>
          <a:solidFill>
            <a:srgbClr val="F5F0E8"/>
          </a:solidFill>
          <a:ln>
            <a:noFill/>
          </a:ln>
        </p:spPr>
        <p:txBody>
          <a:bodyPr anchorCtr="0" anchor="ctr" bIns="91425" lIns="91425" spcFirstLastPara="1" rIns="91425" wrap="square" tIns="91425">
            <a:noAutofit/>
          </a:bodyPr>
          <a:lstStyle/>
          <a:p>
            <a:pPr indent="0" lvl="0" marL="2743200" marR="0" rtl="0" algn="ctr">
              <a:lnSpc>
                <a:spcPct val="100000"/>
              </a:lnSpc>
              <a:spcBef>
                <a:spcPts val="0"/>
              </a:spcBef>
              <a:spcAft>
                <a:spcPts val="0"/>
              </a:spcAft>
              <a:buClr>
                <a:srgbClr val="000000"/>
              </a:buClr>
              <a:buSzPts val="1400"/>
              <a:buFont typeface="Arial"/>
              <a:buNone/>
            </a:pPr>
            <a:r>
              <a:t/>
            </a:r>
            <a:endParaRPr i="0" sz="1400" u="none" cap="none" strike="noStrike">
              <a:solidFill>
                <a:srgbClr val="000000"/>
              </a:solidFill>
              <a:latin typeface="Inter"/>
              <a:ea typeface="Inter"/>
              <a:cs typeface="Inter"/>
              <a:sym typeface="Inter"/>
            </a:endParaRPr>
          </a:p>
        </p:txBody>
      </p:sp>
      <p:sp>
        <p:nvSpPr>
          <p:cNvPr id="113" name="Google Shape;113;p5"/>
          <p:cNvSpPr/>
          <p:nvPr/>
        </p:nvSpPr>
        <p:spPr>
          <a:xfrm>
            <a:off x="697313" y="1366133"/>
            <a:ext cx="19203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1A2E"/>
              </a:buClr>
              <a:buSzPts val="1400"/>
              <a:buFont typeface="Georgia"/>
              <a:buNone/>
            </a:pPr>
            <a:r>
              <a:rPr b="1" lang="en">
                <a:solidFill>
                  <a:srgbClr val="1A1A2E"/>
                </a:solidFill>
                <a:latin typeface="Inter"/>
                <a:ea typeface="Inter"/>
                <a:cs typeface="Inter"/>
                <a:sym typeface="Inter"/>
              </a:rPr>
              <a:t>What is Supervised Learning?</a:t>
            </a:r>
            <a:endParaRPr b="1" i="0" sz="1400" u="none" cap="none" strike="noStrike">
              <a:solidFill>
                <a:srgbClr val="000000"/>
              </a:solidFill>
              <a:latin typeface="Inter"/>
              <a:ea typeface="Inter"/>
              <a:cs typeface="Inter"/>
              <a:sym typeface="Inter"/>
            </a:endParaRPr>
          </a:p>
        </p:txBody>
      </p:sp>
      <p:sp>
        <p:nvSpPr>
          <p:cNvPr id="114" name="Google Shape;114;p5"/>
          <p:cNvSpPr/>
          <p:nvPr/>
        </p:nvSpPr>
        <p:spPr>
          <a:xfrm>
            <a:off x="697318" y="1741396"/>
            <a:ext cx="495300" cy="18300"/>
          </a:xfrm>
          <a:prstGeom prst="rect">
            <a:avLst/>
          </a:prstGeom>
          <a:solidFill>
            <a:srgbClr val="B85C3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i="0" sz="1400" u="none" cap="none" strike="noStrike">
              <a:solidFill>
                <a:srgbClr val="000000"/>
              </a:solidFill>
              <a:latin typeface="Inter"/>
              <a:ea typeface="Inter"/>
              <a:cs typeface="Inter"/>
              <a:sym typeface="Inter"/>
            </a:endParaRPr>
          </a:p>
        </p:txBody>
      </p:sp>
      <p:sp>
        <p:nvSpPr>
          <p:cNvPr id="115" name="Google Shape;115;p5"/>
          <p:cNvSpPr/>
          <p:nvPr/>
        </p:nvSpPr>
        <p:spPr>
          <a:xfrm>
            <a:off x="3440526" y="1302450"/>
            <a:ext cx="20643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1A2E"/>
              </a:buClr>
              <a:buSzPts val="1400"/>
              <a:buFont typeface="Georgia"/>
              <a:buNone/>
            </a:pPr>
            <a:r>
              <a:rPr b="1" i="0" lang="en" sz="1400" u="none" cap="none" strike="noStrike">
                <a:solidFill>
                  <a:srgbClr val="1A1A2E"/>
                </a:solidFill>
                <a:latin typeface="Inter"/>
                <a:ea typeface="Inter"/>
                <a:cs typeface="Inter"/>
                <a:sym typeface="Inter"/>
              </a:rPr>
              <a:t>Goal/</a:t>
            </a:r>
            <a:r>
              <a:rPr b="1" lang="en">
                <a:solidFill>
                  <a:srgbClr val="1A1A2E"/>
                </a:solidFill>
                <a:latin typeface="Inter"/>
                <a:ea typeface="Inter"/>
                <a:cs typeface="Inter"/>
                <a:sym typeface="Inter"/>
              </a:rPr>
              <a:t>Why Supervised?</a:t>
            </a:r>
            <a:endParaRPr b="1" i="0" sz="1400" u="none" cap="none" strike="noStrike">
              <a:solidFill>
                <a:srgbClr val="000000"/>
              </a:solidFill>
              <a:latin typeface="Inter"/>
              <a:ea typeface="Inter"/>
              <a:cs typeface="Inter"/>
              <a:sym typeface="Inter"/>
            </a:endParaRPr>
          </a:p>
        </p:txBody>
      </p:sp>
      <p:sp>
        <p:nvSpPr>
          <p:cNvPr id="116" name="Google Shape;116;p5"/>
          <p:cNvSpPr/>
          <p:nvPr/>
        </p:nvSpPr>
        <p:spPr>
          <a:xfrm>
            <a:off x="3440518" y="1576672"/>
            <a:ext cx="426600" cy="18300"/>
          </a:xfrm>
          <a:prstGeom prst="rect">
            <a:avLst/>
          </a:prstGeom>
          <a:solidFill>
            <a:srgbClr val="2C6E6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i="0" sz="1400" u="none" cap="none" strike="noStrike">
              <a:solidFill>
                <a:srgbClr val="000000"/>
              </a:solidFill>
              <a:latin typeface="Inter"/>
              <a:ea typeface="Inter"/>
              <a:cs typeface="Inter"/>
              <a:sym typeface="Inter"/>
            </a:endParaRPr>
          </a:p>
        </p:txBody>
      </p:sp>
      <p:sp>
        <p:nvSpPr>
          <p:cNvPr id="117" name="Google Shape;117;p5"/>
          <p:cNvSpPr/>
          <p:nvPr/>
        </p:nvSpPr>
        <p:spPr>
          <a:xfrm>
            <a:off x="6183713" y="1242308"/>
            <a:ext cx="19203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1A2E"/>
              </a:buClr>
              <a:buSzPts val="1400"/>
              <a:buFont typeface="Georgia"/>
              <a:buNone/>
            </a:pPr>
            <a:r>
              <a:rPr b="1" i="0" lang="en" sz="1400" u="none" cap="none" strike="noStrike">
                <a:solidFill>
                  <a:srgbClr val="1A1A2E"/>
                </a:solidFill>
                <a:latin typeface="Inter"/>
                <a:ea typeface="Inter"/>
                <a:cs typeface="Inter"/>
                <a:sym typeface="Inter"/>
              </a:rPr>
              <a:t>Output</a:t>
            </a:r>
            <a:endParaRPr b="1" i="0" sz="1400" u="none" cap="none" strike="noStrike">
              <a:solidFill>
                <a:srgbClr val="000000"/>
              </a:solidFill>
              <a:latin typeface="Inter"/>
              <a:ea typeface="Inter"/>
              <a:cs typeface="Inter"/>
              <a:sym typeface="Inter"/>
            </a:endParaRPr>
          </a:p>
        </p:txBody>
      </p:sp>
      <p:sp>
        <p:nvSpPr>
          <p:cNvPr id="118" name="Google Shape;118;p5"/>
          <p:cNvSpPr/>
          <p:nvPr/>
        </p:nvSpPr>
        <p:spPr>
          <a:xfrm>
            <a:off x="6183720" y="1494095"/>
            <a:ext cx="651600" cy="18300"/>
          </a:xfrm>
          <a:prstGeom prst="rect">
            <a:avLst/>
          </a:prstGeom>
          <a:solidFill>
            <a:srgbClr val="3D85C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i="0" sz="1400" u="none" cap="none" strike="noStrike">
              <a:solidFill>
                <a:srgbClr val="000000"/>
              </a:solidFill>
              <a:latin typeface="Inter"/>
              <a:ea typeface="Inter"/>
              <a:cs typeface="Inter"/>
              <a:sym typeface="Inter"/>
            </a:endParaRPr>
          </a:p>
        </p:txBody>
      </p:sp>
      <p:grpSp>
        <p:nvGrpSpPr>
          <p:cNvPr id="119" name="Google Shape;119;p5"/>
          <p:cNvGrpSpPr/>
          <p:nvPr/>
        </p:nvGrpSpPr>
        <p:grpSpPr>
          <a:xfrm>
            <a:off x="8625" y="0"/>
            <a:ext cx="9144000" cy="267600"/>
            <a:chOff x="8625" y="0"/>
            <a:chExt cx="9144000" cy="267600"/>
          </a:xfrm>
        </p:grpSpPr>
        <p:sp>
          <p:nvSpPr>
            <p:cNvPr id="120" name="Google Shape;120;p5"/>
            <p:cNvSpPr/>
            <p:nvPr/>
          </p:nvSpPr>
          <p:spPr>
            <a:xfrm>
              <a:off x="8625" y="0"/>
              <a:ext cx="9144000" cy="2676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21" name="Google Shape;121;p5" title="Logo Header.png"/>
            <p:cNvPicPr preferRelativeResize="0"/>
            <p:nvPr/>
          </p:nvPicPr>
          <p:blipFill rotWithShape="1">
            <a:blip r:embed="rId3">
              <a:alphaModFix/>
            </a:blip>
            <a:srcRect b="0" l="0" r="0" t="0"/>
            <a:stretch/>
          </p:blipFill>
          <p:spPr>
            <a:xfrm>
              <a:off x="8348195" y="15790"/>
              <a:ext cx="634775" cy="199625"/>
            </a:xfrm>
            <a:prstGeom prst="rect">
              <a:avLst/>
            </a:prstGeom>
            <a:noFill/>
            <a:ln>
              <a:noFill/>
            </a:ln>
          </p:spPr>
        </p:pic>
      </p:grpSp>
      <p:sp>
        <p:nvSpPr>
          <p:cNvPr id="122" name="Google Shape;122;p5"/>
          <p:cNvSpPr/>
          <p:nvPr/>
        </p:nvSpPr>
        <p:spPr>
          <a:xfrm>
            <a:off x="588425" y="3582268"/>
            <a:ext cx="22545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1A2E"/>
              </a:buClr>
              <a:buSzPts val="1400"/>
              <a:buFont typeface="Georgia"/>
              <a:buNone/>
            </a:pPr>
            <a:r>
              <a:rPr b="1" lang="en">
                <a:solidFill>
                  <a:srgbClr val="1A1A2E"/>
                </a:solidFill>
                <a:latin typeface="Inter"/>
                <a:ea typeface="Inter"/>
                <a:cs typeface="Inter"/>
                <a:sym typeface="Inter"/>
              </a:rPr>
              <a:t>Examples</a:t>
            </a:r>
            <a:endParaRPr b="1" i="0" sz="1400" u="none" cap="none" strike="noStrike">
              <a:solidFill>
                <a:srgbClr val="000000"/>
              </a:solidFill>
              <a:latin typeface="Inter"/>
              <a:ea typeface="Inter"/>
              <a:cs typeface="Inter"/>
              <a:sym typeface="Inter"/>
            </a:endParaRPr>
          </a:p>
        </p:txBody>
      </p:sp>
      <p:sp>
        <p:nvSpPr>
          <p:cNvPr id="123" name="Google Shape;123;p5"/>
          <p:cNvSpPr/>
          <p:nvPr/>
        </p:nvSpPr>
        <p:spPr>
          <a:xfrm>
            <a:off x="588423" y="3841337"/>
            <a:ext cx="451500" cy="18300"/>
          </a:xfrm>
          <a:prstGeom prst="rect">
            <a:avLst/>
          </a:prstGeom>
          <a:solidFill>
            <a:srgbClr val="E0666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24" name="Google Shape;124;p5"/>
          <p:cNvSpPr txBox="1"/>
          <p:nvPr>
            <p:ph idx="1" type="subTitle"/>
          </p:nvPr>
        </p:nvSpPr>
        <p:spPr>
          <a:xfrm>
            <a:off x="448173" y="449700"/>
            <a:ext cx="5545500" cy="8097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2800"/>
              <a:buNone/>
            </a:pPr>
            <a:r>
              <a:rPr b="1" lang="en" sz="2700">
                <a:solidFill>
                  <a:schemeClr val="dk1"/>
                </a:solidFill>
                <a:latin typeface="Inter"/>
                <a:ea typeface="Inter"/>
                <a:cs typeface="Inter"/>
                <a:sym typeface="Inter"/>
              </a:rPr>
              <a:t>Types of ML Part 1</a:t>
            </a:r>
            <a:endParaRPr b="1" sz="2700">
              <a:solidFill>
                <a:schemeClr val="dk1"/>
              </a:solidFill>
              <a:latin typeface="Inter"/>
              <a:ea typeface="Inter"/>
              <a:cs typeface="Inter"/>
              <a:sym typeface="Inter"/>
            </a:endParaRPr>
          </a:p>
        </p:txBody>
      </p:sp>
      <p:sp>
        <p:nvSpPr>
          <p:cNvPr id="125" name="Google Shape;125;p5"/>
          <p:cNvSpPr txBox="1"/>
          <p:nvPr/>
        </p:nvSpPr>
        <p:spPr>
          <a:xfrm>
            <a:off x="599147" y="1798575"/>
            <a:ext cx="2064300" cy="1288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1200"/>
              </a:spcAft>
              <a:buNone/>
            </a:pPr>
            <a:r>
              <a:rPr lang="en" sz="1200">
                <a:solidFill>
                  <a:schemeClr val="dk2"/>
                </a:solidFill>
                <a:latin typeface="Inter"/>
                <a:ea typeface="Inter"/>
                <a:cs typeface="Inter"/>
                <a:sym typeface="Inter"/>
              </a:rPr>
              <a:t>Using labeled training data to identify patterns and predict labels. Its performance is evaluated using labeled test data.</a:t>
            </a:r>
            <a:endParaRPr sz="1200">
              <a:solidFill>
                <a:schemeClr val="dk2"/>
              </a:solidFill>
              <a:latin typeface="Inter"/>
              <a:ea typeface="Inter"/>
              <a:cs typeface="Inter"/>
              <a:sym typeface="Inter"/>
            </a:endParaRPr>
          </a:p>
        </p:txBody>
      </p:sp>
      <p:sp>
        <p:nvSpPr>
          <p:cNvPr id="126" name="Google Shape;126;p5"/>
          <p:cNvSpPr txBox="1"/>
          <p:nvPr/>
        </p:nvSpPr>
        <p:spPr>
          <a:xfrm>
            <a:off x="3191375" y="1640325"/>
            <a:ext cx="2313600" cy="1449900"/>
          </a:xfrm>
          <a:prstGeom prst="rect">
            <a:avLst/>
          </a:prstGeom>
          <a:noFill/>
          <a:ln>
            <a:noFill/>
          </a:ln>
        </p:spPr>
        <p:txBody>
          <a:bodyPr anchorCtr="0" anchor="t" bIns="91425" lIns="91425" spcFirstLastPara="1" rIns="91425" wrap="square" tIns="91425">
            <a:noAutofit/>
          </a:bodyPr>
          <a:lstStyle/>
          <a:p>
            <a:pPr indent="-304800" lvl="0" marL="457200" rtl="0" algn="l">
              <a:spcBef>
                <a:spcPts val="0"/>
              </a:spcBef>
              <a:spcAft>
                <a:spcPts val="0"/>
              </a:spcAft>
              <a:buClr>
                <a:schemeClr val="dk2"/>
              </a:buClr>
              <a:buSzPts val="1200"/>
              <a:buFont typeface="Inter"/>
              <a:buChar char="●"/>
            </a:pPr>
            <a:r>
              <a:rPr lang="en" sz="1200">
                <a:solidFill>
                  <a:schemeClr val="dk2"/>
                </a:solidFill>
                <a:latin typeface="Inter"/>
                <a:ea typeface="Inter"/>
                <a:cs typeface="Inter"/>
                <a:sym typeface="Inter"/>
              </a:rPr>
              <a:t>We have labeled inputs</a:t>
            </a:r>
            <a:endParaRPr sz="1200">
              <a:solidFill>
                <a:schemeClr val="dk2"/>
              </a:solidFill>
              <a:latin typeface="Inter"/>
              <a:ea typeface="Inter"/>
              <a:cs typeface="Inter"/>
              <a:sym typeface="Inter"/>
            </a:endParaRPr>
          </a:p>
          <a:p>
            <a:pPr indent="-304800" lvl="0" marL="457200" rtl="0" algn="l">
              <a:spcBef>
                <a:spcPts val="0"/>
              </a:spcBef>
              <a:spcAft>
                <a:spcPts val="0"/>
              </a:spcAft>
              <a:buClr>
                <a:schemeClr val="dk2"/>
              </a:buClr>
              <a:buSzPts val="1200"/>
              <a:buFont typeface="Inter"/>
              <a:buChar char="●"/>
            </a:pPr>
            <a:r>
              <a:rPr lang="en" sz="1200">
                <a:solidFill>
                  <a:schemeClr val="dk2"/>
                </a:solidFill>
                <a:latin typeface="Inter"/>
                <a:ea typeface="Inter"/>
                <a:cs typeface="Inter"/>
                <a:sym typeface="Inter"/>
              </a:rPr>
              <a:t>We want to find </a:t>
            </a:r>
            <a:r>
              <a:rPr lang="en" sz="1200">
                <a:solidFill>
                  <a:schemeClr val="dk2"/>
                </a:solidFill>
                <a:latin typeface="Inter"/>
                <a:ea typeface="Inter"/>
                <a:cs typeface="Inter"/>
                <a:sym typeface="Inter"/>
                <a:extLst>
                  <a:ext uri="http://customooxmlschemas.google.com/">
                    <go:slidesCustomData xmlns:go="http://customooxmlschemas.google.com/" textRoundtripDataId="0"/>
                  </a:ext>
                </a:extLst>
              </a:rPr>
              <a:t>predictive relationships</a:t>
            </a:r>
            <a:r>
              <a:rPr lang="en" sz="1200">
                <a:solidFill>
                  <a:schemeClr val="dk2"/>
                </a:solidFill>
                <a:latin typeface="Inter"/>
                <a:ea typeface="Inter"/>
                <a:cs typeface="Inter"/>
                <a:sym typeface="Inter"/>
              </a:rPr>
              <a:t> between input variables and the target variable</a:t>
            </a:r>
            <a:endParaRPr sz="1200">
              <a:solidFill>
                <a:schemeClr val="dk2"/>
              </a:solidFill>
              <a:latin typeface="Inter"/>
              <a:ea typeface="Inter"/>
              <a:cs typeface="Inter"/>
              <a:sym typeface="Inter"/>
            </a:endParaRPr>
          </a:p>
          <a:p>
            <a:pPr indent="0" lvl="0" marL="0" rtl="0" algn="l">
              <a:spcBef>
                <a:spcPts val="0"/>
              </a:spcBef>
              <a:spcAft>
                <a:spcPts val="0"/>
              </a:spcAft>
              <a:buNone/>
            </a:pPr>
            <a:r>
              <a:t/>
            </a:r>
            <a:endParaRPr sz="1200">
              <a:solidFill>
                <a:schemeClr val="dk2"/>
              </a:solidFill>
              <a:latin typeface="Inter"/>
              <a:ea typeface="Inter"/>
              <a:cs typeface="Inter"/>
              <a:sym typeface="Inter"/>
            </a:endParaRPr>
          </a:p>
        </p:txBody>
      </p:sp>
      <p:sp>
        <p:nvSpPr>
          <p:cNvPr id="127" name="Google Shape;127;p5"/>
          <p:cNvSpPr txBox="1"/>
          <p:nvPr/>
        </p:nvSpPr>
        <p:spPr>
          <a:xfrm>
            <a:off x="535398" y="3851168"/>
            <a:ext cx="5219700" cy="670800"/>
          </a:xfrm>
          <a:prstGeom prst="rect">
            <a:avLst/>
          </a:prstGeom>
          <a:noFill/>
          <a:ln>
            <a:noFill/>
          </a:ln>
        </p:spPr>
        <p:txBody>
          <a:bodyPr anchorCtr="0" anchor="t" bIns="91425" lIns="91425" spcFirstLastPara="1" rIns="91425" wrap="square" tIns="91425">
            <a:noAutofit/>
          </a:bodyPr>
          <a:lstStyle/>
          <a:p>
            <a:pPr indent="-304800" lvl="0" marL="457200" rtl="0" algn="l">
              <a:lnSpc>
                <a:spcPct val="115000"/>
              </a:lnSpc>
              <a:spcBef>
                <a:spcPts val="1200"/>
              </a:spcBef>
              <a:spcAft>
                <a:spcPts val="0"/>
              </a:spcAft>
              <a:buClr>
                <a:schemeClr val="dk2"/>
              </a:buClr>
              <a:buSzPts val="1200"/>
              <a:buFont typeface="Inter"/>
              <a:buChar char="●"/>
            </a:pPr>
            <a:r>
              <a:rPr lang="en" sz="1200">
                <a:solidFill>
                  <a:schemeClr val="dk2"/>
                </a:solidFill>
                <a:latin typeface="Inter"/>
                <a:ea typeface="Inter"/>
                <a:cs typeface="Inter"/>
                <a:sym typeface="Inter"/>
              </a:rPr>
              <a:t>Linear Regression</a:t>
            </a:r>
            <a:endParaRPr sz="1200">
              <a:solidFill>
                <a:schemeClr val="dk2"/>
              </a:solidFill>
              <a:latin typeface="Inter"/>
              <a:ea typeface="Inter"/>
              <a:cs typeface="Inter"/>
              <a:sym typeface="Inter"/>
            </a:endParaRPr>
          </a:p>
          <a:p>
            <a:pPr indent="-304800" lvl="0" marL="457200" rtl="0" algn="l">
              <a:lnSpc>
                <a:spcPct val="115000"/>
              </a:lnSpc>
              <a:spcBef>
                <a:spcPts val="0"/>
              </a:spcBef>
              <a:spcAft>
                <a:spcPts val="0"/>
              </a:spcAft>
              <a:buClr>
                <a:schemeClr val="dk2"/>
              </a:buClr>
              <a:buSzPts val="1200"/>
              <a:buFont typeface="Inter"/>
              <a:buChar char="●"/>
            </a:pPr>
            <a:r>
              <a:rPr lang="en" sz="1200">
                <a:solidFill>
                  <a:schemeClr val="dk2"/>
                </a:solidFill>
                <a:latin typeface="Inter"/>
                <a:ea typeface="Inter"/>
                <a:cs typeface="Inter"/>
                <a:sym typeface="Inter"/>
              </a:rPr>
              <a:t>Decision Trees</a:t>
            </a:r>
            <a:endParaRPr sz="1200">
              <a:solidFill>
                <a:schemeClr val="dk2"/>
              </a:solidFill>
              <a:latin typeface="Inter"/>
              <a:ea typeface="Inter"/>
              <a:cs typeface="Inter"/>
              <a:sym typeface="Inter"/>
            </a:endParaRPr>
          </a:p>
          <a:p>
            <a:pPr indent="-304800" lvl="0" marL="457200" rtl="0" algn="l">
              <a:lnSpc>
                <a:spcPct val="115000"/>
              </a:lnSpc>
              <a:spcBef>
                <a:spcPts val="0"/>
              </a:spcBef>
              <a:spcAft>
                <a:spcPts val="0"/>
              </a:spcAft>
              <a:buClr>
                <a:schemeClr val="dk2"/>
              </a:buClr>
              <a:buSzPts val="1200"/>
              <a:buFont typeface="Inter"/>
              <a:buChar char="●"/>
            </a:pPr>
            <a:r>
              <a:rPr lang="en" sz="1200">
                <a:solidFill>
                  <a:schemeClr val="dk2"/>
                </a:solidFill>
                <a:latin typeface="Inter"/>
                <a:ea typeface="Inter"/>
                <a:cs typeface="Inter"/>
                <a:sym typeface="Inter"/>
              </a:rPr>
              <a:t>Support Vector Machines</a:t>
            </a:r>
            <a:endParaRPr sz="1200">
              <a:solidFill>
                <a:schemeClr val="dk2"/>
              </a:solidFill>
              <a:latin typeface="Inter"/>
              <a:ea typeface="Inter"/>
              <a:cs typeface="Inter"/>
              <a:sym typeface="Inter"/>
            </a:endParaRPr>
          </a:p>
        </p:txBody>
      </p:sp>
      <p:sp>
        <p:nvSpPr>
          <p:cNvPr id="128" name="Google Shape;128;p5"/>
          <p:cNvSpPr txBox="1"/>
          <p:nvPr/>
        </p:nvSpPr>
        <p:spPr>
          <a:xfrm>
            <a:off x="6036425" y="1551300"/>
            <a:ext cx="2254500" cy="1247700"/>
          </a:xfrm>
          <a:prstGeom prst="rect">
            <a:avLst/>
          </a:prstGeom>
          <a:noFill/>
          <a:ln>
            <a:noFill/>
          </a:ln>
        </p:spPr>
        <p:txBody>
          <a:bodyPr anchorCtr="0" anchor="t" bIns="91425" lIns="91425" spcFirstLastPara="1" rIns="91425" wrap="square" tIns="91425">
            <a:noAutofit/>
          </a:bodyPr>
          <a:lstStyle/>
          <a:p>
            <a:pPr indent="-304800" lvl="0" marL="457200" rtl="0" algn="l">
              <a:spcBef>
                <a:spcPts val="0"/>
              </a:spcBef>
              <a:spcAft>
                <a:spcPts val="0"/>
              </a:spcAft>
              <a:buClr>
                <a:schemeClr val="dk2"/>
              </a:buClr>
              <a:buSzPts val="1200"/>
              <a:buFont typeface="Inter"/>
              <a:buChar char="●"/>
            </a:pPr>
            <a:r>
              <a:rPr b="1" lang="en" sz="1200">
                <a:solidFill>
                  <a:schemeClr val="dk2"/>
                </a:solidFill>
                <a:latin typeface="Inter"/>
                <a:ea typeface="Inter"/>
                <a:cs typeface="Inter"/>
                <a:sym typeface="Inter"/>
              </a:rPr>
              <a:t>Predictions</a:t>
            </a:r>
            <a:r>
              <a:rPr lang="en" sz="1200">
                <a:solidFill>
                  <a:schemeClr val="dk2"/>
                </a:solidFill>
                <a:latin typeface="Inter"/>
                <a:ea typeface="Inter"/>
                <a:cs typeface="Inter"/>
                <a:sym typeface="Inter"/>
              </a:rPr>
              <a:t>: Model can predict the correct label for new unseen data</a:t>
            </a:r>
            <a:endParaRPr sz="1200">
              <a:solidFill>
                <a:schemeClr val="dk2"/>
              </a:solidFill>
              <a:latin typeface="Inter"/>
              <a:ea typeface="Inter"/>
              <a:cs typeface="Inter"/>
              <a:sym typeface="Inter"/>
            </a:endParaRPr>
          </a:p>
          <a:p>
            <a:pPr indent="-304800" lvl="0" marL="457200" rtl="0" algn="l">
              <a:spcBef>
                <a:spcPts val="0"/>
              </a:spcBef>
              <a:spcAft>
                <a:spcPts val="0"/>
              </a:spcAft>
              <a:buClr>
                <a:schemeClr val="dk2"/>
              </a:buClr>
              <a:buSzPts val="1200"/>
              <a:buFont typeface="Inter"/>
              <a:buChar char="●"/>
            </a:pPr>
            <a:r>
              <a:rPr b="1" lang="en" sz="1200">
                <a:solidFill>
                  <a:schemeClr val="dk2"/>
                </a:solidFill>
                <a:latin typeface="Inter"/>
                <a:ea typeface="Inter"/>
                <a:cs typeface="Inter"/>
                <a:sym typeface="Inter"/>
              </a:rPr>
              <a:t>Patterns</a:t>
            </a:r>
            <a:r>
              <a:rPr lang="en" sz="1200">
                <a:solidFill>
                  <a:schemeClr val="dk2"/>
                </a:solidFill>
                <a:latin typeface="Inter"/>
                <a:ea typeface="Inter"/>
                <a:cs typeface="Inter"/>
                <a:sym typeface="Inter"/>
              </a:rPr>
              <a:t>: captures relationships between inputs and outputs</a:t>
            </a:r>
            <a:endParaRPr sz="1200">
              <a:solidFill>
                <a:schemeClr val="dk2"/>
              </a:solidFill>
              <a:latin typeface="Inter"/>
              <a:ea typeface="Inter"/>
              <a:cs typeface="Inter"/>
              <a:sym typeface="Inte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g3c5d521f515_0_0"/>
          <p:cNvSpPr/>
          <p:nvPr/>
        </p:nvSpPr>
        <p:spPr>
          <a:xfrm>
            <a:off x="409575" y="3439698"/>
            <a:ext cx="7955400" cy="1288800"/>
          </a:xfrm>
          <a:prstGeom prst="roundRect">
            <a:avLst>
              <a:gd fmla="val 16667" name="adj"/>
            </a:avLst>
          </a:prstGeom>
          <a:solidFill>
            <a:srgbClr val="F4CCCC"/>
          </a:solidFill>
          <a:ln>
            <a:noFill/>
          </a:ln>
        </p:spPr>
        <p:txBody>
          <a:bodyPr anchorCtr="0" anchor="ctr" bIns="91425" lIns="91425" spcFirstLastPara="1" rIns="91425" wrap="square" tIns="91425">
            <a:noAutofit/>
          </a:bodyPr>
          <a:lstStyle/>
          <a:p>
            <a:pPr indent="0" lvl="0" marL="2743200" marR="0" rtl="0" algn="ctr">
              <a:lnSpc>
                <a:spcPct val="100000"/>
              </a:lnSpc>
              <a:spcBef>
                <a:spcPts val="0"/>
              </a:spcBef>
              <a:spcAft>
                <a:spcPts val="0"/>
              </a:spcAft>
              <a:buClr>
                <a:srgbClr val="000000"/>
              </a:buClr>
              <a:buSzPts val="1400"/>
              <a:buFont typeface="Arial"/>
              <a:buNone/>
            </a:pPr>
            <a:r>
              <a:t/>
            </a:r>
            <a:endParaRPr i="0" sz="1400" u="none" cap="none" strike="noStrike">
              <a:solidFill>
                <a:srgbClr val="000000"/>
              </a:solidFill>
              <a:latin typeface="Inter"/>
              <a:ea typeface="Inter"/>
              <a:cs typeface="Inter"/>
              <a:sym typeface="Inter"/>
            </a:endParaRPr>
          </a:p>
        </p:txBody>
      </p:sp>
      <p:sp>
        <p:nvSpPr>
          <p:cNvPr id="134" name="Google Shape;134;g3c5d521f515_0_0"/>
          <p:cNvSpPr/>
          <p:nvPr/>
        </p:nvSpPr>
        <p:spPr>
          <a:xfrm>
            <a:off x="5938300" y="1136713"/>
            <a:ext cx="2443800" cy="2118300"/>
          </a:xfrm>
          <a:prstGeom prst="roundRect">
            <a:avLst>
              <a:gd fmla="val 16667" name="adj"/>
            </a:avLst>
          </a:prstGeom>
          <a:solidFill>
            <a:srgbClr val="CFE2F3"/>
          </a:solidFill>
          <a:ln>
            <a:noFill/>
          </a:ln>
        </p:spPr>
        <p:txBody>
          <a:bodyPr anchorCtr="0" anchor="ctr" bIns="91425" lIns="91425" spcFirstLastPara="1" rIns="91425" wrap="square" tIns="91425">
            <a:noAutofit/>
          </a:bodyPr>
          <a:lstStyle/>
          <a:p>
            <a:pPr indent="0" lvl="0" marL="2743200" marR="0" rtl="0" algn="ctr">
              <a:lnSpc>
                <a:spcPct val="100000"/>
              </a:lnSpc>
              <a:spcBef>
                <a:spcPts val="0"/>
              </a:spcBef>
              <a:spcAft>
                <a:spcPts val="0"/>
              </a:spcAft>
              <a:buClr>
                <a:srgbClr val="000000"/>
              </a:buClr>
              <a:buSzPts val="1400"/>
              <a:buFont typeface="Arial"/>
              <a:buNone/>
            </a:pPr>
            <a:r>
              <a:t/>
            </a:r>
            <a:endParaRPr i="0" sz="1400" u="none" cap="none" strike="noStrike">
              <a:solidFill>
                <a:srgbClr val="000000"/>
              </a:solidFill>
              <a:latin typeface="Inter"/>
              <a:ea typeface="Inter"/>
              <a:cs typeface="Inter"/>
              <a:sym typeface="Inter"/>
            </a:endParaRPr>
          </a:p>
        </p:txBody>
      </p:sp>
      <p:sp>
        <p:nvSpPr>
          <p:cNvPr id="135" name="Google Shape;135;g3c5d521f515_0_0"/>
          <p:cNvSpPr/>
          <p:nvPr/>
        </p:nvSpPr>
        <p:spPr>
          <a:xfrm>
            <a:off x="3195100" y="1158275"/>
            <a:ext cx="2443800" cy="2118300"/>
          </a:xfrm>
          <a:prstGeom prst="roundRect">
            <a:avLst>
              <a:gd fmla="val 16667" name="adj"/>
            </a:avLst>
          </a:prstGeom>
          <a:solidFill>
            <a:srgbClr val="D4E4D1"/>
          </a:solidFill>
          <a:ln>
            <a:noFill/>
          </a:ln>
        </p:spPr>
        <p:txBody>
          <a:bodyPr anchorCtr="0" anchor="ctr" bIns="91425" lIns="91425" spcFirstLastPara="1" rIns="91425" wrap="square" tIns="91425">
            <a:noAutofit/>
          </a:bodyPr>
          <a:lstStyle/>
          <a:p>
            <a:pPr indent="0" lvl="0" marL="2743200" marR="0" rtl="0" algn="ctr">
              <a:lnSpc>
                <a:spcPct val="100000"/>
              </a:lnSpc>
              <a:spcBef>
                <a:spcPts val="0"/>
              </a:spcBef>
              <a:spcAft>
                <a:spcPts val="0"/>
              </a:spcAft>
              <a:buClr>
                <a:srgbClr val="000000"/>
              </a:buClr>
              <a:buSzPts val="1400"/>
              <a:buFont typeface="Arial"/>
              <a:buNone/>
            </a:pPr>
            <a:r>
              <a:t/>
            </a:r>
            <a:endParaRPr i="0" sz="1400" u="none" cap="none" strike="noStrike">
              <a:solidFill>
                <a:srgbClr val="000000"/>
              </a:solidFill>
              <a:latin typeface="Inter"/>
              <a:ea typeface="Inter"/>
              <a:cs typeface="Inter"/>
              <a:sym typeface="Inter"/>
            </a:endParaRPr>
          </a:p>
        </p:txBody>
      </p:sp>
      <p:sp>
        <p:nvSpPr>
          <p:cNvPr id="136" name="Google Shape;136;g3c5d521f515_0_0"/>
          <p:cNvSpPr/>
          <p:nvPr/>
        </p:nvSpPr>
        <p:spPr>
          <a:xfrm>
            <a:off x="451900" y="1164575"/>
            <a:ext cx="2443800" cy="2118300"/>
          </a:xfrm>
          <a:prstGeom prst="roundRect">
            <a:avLst>
              <a:gd fmla="val 16667" name="adj"/>
            </a:avLst>
          </a:prstGeom>
          <a:solidFill>
            <a:srgbClr val="F5F0E8"/>
          </a:solidFill>
          <a:ln>
            <a:noFill/>
          </a:ln>
        </p:spPr>
        <p:txBody>
          <a:bodyPr anchorCtr="0" anchor="ctr" bIns="91425" lIns="91425" spcFirstLastPara="1" rIns="91425" wrap="square" tIns="91425">
            <a:noAutofit/>
          </a:bodyPr>
          <a:lstStyle/>
          <a:p>
            <a:pPr indent="0" lvl="0" marL="2743200" marR="0" rtl="0" algn="ctr">
              <a:lnSpc>
                <a:spcPct val="100000"/>
              </a:lnSpc>
              <a:spcBef>
                <a:spcPts val="0"/>
              </a:spcBef>
              <a:spcAft>
                <a:spcPts val="0"/>
              </a:spcAft>
              <a:buClr>
                <a:srgbClr val="000000"/>
              </a:buClr>
              <a:buSzPts val="1400"/>
              <a:buFont typeface="Arial"/>
              <a:buNone/>
            </a:pPr>
            <a:r>
              <a:t/>
            </a:r>
            <a:endParaRPr i="0" sz="1400" u="none" cap="none" strike="noStrike">
              <a:solidFill>
                <a:srgbClr val="000000"/>
              </a:solidFill>
              <a:latin typeface="Inter"/>
              <a:ea typeface="Inter"/>
              <a:cs typeface="Inter"/>
              <a:sym typeface="Inter"/>
            </a:endParaRPr>
          </a:p>
        </p:txBody>
      </p:sp>
      <p:sp>
        <p:nvSpPr>
          <p:cNvPr id="137" name="Google Shape;137;g3c5d521f515_0_0"/>
          <p:cNvSpPr/>
          <p:nvPr/>
        </p:nvSpPr>
        <p:spPr>
          <a:xfrm>
            <a:off x="701040" y="1386840"/>
            <a:ext cx="19203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1A2E"/>
              </a:buClr>
              <a:buSzPts val="1400"/>
              <a:buFont typeface="Georgia"/>
              <a:buNone/>
            </a:pPr>
            <a:r>
              <a:rPr b="1" lang="en">
                <a:solidFill>
                  <a:srgbClr val="1A1A2E"/>
                </a:solidFill>
                <a:latin typeface="Inter"/>
                <a:ea typeface="Inter"/>
                <a:cs typeface="Inter"/>
                <a:sym typeface="Inter"/>
              </a:rPr>
              <a:t>What is Un- Supervised Learning?</a:t>
            </a:r>
            <a:endParaRPr b="1" i="0" sz="1400" u="none" cap="none" strike="noStrike">
              <a:solidFill>
                <a:srgbClr val="000000"/>
              </a:solidFill>
              <a:latin typeface="Inter"/>
              <a:ea typeface="Inter"/>
              <a:cs typeface="Inter"/>
              <a:sym typeface="Inter"/>
            </a:endParaRPr>
          </a:p>
        </p:txBody>
      </p:sp>
      <p:sp>
        <p:nvSpPr>
          <p:cNvPr id="138" name="Google Shape;138;g3c5d521f515_0_0"/>
          <p:cNvSpPr/>
          <p:nvPr/>
        </p:nvSpPr>
        <p:spPr>
          <a:xfrm>
            <a:off x="701045" y="1762102"/>
            <a:ext cx="495300" cy="18300"/>
          </a:xfrm>
          <a:prstGeom prst="rect">
            <a:avLst/>
          </a:prstGeom>
          <a:solidFill>
            <a:srgbClr val="B85C3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i="0" sz="1400" u="none" cap="none" strike="noStrike">
              <a:solidFill>
                <a:srgbClr val="000000"/>
              </a:solidFill>
              <a:latin typeface="Inter"/>
              <a:ea typeface="Inter"/>
              <a:cs typeface="Inter"/>
              <a:sym typeface="Inter"/>
            </a:endParaRPr>
          </a:p>
        </p:txBody>
      </p:sp>
      <p:sp>
        <p:nvSpPr>
          <p:cNvPr id="139" name="Google Shape;139;g3c5d521f515_0_0"/>
          <p:cNvSpPr/>
          <p:nvPr/>
        </p:nvSpPr>
        <p:spPr>
          <a:xfrm>
            <a:off x="3386974" y="1301125"/>
            <a:ext cx="21948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1A2E"/>
              </a:buClr>
              <a:buSzPts val="1400"/>
              <a:buFont typeface="Georgia"/>
              <a:buNone/>
            </a:pPr>
            <a:r>
              <a:rPr b="1" i="0" lang="en" sz="1400" u="none" cap="none" strike="noStrike">
                <a:solidFill>
                  <a:srgbClr val="1A1A2E"/>
                </a:solidFill>
                <a:latin typeface="Inter"/>
                <a:ea typeface="Inter"/>
                <a:cs typeface="Inter"/>
                <a:sym typeface="Inter"/>
              </a:rPr>
              <a:t>Goal/Why </a:t>
            </a:r>
            <a:r>
              <a:rPr b="1" lang="en">
                <a:solidFill>
                  <a:srgbClr val="1A1A2E"/>
                </a:solidFill>
                <a:latin typeface="Inter"/>
                <a:ea typeface="Inter"/>
                <a:cs typeface="Inter"/>
                <a:sym typeface="Inter"/>
              </a:rPr>
              <a:t>Unsupervised</a:t>
            </a:r>
            <a:endParaRPr b="1" i="0" sz="1400" u="none" cap="none" strike="noStrike">
              <a:solidFill>
                <a:srgbClr val="000000"/>
              </a:solidFill>
              <a:latin typeface="Inter"/>
              <a:ea typeface="Inter"/>
              <a:cs typeface="Inter"/>
              <a:sym typeface="Inter"/>
            </a:endParaRPr>
          </a:p>
        </p:txBody>
      </p:sp>
      <p:sp>
        <p:nvSpPr>
          <p:cNvPr id="140" name="Google Shape;140;g3c5d521f515_0_0"/>
          <p:cNvSpPr/>
          <p:nvPr/>
        </p:nvSpPr>
        <p:spPr>
          <a:xfrm>
            <a:off x="3444245" y="1557054"/>
            <a:ext cx="426600" cy="18300"/>
          </a:xfrm>
          <a:prstGeom prst="rect">
            <a:avLst/>
          </a:prstGeom>
          <a:solidFill>
            <a:srgbClr val="2C6E6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i="0" sz="1400" u="none" cap="none" strike="noStrike">
              <a:solidFill>
                <a:srgbClr val="000000"/>
              </a:solidFill>
              <a:latin typeface="Inter"/>
              <a:ea typeface="Inter"/>
              <a:cs typeface="Inter"/>
              <a:sym typeface="Inter"/>
            </a:endParaRPr>
          </a:p>
        </p:txBody>
      </p:sp>
      <p:sp>
        <p:nvSpPr>
          <p:cNvPr id="141" name="Google Shape;141;g3c5d521f515_0_0"/>
          <p:cNvSpPr/>
          <p:nvPr/>
        </p:nvSpPr>
        <p:spPr>
          <a:xfrm>
            <a:off x="6187440" y="1301115"/>
            <a:ext cx="19203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1A2E"/>
              </a:buClr>
              <a:buSzPts val="1400"/>
              <a:buFont typeface="Georgia"/>
              <a:buNone/>
            </a:pPr>
            <a:r>
              <a:rPr b="1" i="0" lang="en" sz="1400" u="none" cap="none" strike="noStrike">
                <a:solidFill>
                  <a:srgbClr val="1A1A2E"/>
                </a:solidFill>
                <a:latin typeface="Inter"/>
                <a:ea typeface="Inter"/>
                <a:cs typeface="Inter"/>
                <a:sym typeface="Inter"/>
              </a:rPr>
              <a:t>Output</a:t>
            </a:r>
            <a:endParaRPr b="1" i="0" sz="1400" u="none" cap="none" strike="noStrike">
              <a:solidFill>
                <a:srgbClr val="000000"/>
              </a:solidFill>
              <a:latin typeface="Inter"/>
              <a:ea typeface="Inter"/>
              <a:cs typeface="Inter"/>
              <a:sym typeface="Inter"/>
            </a:endParaRPr>
          </a:p>
        </p:txBody>
      </p:sp>
      <p:sp>
        <p:nvSpPr>
          <p:cNvPr id="142" name="Google Shape;142;g3c5d521f515_0_0"/>
          <p:cNvSpPr/>
          <p:nvPr/>
        </p:nvSpPr>
        <p:spPr>
          <a:xfrm>
            <a:off x="6212647" y="1575352"/>
            <a:ext cx="651600" cy="18300"/>
          </a:xfrm>
          <a:prstGeom prst="rect">
            <a:avLst/>
          </a:prstGeom>
          <a:solidFill>
            <a:srgbClr val="3D85C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i="0" sz="1400" u="none" cap="none" strike="noStrike">
              <a:solidFill>
                <a:srgbClr val="000000"/>
              </a:solidFill>
              <a:latin typeface="Inter"/>
              <a:ea typeface="Inter"/>
              <a:cs typeface="Inter"/>
              <a:sym typeface="Inter"/>
            </a:endParaRPr>
          </a:p>
        </p:txBody>
      </p:sp>
      <p:grpSp>
        <p:nvGrpSpPr>
          <p:cNvPr id="143" name="Google Shape;143;g3c5d521f515_0_0"/>
          <p:cNvGrpSpPr/>
          <p:nvPr/>
        </p:nvGrpSpPr>
        <p:grpSpPr>
          <a:xfrm>
            <a:off x="8625" y="0"/>
            <a:ext cx="9144000" cy="267600"/>
            <a:chOff x="8625" y="0"/>
            <a:chExt cx="9144000" cy="267600"/>
          </a:xfrm>
        </p:grpSpPr>
        <p:sp>
          <p:nvSpPr>
            <p:cNvPr id="144" name="Google Shape;144;g3c5d521f515_0_0"/>
            <p:cNvSpPr/>
            <p:nvPr/>
          </p:nvSpPr>
          <p:spPr>
            <a:xfrm>
              <a:off x="8625" y="0"/>
              <a:ext cx="9144000" cy="2676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45" name="Google Shape;145;g3c5d521f515_0_0" title="Logo Header.png"/>
            <p:cNvPicPr preferRelativeResize="0"/>
            <p:nvPr/>
          </p:nvPicPr>
          <p:blipFill rotWithShape="1">
            <a:blip r:embed="rId3">
              <a:alphaModFix/>
            </a:blip>
            <a:srcRect b="0" l="0" r="0" t="0"/>
            <a:stretch/>
          </p:blipFill>
          <p:spPr>
            <a:xfrm>
              <a:off x="8348195" y="15790"/>
              <a:ext cx="634775" cy="199625"/>
            </a:xfrm>
            <a:prstGeom prst="rect">
              <a:avLst/>
            </a:prstGeom>
            <a:noFill/>
            <a:ln>
              <a:noFill/>
            </a:ln>
          </p:spPr>
        </p:pic>
      </p:grpSp>
      <p:sp>
        <p:nvSpPr>
          <p:cNvPr id="146" name="Google Shape;146;g3c5d521f515_0_0"/>
          <p:cNvSpPr/>
          <p:nvPr/>
        </p:nvSpPr>
        <p:spPr>
          <a:xfrm>
            <a:off x="592140" y="3495416"/>
            <a:ext cx="19203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1A2E"/>
              </a:buClr>
              <a:buSzPts val="1400"/>
              <a:buFont typeface="Georgia"/>
              <a:buNone/>
            </a:pPr>
            <a:r>
              <a:rPr b="1" lang="en">
                <a:solidFill>
                  <a:srgbClr val="1A1A2E"/>
                </a:solidFill>
                <a:latin typeface="Inter"/>
                <a:ea typeface="Inter"/>
                <a:cs typeface="Inter"/>
                <a:sym typeface="Inter"/>
              </a:rPr>
              <a:t>Examples</a:t>
            </a:r>
            <a:endParaRPr b="1" i="0" sz="1400" u="none" cap="none" strike="noStrike">
              <a:solidFill>
                <a:srgbClr val="000000"/>
              </a:solidFill>
              <a:latin typeface="Inter"/>
              <a:ea typeface="Inter"/>
              <a:cs typeface="Inter"/>
              <a:sym typeface="Inter"/>
            </a:endParaRPr>
          </a:p>
        </p:txBody>
      </p:sp>
      <p:sp>
        <p:nvSpPr>
          <p:cNvPr id="147" name="Google Shape;147;g3c5d521f515_0_0"/>
          <p:cNvSpPr/>
          <p:nvPr/>
        </p:nvSpPr>
        <p:spPr>
          <a:xfrm>
            <a:off x="592150" y="3733302"/>
            <a:ext cx="451500" cy="18300"/>
          </a:xfrm>
          <a:prstGeom prst="rect">
            <a:avLst/>
          </a:prstGeom>
          <a:solidFill>
            <a:srgbClr val="E0666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i="0" sz="1400" u="none" cap="none" strike="noStrike">
              <a:solidFill>
                <a:srgbClr val="000000"/>
              </a:solidFill>
              <a:latin typeface="Inter"/>
              <a:ea typeface="Inter"/>
              <a:cs typeface="Inter"/>
              <a:sym typeface="Inter"/>
            </a:endParaRPr>
          </a:p>
        </p:txBody>
      </p:sp>
      <p:sp>
        <p:nvSpPr>
          <p:cNvPr id="148" name="Google Shape;148;g3c5d521f515_0_0"/>
          <p:cNvSpPr txBox="1"/>
          <p:nvPr>
            <p:ph idx="1" type="subTitle"/>
          </p:nvPr>
        </p:nvSpPr>
        <p:spPr>
          <a:xfrm>
            <a:off x="451900" y="449713"/>
            <a:ext cx="5545500" cy="8097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2800"/>
              <a:buNone/>
            </a:pPr>
            <a:r>
              <a:rPr b="1" lang="en" sz="2700">
                <a:solidFill>
                  <a:schemeClr val="dk1"/>
                </a:solidFill>
                <a:latin typeface="Inter"/>
                <a:ea typeface="Inter"/>
                <a:cs typeface="Inter"/>
                <a:sym typeface="Inter"/>
              </a:rPr>
              <a:t>Types of ML Part 2</a:t>
            </a:r>
            <a:endParaRPr b="1" sz="2700">
              <a:solidFill>
                <a:schemeClr val="dk1"/>
              </a:solidFill>
              <a:latin typeface="Inter"/>
              <a:ea typeface="Inter"/>
              <a:cs typeface="Inter"/>
              <a:sym typeface="Inter"/>
            </a:endParaRPr>
          </a:p>
        </p:txBody>
      </p:sp>
      <p:sp>
        <p:nvSpPr>
          <p:cNvPr id="149" name="Google Shape;149;g3c5d521f515_0_0"/>
          <p:cNvSpPr txBox="1"/>
          <p:nvPr/>
        </p:nvSpPr>
        <p:spPr>
          <a:xfrm>
            <a:off x="592150" y="1780400"/>
            <a:ext cx="1973700" cy="13692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lang="en" sz="1200">
                <a:solidFill>
                  <a:schemeClr val="dk2"/>
                </a:solidFill>
                <a:latin typeface="Inter"/>
                <a:ea typeface="Inter"/>
                <a:cs typeface="Inter"/>
                <a:sym typeface="Inter"/>
              </a:rPr>
              <a:t>Looks for previously undetected patterns in datasets with no preexisting labels and minimal human supervision</a:t>
            </a:r>
            <a:endParaRPr sz="1200">
              <a:solidFill>
                <a:schemeClr val="dk2"/>
              </a:solidFill>
              <a:latin typeface="Inter"/>
              <a:ea typeface="Inter"/>
              <a:cs typeface="Inter"/>
              <a:sym typeface="Inter"/>
            </a:endParaRPr>
          </a:p>
          <a:p>
            <a:pPr indent="0" lvl="0" marL="0" rtl="0" algn="l">
              <a:spcBef>
                <a:spcPts val="1200"/>
              </a:spcBef>
              <a:spcAft>
                <a:spcPts val="0"/>
              </a:spcAft>
              <a:buNone/>
            </a:pPr>
            <a:r>
              <a:t/>
            </a:r>
            <a:endParaRPr sz="1800">
              <a:solidFill>
                <a:schemeClr val="dk2"/>
              </a:solidFill>
              <a:latin typeface="Inter"/>
              <a:ea typeface="Inter"/>
              <a:cs typeface="Inter"/>
              <a:sym typeface="Inter"/>
            </a:endParaRPr>
          </a:p>
        </p:txBody>
      </p:sp>
      <p:sp>
        <p:nvSpPr>
          <p:cNvPr id="150" name="Google Shape;150;g3c5d521f515_0_0"/>
          <p:cNvSpPr txBox="1"/>
          <p:nvPr/>
        </p:nvSpPr>
        <p:spPr>
          <a:xfrm>
            <a:off x="3212170" y="1611413"/>
            <a:ext cx="2346300" cy="1476300"/>
          </a:xfrm>
          <a:prstGeom prst="rect">
            <a:avLst/>
          </a:prstGeom>
          <a:noFill/>
          <a:ln>
            <a:noFill/>
          </a:ln>
        </p:spPr>
        <p:txBody>
          <a:bodyPr anchorCtr="0" anchor="t" bIns="91425" lIns="91425" spcFirstLastPara="1" rIns="91425" wrap="square" tIns="91425">
            <a:noAutofit/>
          </a:bodyPr>
          <a:lstStyle/>
          <a:p>
            <a:pPr indent="-304800" lvl="0" marL="457200" rtl="0" algn="l">
              <a:lnSpc>
                <a:spcPct val="115000"/>
              </a:lnSpc>
              <a:spcBef>
                <a:spcPts val="1200"/>
              </a:spcBef>
              <a:spcAft>
                <a:spcPts val="0"/>
              </a:spcAft>
              <a:buClr>
                <a:schemeClr val="dk2"/>
              </a:buClr>
              <a:buSzPts val="1200"/>
              <a:buFont typeface="Inter"/>
              <a:buChar char="●"/>
            </a:pPr>
            <a:r>
              <a:rPr lang="en" sz="1200">
                <a:solidFill>
                  <a:schemeClr val="dk2"/>
                </a:solidFill>
                <a:latin typeface="Inter"/>
                <a:ea typeface="Inter"/>
                <a:cs typeface="Inter"/>
                <a:sym typeface="Inter"/>
              </a:rPr>
              <a:t>Have unlabeled data</a:t>
            </a:r>
            <a:endParaRPr sz="1200">
              <a:solidFill>
                <a:schemeClr val="dk2"/>
              </a:solidFill>
              <a:latin typeface="Inter"/>
              <a:ea typeface="Inter"/>
              <a:cs typeface="Inter"/>
              <a:sym typeface="Inter"/>
            </a:endParaRPr>
          </a:p>
          <a:p>
            <a:pPr indent="-304800" lvl="0" marL="457200" rtl="0" algn="l">
              <a:lnSpc>
                <a:spcPct val="115000"/>
              </a:lnSpc>
              <a:spcBef>
                <a:spcPts val="0"/>
              </a:spcBef>
              <a:spcAft>
                <a:spcPts val="0"/>
              </a:spcAft>
              <a:buClr>
                <a:schemeClr val="dk2"/>
              </a:buClr>
              <a:buSzPts val="1200"/>
              <a:buFont typeface="Inter"/>
              <a:buChar char="●"/>
            </a:pPr>
            <a:r>
              <a:rPr lang="en" sz="1200">
                <a:solidFill>
                  <a:schemeClr val="dk2"/>
                </a:solidFill>
                <a:latin typeface="Inter"/>
                <a:ea typeface="Inter"/>
                <a:cs typeface="Inter"/>
                <a:sym typeface="Inter"/>
              </a:rPr>
              <a:t>Cheaper than supervised: labeling is time and money intensive</a:t>
            </a:r>
            <a:endParaRPr sz="1200">
              <a:solidFill>
                <a:schemeClr val="dk2"/>
              </a:solidFill>
              <a:latin typeface="Inter"/>
              <a:ea typeface="Inter"/>
              <a:cs typeface="Inter"/>
              <a:sym typeface="Inter"/>
            </a:endParaRPr>
          </a:p>
          <a:p>
            <a:pPr indent="-304800" lvl="0" marL="457200" rtl="0" algn="l">
              <a:lnSpc>
                <a:spcPct val="115000"/>
              </a:lnSpc>
              <a:spcBef>
                <a:spcPts val="0"/>
              </a:spcBef>
              <a:spcAft>
                <a:spcPts val="0"/>
              </a:spcAft>
              <a:buClr>
                <a:schemeClr val="dk2"/>
              </a:buClr>
              <a:buSzPts val="1200"/>
              <a:buFont typeface="Inter"/>
              <a:buChar char="●"/>
            </a:pPr>
            <a:r>
              <a:rPr lang="en" sz="1200">
                <a:solidFill>
                  <a:schemeClr val="dk2"/>
                </a:solidFill>
                <a:latin typeface="Inter"/>
                <a:ea typeface="Inter"/>
                <a:cs typeface="Inter"/>
                <a:sym typeface="Inter"/>
              </a:rPr>
              <a:t>To discover previously unseen patterns</a:t>
            </a:r>
            <a:endParaRPr sz="1200">
              <a:solidFill>
                <a:schemeClr val="dk2"/>
              </a:solidFill>
              <a:latin typeface="Inter"/>
              <a:ea typeface="Inter"/>
              <a:cs typeface="Inter"/>
              <a:sym typeface="Inter"/>
            </a:endParaRPr>
          </a:p>
          <a:p>
            <a:pPr indent="0" lvl="0" marL="0" rtl="0" algn="l">
              <a:spcBef>
                <a:spcPts val="1200"/>
              </a:spcBef>
              <a:spcAft>
                <a:spcPts val="0"/>
              </a:spcAft>
              <a:buNone/>
            </a:pPr>
            <a:r>
              <a:t/>
            </a:r>
            <a:endParaRPr sz="1200">
              <a:solidFill>
                <a:schemeClr val="dk2"/>
              </a:solidFill>
              <a:latin typeface="Inter"/>
              <a:ea typeface="Inter"/>
              <a:cs typeface="Inter"/>
              <a:sym typeface="Inter"/>
            </a:endParaRPr>
          </a:p>
        </p:txBody>
      </p:sp>
      <p:sp>
        <p:nvSpPr>
          <p:cNvPr id="151" name="Google Shape;151;g3c5d521f515_0_0"/>
          <p:cNvSpPr txBox="1"/>
          <p:nvPr/>
        </p:nvSpPr>
        <p:spPr>
          <a:xfrm>
            <a:off x="6172200" y="1733550"/>
            <a:ext cx="1973700" cy="1190700"/>
          </a:xfrm>
          <a:prstGeom prst="rect">
            <a:avLst/>
          </a:prstGeom>
          <a:noFill/>
          <a:ln>
            <a:noFill/>
          </a:ln>
        </p:spPr>
        <p:txBody>
          <a:bodyPr anchorCtr="0" anchor="t" bIns="91425" lIns="91425" spcFirstLastPara="1" rIns="91425" wrap="square" tIns="91425">
            <a:noAutofit/>
          </a:bodyPr>
          <a:lstStyle/>
          <a:p>
            <a:pPr indent="-304800" lvl="0" marL="457200" rtl="0" algn="l">
              <a:spcBef>
                <a:spcPts val="0"/>
              </a:spcBef>
              <a:spcAft>
                <a:spcPts val="0"/>
              </a:spcAft>
              <a:buClr>
                <a:schemeClr val="dk2"/>
              </a:buClr>
              <a:buSzPts val="1200"/>
              <a:buFont typeface="Inter"/>
              <a:buChar char="●"/>
            </a:pPr>
            <a:r>
              <a:rPr lang="en" sz="1200">
                <a:solidFill>
                  <a:schemeClr val="dk2"/>
                </a:solidFill>
                <a:latin typeface="Inter"/>
                <a:ea typeface="Inter"/>
                <a:cs typeface="Inter"/>
                <a:sym typeface="Inter"/>
              </a:rPr>
              <a:t>Discover patterns or structure in the data</a:t>
            </a:r>
            <a:endParaRPr sz="1200">
              <a:solidFill>
                <a:schemeClr val="dk2"/>
              </a:solidFill>
              <a:latin typeface="Inter"/>
              <a:ea typeface="Inter"/>
              <a:cs typeface="Inter"/>
              <a:sym typeface="Inter"/>
            </a:endParaRPr>
          </a:p>
          <a:p>
            <a:pPr indent="-304800" lvl="0" marL="457200" rtl="0" algn="l">
              <a:spcBef>
                <a:spcPts val="0"/>
              </a:spcBef>
              <a:spcAft>
                <a:spcPts val="0"/>
              </a:spcAft>
              <a:buClr>
                <a:schemeClr val="dk2"/>
              </a:buClr>
              <a:buSzPts val="1200"/>
              <a:buFont typeface="Inter"/>
              <a:buChar char="●"/>
            </a:pPr>
            <a:r>
              <a:rPr lang="en" sz="1200">
                <a:solidFill>
                  <a:schemeClr val="dk2"/>
                </a:solidFill>
                <a:latin typeface="Inter"/>
                <a:ea typeface="Inter"/>
                <a:cs typeface="Inter"/>
                <a:sym typeface="Inter"/>
              </a:rPr>
              <a:t>Group similar data or reduce complexity</a:t>
            </a:r>
            <a:endParaRPr sz="1200">
              <a:solidFill>
                <a:schemeClr val="dk2"/>
              </a:solidFill>
              <a:latin typeface="Inter"/>
              <a:ea typeface="Inter"/>
              <a:cs typeface="Inter"/>
              <a:sym typeface="Inter"/>
            </a:endParaRPr>
          </a:p>
        </p:txBody>
      </p:sp>
      <p:sp>
        <p:nvSpPr>
          <p:cNvPr id="152" name="Google Shape;152;g3c5d521f515_0_0"/>
          <p:cNvSpPr txBox="1"/>
          <p:nvPr/>
        </p:nvSpPr>
        <p:spPr>
          <a:xfrm>
            <a:off x="407278" y="3769625"/>
            <a:ext cx="5486400" cy="794100"/>
          </a:xfrm>
          <a:prstGeom prst="rect">
            <a:avLst/>
          </a:prstGeom>
          <a:noFill/>
          <a:ln>
            <a:noFill/>
          </a:ln>
        </p:spPr>
        <p:txBody>
          <a:bodyPr anchorCtr="0" anchor="t" bIns="91425" lIns="91425" spcFirstLastPara="1" rIns="91425" wrap="square" tIns="91425">
            <a:spAutoFit/>
          </a:bodyPr>
          <a:lstStyle/>
          <a:p>
            <a:pPr indent="-304800" lvl="0" marL="457200" rtl="0" algn="l">
              <a:lnSpc>
                <a:spcPct val="115000"/>
              </a:lnSpc>
              <a:spcBef>
                <a:spcPts val="1200"/>
              </a:spcBef>
              <a:spcAft>
                <a:spcPts val="0"/>
              </a:spcAft>
              <a:buClr>
                <a:schemeClr val="dk2"/>
              </a:buClr>
              <a:buSzPts val="1200"/>
              <a:buFont typeface="Inter"/>
              <a:buChar char="●"/>
            </a:pPr>
            <a:r>
              <a:rPr lang="en" sz="1200">
                <a:solidFill>
                  <a:schemeClr val="dk2"/>
                </a:solidFill>
                <a:latin typeface="Inter"/>
                <a:ea typeface="Inter"/>
                <a:cs typeface="Inter"/>
                <a:sym typeface="Inter"/>
              </a:rPr>
              <a:t>Cluster Analysis</a:t>
            </a:r>
            <a:endParaRPr sz="1200">
              <a:solidFill>
                <a:schemeClr val="dk2"/>
              </a:solidFill>
              <a:latin typeface="Inter"/>
              <a:ea typeface="Inter"/>
              <a:cs typeface="Inter"/>
              <a:sym typeface="Inter"/>
            </a:endParaRPr>
          </a:p>
          <a:p>
            <a:pPr indent="-304800" lvl="0" marL="457200" rtl="0" algn="l">
              <a:lnSpc>
                <a:spcPct val="115000"/>
              </a:lnSpc>
              <a:spcBef>
                <a:spcPts val="0"/>
              </a:spcBef>
              <a:spcAft>
                <a:spcPts val="0"/>
              </a:spcAft>
              <a:buClr>
                <a:schemeClr val="dk2"/>
              </a:buClr>
              <a:buSzPts val="1200"/>
              <a:buFont typeface="Inter"/>
              <a:buChar char="●"/>
            </a:pPr>
            <a:r>
              <a:rPr lang="en" sz="1200">
                <a:solidFill>
                  <a:schemeClr val="dk2"/>
                </a:solidFill>
                <a:latin typeface="Inter"/>
                <a:ea typeface="Inter"/>
                <a:cs typeface="Inter"/>
                <a:sym typeface="Inter"/>
              </a:rPr>
              <a:t>Principal Component Analysis (PCA)</a:t>
            </a:r>
            <a:endParaRPr sz="1200">
              <a:solidFill>
                <a:schemeClr val="dk2"/>
              </a:solidFill>
              <a:latin typeface="Inter"/>
              <a:ea typeface="Inter"/>
              <a:cs typeface="Inter"/>
              <a:sym typeface="Inter"/>
            </a:endParaRPr>
          </a:p>
          <a:p>
            <a:pPr indent="-304800" lvl="0" marL="457200" rtl="0" algn="l">
              <a:lnSpc>
                <a:spcPct val="115000"/>
              </a:lnSpc>
              <a:spcBef>
                <a:spcPts val="0"/>
              </a:spcBef>
              <a:spcAft>
                <a:spcPts val="0"/>
              </a:spcAft>
              <a:buClr>
                <a:schemeClr val="dk2"/>
              </a:buClr>
              <a:buSzPts val="1200"/>
              <a:buFont typeface="Inter"/>
              <a:buChar char="●"/>
            </a:pPr>
            <a:r>
              <a:rPr lang="en" sz="1200">
                <a:solidFill>
                  <a:schemeClr val="dk2"/>
                </a:solidFill>
                <a:latin typeface="Inter"/>
                <a:ea typeface="Inter"/>
                <a:cs typeface="Inter"/>
                <a:sym typeface="Inter"/>
              </a:rPr>
              <a:t>Anomaly</a:t>
            </a:r>
            <a:r>
              <a:rPr lang="en" sz="1200">
                <a:solidFill>
                  <a:schemeClr val="dk2"/>
                </a:solidFill>
                <a:latin typeface="Inter"/>
                <a:ea typeface="Inter"/>
                <a:cs typeface="Inter"/>
                <a:sym typeface="Inter"/>
              </a:rPr>
              <a:t> Detection</a:t>
            </a:r>
            <a:endParaRPr sz="1200">
              <a:solidFill>
                <a:schemeClr val="dk2"/>
              </a:solidFill>
              <a:latin typeface="Inter"/>
              <a:ea typeface="Inter"/>
              <a:cs typeface="Inter"/>
              <a:sym typeface="Inte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sp>
        <p:nvSpPr>
          <p:cNvPr id="157" name="Google Shape;157;g3e049f9ed10_0_4"/>
          <p:cNvSpPr/>
          <p:nvPr/>
        </p:nvSpPr>
        <p:spPr>
          <a:xfrm>
            <a:off x="409575" y="4075450"/>
            <a:ext cx="7955400" cy="966900"/>
          </a:xfrm>
          <a:prstGeom prst="roundRect">
            <a:avLst>
              <a:gd fmla="val 16667" name="adj"/>
            </a:avLst>
          </a:prstGeom>
          <a:solidFill>
            <a:srgbClr val="F4CCCC"/>
          </a:solidFill>
          <a:ln>
            <a:noFill/>
          </a:ln>
        </p:spPr>
        <p:txBody>
          <a:bodyPr anchorCtr="0" anchor="ctr" bIns="91425" lIns="91425" spcFirstLastPara="1" rIns="91425" wrap="square" tIns="91425">
            <a:noAutofit/>
          </a:bodyPr>
          <a:lstStyle/>
          <a:p>
            <a:pPr indent="0" lvl="0" marL="2743200" marR="0" rtl="0" algn="ctr">
              <a:lnSpc>
                <a:spcPct val="100000"/>
              </a:lnSpc>
              <a:spcBef>
                <a:spcPts val="0"/>
              </a:spcBef>
              <a:spcAft>
                <a:spcPts val="0"/>
              </a:spcAft>
              <a:buClr>
                <a:srgbClr val="000000"/>
              </a:buClr>
              <a:buSzPts val="1400"/>
              <a:buFont typeface="Arial"/>
              <a:buNone/>
            </a:pPr>
            <a:r>
              <a:t/>
            </a:r>
            <a:endParaRPr i="0" sz="1400" u="none" cap="none" strike="noStrike">
              <a:solidFill>
                <a:srgbClr val="000000"/>
              </a:solidFill>
              <a:latin typeface="Inter"/>
              <a:ea typeface="Inter"/>
              <a:cs typeface="Inter"/>
              <a:sym typeface="Inter"/>
            </a:endParaRPr>
          </a:p>
        </p:txBody>
      </p:sp>
      <p:sp>
        <p:nvSpPr>
          <p:cNvPr id="158" name="Google Shape;158;g3e049f9ed10_0_4"/>
          <p:cNvSpPr/>
          <p:nvPr/>
        </p:nvSpPr>
        <p:spPr>
          <a:xfrm>
            <a:off x="5913100" y="1477900"/>
            <a:ext cx="2914500" cy="2383800"/>
          </a:xfrm>
          <a:prstGeom prst="roundRect">
            <a:avLst>
              <a:gd fmla="val 16667" name="adj"/>
            </a:avLst>
          </a:prstGeom>
          <a:solidFill>
            <a:srgbClr val="CFE2F3"/>
          </a:solidFill>
          <a:ln>
            <a:noFill/>
          </a:ln>
        </p:spPr>
        <p:txBody>
          <a:bodyPr anchorCtr="0" anchor="ctr" bIns="91425" lIns="91425" spcFirstLastPara="1" rIns="91425" wrap="square" tIns="91425">
            <a:noAutofit/>
          </a:bodyPr>
          <a:lstStyle/>
          <a:p>
            <a:pPr indent="0" lvl="0" marL="2743200" marR="0" rtl="0" algn="ctr">
              <a:lnSpc>
                <a:spcPct val="100000"/>
              </a:lnSpc>
              <a:spcBef>
                <a:spcPts val="0"/>
              </a:spcBef>
              <a:spcAft>
                <a:spcPts val="0"/>
              </a:spcAft>
              <a:buClr>
                <a:srgbClr val="000000"/>
              </a:buClr>
              <a:buSzPts val="1400"/>
              <a:buFont typeface="Arial"/>
              <a:buNone/>
            </a:pPr>
            <a:r>
              <a:t/>
            </a:r>
            <a:endParaRPr i="0" sz="1400" u="none" cap="none" strike="noStrike">
              <a:solidFill>
                <a:srgbClr val="000000"/>
              </a:solidFill>
              <a:latin typeface="Inter"/>
              <a:ea typeface="Inter"/>
              <a:cs typeface="Inter"/>
              <a:sym typeface="Inter"/>
            </a:endParaRPr>
          </a:p>
        </p:txBody>
      </p:sp>
      <p:sp>
        <p:nvSpPr>
          <p:cNvPr id="159" name="Google Shape;159;g3e049f9ed10_0_4"/>
          <p:cNvSpPr/>
          <p:nvPr/>
        </p:nvSpPr>
        <p:spPr>
          <a:xfrm>
            <a:off x="3195100" y="1462274"/>
            <a:ext cx="2443800" cy="2383800"/>
          </a:xfrm>
          <a:prstGeom prst="roundRect">
            <a:avLst>
              <a:gd fmla="val 16667" name="adj"/>
            </a:avLst>
          </a:prstGeom>
          <a:solidFill>
            <a:srgbClr val="D4E4D1"/>
          </a:solidFill>
          <a:ln>
            <a:noFill/>
          </a:ln>
        </p:spPr>
        <p:txBody>
          <a:bodyPr anchorCtr="0" anchor="ctr" bIns="91425" lIns="91425" spcFirstLastPara="1" rIns="91425" wrap="square" tIns="91425">
            <a:noAutofit/>
          </a:bodyPr>
          <a:lstStyle/>
          <a:p>
            <a:pPr indent="0" lvl="0" marL="2743200" marR="0" rtl="0" algn="ctr">
              <a:lnSpc>
                <a:spcPct val="100000"/>
              </a:lnSpc>
              <a:spcBef>
                <a:spcPts val="0"/>
              </a:spcBef>
              <a:spcAft>
                <a:spcPts val="0"/>
              </a:spcAft>
              <a:buClr>
                <a:srgbClr val="000000"/>
              </a:buClr>
              <a:buSzPts val="1400"/>
              <a:buFont typeface="Arial"/>
              <a:buNone/>
            </a:pPr>
            <a:r>
              <a:t/>
            </a:r>
            <a:endParaRPr i="0" sz="1400" u="none" cap="none" strike="noStrike">
              <a:solidFill>
                <a:srgbClr val="000000"/>
              </a:solidFill>
              <a:latin typeface="Inter"/>
              <a:ea typeface="Inter"/>
              <a:cs typeface="Inter"/>
              <a:sym typeface="Inter"/>
            </a:endParaRPr>
          </a:p>
        </p:txBody>
      </p:sp>
      <p:sp>
        <p:nvSpPr>
          <p:cNvPr id="160" name="Google Shape;160;g3e049f9ed10_0_4"/>
          <p:cNvSpPr/>
          <p:nvPr/>
        </p:nvSpPr>
        <p:spPr>
          <a:xfrm>
            <a:off x="452050" y="1437401"/>
            <a:ext cx="2443500" cy="2424300"/>
          </a:xfrm>
          <a:prstGeom prst="roundRect">
            <a:avLst>
              <a:gd fmla="val 16667" name="adj"/>
            </a:avLst>
          </a:prstGeom>
          <a:solidFill>
            <a:srgbClr val="F5F0E8"/>
          </a:solidFill>
          <a:ln>
            <a:noFill/>
          </a:ln>
        </p:spPr>
        <p:txBody>
          <a:bodyPr anchorCtr="0" anchor="ctr" bIns="91425" lIns="91425" spcFirstLastPara="1" rIns="91425" wrap="square" tIns="91425">
            <a:noAutofit/>
          </a:bodyPr>
          <a:lstStyle/>
          <a:p>
            <a:pPr indent="0" lvl="0" marL="2743200" marR="0" rtl="0" algn="ctr">
              <a:lnSpc>
                <a:spcPct val="100000"/>
              </a:lnSpc>
              <a:spcBef>
                <a:spcPts val="0"/>
              </a:spcBef>
              <a:spcAft>
                <a:spcPts val="0"/>
              </a:spcAft>
              <a:buClr>
                <a:srgbClr val="000000"/>
              </a:buClr>
              <a:buSzPts val="1400"/>
              <a:buFont typeface="Arial"/>
              <a:buNone/>
            </a:pPr>
            <a:r>
              <a:t/>
            </a:r>
            <a:endParaRPr i="0" sz="1400" u="none" cap="none" strike="noStrike">
              <a:solidFill>
                <a:srgbClr val="000000"/>
              </a:solidFill>
              <a:latin typeface="Inter"/>
              <a:ea typeface="Inter"/>
              <a:cs typeface="Inter"/>
              <a:sym typeface="Inter"/>
            </a:endParaRPr>
          </a:p>
        </p:txBody>
      </p:sp>
      <p:sp>
        <p:nvSpPr>
          <p:cNvPr id="161" name="Google Shape;161;g3e049f9ed10_0_4"/>
          <p:cNvSpPr/>
          <p:nvPr/>
        </p:nvSpPr>
        <p:spPr>
          <a:xfrm>
            <a:off x="717673" y="2747169"/>
            <a:ext cx="1920300" cy="313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1A2E"/>
              </a:buClr>
              <a:buSzPts val="1400"/>
              <a:buFont typeface="Georgia"/>
              <a:buNone/>
            </a:pPr>
            <a:r>
              <a:rPr b="1" lang="en">
                <a:solidFill>
                  <a:srgbClr val="1A1A2E"/>
                </a:solidFill>
                <a:latin typeface="Inter"/>
                <a:ea typeface="Inter"/>
                <a:cs typeface="Inter"/>
                <a:sym typeface="Inter"/>
              </a:rPr>
              <a:t>Training Data:</a:t>
            </a:r>
            <a:endParaRPr b="1" i="0" sz="1400" u="none" cap="none" strike="noStrike">
              <a:solidFill>
                <a:srgbClr val="000000"/>
              </a:solidFill>
              <a:latin typeface="Inter"/>
              <a:ea typeface="Inter"/>
              <a:cs typeface="Inter"/>
              <a:sym typeface="Inter"/>
            </a:endParaRPr>
          </a:p>
        </p:txBody>
      </p:sp>
      <p:sp>
        <p:nvSpPr>
          <p:cNvPr id="162" name="Google Shape;162;g3e049f9ed10_0_4"/>
          <p:cNvSpPr/>
          <p:nvPr/>
        </p:nvSpPr>
        <p:spPr>
          <a:xfrm>
            <a:off x="779733" y="3015902"/>
            <a:ext cx="495300" cy="21000"/>
          </a:xfrm>
          <a:prstGeom prst="rect">
            <a:avLst/>
          </a:prstGeom>
          <a:solidFill>
            <a:srgbClr val="B85C3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i="0" sz="1400" u="none" cap="none" strike="noStrike">
              <a:solidFill>
                <a:srgbClr val="000000"/>
              </a:solidFill>
              <a:latin typeface="Inter"/>
              <a:ea typeface="Inter"/>
              <a:cs typeface="Inter"/>
              <a:sym typeface="Inter"/>
            </a:endParaRPr>
          </a:p>
        </p:txBody>
      </p:sp>
      <p:sp>
        <p:nvSpPr>
          <p:cNvPr id="163" name="Google Shape;163;g3e049f9ed10_0_4"/>
          <p:cNvSpPr/>
          <p:nvPr/>
        </p:nvSpPr>
        <p:spPr>
          <a:xfrm>
            <a:off x="3444240" y="1644454"/>
            <a:ext cx="1920300" cy="3087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1A2E"/>
              </a:buClr>
              <a:buSzPts val="1400"/>
              <a:buFont typeface="Georgia"/>
              <a:buNone/>
            </a:pPr>
            <a:r>
              <a:rPr b="1" lang="en">
                <a:solidFill>
                  <a:srgbClr val="1A1A2E"/>
                </a:solidFill>
                <a:latin typeface="Inter"/>
                <a:ea typeface="Inter"/>
                <a:cs typeface="Inter"/>
                <a:sym typeface="Inter"/>
              </a:rPr>
              <a:t>Intended Use/Out of Scope</a:t>
            </a:r>
            <a:endParaRPr b="1" i="0" sz="1400" u="none" cap="none" strike="noStrike">
              <a:solidFill>
                <a:srgbClr val="000000"/>
              </a:solidFill>
              <a:latin typeface="Inter"/>
              <a:ea typeface="Inter"/>
              <a:cs typeface="Inter"/>
              <a:sym typeface="Inter"/>
            </a:endParaRPr>
          </a:p>
        </p:txBody>
      </p:sp>
      <p:sp>
        <p:nvSpPr>
          <p:cNvPr id="164" name="Google Shape;164;g3e049f9ed10_0_4"/>
          <p:cNvSpPr/>
          <p:nvPr/>
        </p:nvSpPr>
        <p:spPr>
          <a:xfrm>
            <a:off x="3481598" y="1999728"/>
            <a:ext cx="426600" cy="20700"/>
          </a:xfrm>
          <a:prstGeom prst="rect">
            <a:avLst/>
          </a:prstGeom>
          <a:solidFill>
            <a:srgbClr val="2C6E6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i="0" sz="1400" u="none" cap="none" strike="noStrike">
              <a:solidFill>
                <a:srgbClr val="000000"/>
              </a:solidFill>
              <a:latin typeface="Inter"/>
              <a:ea typeface="Inter"/>
              <a:cs typeface="Inter"/>
              <a:sym typeface="Inter"/>
            </a:endParaRPr>
          </a:p>
        </p:txBody>
      </p:sp>
      <p:sp>
        <p:nvSpPr>
          <p:cNvPr id="165" name="Google Shape;165;g3e049f9ed10_0_4"/>
          <p:cNvSpPr/>
          <p:nvPr/>
        </p:nvSpPr>
        <p:spPr>
          <a:xfrm>
            <a:off x="6187440" y="1613417"/>
            <a:ext cx="19203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1A2E"/>
              </a:buClr>
              <a:buSzPts val="1400"/>
              <a:buFont typeface="Georgia"/>
              <a:buNone/>
            </a:pPr>
            <a:r>
              <a:rPr b="1" lang="en">
                <a:solidFill>
                  <a:srgbClr val="1A1A2E"/>
                </a:solidFill>
                <a:latin typeface="Inter"/>
                <a:ea typeface="Inter"/>
                <a:cs typeface="Inter"/>
                <a:sym typeface="Inter"/>
              </a:rPr>
              <a:t>Evaluation/Subgroup Considerations</a:t>
            </a:r>
            <a:endParaRPr b="1" i="0" sz="1400" u="none" cap="none" strike="noStrike">
              <a:solidFill>
                <a:srgbClr val="000000"/>
              </a:solidFill>
              <a:latin typeface="Inter"/>
              <a:ea typeface="Inter"/>
              <a:cs typeface="Inter"/>
              <a:sym typeface="Inter"/>
            </a:endParaRPr>
          </a:p>
        </p:txBody>
      </p:sp>
      <p:sp>
        <p:nvSpPr>
          <p:cNvPr id="166" name="Google Shape;166;g3e049f9ed10_0_4"/>
          <p:cNvSpPr/>
          <p:nvPr/>
        </p:nvSpPr>
        <p:spPr>
          <a:xfrm>
            <a:off x="6208851" y="1999622"/>
            <a:ext cx="651600" cy="18300"/>
          </a:xfrm>
          <a:prstGeom prst="rect">
            <a:avLst/>
          </a:prstGeom>
          <a:solidFill>
            <a:srgbClr val="3D85C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i="0" sz="1400" u="none" cap="none" strike="noStrike">
              <a:solidFill>
                <a:srgbClr val="000000"/>
              </a:solidFill>
              <a:latin typeface="Inter"/>
              <a:ea typeface="Inter"/>
              <a:cs typeface="Inter"/>
              <a:sym typeface="Inter"/>
            </a:endParaRPr>
          </a:p>
        </p:txBody>
      </p:sp>
      <p:grpSp>
        <p:nvGrpSpPr>
          <p:cNvPr id="167" name="Google Shape;167;g3e049f9ed10_0_4"/>
          <p:cNvGrpSpPr/>
          <p:nvPr/>
        </p:nvGrpSpPr>
        <p:grpSpPr>
          <a:xfrm>
            <a:off x="8625" y="0"/>
            <a:ext cx="9144000" cy="267600"/>
            <a:chOff x="8625" y="0"/>
            <a:chExt cx="9144000" cy="267600"/>
          </a:xfrm>
        </p:grpSpPr>
        <p:sp>
          <p:nvSpPr>
            <p:cNvPr id="168" name="Google Shape;168;g3e049f9ed10_0_4"/>
            <p:cNvSpPr/>
            <p:nvPr/>
          </p:nvSpPr>
          <p:spPr>
            <a:xfrm>
              <a:off x="8625" y="0"/>
              <a:ext cx="9144000" cy="2676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69" name="Google Shape;169;g3e049f9ed10_0_4" title="Logo Header.png"/>
            <p:cNvPicPr preferRelativeResize="0"/>
            <p:nvPr/>
          </p:nvPicPr>
          <p:blipFill rotWithShape="1">
            <a:blip r:embed="rId3">
              <a:alphaModFix/>
            </a:blip>
            <a:srcRect b="0" l="0" r="0" t="0"/>
            <a:stretch/>
          </p:blipFill>
          <p:spPr>
            <a:xfrm>
              <a:off x="8348195" y="15790"/>
              <a:ext cx="634775" cy="199625"/>
            </a:xfrm>
            <a:prstGeom prst="rect">
              <a:avLst/>
            </a:prstGeom>
            <a:noFill/>
            <a:ln>
              <a:noFill/>
            </a:ln>
          </p:spPr>
        </p:pic>
      </p:grpSp>
      <p:sp>
        <p:nvSpPr>
          <p:cNvPr id="170" name="Google Shape;170;g3e049f9ed10_0_4"/>
          <p:cNvSpPr/>
          <p:nvPr/>
        </p:nvSpPr>
        <p:spPr>
          <a:xfrm>
            <a:off x="592140" y="4151077"/>
            <a:ext cx="1920300" cy="205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1A2E"/>
              </a:buClr>
              <a:buSzPts val="1400"/>
              <a:buFont typeface="Georgia"/>
              <a:buNone/>
            </a:pPr>
            <a:r>
              <a:rPr b="1" lang="en">
                <a:solidFill>
                  <a:srgbClr val="1A1A2E"/>
                </a:solidFill>
                <a:latin typeface="Inter"/>
                <a:ea typeface="Inter"/>
                <a:cs typeface="Inter"/>
                <a:sym typeface="Inter"/>
              </a:rPr>
              <a:t>Failure Modes</a:t>
            </a:r>
            <a:endParaRPr b="1" i="0" sz="1400" u="none" cap="none" strike="noStrike">
              <a:solidFill>
                <a:srgbClr val="000000"/>
              </a:solidFill>
              <a:latin typeface="Inter"/>
              <a:ea typeface="Inter"/>
              <a:cs typeface="Inter"/>
              <a:sym typeface="Inter"/>
            </a:endParaRPr>
          </a:p>
        </p:txBody>
      </p:sp>
      <p:sp>
        <p:nvSpPr>
          <p:cNvPr id="171" name="Google Shape;171;g3e049f9ed10_0_4"/>
          <p:cNvSpPr/>
          <p:nvPr/>
        </p:nvSpPr>
        <p:spPr>
          <a:xfrm>
            <a:off x="592150" y="4345437"/>
            <a:ext cx="451500" cy="13800"/>
          </a:xfrm>
          <a:prstGeom prst="rect">
            <a:avLst/>
          </a:prstGeom>
          <a:solidFill>
            <a:srgbClr val="E0666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i="0" sz="1400" u="none" cap="none" strike="noStrike">
              <a:solidFill>
                <a:srgbClr val="000000"/>
              </a:solidFill>
              <a:latin typeface="Inter"/>
              <a:ea typeface="Inter"/>
              <a:cs typeface="Inter"/>
              <a:sym typeface="Inter"/>
            </a:endParaRPr>
          </a:p>
        </p:txBody>
      </p:sp>
      <p:sp>
        <p:nvSpPr>
          <p:cNvPr id="172" name="Google Shape;172;g3e049f9ed10_0_4"/>
          <p:cNvSpPr txBox="1"/>
          <p:nvPr>
            <p:ph idx="1" type="subTitle"/>
          </p:nvPr>
        </p:nvSpPr>
        <p:spPr>
          <a:xfrm>
            <a:off x="424825" y="459048"/>
            <a:ext cx="5545500" cy="809700"/>
          </a:xfrm>
          <a:prstGeom prst="rect">
            <a:avLst/>
          </a:prstGeom>
          <a:noFill/>
          <a:ln>
            <a:noFill/>
          </a:ln>
        </p:spPr>
        <p:txBody>
          <a:bodyPr anchorCtr="0" anchor="t" bIns="91425" lIns="91425" spcFirstLastPara="1" rIns="91425" wrap="square" tIns="91425">
            <a:normAutofit lnSpcReduction="10000"/>
          </a:bodyPr>
          <a:lstStyle/>
          <a:p>
            <a:pPr indent="0" lvl="0" marL="0" rtl="0" algn="l">
              <a:lnSpc>
                <a:spcPct val="100000"/>
              </a:lnSpc>
              <a:spcBef>
                <a:spcPts val="0"/>
              </a:spcBef>
              <a:spcAft>
                <a:spcPts val="0"/>
              </a:spcAft>
              <a:buSzPts val="2800"/>
              <a:buNone/>
            </a:pPr>
            <a:r>
              <a:rPr b="1" lang="en" sz="2700">
                <a:solidFill>
                  <a:schemeClr val="dk1"/>
                </a:solidFill>
                <a:latin typeface="Inter"/>
                <a:ea typeface="Inter"/>
                <a:cs typeface="Inter"/>
                <a:sym typeface="Inter"/>
              </a:rPr>
              <a:t>ML Model Card:</a:t>
            </a:r>
            <a:endParaRPr b="1" sz="2700">
              <a:solidFill>
                <a:schemeClr val="dk1"/>
              </a:solidFill>
              <a:latin typeface="Inter"/>
              <a:ea typeface="Inter"/>
              <a:cs typeface="Inter"/>
              <a:sym typeface="Inter"/>
            </a:endParaRPr>
          </a:p>
          <a:p>
            <a:pPr indent="0" lvl="0" marL="0" rtl="0" algn="l">
              <a:lnSpc>
                <a:spcPct val="100000"/>
              </a:lnSpc>
              <a:spcBef>
                <a:spcPts val="0"/>
              </a:spcBef>
              <a:spcAft>
                <a:spcPts val="0"/>
              </a:spcAft>
              <a:buSzPts val="2800"/>
              <a:buNone/>
            </a:pPr>
            <a:r>
              <a:rPr b="1" lang="en" sz="1600">
                <a:solidFill>
                  <a:schemeClr val="dk1"/>
                </a:solidFill>
                <a:latin typeface="Inter"/>
                <a:ea typeface="Inter"/>
                <a:cs typeface="Inter"/>
                <a:sym typeface="Inter"/>
              </a:rPr>
              <a:t>How we communicate to others the use of our model</a:t>
            </a:r>
            <a:endParaRPr b="1" sz="1600">
              <a:solidFill>
                <a:schemeClr val="dk1"/>
              </a:solidFill>
              <a:latin typeface="Inter"/>
              <a:ea typeface="Inter"/>
              <a:cs typeface="Inter"/>
              <a:sym typeface="Inter"/>
            </a:endParaRPr>
          </a:p>
        </p:txBody>
      </p:sp>
      <p:sp>
        <p:nvSpPr>
          <p:cNvPr id="173" name="Google Shape;173;g3e049f9ed10_0_4"/>
          <p:cNvSpPr txBox="1"/>
          <p:nvPr/>
        </p:nvSpPr>
        <p:spPr>
          <a:xfrm>
            <a:off x="701059" y="2989309"/>
            <a:ext cx="1920300" cy="7389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lang="en" sz="1200">
                <a:solidFill>
                  <a:schemeClr val="dk2"/>
                </a:solidFill>
                <a:latin typeface="Inter"/>
                <a:ea typeface="Inter"/>
                <a:cs typeface="Inter"/>
                <a:sym typeface="Inter"/>
              </a:rPr>
              <a:t>Data used to train the model.</a:t>
            </a:r>
            <a:endParaRPr sz="1200">
              <a:solidFill>
                <a:schemeClr val="dk2"/>
              </a:solidFill>
              <a:latin typeface="Inter"/>
              <a:ea typeface="Inter"/>
              <a:cs typeface="Inter"/>
              <a:sym typeface="Inter"/>
            </a:endParaRPr>
          </a:p>
          <a:p>
            <a:pPr indent="0" lvl="0" marL="0" rtl="0" algn="l">
              <a:spcBef>
                <a:spcPts val="1200"/>
              </a:spcBef>
              <a:spcAft>
                <a:spcPts val="0"/>
              </a:spcAft>
              <a:buNone/>
            </a:pPr>
            <a:r>
              <a:t/>
            </a:r>
            <a:endParaRPr sz="1200">
              <a:solidFill>
                <a:schemeClr val="dk2"/>
              </a:solidFill>
              <a:latin typeface="Inter"/>
              <a:ea typeface="Inter"/>
              <a:cs typeface="Inter"/>
              <a:sym typeface="Inter"/>
            </a:endParaRPr>
          </a:p>
        </p:txBody>
      </p:sp>
      <p:sp>
        <p:nvSpPr>
          <p:cNvPr id="174" name="Google Shape;174;g3e049f9ed10_0_4"/>
          <p:cNvSpPr txBox="1"/>
          <p:nvPr/>
        </p:nvSpPr>
        <p:spPr>
          <a:xfrm>
            <a:off x="3277075" y="2011044"/>
            <a:ext cx="2161800" cy="1747200"/>
          </a:xfrm>
          <a:prstGeom prst="rect">
            <a:avLst/>
          </a:prstGeom>
          <a:noFill/>
          <a:ln>
            <a:noFill/>
          </a:ln>
        </p:spPr>
        <p:txBody>
          <a:bodyPr anchorCtr="0" anchor="t" bIns="91425" lIns="91425" spcFirstLastPara="1" rIns="91425" wrap="square" tIns="91425">
            <a:noAutofit/>
          </a:bodyPr>
          <a:lstStyle/>
          <a:p>
            <a:pPr indent="-304800" lvl="0" marL="457200" rtl="0" algn="l">
              <a:lnSpc>
                <a:spcPct val="115000"/>
              </a:lnSpc>
              <a:spcBef>
                <a:spcPts val="1200"/>
              </a:spcBef>
              <a:spcAft>
                <a:spcPts val="0"/>
              </a:spcAft>
              <a:buClr>
                <a:schemeClr val="dk2"/>
              </a:buClr>
              <a:buSzPts val="1200"/>
              <a:buFont typeface="Inter"/>
              <a:buChar char="●"/>
            </a:pPr>
            <a:r>
              <a:rPr lang="en" sz="1200">
                <a:solidFill>
                  <a:schemeClr val="dk2"/>
                </a:solidFill>
                <a:latin typeface="Inter"/>
                <a:ea typeface="Inter"/>
                <a:cs typeface="Inter"/>
                <a:sym typeface="Inter"/>
              </a:rPr>
              <a:t>What is the primary application</a:t>
            </a:r>
            <a:endParaRPr sz="1200">
              <a:solidFill>
                <a:schemeClr val="dk2"/>
              </a:solidFill>
              <a:latin typeface="Inter"/>
              <a:ea typeface="Inter"/>
              <a:cs typeface="Inter"/>
              <a:sym typeface="Inter"/>
            </a:endParaRPr>
          </a:p>
          <a:p>
            <a:pPr indent="-304800" lvl="0" marL="457200" rtl="0" algn="l">
              <a:lnSpc>
                <a:spcPct val="115000"/>
              </a:lnSpc>
              <a:spcBef>
                <a:spcPts val="0"/>
              </a:spcBef>
              <a:spcAft>
                <a:spcPts val="0"/>
              </a:spcAft>
              <a:buClr>
                <a:schemeClr val="dk2"/>
              </a:buClr>
              <a:buSzPts val="1200"/>
              <a:buFont typeface="Inter"/>
              <a:buChar char="●"/>
            </a:pPr>
            <a:r>
              <a:rPr lang="en" sz="1200">
                <a:solidFill>
                  <a:schemeClr val="dk2"/>
                </a:solidFill>
                <a:latin typeface="Inter"/>
                <a:ea typeface="Inter"/>
                <a:cs typeface="Inter"/>
                <a:sym typeface="Inter"/>
              </a:rPr>
              <a:t>Report what situations or decisions it is not suited for</a:t>
            </a:r>
            <a:endParaRPr sz="1200">
              <a:solidFill>
                <a:schemeClr val="dk2"/>
              </a:solidFill>
              <a:latin typeface="Inter"/>
              <a:ea typeface="Inter"/>
              <a:cs typeface="Inter"/>
              <a:sym typeface="Inter"/>
            </a:endParaRPr>
          </a:p>
          <a:p>
            <a:pPr indent="0" lvl="0" marL="0" rtl="0" algn="l">
              <a:spcBef>
                <a:spcPts val="1200"/>
              </a:spcBef>
              <a:spcAft>
                <a:spcPts val="0"/>
              </a:spcAft>
              <a:buNone/>
            </a:pPr>
            <a:r>
              <a:t/>
            </a:r>
            <a:endParaRPr sz="1800">
              <a:solidFill>
                <a:schemeClr val="dk2"/>
              </a:solidFill>
              <a:latin typeface="Inter"/>
              <a:ea typeface="Inter"/>
              <a:cs typeface="Inter"/>
              <a:sym typeface="Inter"/>
            </a:endParaRPr>
          </a:p>
        </p:txBody>
      </p:sp>
      <p:sp>
        <p:nvSpPr>
          <p:cNvPr id="175" name="Google Shape;175;g3e049f9ed10_0_4"/>
          <p:cNvSpPr txBox="1"/>
          <p:nvPr/>
        </p:nvSpPr>
        <p:spPr>
          <a:xfrm>
            <a:off x="6029325" y="2061775"/>
            <a:ext cx="2443800" cy="2118300"/>
          </a:xfrm>
          <a:prstGeom prst="rect">
            <a:avLst/>
          </a:prstGeom>
          <a:noFill/>
          <a:ln>
            <a:noFill/>
          </a:ln>
        </p:spPr>
        <p:txBody>
          <a:bodyPr anchorCtr="0" anchor="t" bIns="91425" lIns="91425" spcFirstLastPara="1" rIns="91425" wrap="square" tIns="91425">
            <a:noAutofit/>
          </a:bodyPr>
          <a:lstStyle/>
          <a:p>
            <a:pPr indent="-304800" lvl="0" marL="457200" rtl="0" algn="l">
              <a:spcBef>
                <a:spcPts val="0"/>
              </a:spcBef>
              <a:spcAft>
                <a:spcPts val="0"/>
              </a:spcAft>
              <a:buClr>
                <a:schemeClr val="dk2"/>
              </a:buClr>
              <a:buSzPts val="1200"/>
              <a:buFont typeface="Inter"/>
              <a:buChar char="●"/>
            </a:pPr>
            <a:r>
              <a:rPr lang="en" sz="1200">
                <a:solidFill>
                  <a:schemeClr val="dk2"/>
                </a:solidFill>
                <a:latin typeface="Inter"/>
                <a:ea typeface="Inter"/>
                <a:cs typeface="Inter"/>
                <a:sym typeface="Inter"/>
              </a:rPr>
              <a:t>How the model’s </a:t>
            </a:r>
            <a:r>
              <a:rPr lang="en" sz="1200">
                <a:solidFill>
                  <a:schemeClr val="dk2"/>
                </a:solidFill>
                <a:latin typeface="Inter"/>
                <a:ea typeface="Inter"/>
                <a:cs typeface="Inter"/>
                <a:sym typeface="Inter"/>
              </a:rPr>
              <a:t>performance</a:t>
            </a:r>
            <a:r>
              <a:rPr lang="en" sz="1200">
                <a:solidFill>
                  <a:schemeClr val="dk2"/>
                </a:solidFill>
                <a:latin typeface="Inter"/>
                <a:ea typeface="Inter"/>
                <a:cs typeface="Inter"/>
                <a:sym typeface="Inter"/>
              </a:rPr>
              <a:t> was measured</a:t>
            </a:r>
            <a:endParaRPr sz="1200">
              <a:solidFill>
                <a:schemeClr val="dk2"/>
              </a:solidFill>
              <a:latin typeface="Inter"/>
              <a:ea typeface="Inter"/>
              <a:cs typeface="Inter"/>
              <a:sym typeface="Inter"/>
            </a:endParaRPr>
          </a:p>
          <a:p>
            <a:pPr indent="-304800" lvl="0" marL="457200" rtl="0" algn="l">
              <a:spcBef>
                <a:spcPts val="0"/>
              </a:spcBef>
              <a:spcAft>
                <a:spcPts val="0"/>
              </a:spcAft>
              <a:buClr>
                <a:schemeClr val="dk2"/>
              </a:buClr>
              <a:buSzPts val="1200"/>
              <a:buFont typeface="Inter"/>
              <a:buChar char="●"/>
            </a:pPr>
            <a:r>
              <a:rPr lang="en" sz="1200">
                <a:solidFill>
                  <a:schemeClr val="dk2"/>
                </a:solidFill>
                <a:latin typeface="Inter"/>
                <a:ea typeface="Inter"/>
                <a:cs typeface="Inter"/>
                <a:sym typeface="Inter"/>
              </a:rPr>
              <a:t>How the model performs across different demographic groups</a:t>
            </a:r>
            <a:endParaRPr sz="1200">
              <a:solidFill>
                <a:schemeClr val="dk2"/>
              </a:solidFill>
              <a:latin typeface="Inter"/>
              <a:ea typeface="Inter"/>
              <a:cs typeface="Inter"/>
              <a:sym typeface="Inter"/>
            </a:endParaRPr>
          </a:p>
          <a:p>
            <a:pPr indent="-304800" lvl="0" marL="457200" rtl="0" algn="l">
              <a:spcBef>
                <a:spcPts val="0"/>
              </a:spcBef>
              <a:spcAft>
                <a:spcPts val="0"/>
              </a:spcAft>
              <a:buClr>
                <a:schemeClr val="dk2"/>
              </a:buClr>
              <a:buSzPts val="1200"/>
              <a:buFont typeface="Inter"/>
              <a:buChar char="●"/>
            </a:pPr>
            <a:r>
              <a:rPr lang="en" sz="1200">
                <a:solidFill>
                  <a:schemeClr val="dk2"/>
                </a:solidFill>
                <a:latin typeface="Inter"/>
                <a:ea typeface="Inter"/>
                <a:cs typeface="Inter"/>
                <a:sym typeface="Inter"/>
              </a:rPr>
              <a:t>Identify potential biases or </a:t>
            </a:r>
            <a:r>
              <a:rPr lang="en" sz="1200">
                <a:solidFill>
                  <a:schemeClr val="dk2"/>
                </a:solidFill>
                <a:latin typeface="Inter"/>
                <a:ea typeface="Inter"/>
                <a:cs typeface="Inter"/>
                <a:sym typeface="Inter"/>
              </a:rPr>
              <a:t>disparities</a:t>
            </a:r>
            <a:endParaRPr sz="1200">
              <a:solidFill>
                <a:schemeClr val="dk2"/>
              </a:solidFill>
              <a:latin typeface="Inter"/>
              <a:ea typeface="Inter"/>
              <a:cs typeface="Inter"/>
              <a:sym typeface="Inter"/>
            </a:endParaRPr>
          </a:p>
        </p:txBody>
      </p:sp>
      <p:sp>
        <p:nvSpPr>
          <p:cNvPr id="176" name="Google Shape;176;g3e049f9ed10_0_4"/>
          <p:cNvSpPr txBox="1"/>
          <p:nvPr/>
        </p:nvSpPr>
        <p:spPr>
          <a:xfrm>
            <a:off x="501025" y="4413579"/>
            <a:ext cx="4991100" cy="392700"/>
          </a:xfrm>
          <a:prstGeom prst="rect">
            <a:avLst/>
          </a:prstGeom>
          <a:noFill/>
          <a:ln>
            <a:noFill/>
          </a:ln>
        </p:spPr>
        <p:txBody>
          <a:bodyPr anchorCtr="0" anchor="t" bIns="91425" lIns="91425" spcFirstLastPara="1" rIns="91425" wrap="square" tIns="91425">
            <a:noAutofit/>
          </a:bodyPr>
          <a:lstStyle/>
          <a:p>
            <a:pPr indent="-298450" lvl="0" marL="457200" rtl="0" algn="l">
              <a:lnSpc>
                <a:spcPct val="115000"/>
              </a:lnSpc>
              <a:spcBef>
                <a:spcPts val="1200"/>
              </a:spcBef>
              <a:spcAft>
                <a:spcPts val="0"/>
              </a:spcAft>
              <a:buClr>
                <a:schemeClr val="dk2"/>
              </a:buClr>
              <a:buSzPts val="1100"/>
              <a:buFont typeface="Inter"/>
              <a:buChar char="●"/>
            </a:pPr>
            <a:r>
              <a:rPr lang="en" sz="1200">
                <a:solidFill>
                  <a:schemeClr val="dk2"/>
                </a:solidFill>
                <a:latin typeface="Inter"/>
                <a:ea typeface="Inter"/>
                <a:cs typeface="Inter"/>
                <a:sym typeface="Inter"/>
              </a:rPr>
              <a:t>Specific examples or scenarios where the model is known to make incorrect or harmful errors.</a:t>
            </a:r>
            <a:endParaRPr sz="1200">
              <a:solidFill>
                <a:schemeClr val="dk2"/>
              </a:solidFill>
              <a:latin typeface="Inter"/>
              <a:ea typeface="Inter"/>
              <a:cs typeface="Inter"/>
              <a:sym typeface="Inter"/>
            </a:endParaRPr>
          </a:p>
          <a:p>
            <a:pPr indent="0" lvl="0" marL="0" rtl="0" algn="l">
              <a:lnSpc>
                <a:spcPct val="115000"/>
              </a:lnSpc>
              <a:spcBef>
                <a:spcPts val="1200"/>
              </a:spcBef>
              <a:spcAft>
                <a:spcPts val="0"/>
              </a:spcAft>
              <a:buNone/>
            </a:pPr>
            <a:r>
              <a:t/>
            </a:r>
            <a:endParaRPr sz="1200">
              <a:solidFill>
                <a:schemeClr val="dk2"/>
              </a:solidFill>
              <a:latin typeface="Inter"/>
              <a:ea typeface="Inter"/>
              <a:cs typeface="Inter"/>
              <a:sym typeface="Inter"/>
            </a:endParaRPr>
          </a:p>
          <a:p>
            <a:pPr indent="0" lvl="0" marL="0" rtl="0" algn="l">
              <a:spcBef>
                <a:spcPts val="1200"/>
              </a:spcBef>
              <a:spcAft>
                <a:spcPts val="0"/>
              </a:spcAft>
              <a:buNone/>
            </a:pPr>
            <a:r>
              <a:t/>
            </a:r>
            <a:endParaRPr sz="1200">
              <a:solidFill>
                <a:schemeClr val="dk2"/>
              </a:solidFill>
              <a:latin typeface="Inter"/>
              <a:ea typeface="Inter"/>
              <a:cs typeface="Inter"/>
              <a:sym typeface="Inter"/>
            </a:endParaRPr>
          </a:p>
        </p:txBody>
      </p:sp>
      <p:sp>
        <p:nvSpPr>
          <p:cNvPr id="177" name="Google Shape;177;g3e049f9ed10_0_4"/>
          <p:cNvSpPr/>
          <p:nvPr/>
        </p:nvSpPr>
        <p:spPr>
          <a:xfrm>
            <a:off x="726249" y="1589711"/>
            <a:ext cx="1920300" cy="313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1A2E"/>
              </a:buClr>
              <a:buSzPts val="1400"/>
              <a:buFont typeface="Georgia"/>
              <a:buNone/>
            </a:pPr>
            <a:r>
              <a:rPr b="1" lang="en">
                <a:solidFill>
                  <a:srgbClr val="1A1A2E"/>
                </a:solidFill>
                <a:latin typeface="Inter"/>
                <a:ea typeface="Inter"/>
                <a:cs typeface="Inter"/>
                <a:sym typeface="Inter"/>
              </a:rPr>
              <a:t>Model Name and Description</a:t>
            </a:r>
            <a:r>
              <a:rPr b="1" lang="en">
                <a:solidFill>
                  <a:srgbClr val="1A1A2E"/>
                </a:solidFill>
                <a:latin typeface="Inter"/>
                <a:ea typeface="Inter"/>
                <a:cs typeface="Inter"/>
                <a:sym typeface="Inter"/>
              </a:rPr>
              <a:t>:</a:t>
            </a:r>
            <a:endParaRPr b="1" i="0" sz="1400" u="none" cap="none" strike="noStrike">
              <a:solidFill>
                <a:srgbClr val="000000"/>
              </a:solidFill>
              <a:latin typeface="Inter"/>
              <a:ea typeface="Inter"/>
              <a:cs typeface="Inter"/>
              <a:sym typeface="Inter"/>
            </a:endParaRPr>
          </a:p>
        </p:txBody>
      </p:sp>
      <p:sp>
        <p:nvSpPr>
          <p:cNvPr id="178" name="Google Shape;178;g3e049f9ed10_0_4"/>
          <p:cNvSpPr/>
          <p:nvPr/>
        </p:nvSpPr>
        <p:spPr>
          <a:xfrm>
            <a:off x="749760" y="1998135"/>
            <a:ext cx="451500" cy="21000"/>
          </a:xfrm>
          <a:prstGeom prst="rect">
            <a:avLst/>
          </a:prstGeom>
          <a:solidFill>
            <a:srgbClr val="E0666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i="0" sz="1400" u="none" cap="none" strike="noStrike">
              <a:solidFill>
                <a:srgbClr val="000000"/>
              </a:solidFill>
              <a:latin typeface="Inter"/>
              <a:ea typeface="Inter"/>
              <a:cs typeface="Inter"/>
              <a:sym typeface="Inter"/>
            </a:endParaRPr>
          </a:p>
        </p:txBody>
      </p:sp>
      <p:sp>
        <p:nvSpPr>
          <p:cNvPr id="179" name="Google Shape;179;g3e049f9ed10_0_4"/>
          <p:cNvSpPr txBox="1"/>
          <p:nvPr/>
        </p:nvSpPr>
        <p:spPr>
          <a:xfrm>
            <a:off x="701059" y="2002918"/>
            <a:ext cx="1920300" cy="7389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lang="en" sz="1200">
                <a:solidFill>
                  <a:schemeClr val="dk2"/>
                </a:solidFill>
                <a:latin typeface="Inter"/>
                <a:ea typeface="Inter"/>
                <a:cs typeface="Inter"/>
                <a:sym typeface="Inter"/>
              </a:rPr>
              <a:t>Name of the model used, and a quick description.</a:t>
            </a:r>
            <a:endParaRPr sz="1200">
              <a:solidFill>
                <a:schemeClr val="dk2"/>
              </a:solidFill>
              <a:latin typeface="Inter"/>
              <a:ea typeface="Inter"/>
              <a:cs typeface="Inter"/>
              <a:sym typeface="Inter"/>
            </a:endParaRPr>
          </a:p>
          <a:p>
            <a:pPr indent="0" lvl="0" marL="0" rtl="0" algn="l">
              <a:spcBef>
                <a:spcPts val="1200"/>
              </a:spcBef>
              <a:spcAft>
                <a:spcPts val="0"/>
              </a:spcAft>
              <a:buNone/>
            </a:pPr>
            <a:r>
              <a:t/>
            </a:r>
            <a:endParaRPr sz="1200">
              <a:solidFill>
                <a:schemeClr val="dk2"/>
              </a:solidFill>
              <a:latin typeface="Inter"/>
              <a:ea typeface="Inter"/>
              <a:cs typeface="Inter"/>
              <a:sym typeface="Inte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 name="Shape 183"/>
        <p:cNvGrpSpPr/>
        <p:nvPr/>
      </p:nvGrpSpPr>
      <p:grpSpPr>
        <a:xfrm>
          <a:off x="0" y="0"/>
          <a:ext cx="0" cy="0"/>
          <a:chOff x="0" y="0"/>
          <a:chExt cx="0" cy="0"/>
        </a:xfrm>
      </p:grpSpPr>
      <p:sp>
        <p:nvSpPr>
          <p:cNvPr id="184" name="Google Shape;184;g3d6a77b1699_1_1"/>
          <p:cNvSpPr/>
          <p:nvPr/>
        </p:nvSpPr>
        <p:spPr>
          <a:xfrm>
            <a:off x="222725" y="940975"/>
            <a:ext cx="8646600" cy="960600"/>
          </a:xfrm>
          <a:prstGeom prst="roundRect">
            <a:avLst>
              <a:gd fmla="val 16667" name="adj"/>
            </a:avLst>
          </a:prstGeom>
          <a:solidFill>
            <a:srgbClr val="F5F0E8"/>
          </a:solidFill>
          <a:ln>
            <a:noFill/>
          </a:ln>
        </p:spPr>
        <p:txBody>
          <a:bodyPr anchorCtr="0" anchor="ctr" bIns="91425" lIns="91425" spcFirstLastPara="1" rIns="91425" wrap="square" tIns="91425">
            <a:noAutofit/>
          </a:bodyPr>
          <a:lstStyle/>
          <a:p>
            <a:pPr indent="0" lvl="0" marL="2743200" marR="0" rtl="0" algn="ctr">
              <a:lnSpc>
                <a:spcPct val="100000"/>
              </a:lnSpc>
              <a:spcBef>
                <a:spcPts val="0"/>
              </a:spcBef>
              <a:spcAft>
                <a:spcPts val="0"/>
              </a:spcAft>
              <a:buClr>
                <a:srgbClr val="000000"/>
              </a:buClr>
              <a:buSzPts val="1400"/>
              <a:buFont typeface="Arial"/>
              <a:buNone/>
            </a:pPr>
            <a:r>
              <a:t/>
            </a:r>
            <a:endParaRPr i="0" sz="1400" u="none" cap="none" strike="noStrike">
              <a:solidFill>
                <a:srgbClr val="000000"/>
              </a:solidFill>
              <a:latin typeface="Inter"/>
              <a:ea typeface="Inter"/>
              <a:cs typeface="Inter"/>
              <a:sym typeface="Inter"/>
            </a:endParaRPr>
          </a:p>
        </p:txBody>
      </p:sp>
      <p:sp>
        <p:nvSpPr>
          <p:cNvPr id="185" name="Google Shape;185;g3d6a77b1699_1_1"/>
          <p:cNvSpPr/>
          <p:nvPr/>
        </p:nvSpPr>
        <p:spPr>
          <a:xfrm>
            <a:off x="502040" y="1048797"/>
            <a:ext cx="2786400" cy="2247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1A2E"/>
              </a:buClr>
              <a:buSzPts val="1400"/>
              <a:buFont typeface="Georgia"/>
              <a:buNone/>
            </a:pPr>
            <a:r>
              <a:rPr b="1" lang="en">
                <a:solidFill>
                  <a:srgbClr val="1A1A2E"/>
                </a:solidFill>
                <a:latin typeface="Inter"/>
                <a:ea typeface="Inter"/>
                <a:cs typeface="Inter"/>
                <a:sym typeface="Inter"/>
              </a:rPr>
              <a:t>Student Loan </a:t>
            </a:r>
            <a:r>
              <a:rPr b="1" lang="en">
                <a:solidFill>
                  <a:srgbClr val="1A1A2E"/>
                </a:solidFill>
                <a:latin typeface="Inter"/>
                <a:ea typeface="Inter"/>
                <a:cs typeface="Inter"/>
                <a:sym typeface="Inter"/>
              </a:rPr>
              <a:t>Decision Tree</a:t>
            </a:r>
            <a:endParaRPr b="1" i="0" sz="1400" u="none" cap="none" strike="noStrike">
              <a:solidFill>
                <a:srgbClr val="000000"/>
              </a:solidFill>
              <a:latin typeface="Inter"/>
              <a:ea typeface="Inter"/>
              <a:cs typeface="Inter"/>
              <a:sym typeface="Inter"/>
            </a:endParaRPr>
          </a:p>
        </p:txBody>
      </p:sp>
      <p:sp>
        <p:nvSpPr>
          <p:cNvPr id="186" name="Google Shape;186;g3d6a77b1699_1_1"/>
          <p:cNvSpPr/>
          <p:nvPr/>
        </p:nvSpPr>
        <p:spPr>
          <a:xfrm>
            <a:off x="532742" y="1273533"/>
            <a:ext cx="540000" cy="15000"/>
          </a:xfrm>
          <a:prstGeom prst="rect">
            <a:avLst/>
          </a:prstGeom>
          <a:solidFill>
            <a:srgbClr val="B85C3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i="0" sz="1400" u="none" cap="none" strike="noStrike">
              <a:solidFill>
                <a:srgbClr val="000000"/>
              </a:solidFill>
              <a:latin typeface="Inter"/>
              <a:ea typeface="Inter"/>
              <a:cs typeface="Inter"/>
              <a:sym typeface="Inter"/>
            </a:endParaRPr>
          </a:p>
        </p:txBody>
      </p:sp>
      <p:grpSp>
        <p:nvGrpSpPr>
          <p:cNvPr id="187" name="Google Shape;187;g3d6a77b1699_1_1"/>
          <p:cNvGrpSpPr/>
          <p:nvPr/>
        </p:nvGrpSpPr>
        <p:grpSpPr>
          <a:xfrm>
            <a:off x="8625" y="0"/>
            <a:ext cx="9144000" cy="267600"/>
            <a:chOff x="8625" y="0"/>
            <a:chExt cx="9144000" cy="267600"/>
          </a:xfrm>
        </p:grpSpPr>
        <p:sp>
          <p:nvSpPr>
            <p:cNvPr id="188" name="Google Shape;188;g3d6a77b1699_1_1"/>
            <p:cNvSpPr/>
            <p:nvPr/>
          </p:nvSpPr>
          <p:spPr>
            <a:xfrm>
              <a:off x="8625" y="0"/>
              <a:ext cx="9144000" cy="2676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89" name="Google Shape;189;g3d6a77b1699_1_1" title="Logo Header.png"/>
            <p:cNvPicPr preferRelativeResize="0"/>
            <p:nvPr/>
          </p:nvPicPr>
          <p:blipFill rotWithShape="1">
            <a:blip r:embed="rId3">
              <a:alphaModFix/>
            </a:blip>
            <a:srcRect b="0" l="0" r="0" t="0"/>
            <a:stretch/>
          </p:blipFill>
          <p:spPr>
            <a:xfrm>
              <a:off x="8348195" y="15790"/>
              <a:ext cx="634775" cy="199625"/>
            </a:xfrm>
            <a:prstGeom prst="rect">
              <a:avLst/>
            </a:prstGeom>
            <a:noFill/>
            <a:ln>
              <a:noFill/>
            </a:ln>
          </p:spPr>
        </p:pic>
      </p:grpSp>
      <p:sp>
        <p:nvSpPr>
          <p:cNvPr id="190" name="Google Shape;190;g3d6a77b1699_1_1"/>
          <p:cNvSpPr txBox="1"/>
          <p:nvPr>
            <p:ph idx="1" type="subTitle"/>
          </p:nvPr>
        </p:nvSpPr>
        <p:spPr>
          <a:xfrm>
            <a:off x="222725" y="357372"/>
            <a:ext cx="5545500" cy="586200"/>
          </a:xfrm>
          <a:prstGeom prst="rect">
            <a:avLst/>
          </a:prstGeom>
          <a:noFill/>
          <a:ln>
            <a:noFill/>
          </a:ln>
        </p:spPr>
        <p:txBody>
          <a:bodyPr anchorCtr="0" anchor="t" bIns="91425" lIns="91425" spcFirstLastPara="1" rIns="91425" wrap="square" tIns="91425">
            <a:normAutofit lnSpcReduction="10000"/>
          </a:bodyPr>
          <a:lstStyle/>
          <a:p>
            <a:pPr indent="0" lvl="0" marL="0" rtl="0" algn="l">
              <a:lnSpc>
                <a:spcPct val="100000"/>
              </a:lnSpc>
              <a:spcBef>
                <a:spcPts val="0"/>
              </a:spcBef>
              <a:spcAft>
                <a:spcPts val="0"/>
              </a:spcAft>
              <a:buSzPts val="2800"/>
              <a:buNone/>
            </a:pPr>
            <a:r>
              <a:rPr b="1" lang="en" sz="2700">
                <a:solidFill>
                  <a:schemeClr val="dk1"/>
                </a:solidFill>
                <a:latin typeface="Inter"/>
                <a:ea typeface="Inter"/>
                <a:cs typeface="Inter"/>
                <a:sym typeface="Inter"/>
              </a:rPr>
              <a:t>ML Model Card </a:t>
            </a:r>
            <a:r>
              <a:rPr b="1" lang="en" sz="2700">
                <a:solidFill>
                  <a:schemeClr val="dk1"/>
                </a:solidFill>
                <a:latin typeface="Inter"/>
                <a:ea typeface="Inter"/>
                <a:cs typeface="Inter"/>
                <a:sym typeface="Inter"/>
                <a:extLst>
                  <a:ext uri="http://customooxmlschemas.google.com/">
                    <go:slidesCustomData xmlns:go="http://customooxmlschemas.google.com/" textRoundtripDataId="1"/>
                  </a:ext>
                </a:extLst>
              </a:rPr>
              <a:t>Example</a:t>
            </a:r>
            <a:endParaRPr b="1" sz="2700">
              <a:solidFill>
                <a:schemeClr val="dk1"/>
              </a:solidFill>
              <a:latin typeface="Inter"/>
              <a:ea typeface="Inter"/>
              <a:cs typeface="Inter"/>
              <a:sym typeface="Inter"/>
            </a:endParaRPr>
          </a:p>
        </p:txBody>
      </p:sp>
      <p:sp>
        <p:nvSpPr>
          <p:cNvPr id="191" name="Google Shape;191;g3d6a77b1699_1_1"/>
          <p:cNvSpPr txBox="1"/>
          <p:nvPr/>
        </p:nvSpPr>
        <p:spPr>
          <a:xfrm>
            <a:off x="415975" y="1241070"/>
            <a:ext cx="7940700" cy="5862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1200"/>
              </a:spcAft>
              <a:buNone/>
            </a:pPr>
            <a:r>
              <a:rPr lang="en" sz="1200">
                <a:solidFill>
                  <a:schemeClr val="dk2"/>
                </a:solidFill>
                <a:latin typeface="Inter"/>
                <a:ea typeface="Inter"/>
                <a:cs typeface="Inter"/>
                <a:sym typeface="Inter"/>
              </a:rPr>
              <a:t>Makes predictions by splitting data into branches based on feature values until a final prediction is reached. Consists of nodes where each node represents a decision point</a:t>
            </a:r>
            <a:endParaRPr sz="1200">
              <a:solidFill>
                <a:schemeClr val="dk2"/>
              </a:solidFill>
              <a:latin typeface="Inter"/>
              <a:ea typeface="Inter"/>
              <a:cs typeface="Inter"/>
              <a:sym typeface="Inter"/>
            </a:endParaRPr>
          </a:p>
        </p:txBody>
      </p:sp>
      <p:sp>
        <p:nvSpPr>
          <p:cNvPr id="192" name="Google Shape;192;g3d6a77b1699_1_1"/>
          <p:cNvSpPr/>
          <p:nvPr/>
        </p:nvSpPr>
        <p:spPr>
          <a:xfrm>
            <a:off x="222725" y="1985320"/>
            <a:ext cx="4503300" cy="1084800"/>
          </a:xfrm>
          <a:prstGeom prst="roundRect">
            <a:avLst>
              <a:gd fmla="val 16667" name="adj"/>
            </a:avLst>
          </a:prstGeom>
          <a:solidFill>
            <a:srgbClr val="D4E4D1"/>
          </a:solidFill>
          <a:ln>
            <a:noFill/>
          </a:ln>
        </p:spPr>
        <p:txBody>
          <a:bodyPr anchorCtr="0" anchor="ctr" bIns="109225" lIns="109225" spcFirstLastPara="1" rIns="109225" wrap="square" tIns="109225">
            <a:noAutofit/>
          </a:bodyPr>
          <a:lstStyle/>
          <a:p>
            <a:pPr indent="0" lvl="0" marL="3277459" marR="0" rtl="0" algn="ctr">
              <a:lnSpc>
                <a:spcPct val="100000"/>
              </a:lnSpc>
              <a:spcBef>
                <a:spcPts val="0"/>
              </a:spcBef>
              <a:spcAft>
                <a:spcPts val="0"/>
              </a:spcAft>
              <a:buClr>
                <a:srgbClr val="000000"/>
              </a:buClr>
              <a:buSzPts val="1673"/>
              <a:buFont typeface="Arial"/>
              <a:buNone/>
            </a:pPr>
            <a:r>
              <a:t/>
            </a:r>
            <a:endParaRPr i="0" sz="1673" u="none" cap="none" strike="noStrike">
              <a:solidFill>
                <a:srgbClr val="000000"/>
              </a:solidFill>
              <a:latin typeface="Inter"/>
              <a:ea typeface="Inter"/>
              <a:cs typeface="Inter"/>
              <a:sym typeface="Inter"/>
            </a:endParaRPr>
          </a:p>
        </p:txBody>
      </p:sp>
      <p:sp>
        <p:nvSpPr>
          <p:cNvPr id="193" name="Google Shape;193;g3d6a77b1699_1_1"/>
          <p:cNvSpPr/>
          <p:nvPr/>
        </p:nvSpPr>
        <p:spPr>
          <a:xfrm>
            <a:off x="378225" y="2090595"/>
            <a:ext cx="3445500" cy="267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1A2E"/>
              </a:buClr>
              <a:buSzPts val="1673"/>
              <a:buFont typeface="Georgia"/>
              <a:buNone/>
            </a:pPr>
            <a:r>
              <a:rPr b="1" lang="en">
                <a:solidFill>
                  <a:srgbClr val="1A1A2E"/>
                </a:solidFill>
                <a:latin typeface="Inter"/>
                <a:ea typeface="Inter"/>
                <a:cs typeface="Inter"/>
                <a:sym typeface="Inter"/>
              </a:rPr>
              <a:t>Training Data</a:t>
            </a:r>
            <a:endParaRPr b="1" i="0" u="none" cap="none" strike="noStrike">
              <a:solidFill>
                <a:srgbClr val="000000"/>
              </a:solidFill>
              <a:latin typeface="Inter"/>
              <a:ea typeface="Inter"/>
              <a:cs typeface="Inter"/>
              <a:sym typeface="Inter"/>
            </a:endParaRPr>
          </a:p>
        </p:txBody>
      </p:sp>
      <p:sp>
        <p:nvSpPr>
          <p:cNvPr id="194" name="Google Shape;194;g3d6a77b1699_1_1"/>
          <p:cNvSpPr/>
          <p:nvPr/>
        </p:nvSpPr>
        <p:spPr>
          <a:xfrm>
            <a:off x="392050" y="2345375"/>
            <a:ext cx="550200" cy="21900"/>
          </a:xfrm>
          <a:prstGeom prst="rect">
            <a:avLst/>
          </a:prstGeom>
          <a:solidFill>
            <a:srgbClr val="2C6E6A"/>
          </a:solidFill>
          <a:ln>
            <a:noFill/>
          </a:ln>
        </p:spPr>
        <p:txBody>
          <a:bodyPr anchorCtr="0" anchor="ctr" bIns="109225" lIns="109225" spcFirstLastPara="1" rIns="109225" wrap="square" tIns="109225">
            <a:noAutofit/>
          </a:bodyPr>
          <a:lstStyle/>
          <a:p>
            <a:pPr indent="0" lvl="0" marL="0" marR="0" rtl="0" algn="l">
              <a:lnSpc>
                <a:spcPct val="100000"/>
              </a:lnSpc>
              <a:spcBef>
                <a:spcPts val="0"/>
              </a:spcBef>
              <a:spcAft>
                <a:spcPts val="0"/>
              </a:spcAft>
              <a:buClr>
                <a:srgbClr val="000000"/>
              </a:buClr>
              <a:buSzPts val="1673"/>
              <a:buFont typeface="Arial"/>
              <a:buNone/>
            </a:pPr>
            <a:r>
              <a:t/>
            </a:r>
            <a:endParaRPr i="0" sz="1673" u="none" cap="none" strike="noStrike">
              <a:solidFill>
                <a:srgbClr val="000000"/>
              </a:solidFill>
              <a:latin typeface="Inter"/>
              <a:ea typeface="Inter"/>
              <a:cs typeface="Inter"/>
              <a:sym typeface="Inter"/>
            </a:endParaRPr>
          </a:p>
        </p:txBody>
      </p:sp>
      <p:sp>
        <p:nvSpPr>
          <p:cNvPr id="195" name="Google Shape;195;g3d6a77b1699_1_1"/>
          <p:cNvSpPr/>
          <p:nvPr/>
        </p:nvSpPr>
        <p:spPr>
          <a:xfrm>
            <a:off x="4850975" y="1985320"/>
            <a:ext cx="4153500" cy="2228100"/>
          </a:xfrm>
          <a:prstGeom prst="roundRect">
            <a:avLst>
              <a:gd fmla="val 16667" name="adj"/>
            </a:avLst>
          </a:prstGeom>
          <a:solidFill>
            <a:srgbClr val="CFE2F3"/>
          </a:solidFill>
          <a:ln>
            <a:noFill/>
          </a:ln>
        </p:spPr>
        <p:txBody>
          <a:bodyPr anchorCtr="0" anchor="ctr" bIns="141100" lIns="141100" spcFirstLastPara="1" rIns="141100" wrap="square" tIns="141100">
            <a:noAutofit/>
          </a:bodyPr>
          <a:lstStyle/>
          <a:p>
            <a:pPr indent="0" lvl="0" marL="4233889" marR="0" rtl="0" algn="ctr">
              <a:lnSpc>
                <a:spcPct val="100000"/>
              </a:lnSpc>
              <a:spcBef>
                <a:spcPts val="0"/>
              </a:spcBef>
              <a:spcAft>
                <a:spcPts val="0"/>
              </a:spcAft>
              <a:buClr>
                <a:srgbClr val="000000"/>
              </a:buClr>
              <a:buSzPts val="2161"/>
              <a:buFont typeface="Arial"/>
              <a:buNone/>
            </a:pPr>
            <a:r>
              <a:t/>
            </a:r>
            <a:endParaRPr b="0" i="0" sz="2161" u="none" cap="none" strike="noStrike">
              <a:solidFill>
                <a:srgbClr val="000000"/>
              </a:solidFill>
              <a:latin typeface="Arial"/>
              <a:ea typeface="Arial"/>
              <a:cs typeface="Arial"/>
              <a:sym typeface="Arial"/>
            </a:endParaRPr>
          </a:p>
        </p:txBody>
      </p:sp>
      <p:sp>
        <p:nvSpPr>
          <p:cNvPr id="196" name="Google Shape;196;g3d6a77b1699_1_1"/>
          <p:cNvSpPr/>
          <p:nvPr/>
        </p:nvSpPr>
        <p:spPr>
          <a:xfrm>
            <a:off x="5149470" y="2121820"/>
            <a:ext cx="3370800" cy="447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1A2E"/>
              </a:buClr>
              <a:buSzPts val="2161"/>
              <a:buFont typeface="Georgia"/>
              <a:buNone/>
            </a:pPr>
            <a:r>
              <a:rPr b="1" lang="en">
                <a:solidFill>
                  <a:srgbClr val="1A1A2E"/>
                </a:solidFill>
                <a:latin typeface="Inter"/>
                <a:ea typeface="Inter"/>
                <a:cs typeface="Inter"/>
                <a:sym typeface="Inter"/>
              </a:rPr>
              <a:t>Evaluation</a:t>
            </a:r>
            <a:r>
              <a:rPr b="1" lang="en">
                <a:solidFill>
                  <a:srgbClr val="1A1A2E"/>
                </a:solidFill>
                <a:latin typeface="Inter"/>
                <a:ea typeface="Inter"/>
                <a:cs typeface="Inter"/>
                <a:sym typeface="Inter"/>
              </a:rPr>
              <a:t>/Subgroup Analysis:</a:t>
            </a:r>
            <a:endParaRPr b="1" i="0" u="none" cap="none" strike="noStrike">
              <a:solidFill>
                <a:srgbClr val="000000"/>
              </a:solidFill>
              <a:latin typeface="Inter"/>
              <a:ea typeface="Inter"/>
              <a:cs typeface="Inter"/>
              <a:sym typeface="Inter"/>
            </a:endParaRPr>
          </a:p>
        </p:txBody>
      </p:sp>
      <p:sp>
        <p:nvSpPr>
          <p:cNvPr id="197" name="Google Shape;197;g3d6a77b1699_1_1"/>
          <p:cNvSpPr/>
          <p:nvPr/>
        </p:nvSpPr>
        <p:spPr>
          <a:xfrm>
            <a:off x="5177424" y="2442129"/>
            <a:ext cx="1143000" cy="29700"/>
          </a:xfrm>
          <a:prstGeom prst="rect">
            <a:avLst/>
          </a:prstGeom>
          <a:solidFill>
            <a:srgbClr val="3D85C6"/>
          </a:solidFill>
          <a:ln>
            <a:noFill/>
          </a:ln>
        </p:spPr>
        <p:txBody>
          <a:bodyPr anchorCtr="0" anchor="ctr" bIns="141100" lIns="141100" spcFirstLastPara="1" rIns="141100" wrap="square" tIns="141100">
            <a:noAutofit/>
          </a:bodyPr>
          <a:lstStyle/>
          <a:p>
            <a:pPr indent="0" lvl="0" marL="0" marR="0" rtl="0" algn="l">
              <a:lnSpc>
                <a:spcPct val="100000"/>
              </a:lnSpc>
              <a:spcBef>
                <a:spcPts val="0"/>
              </a:spcBef>
              <a:spcAft>
                <a:spcPts val="0"/>
              </a:spcAft>
              <a:buClr>
                <a:srgbClr val="000000"/>
              </a:buClr>
              <a:buSzPts val="2161"/>
              <a:buFont typeface="Arial"/>
              <a:buNone/>
            </a:pPr>
            <a:r>
              <a:t/>
            </a:r>
            <a:endParaRPr b="0" i="0" sz="2161" u="none" cap="none" strike="noStrike">
              <a:solidFill>
                <a:srgbClr val="000000"/>
              </a:solidFill>
              <a:latin typeface="Inter"/>
              <a:ea typeface="Inter"/>
              <a:cs typeface="Inter"/>
              <a:sym typeface="Inter"/>
            </a:endParaRPr>
          </a:p>
        </p:txBody>
      </p:sp>
      <p:sp>
        <p:nvSpPr>
          <p:cNvPr id="198" name="Google Shape;198;g3d6a77b1699_1_1"/>
          <p:cNvSpPr txBox="1"/>
          <p:nvPr/>
        </p:nvSpPr>
        <p:spPr>
          <a:xfrm>
            <a:off x="5110682" y="2526395"/>
            <a:ext cx="3111300" cy="1686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2"/>
                </a:solidFill>
              </a:rPr>
              <a:t>Evaluation Metrics: Accuracy, FNR, FPR, Entropy for specific features</a:t>
            </a:r>
            <a:endParaRPr sz="1200">
              <a:solidFill>
                <a:schemeClr val="dk2"/>
              </a:solidFill>
            </a:endParaRPr>
          </a:p>
          <a:p>
            <a:pPr indent="0" lvl="0" marL="0" rtl="0" algn="l">
              <a:spcBef>
                <a:spcPts val="0"/>
              </a:spcBef>
              <a:spcAft>
                <a:spcPts val="0"/>
              </a:spcAft>
              <a:buNone/>
            </a:pPr>
            <a:r>
              <a:t/>
            </a:r>
            <a:endParaRPr sz="1200">
              <a:solidFill>
                <a:schemeClr val="dk2"/>
              </a:solidFill>
            </a:endParaRPr>
          </a:p>
          <a:p>
            <a:pPr indent="0" lvl="0" marL="0" rtl="0" algn="l">
              <a:spcBef>
                <a:spcPts val="0"/>
              </a:spcBef>
              <a:spcAft>
                <a:spcPts val="0"/>
              </a:spcAft>
              <a:buNone/>
            </a:pPr>
            <a:r>
              <a:rPr lang="en" sz="1200">
                <a:solidFill>
                  <a:schemeClr val="dk2"/>
                </a:solidFill>
              </a:rPr>
              <a:t>Subgroup Analysis: Accuracy for Gender, Education Level, Age, and Credit Score. Comparison with overall model to determine possible bias.</a:t>
            </a:r>
            <a:endParaRPr sz="1200">
              <a:solidFill>
                <a:schemeClr val="dk2"/>
              </a:solidFill>
            </a:endParaRPr>
          </a:p>
          <a:p>
            <a:pPr indent="0" lvl="0" marL="0" rtl="0" algn="l">
              <a:spcBef>
                <a:spcPts val="0"/>
              </a:spcBef>
              <a:spcAft>
                <a:spcPts val="0"/>
              </a:spcAft>
              <a:buNone/>
            </a:pPr>
            <a:r>
              <a:t/>
            </a:r>
            <a:endParaRPr sz="1800">
              <a:solidFill>
                <a:schemeClr val="dk2"/>
              </a:solidFill>
            </a:endParaRPr>
          </a:p>
        </p:txBody>
      </p:sp>
      <p:sp>
        <p:nvSpPr>
          <p:cNvPr id="199" name="Google Shape;199;g3d6a77b1699_1_1"/>
          <p:cNvSpPr/>
          <p:nvPr/>
        </p:nvSpPr>
        <p:spPr>
          <a:xfrm>
            <a:off x="222724" y="3131883"/>
            <a:ext cx="4503300" cy="1084800"/>
          </a:xfrm>
          <a:prstGeom prst="roundRect">
            <a:avLst>
              <a:gd fmla="val 16667" name="adj"/>
            </a:avLst>
          </a:prstGeom>
          <a:solidFill>
            <a:srgbClr val="D4E4D1"/>
          </a:solidFill>
          <a:ln>
            <a:noFill/>
          </a:ln>
        </p:spPr>
        <p:txBody>
          <a:bodyPr anchorCtr="0" anchor="ctr" bIns="109225" lIns="109225" spcFirstLastPara="1" rIns="109225" wrap="square" tIns="109225">
            <a:noAutofit/>
          </a:bodyPr>
          <a:lstStyle/>
          <a:p>
            <a:pPr indent="0" lvl="0" marL="3277459" marR="0" rtl="0" algn="ctr">
              <a:lnSpc>
                <a:spcPct val="100000"/>
              </a:lnSpc>
              <a:spcBef>
                <a:spcPts val="0"/>
              </a:spcBef>
              <a:spcAft>
                <a:spcPts val="0"/>
              </a:spcAft>
              <a:buClr>
                <a:srgbClr val="000000"/>
              </a:buClr>
              <a:buSzPts val="1673"/>
              <a:buFont typeface="Arial"/>
              <a:buNone/>
            </a:pPr>
            <a:r>
              <a:t/>
            </a:r>
            <a:endParaRPr i="0" sz="1673" u="none" cap="none" strike="noStrike">
              <a:solidFill>
                <a:srgbClr val="000000"/>
              </a:solidFill>
              <a:latin typeface="Inter"/>
              <a:ea typeface="Inter"/>
              <a:cs typeface="Inter"/>
              <a:sym typeface="Inter"/>
            </a:endParaRPr>
          </a:p>
        </p:txBody>
      </p:sp>
      <p:sp>
        <p:nvSpPr>
          <p:cNvPr id="200" name="Google Shape;200;g3d6a77b1699_1_1"/>
          <p:cNvSpPr/>
          <p:nvPr/>
        </p:nvSpPr>
        <p:spPr>
          <a:xfrm>
            <a:off x="400526" y="3167847"/>
            <a:ext cx="3445500" cy="327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1A2E"/>
              </a:buClr>
              <a:buSzPts val="1673"/>
              <a:buFont typeface="Georgia"/>
              <a:buNone/>
            </a:pPr>
            <a:r>
              <a:rPr b="1" lang="en">
                <a:solidFill>
                  <a:srgbClr val="1A1A2E"/>
                </a:solidFill>
                <a:latin typeface="Inter"/>
                <a:ea typeface="Inter"/>
                <a:cs typeface="Inter"/>
                <a:sym typeface="Inter"/>
              </a:rPr>
              <a:t>Intended Use/Out of Scope:</a:t>
            </a:r>
            <a:endParaRPr b="1" i="0" u="none" cap="none" strike="noStrike">
              <a:solidFill>
                <a:srgbClr val="000000"/>
              </a:solidFill>
              <a:latin typeface="Inter"/>
              <a:ea typeface="Inter"/>
              <a:cs typeface="Inter"/>
              <a:sym typeface="Inter"/>
            </a:endParaRPr>
          </a:p>
        </p:txBody>
      </p:sp>
      <p:sp>
        <p:nvSpPr>
          <p:cNvPr id="201" name="Google Shape;201;g3d6a77b1699_1_1"/>
          <p:cNvSpPr/>
          <p:nvPr/>
        </p:nvSpPr>
        <p:spPr>
          <a:xfrm>
            <a:off x="429847" y="3459881"/>
            <a:ext cx="550200" cy="21900"/>
          </a:xfrm>
          <a:prstGeom prst="rect">
            <a:avLst/>
          </a:prstGeom>
          <a:solidFill>
            <a:srgbClr val="2C6E6A"/>
          </a:solidFill>
          <a:ln>
            <a:noFill/>
          </a:ln>
        </p:spPr>
        <p:txBody>
          <a:bodyPr anchorCtr="0" anchor="ctr" bIns="109225" lIns="109225" spcFirstLastPara="1" rIns="109225" wrap="square" tIns="109225">
            <a:noAutofit/>
          </a:bodyPr>
          <a:lstStyle/>
          <a:p>
            <a:pPr indent="0" lvl="0" marL="0" marR="0" rtl="0" algn="l">
              <a:lnSpc>
                <a:spcPct val="100000"/>
              </a:lnSpc>
              <a:spcBef>
                <a:spcPts val="0"/>
              </a:spcBef>
              <a:spcAft>
                <a:spcPts val="0"/>
              </a:spcAft>
              <a:buClr>
                <a:srgbClr val="000000"/>
              </a:buClr>
              <a:buSzPts val="1673"/>
              <a:buFont typeface="Arial"/>
              <a:buNone/>
            </a:pPr>
            <a:r>
              <a:t/>
            </a:r>
            <a:endParaRPr i="0" sz="1673" u="none" cap="none" strike="noStrike">
              <a:solidFill>
                <a:srgbClr val="000000"/>
              </a:solidFill>
              <a:latin typeface="Inter"/>
              <a:ea typeface="Inter"/>
              <a:cs typeface="Inter"/>
              <a:sym typeface="Inter"/>
            </a:endParaRPr>
          </a:p>
        </p:txBody>
      </p:sp>
      <p:sp>
        <p:nvSpPr>
          <p:cNvPr id="202" name="Google Shape;202;g3d6a77b1699_1_1"/>
          <p:cNvSpPr/>
          <p:nvPr/>
        </p:nvSpPr>
        <p:spPr>
          <a:xfrm>
            <a:off x="284650" y="4278441"/>
            <a:ext cx="8646600" cy="809700"/>
          </a:xfrm>
          <a:prstGeom prst="roundRect">
            <a:avLst>
              <a:gd fmla="val 16667" name="adj"/>
            </a:avLst>
          </a:prstGeom>
          <a:solidFill>
            <a:srgbClr val="F4CCCC"/>
          </a:solidFill>
          <a:ln>
            <a:noFill/>
          </a:ln>
        </p:spPr>
        <p:txBody>
          <a:bodyPr anchorCtr="0" anchor="ctr" bIns="91425" lIns="91425" spcFirstLastPara="1" rIns="91425" wrap="square" tIns="91425">
            <a:noAutofit/>
          </a:bodyPr>
          <a:lstStyle/>
          <a:p>
            <a:pPr indent="0" lvl="0" marL="2743200" marR="0" rtl="0" algn="ctr">
              <a:lnSpc>
                <a:spcPct val="100000"/>
              </a:lnSpc>
              <a:spcBef>
                <a:spcPts val="0"/>
              </a:spcBef>
              <a:spcAft>
                <a:spcPts val="0"/>
              </a:spcAft>
              <a:buClr>
                <a:srgbClr val="000000"/>
              </a:buClr>
              <a:buSzPts val="1400"/>
              <a:buFont typeface="Arial"/>
              <a:buNone/>
            </a:pPr>
            <a:r>
              <a:t/>
            </a:r>
            <a:endParaRPr i="0" sz="1400" u="none" cap="none" strike="noStrike">
              <a:solidFill>
                <a:srgbClr val="000000"/>
              </a:solidFill>
              <a:latin typeface="Inter"/>
              <a:ea typeface="Inter"/>
              <a:cs typeface="Inter"/>
              <a:sym typeface="Inter"/>
            </a:endParaRPr>
          </a:p>
        </p:txBody>
      </p:sp>
      <p:sp>
        <p:nvSpPr>
          <p:cNvPr id="203" name="Google Shape;203;g3d6a77b1699_1_1"/>
          <p:cNvSpPr/>
          <p:nvPr/>
        </p:nvSpPr>
        <p:spPr>
          <a:xfrm>
            <a:off x="437255" y="4341772"/>
            <a:ext cx="2087100" cy="172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1A2E"/>
              </a:buClr>
              <a:buSzPts val="1400"/>
              <a:buFont typeface="Georgia"/>
              <a:buNone/>
            </a:pPr>
            <a:r>
              <a:rPr b="1" lang="en">
                <a:solidFill>
                  <a:srgbClr val="1A1A2E"/>
                </a:solidFill>
                <a:latin typeface="Inter"/>
                <a:ea typeface="Inter"/>
                <a:cs typeface="Inter"/>
                <a:sym typeface="Inter"/>
              </a:rPr>
              <a:t>Failure Modes</a:t>
            </a:r>
            <a:endParaRPr b="1" i="0" sz="1400" u="none" cap="none" strike="noStrike">
              <a:solidFill>
                <a:srgbClr val="000000"/>
              </a:solidFill>
              <a:latin typeface="Inter"/>
              <a:ea typeface="Inter"/>
              <a:cs typeface="Inter"/>
              <a:sym typeface="Inter"/>
            </a:endParaRPr>
          </a:p>
        </p:txBody>
      </p:sp>
      <p:sp>
        <p:nvSpPr>
          <p:cNvPr id="204" name="Google Shape;204;g3d6a77b1699_1_1"/>
          <p:cNvSpPr/>
          <p:nvPr/>
        </p:nvSpPr>
        <p:spPr>
          <a:xfrm>
            <a:off x="447145" y="4543030"/>
            <a:ext cx="490800" cy="11700"/>
          </a:xfrm>
          <a:prstGeom prst="rect">
            <a:avLst/>
          </a:prstGeom>
          <a:solidFill>
            <a:srgbClr val="E0666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i="0" sz="1400" u="none" cap="none" strike="noStrike">
              <a:solidFill>
                <a:srgbClr val="000000"/>
              </a:solidFill>
              <a:latin typeface="Inter"/>
              <a:ea typeface="Inter"/>
              <a:cs typeface="Inter"/>
              <a:sym typeface="Inter"/>
            </a:endParaRPr>
          </a:p>
        </p:txBody>
      </p:sp>
      <p:sp>
        <p:nvSpPr>
          <p:cNvPr id="205" name="Google Shape;205;g3d6a77b1699_1_1"/>
          <p:cNvSpPr txBox="1"/>
          <p:nvPr/>
        </p:nvSpPr>
        <p:spPr>
          <a:xfrm>
            <a:off x="384053" y="4530540"/>
            <a:ext cx="8547300" cy="328800"/>
          </a:xfrm>
          <a:prstGeom prst="rect">
            <a:avLst/>
          </a:prstGeom>
          <a:noFill/>
          <a:ln>
            <a:noFill/>
          </a:ln>
        </p:spPr>
        <p:txBody>
          <a:bodyPr anchorCtr="0" anchor="t" bIns="91425" lIns="91425" spcFirstLastPara="1" rIns="91425" wrap="square" tIns="91425">
            <a:noAutofit/>
          </a:bodyPr>
          <a:lstStyle/>
          <a:p>
            <a:pPr indent="-298450" lvl="0" marL="457200" rtl="0" algn="l">
              <a:lnSpc>
                <a:spcPct val="115000"/>
              </a:lnSpc>
              <a:spcBef>
                <a:spcPts val="1200"/>
              </a:spcBef>
              <a:spcAft>
                <a:spcPts val="0"/>
              </a:spcAft>
              <a:buClr>
                <a:schemeClr val="dk2"/>
              </a:buClr>
              <a:buSzPts val="1100"/>
              <a:buFont typeface="Inter"/>
              <a:buChar char="●"/>
            </a:pPr>
            <a:r>
              <a:rPr lang="en" sz="1200">
                <a:solidFill>
                  <a:schemeClr val="dk2"/>
                </a:solidFill>
                <a:latin typeface="Inter"/>
                <a:ea typeface="Inter"/>
                <a:cs typeface="Inter"/>
                <a:sym typeface="Inter"/>
              </a:rPr>
              <a:t>Model does not account for changing economic, regulatory conditions.</a:t>
            </a:r>
            <a:endParaRPr sz="1200">
              <a:solidFill>
                <a:schemeClr val="dk2"/>
              </a:solidFill>
              <a:latin typeface="Inter"/>
              <a:ea typeface="Inter"/>
              <a:cs typeface="Inter"/>
              <a:sym typeface="Inter"/>
            </a:endParaRPr>
          </a:p>
          <a:p>
            <a:pPr indent="-298450" lvl="0" marL="457200" rtl="0" algn="l">
              <a:lnSpc>
                <a:spcPct val="115000"/>
              </a:lnSpc>
              <a:spcBef>
                <a:spcPts val="0"/>
              </a:spcBef>
              <a:spcAft>
                <a:spcPts val="0"/>
              </a:spcAft>
              <a:buClr>
                <a:schemeClr val="dk2"/>
              </a:buClr>
              <a:buSzPts val="1100"/>
              <a:buFont typeface="Inter"/>
              <a:buChar char="●"/>
            </a:pPr>
            <a:r>
              <a:rPr lang="en" sz="1200">
                <a:solidFill>
                  <a:schemeClr val="dk2"/>
                </a:solidFill>
                <a:latin typeface="Inter"/>
                <a:ea typeface="Inter"/>
                <a:cs typeface="Inter"/>
                <a:sym typeface="Inter"/>
              </a:rPr>
              <a:t> Limited demographic data can lead to bias.</a:t>
            </a:r>
            <a:endParaRPr sz="1200">
              <a:solidFill>
                <a:schemeClr val="dk2"/>
              </a:solidFill>
              <a:latin typeface="Inter"/>
              <a:ea typeface="Inter"/>
              <a:cs typeface="Inter"/>
              <a:sym typeface="Inter"/>
            </a:endParaRPr>
          </a:p>
          <a:p>
            <a:pPr indent="0" lvl="0" marL="0" rtl="0" algn="l">
              <a:lnSpc>
                <a:spcPct val="115000"/>
              </a:lnSpc>
              <a:spcBef>
                <a:spcPts val="1200"/>
              </a:spcBef>
              <a:spcAft>
                <a:spcPts val="0"/>
              </a:spcAft>
              <a:buNone/>
            </a:pPr>
            <a:r>
              <a:t/>
            </a:r>
            <a:endParaRPr sz="1200">
              <a:solidFill>
                <a:schemeClr val="dk2"/>
              </a:solidFill>
              <a:latin typeface="Inter"/>
              <a:ea typeface="Inter"/>
              <a:cs typeface="Inter"/>
              <a:sym typeface="Inter"/>
            </a:endParaRPr>
          </a:p>
          <a:p>
            <a:pPr indent="0" lvl="0" marL="0" rtl="0" algn="l">
              <a:spcBef>
                <a:spcPts val="1200"/>
              </a:spcBef>
              <a:spcAft>
                <a:spcPts val="0"/>
              </a:spcAft>
              <a:buNone/>
            </a:pPr>
            <a:r>
              <a:t/>
            </a:r>
            <a:endParaRPr sz="1200">
              <a:solidFill>
                <a:schemeClr val="dk2"/>
              </a:solidFill>
              <a:latin typeface="Inter"/>
              <a:ea typeface="Inter"/>
              <a:cs typeface="Inter"/>
              <a:sym typeface="Inter"/>
            </a:endParaRPr>
          </a:p>
        </p:txBody>
      </p:sp>
      <p:sp>
        <p:nvSpPr>
          <p:cNvPr id="206" name="Google Shape;206;g3d6a77b1699_1_1"/>
          <p:cNvSpPr txBox="1"/>
          <p:nvPr/>
        </p:nvSpPr>
        <p:spPr>
          <a:xfrm>
            <a:off x="284650" y="2352925"/>
            <a:ext cx="4059900" cy="327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2"/>
                </a:solidFill>
              </a:rPr>
              <a:t>Source: Simple Loan Classification Set, Kaggle</a:t>
            </a:r>
            <a:endParaRPr sz="1200">
              <a:solidFill>
                <a:schemeClr val="dk2"/>
              </a:solidFill>
            </a:endParaRPr>
          </a:p>
          <a:p>
            <a:pPr indent="0" lvl="0" marL="0" rtl="0" algn="l">
              <a:spcBef>
                <a:spcPts val="0"/>
              </a:spcBef>
              <a:spcAft>
                <a:spcPts val="0"/>
              </a:spcAft>
              <a:buNone/>
            </a:pPr>
            <a:r>
              <a:rPr lang="en" sz="1200">
                <a:solidFill>
                  <a:schemeClr val="dk2"/>
                </a:solidFill>
              </a:rPr>
              <a:t>Features: Gender, Education Level, Age, Credit Score</a:t>
            </a:r>
            <a:endParaRPr sz="1200">
              <a:solidFill>
                <a:schemeClr val="dk2"/>
              </a:solidFill>
            </a:endParaRPr>
          </a:p>
          <a:p>
            <a:pPr indent="0" lvl="0" marL="0" rtl="0" algn="l">
              <a:spcBef>
                <a:spcPts val="0"/>
              </a:spcBef>
              <a:spcAft>
                <a:spcPts val="0"/>
              </a:spcAft>
              <a:buNone/>
            </a:pPr>
            <a:r>
              <a:t/>
            </a:r>
            <a:endParaRPr sz="1200">
              <a:solidFill>
                <a:schemeClr val="dk2"/>
              </a:solidFill>
            </a:endParaRPr>
          </a:p>
        </p:txBody>
      </p:sp>
      <p:sp>
        <p:nvSpPr>
          <p:cNvPr id="207" name="Google Shape;207;g3d6a77b1699_1_1"/>
          <p:cNvSpPr txBox="1"/>
          <p:nvPr/>
        </p:nvSpPr>
        <p:spPr>
          <a:xfrm>
            <a:off x="331575" y="3412850"/>
            <a:ext cx="4346100" cy="586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2"/>
                </a:solidFill>
              </a:rPr>
              <a:t>This Model is designed to identify patterns in student loan data to determine common factors for loan denial.</a:t>
            </a:r>
            <a:endParaRPr sz="1200">
              <a:solidFill>
                <a:schemeClr val="dk2"/>
              </a:solidFill>
            </a:endParaRPr>
          </a:p>
          <a:p>
            <a:pPr indent="0" lvl="0" marL="0" rtl="0" algn="l">
              <a:spcBef>
                <a:spcPts val="0"/>
              </a:spcBef>
              <a:spcAft>
                <a:spcPts val="0"/>
              </a:spcAft>
              <a:buNone/>
            </a:pPr>
            <a:r>
              <a:rPr lang="en" sz="1200">
                <a:solidFill>
                  <a:schemeClr val="dk2"/>
                </a:solidFill>
              </a:rPr>
              <a:t>Out of Scope: Should not be used to make lending decisions.</a:t>
            </a:r>
            <a:endParaRPr sz="1200">
              <a:solidFill>
                <a:schemeClr val="dk2"/>
              </a:solidFill>
            </a:endParaRPr>
          </a:p>
          <a:p>
            <a:pPr indent="0" lvl="0" marL="0" rtl="0" algn="l">
              <a:spcBef>
                <a:spcPts val="0"/>
              </a:spcBef>
              <a:spcAft>
                <a:spcPts val="0"/>
              </a:spcAft>
              <a:buClr>
                <a:schemeClr val="dk1"/>
              </a:buClr>
              <a:buSzPts val="1100"/>
              <a:buFont typeface="Arial"/>
              <a:buNone/>
            </a:pPr>
            <a:r>
              <a:t/>
            </a:r>
            <a:endParaRPr sz="1200">
              <a:solidFill>
                <a:schemeClr val="dk2"/>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 name="Shape 211"/>
        <p:cNvGrpSpPr/>
        <p:nvPr/>
      </p:nvGrpSpPr>
      <p:grpSpPr>
        <a:xfrm>
          <a:off x="0" y="0"/>
          <a:ext cx="0" cy="0"/>
          <a:chOff x="0" y="0"/>
          <a:chExt cx="0" cy="0"/>
        </a:xfrm>
      </p:grpSpPr>
      <p:sp>
        <p:nvSpPr>
          <p:cNvPr id="212" name="Google Shape;212;g3e049f9ed10_0_70"/>
          <p:cNvSpPr/>
          <p:nvPr/>
        </p:nvSpPr>
        <p:spPr>
          <a:xfrm>
            <a:off x="222725" y="940975"/>
            <a:ext cx="8646600" cy="960600"/>
          </a:xfrm>
          <a:prstGeom prst="roundRect">
            <a:avLst>
              <a:gd fmla="val 16667" name="adj"/>
            </a:avLst>
          </a:prstGeom>
          <a:solidFill>
            <a:srgbClr val="F5F0E8"/>
          </a:solidFill>
          <a:ln>
            <a:noFill/>
          </a:ln>
        </p:spPr>
        <p:txBody>
          <a:bodyPr anchorCtr="0" anchor="ctr" bIns="91425" lIns="91425" spcFirstLastPara="1" rIns="91425" wrap="square" tIns="91425">
            <a:noAutofit/>
          </a:bodyPr>
          <a:lstStyle/>
          <a:p>
            <a:pPr indent="0" lvl="0" marL="2743200" marR="0" rtl="0" algn="ctr">
              <a:lnSpc>
                <a:spcPct val="100000"/>
              </a:lnSpc>
              <a:spcBef>
                <a:spcPts val="0"/>
              </a:spcBef>
              <a:spcAft>
                <a:spcPts val="0"/>
              </a:spcAft>
              <a:buClr>
                <a:srgbClr val="000000"/>
              </a:buClr>
              <a:buSzPts val="1400"/>
              <a:buFont typeface="Arial"/>
              <a:buNone/>
            </a:pPr>
            <a:r>
              <a:t/>
            </a:r>
            <a:endParaRPr i="0" sz="1400" u="none" cap="none" strike="noStrike">
              <a:solidFill>
                <a:srgbClr val="000000"/>
              </a:solidFill>
              <a:latin typeface="Inter"/>
              <a:ea typeface="Inter"/>
              <a:cs typeface="Inter"/>
              <a:sym typeface="Inter"/>
            </a:endParaRPr>
          </a:p>
        </p:txBody>
      </p:sp>
      <p:sp>
        <p:nvSpPr>
          <p:cNvPr id="213" name="Google Shape;213;g3e049f9ed10_0_70"/>
          <p:cNvSpPr/>
          <p:nvPr/>
        </p:nvSpPr>
        <p:spPr>
          <a:xfrm>
            <a:off x="492058" y="1016325"/>
            <a:ext cx="4878900" cy="2247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1A2E"/>
              </a:buClr>
              <a:buSzPts val="1400"/>
              <a:buFont typeface="Georgia"/>
              <a:buNone/>
            </a:pPr>
            <a:r>
              <a:rPr b="1" lang="en">
                <a:solidFill>
                  <a:srgbClr val="1A1A2E"/>
                </a:solidFill>
                <a:latin typeface="Inter"/>
                <a:ea typeface="Inter"/>
                <a:cs typeface="Inter"/>
                <a:sym typeface="Inter"/>
                <a:extLst>
                  <a:ext uri="http://customooxmlschemas.google.com/">
                    <go:slidesCustomData xmlns:go="http://customooxmlschemas.google.com/" textRoundtripDataId="2"/>
                  </a:ext>
                </a:extLst>
              </a:rPr>
              <a:t>California Housing </a:t>
            </a:r>
            <a:r>
              <a:rPr b="1" lang="en">
                <a:solidFill>
                  <a:srgbClr val="1A1A2E"/>
                </a:solidFill>
                <a:latin typeface="Inter"/>
                <a:ea typeface="Inter"/>
                <a:cs typeface="Inter"/>
                <a:sym typeface="Inter"/>
                <a:extLst>
                  <a:ext uri="http://customooxmlschemas.google.com/">
                    <go:slidesCustomData xmlns:go="http://customooxmlschemas.google.com/" textRoundtripDataId="3"/>
                  </a:ext>
                </a:extLst>
              </a:rPr>
              <a:t>K-Means Clustering</a:t>
            </a:r>
            <a:endParaRPr b="1" i="0" sz="1400" u="none" cap="none" strike="noStrike">
              <a:solidFill>
                <a:srgbClr val="000000"/>
              </a:solidFill>
              <a:latin typeface="Inter"/>
              <a:ea typeface="Inter"/>
              <a:cs typeface="Inter"/>
              <a:sym typeface="Inter"/>
            </a:endParaRPr>
          </a:p>
        </p:txBody>
      </p:sp>
      <p:sp>
        <p:nvSpPr>
          <p:cNvPr id="214" name="Google Shape;214;g3e049f9ed10_0_70"/>
          <p:cNvSpPr/>
          <p:nvPr/>
        </p:nvSpPr>
        <p:spPr>
          <a:xfrm>
            <a:off x="519948" y="1241061"/>
            <a:ext cx="540000" cy="15000"/>
          </a:xfrm>
          <a:prstGeom prst="rect">
            <a:avLst/>
          </a:prstGeom>
          <a:solidFill>
            <a:srgbClr val="B85C3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i="0" sz="1400" u="none" cap="none" strike="noStrike">
              <a:solidFill>
                <a:srgbClr val="000000"/>
              </a:solidFill>
              <a:latin typeface="Inter"/>
              <a:ea typeface="Inter"/>
              <a:cs typeface="Inter"/>
              <a:sym typeface="Inter"/>
            </a:endParaRPr>
          </a:p>
        </p:txBody>
      </p:sp>
      <p:grpSp>
        <p:nvGrpSpPr>
          <p:cNvPr id="215" name="Google Shape;215;g3e049f9ed10_0_70"/>
          <p:cNvGrpSpPr/>
          <p:nvPr/>
        </p:nvGrpSpPr>
        <p:grpSpPr>
          <a:xfrm>
            <a:off x="8625" y="0"/>
            <a:ext cx="9144000" cy="267600"/>
            <a:chOff x="8625" y="0"/>
            <a:chExt cx="9144000" cy="267600"/>
          </a:xfrm>
        </p:grpSpPr>
        <p:sp>
          <p:nvSpPr>
            <p:cNvPr id="216" name="Google Shape;216;g3e049f9ed10_0_70"/>
            <p:cNvSpPr/>
            <p:nvPr/>
          </p:nvSpPr>
          <p:spPr>
            <a:xfrm>
              <a:off x="8625" y="0"/>
              <a:ext cx="9144000" cy="2676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217" name="Google Shape;217;g3e049f9ed10_0_70" title="Logo Header.png"/>
            <p:cNvPicPr preferRelativeResize="0"/>
            <p:nvPr/>
          </p:nvPicPr>
          <p:blipFill rotWithShape="1">
            <a:blip r:embed="rId3">
              <a:alphaModFix/>
            </a:blip>
            <a:srcRect b="0" l="0" r="0" t="0"/>
            <a:stretch/>
          </p:blipFill>
          <p:spPr>
            <a:xfrm>
              <a:off x="8348195" y="15790"/>
              <a:ext cx="634775" cy="199625"/>
            </a:xfrm>
            <a:prstGeom prst="rect">
              <a:avLst/>
            </a:prstGeom>
            <a:noFill/>
            <a:ln>
              <a:noFill/>
            </a:ln>
          </p:spPr>
        </p:pic>
      </p:grpSp>
      <p:sp>
        <p:nvSpPr>
          <p:cNvPr id="218" name="Google Shape;218;g3e049f9ed10_0_70"/>
          <p:cNvSpPr txBox="1"/>
          <p:nvPr>
            <p:ph idx="1" type="subTitle"/>
          </p:nvPr>
        </p:nvSpPr>
        <p:spPr>
          <a:xfrm>
            <a:off x="222725" y="357372"/>
            <a:ext cx="5545500" cy="586200"/>
          </a:xfrm>
          <a:prstGeom prst="rect">
            <a:avLst/>
          </a:prstGeom>
          <a:noFill/>
          <a:ln>
            <a:noFill/>
          </a:ln>
        </p:spPr>
        <p:txBody>
          <a:bodyPr anchorCtr="0" anchor="t" bIns="91425" lIns="91425" spcFirstLastPara="1" rIns="91425" wrap="square" tIns="91425">
            <a:normAutofit lnSpcReduction="10000"/>
          </a:bodyPr>
          <a:lstStyle/>
          <a:p>
            <a:pPr indent="0" lvl="0" marL="0" rtl="0" algn="l">
              <a:lnSpc>
                <a:spcPct val="100000"/>
              </a:lnSpc>
              <a:spcBef>
                <a:spcPts val="0"/>
              </a:spcBef>
              <a:spcAft>
                <a:spcPts val="0"/>
              </a:spcAft>
              <a:buSzPts val="2800"/>
              <a:buNone/>
            </a:pPr>
            <a:r>
              <a:rPr b="1" lang="en" sz="2700">
                <a:solidFill>
                  <a:schemeClr val="dk1"/>
                </a:solidFill>
                <a:latin typeface="Inter"/>
                <a:ea typeface="Inter"/>
                <a:cs typeface="Inter"/>
                <a:sym typeface="Inter"/>
              </a:rPr>
              <a:t>ML Model Card Example</a:t>
            </a:r>
            <a:endParaRPr b="1" sz="2700">
              <a:solidFill>
                <a:schemeClr val="dk1"/>
              </a:solidFill>
              <a:latin typeface="Inter"/>
              <a:ea typeface="Inter"/>
              <a:cs typeface="Inter"/>
              <a:sym typeface="Inter"/>
            </a:endParaRPr>
          </a:p>
        </p:txBody>
      </p:sp>
      <p:sp>
        <p:nvSpPr>
          <p:cNvPr id="219" name="Google Shape;219;g3e049f9ed10_0_70"/>
          <p:cNvSpPr txBox="1"/>
          <p:nvPr/>
        </p:nvSpPr>
        <p:spPr>
          <a:xfrm>
            <a:off x="415975" y="1241070"/>
            <a:ext cx="7940700" cy="5862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1200"/>
              </a:spcAft>
              <a:buClr>
                <a:schemeClr val="dk1"/>
              </a:buClr>
              <a:buSzPts val="1100"/>
              <a:buFont typeface="Arial"/>
              <a:buNone/>
            </a:pPr>
            <a:r>
              <a:rPr lang="en" sz="1200">
                <a:solidFill>
                  <a:schemeClr val="dk2"/>
                </a:solidFill>
                <a:latin typeface="Inter"/>
                <a:ea typeface="Inter"/>
                <a:cs typeface="Inter"/>
                <a:sym typeface="Inter"/>
              </a:rPr>
              <a:t>Centroid based clustering that groups similar data points into clusters. The algorithm looks for patterns or groupings in the data, organizes points into k number of clusters using the cluster with the nearest mean.</a:t>
            </a:r>
            <a:endParaRPr sz="1200">
              <a:solidFill>
                <a:schemeClr val="dk2"/>
              </a:solidFill>
              <a:latin typeface="Inter"/>
              <a:ea typeface="Inter"/>
              <a:cs typeface="Inter"/>
              <a:sym typeface="Inter"/>
            </a:endParaRPr>
          </a:p>
        </p:txBody>
      </p:sp>
      <p:sp>
        <p:nvSpPr>
          <p:cNvPr id="220" name="Google Shape;220;g3e049f9ed10_0_70"/>
          <p:cNvSpPr/>
          <p:nvPr/>
        </p:nvSpPr>
        <p:spPr>
          <a:xfrm>
            <a:off x="222725" y="1985320"/>
            <a:ext cx="4503300" cy="1084800"/>
          </a:xfrm>
          <a:prstGeom prst="roundRect">
            <a:avLst>
              <a:gd fmla="val 16667" name="adj"/>
            </a:avLst>
          </a:prstGeom>
          <a:solidFill>
            <a:srgbClr val="D4E4D1"/>
          </a:solidFill>
          <a:ln>
            <a:noFill/>
          </a:ln>
        </p:spPr>
        <p:txBody>
          <a:bodyPr anchorCtr="0" anchor="ctr" bIns="109225" lIns="109225" spcFirstLastPara="1" rIns="109225" wrap="square" tIns="109225">
            <a:noAutofit/>
          </a:bodyPr>
          <a:lstStyle/>
          <a:p>
            <a:pPr indent="0" lvl="0" marL="3277459" marR="0" rtl="0" algn="ctr">
              <a:lnSpc>
                <a:spcPct val="100000"/>
              </a:lnSpc>
              <a:spcBef>
                <a:spcPts val="0"/>
              </a:spcBef>
              <a:spcAft>
                <a:spcPts val="0"/>
              </a:spcAft>
              <a:buClr>
                <a:srgbClr val="000000"/>
              </a:buClr>
              <a:buSzPts val="1673"/>
              <a:buFont typeface="Arial"/>
              <a:buNone/>
            </a:pPr>
            <a:r>
              <a:t/>
            </a:r>
            <a:endParaRPr i="0" sz="1673" u="none" cap="none" strike="noStrike">
              <a:solidFill>
                <a:srgbClr val="000000"/>
              </a:solidFill>
              <a:latin typeface="Inter"/>
              <a:ea typeface="Inter"/>
              <a:cs typeface="Inter"/>
              <a:sym typeface="Inter"/>
            </a:endParaRPr>
          </a:p>
        </p:txBody>
      </p:sp>
      <p:sp>
        <p:nvSpPr>
          <p:cNvPr id="221" name="Google Shape;221;g3e049f9ed10_0_70"/>
          <p:cNvSpPr/>
          <p:nvPr/>
        </p:nvSpPr>
        <p:spPr>
          <a:xfrm>
            <a:off x="378225" y="2117616"/>
            <a:ext cx="3445500" cy="267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1A2E"/>
              </a:buClr>
              <a:buSzPts val="1673"/>
              <a:buFont typeface="Georgia"/>
              <a:buNone/>
            </a:pPr>
            <a:r>
              <a:rPr b="1" lang="en">
                <a:solidFill>
                  <a:srgbClr val="1A1A2E"/>
                </a:solidFill>
                <a:latin typeface="Inter"/>
                <a:ea typeface="Inter"/>
                <a:cs typeface="Inter"/>
                <a:sym typeface="Inter"/>
              </a:rPr>
              <a:t>Training Data</a:t>
            </a:r>
            <a:endParaRPr b="1" i="0" u="none" cap="none" strike="noStrike">
              <a:solidFill>
                <a:srgbClr val="000000"/>
              </a:solidFill>
              <a:latin typeface="Inter"/>
              <a:ea typeface="Inter"/>
              <a:cs typeface="Inter"/>
              <a:sym typeface="Inter"/>
            </a:endParaRPr>
          </a:p>
        </p:txBody>
      </p:sp>
      <p:sp>
        <p:nvSpPr>
          <p:cNvPr id="222" name="Google Shape;222;g3e049f9ed10_0_70"/>
          <p:cNvSpPr/>
          <p:nvPr/>
        </p:nvSpPr>
        <p:spPr>
          <a:xfrm>
            <a:off x="392050" y="2379638"/>
            <a:ext cx="550200" cy="21900"/>
          </a:xfrm>
          <a:prstGeom prst="rect">
            <a:avLst/>
          </a:prstGeom>
          <a:solidFill>
            <a:srgbClr val="2C6E6A"/>
          </a:solidFill>
          <a:ln>
            <a:noFill/>
          </a:ln>
        </p:spPr>
        <p:txBody>
          <a:bodyPr anchorCtr="0" anchor="ctr" bIns="109225" lIns="109225" spcFirstLastPara="1" rIns="109225" wrap="square" tIns="109225">
            <a:noAutofit/>
          </a:bodyPr>
          <a:lstStyle/>
          <a:p>
            <a:pPr indent="0" lvl="0" marL="0" marR="0" rtl="0" algn="l">
              <a:lnSpc>
                <a:spcPct val="100000"/>
              </a:lnSpc>
              <a:spcBef>
                <a:spcPts val="0"/>
              </a:spcBef>
              <a:spcAft>
                <a:spcPts val="0"/>
              </a:spcAft>
              <a:buClr>
                <a:srgbClr val="000000"/>
              </a:buClr>
              <a:buSzPts val="1673"/>
              <a:buFont typeface="Arial"/>
              <a:buNone/>
            </a:pPr>
            <a:r>
              <a:t/>
            </a:r>
            <a:endParaRPr i="0" sz="1673" u="none" cap="none" strike="noStrike">
              <a:solidFill>
                <a:srgbClr val="000000"/>
              </a:solidFill>
              <a:latin typeface="Inter"/>
              <a:ea typeface="Inter"/>
              <a:cs typeface="Inter"/>
              <a:sym typeface="Inter"/>
            </a:endParaRPr>
          </a:p>
        </p:txBody>
      </p:sp>
      <p:sp>
        <p:nvSpPr>
          <p:cNvPr id="223" name="Google Shape;223;g3e049f9ed10_0_70"/>
          <p:cNvSpPr/>
          <p:nvPr/>
        </p:nvSpPr>
        <p:spPr>
          <a:xfrm>
            <a:off x="4850975" y="1985320"/>
            <a:ext cx="4153500" cy="2228100"/>
          </a:xfrm>
          <a:prstGeom prst="roundRect">
            <a:avLst>
              <a:gd fmla="val 16667" name="adj"/>
            </a:avLst>
          </a:prstGeom>
          <a:solidFill>
            <a:srgbClr val="CFE2F3"/>
          </a:solidFill>
          <a:ln>
            <a:noFill/>
          </a:ln>
        </p:spPr>
        <p:txBody>
          <a:bodyPr anchorCtr="0" anchor="ctr" bIns="141100" lIns="141100" spcFirstLastPara="1" rIns="141100" wrap="square" tIns="141100">
            <a:noAutofit/>
          </a:bodyPr>
          <a:lstStyle/>
          <a:p>
            <a:pPr indent="0" lvl="0" marL="4233889" marR="0" rtl="0" algn="ctr">
              <a:lnSpc>
                <a:spcPct val="100000"/>
              </a:lnSpc>
              <a:spcBef>
                <a:spcPts val="0"/>
              </a:spcBef>
              <a:spcAft>
                <a:spcPts val="0"/>
              </a:spcAft>
              <a:buClr>
                <a:srgbClr val="000000"/>
              </a:buClr>
              <a:buSzPts val="2161"/>
              <a:buFont typeface="Arial"/>
              <a:buNone/>
            </a:pPr>
            <a:r>
              <a:t/>
            </a:r>
            <a:endParaRPr b="0" i="0" sz="2161" u="none" cap="none" strike="noStrike">
              <a:solidFill>
                <a:srgbClr val="000000"/>
              </a:solidFill>
              <a:latin typeface="Arial"/>
              <a:ea typeface="Arial"/>
              <a:cs typeface="Arial"/>
              <a:sym typeface="Arial"/>
            </a:endParaRPr>
          </a:p>
        </p:txBody>
      </p:sp>
      <p:sp>
        <p:nvSpPr>
          <p:cNvPr id="224" name="Google Shape;224;g3e049f9ed10_0_70"/>
          <p:cNvSpPr/>
          <p:nvPr/>
        </p:nvSpPr>
        <p:spPr>
          <a:xfrm>
            <a:off x="5149470" y="2121820"/>
            <a:ext cx="3370800" cy="447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1A2E"/>
              </a:buClr>
              <a:buSzPts val="2161"/>
              <a:buFont typeface="Georgia"/>
              <a:buNone/>
            </a:pPr>
            <a:r>
              <a:rPr b="1" lang="en">
                <a:solidFill>
                  <a:srgbClr val="1A1A2E"/>
                </a:solidFill>
                <a:latin typeface="Inter"/>
                <a:ea typeface="Inter"/>
                <a:cs typeface="Inter"/>
                <a:sym typeface="Inter"/>
              </a:rPr>
              <a:t>Evaluation/Subgroup Analysis:</a:t>
            </a:r>
            <a:endParaRPr b="1" i="0" u="none" cap="none" strike="noStrike">
              <a:solidFill>
                <a:srgbClr val="000000"/>
              </a:solidFill>
              <a:latin typeface="Inter"/>
              <a:ea typeface="Inter"/>
              <a:cs typeface="Inter"/>
              <a:sym typeface="Inter"/>
            </a:endParaRPr>
          </a:p>
        </p:txBody>
      </p:sp>
      <p:sp>
        <p:nvSpPr>
          <p:cNvPr id="225" name="Google Shape;225;g3e049f9ed10_0_70"/>
          <p:cNvSpPr/>
          <p:nvPr/>
        </p:nvSpPr>
        <p:spPr>
          <a:xfrm>
            <a:off x="5177424" y="2442129"/>
            <a:ext cx="1143000" cy="29700"/>
          </a:xfrm>
          <a:prstGeom prst="rect">
            <a:avLst/>
          </a:prstGeom>
          <a:solidFill>
            <a:srgbClr val="3D85C6"/>
          </a:solidFill>
          <a:ln>
            <a:noFill/>
          </a:ln>
        </p:spPr>
        <p:txBody>
          <a:bodyPr anchorCtr="0" anchor="ctr" bIns="141100" lIns="141100" spcFirstLastPara="1" rIns="141100" wrap="square" tIns="141100">
            <a:noAutofit/>
          </a:bodyPr>
          <a:lstStyle/>
          <a:p>
            <a:pPr indent="0" lvl="0" marL="0" marR="0" rtl="0" algn="l">
              <a:lnSpc>
                <a:spcPct val="100000"/>
              </a:lnSpc>
              <a:spcBef>
                <a:spcPts val="0"/>
              </a:spcBef>
              <a:spcAft>
                <a:spcPts val="0"/>
              </a:spcAft>
              <a:buClr>
                <a:srgbClr val="000000"/>
              </a:buClr>
              <a:buSzPts val="2161"/>
              <a:buFont typeface="Arial"/>
              <a:buNone/>
            </a:pPr>
            <a:r>
              <a:t/>
            </a:r>
            <a:endParaRPr b="0" i="0" sz="2161" u="none" cap="none" strike="noStrike">
              <a:solidFill>
                <a:srgbClr val="000000"/>
              </a:solidFill>
              <a:latin typeface="Inter"/>
              <a:ea typeface="Inter"/>
              <a:cs typeface="Inter"/>
              <a:sym typeface="Inter"/>
            </a:endParaRPr>
          </a:p>
        </p:txBody>
      </p:sp>
      <p:sp>
        <p:nvSpPr>
          <p:cNvPr id="226" name="Google Shape;226;g3e049f9ed10_0_70"/>
          <p:cNvSpPr txBox="1"/>
          <p:nvPr/>
        </p:nvSpPr>
        <p:spPr>
          <a:xfrm>
            <a:off x="5110674" y="2463925"/>
            <a:ext cx="3668100" cy="1686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2"/>
                </a:solidFill>
              </a:rPr>
              <a:t>Evaluation Metrics: Cluster number was decided using the elbow method. Clusters were analyzed using </a:t>
            </a:r>
            <a:r>
              <a:rPr lang="en" sz="1200">
                <a:solidFill>
                  <a:schemeClr val="dk2"/>
                </a:solidFill>
              </a:rPr>
              <a:t>silhouette</a:t>
            </a:r>
            <a:r>
              <a:rPr lang="en" sz="1200">
                <a:solidFill>
                  <a:schemeClr val="dk2"/>
                </a:solidFill>
              </a:rPr>
              <a:t> scores and inertia.</a:t>
            </a:r>
            <a:endParaRPr sz="1200">
              <a:solidFill>
                <a:schemeClr val="dk2"/>
              </a:solidFill>
            </a:endParaRPr>
          </a:p>
          <a:p>
            <a:pPr indent="0" lvl="0" marL="0" rtl="0" algn="l">
              <a:spcBef>
                <a:spcPts val="0"/>
              </a:spcBef>
              <a:spcAft>
                <a:spcPts val="0"/>
              </a:spcAft>
              <a:buNone/>
            </a:pPr>
            <a:r>
              <a:t/>
            </a:r>
            <a:endParaRPr sz="1200">
              <a:solidFill>
                <a:schemeClr val="dk2"/>
              </a:solidFill>
            </a:endParaRPr>
          </a:p>
          <a:p>
            <a:pPr indent="0" lvl="0" marL="0" rtl="0" algn="l">
              <a:spcBef>
                <a:spcPts val="0"/>
              </a:spcBef>
              <a:spcAft>
                <a:spcPts val="0"/>
              </a:spcAft>
              <a:buNone/>
            </a:pPr>
            <a:r>
              <a:rPr lang="en" sz="1200">
                <a:solidFill>
                  <a:schemeClr val="dk2"/>
                </a:solidFill>
              </a:rPr>
              <a:t>Subgroup Analysis: Evaluation of cluster similarity across Income, House Value, Population, and Household number to allow deeper interpretation of the clusters found.</a:t>
            </a:r>
            <a:endParaRPr sz="1200">
              <a:solidFill>
                <a:schemeClr val="dk2"/>
              </a:solidFill>
            </a:endParaRPr>
          </a:p>
          <a:p>
            <a:pPr indent="0" lvl="0" marL="0" rtl="0" algn="l">
              <a:spcBef>
                <a:spcPts val="0"/>
              </a:spcBef>
              <a:spcAft>
                <a:spcPts val="0"/>
              </a:spcAft>
              <a:buNone/>
            </a:pPr>
            <a:r>
              <a:t/>
            </a:r>
            <a:endParaRPr sz="1800">
              <a:solidFill>
                <a:schemeClr val="dk2"/>
              </a:solidFill>
            </a:endParaRPr>
          </a:p>
        </p:txBody>
      </p:sp>
      <p:sp>
        <p:nvSpPr>
          <p:cNvPr id="227" name="Google Shape;227;g3e049f9ed10_0_70"/>
          <p:cNvSpPr/>
          <p:nvPr/>
        </p:nvSpPr>
        <p:spPr>
          <a:xfrm>
            <a:off x="222724" y="3131883"/>
            <a:ext cx="4503300" cy="1084800"/>
          </a:xfrm>
          <a:prstGeom prst="roundRect">
            <a:avLst>
              <a:gd fmla="val 16667" name="adj"/>
            </a:avLst>
          </a:prstGeom>
          <a:solidFill>
            <a:srgbClr val="D4E4D1"/>
          </a:solidFill>
          <a:ln>
            <a:noFill/>
          </a:ln>
        </p:spPr>
        <p:txBody>
          <a:bodyPr anchorCtr="0" anchor="ctr" bIns="109225" lIns="109225" spcFirstLastPara="1" rIns="109225" wrap="square" tIns="109225">
            <a:noAutofit/>
          </a:bodyPr>
          <a:lstStyle/>
          <a:p>
            <a:pPr indent="0" lvl="0" marL="3277459" marR="0" rtl="0" algn="ctr">
              <a:lnSpc>
                <a:spcPct val="100000"/>
              </a:lnSpc>
              <a:spcBef>
                <a:spcPts val="0"/>
              </a:spcBef>
              <a:spcAft>
                <a:spcPts val="0"/>
              </a:spcAft>
              <a:buClr>
                <a:srgbClr val="000000"/>
              </a:buClr>
              <a:buSzPts val="1673"/>
              <a:buFont typeface="Arial"/>
              <a:buNone/>
            </a:pPr>
            <a:r>
              <a:t/>
            </a:r>
            <a:endParaRPr i="0" sz="1673" u="none" cap="none" strike="noStrike">
              <a:solidFill>
                <a:srgbClr val="000000"/>
              </a:solidFill>
              <a:latin typeface="Inter"/>
              <a:ea typeface="Inter"/>
              <a:cs typeface="Inter"/>
              <a:sym typeface="Inter"/>
            </a:endParaRPr>
          </a:p>
        </p:txBody>
      </p:sp>
      <p:sp>
        <p:nvSpPr>
          <p:cNvPr id="228" name="Google Shape;228;g3e049f9ed10_0_70"/>
          <p:cNvSpPr/>
          <p:nvPr/>
        </p:nvSpPr>
        <p:spPr>
          <a:xfrm>
            <a:off x="387607" y="3156267"/>
            <a:ext cx="3445500" cy="327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1A2E"/>
              </a:buClr>
              <a:buSzPts val="1673"/>
              <a:buFont typeface="Georgia"/>
              <a:buNone/>
            </a:pPr>
            <a:r>
              <a:rPr b="1" lang="en">
                <a:solidFill>
                  <a:srgbClr val="1A1A2E"/>
                </a:solidFill>
                <a:latin typeface="Inter"/>
                <a:ea typeface="Inter"/>
                <a:cs typeface="Inter"/>
                <a:sym typeface="Inter"/>
              </a:rPr>
              <a:t>Intended Use/Out of Scope:</a:t>
            </a:r>
            <a:endParaRPr b="1" i="0" u="none" cap="none" strike="noStrike">
              <a:solidFill>
                <a:srgbClr val="000000"/>
              </a:solidFill>
              <a:latin typeface="Inter"/>
              <a:ea typeface="Inter"/>
              <a:cs typeface="Inter"/>
              <a:sym typeface="Inter"/>
            </a:endParaRPr>
          </a:p>
        </p:txBody>
      </p:sp>
      <p:sp>
        <p:nvSpPr>
          <p:cNvPr id="229" name="Google Shape;229;g3e049f9ed10_0_70"/>
          <p:cNvSpPr/>
          <p:nvPr/>
        </p:nvSpPr>
        <p:spPr>
          <a:xfrm>
            <a:off x="416929" y="3444762"/>
            <a:ext cx="550200" cy="21900"/>
          </a:xfrm>
          <a:prstGeom prst="rect">
            <a:avLst/>
          </a:prstGeom>
          <a:solidFill>
            <a:srgbClr val="2C6E6A"/>
          </a:solidFill>
          <a:ln>
            <a:noFill/>
          </a:ln>
        </p:spPr>
        <p:txBody>
          <a:bodyPr anchorCtr="0" anchor="ctr" bIns="109225" lIns="109225" spcFirstLastPara="1" rIns="109225" wrap="square" tIns="109225">
            <a:noAutofit/>
          </a:bodyPr>
          <a:lstStyle/>
          <a:p>
            <a:pPr indent="0" lvl="0" marL="0" marR="0" rtl="0" algn="l">
              <a:lnSpc>
                <a:spcPct val="100000"/>
              </a:lnSpc>
              <a:spcBef>
                <a:spcPts val="0"/>
              </a:spcBef>
              <a:spcAft>
                <a:spcPts val="0"/>
              </a:spcAft>
              <a:buClr>
                <a:srgbClr val="000000"/>
              </a:buClr>
              <a:buSzPts val="1673"/>
              <a:buFont typeface="Arial"/>
              <a:buNone/>
            </a:pPr>
            <a:r>
              <a:t/>
            </a:r>
            <a:endParaRPr i="0" sz="1673" u="none" cap="none" strike="noStrike">
              <a:solidFill>
                <a:srgbClr val="000000"/>
              </a:solidFill>
              <a:latin typeface="Inter"/>
              <a:ea typeface="Inter"/>
              <a:cs typeface="Inter"/>
              <a:sym typeface="Inter"/>
            </a:endParaRPr>
          </a:p>
        </p:txBody>
      </p:sp>
      <p:sp>
        <p:nvSpPr>
          <p:cNvPr id="230" name="Google Shape;230;g3e049f9ed10_0_70"/>
          <p:cNvSpPr/>
          <p:nvPr/>
        </p:nvSpPr>
        <p:spPr>
          <a:xfrm>
            <a:off x="284650" y="4278441"/>
            <a:ext cx="8646600" cy="809700"/>
          </a:xfrm>
          <a:prstGeom prst="roundRect">
            <a:avLst>
              <a:gd fmla="val 16667" name="adj"/>
            </a:avLst>
          </a:prstGeom>
          <a:solidFill>
            <a:srgbClr val="F4CCCC"/>
          </a:solidFill>
          <a:ln>
            <a:noFill/>
          </a:ln>
        </p:spPr>
        <p:txBody>
          <a:bodyPr anchorCtr="0" anchor="ctr" bIns="91425" lIns="91425" spcFirstLastPara="1" rIns="91425" wrap="square" tIns="91425">
            <a:noAutofit/>
          </a:bodyPr>
          <a:lstStyle/>
          <a:p>
            <a:pPr indent="0" lvl="0" marL="2743200" marR="0" rtl="0" algn="ctr">
              <a:lnSpc>
                <a:spcPct val="100000"/>
              </a:lnSpc>
              <a:spcBef>
                <a:spcPts val="0"/>
              </a:spcBef>
              <a:spcAft>
                <a:spcPts val="0"/>
              </a:spcAft>
              <a:buClr>
                <a:srgbClr val="000000"/>
              </a:buClr>
              <a:buSzPts val="1400"/>
              <a:buFont typeface="Arial"/>
              <a:buNone/>
            </a:pPr>
            <a:r>
              <a:t/>
            </a:r>
            <a:endParaRPr i="0" sz="1400" u="none" cap="none" strike="noStrike">
              <a:solidFill>
                <a:srgbClr val="000000"/>
              </a:solidFill>
              <a:latin typeface="Inter"/>
              <a:ea typeface="Inter"/>
              <a:cs typeface="Inter"/>
              <a:sym typeface="Inter"/>
            </a:endParaRPr>
          </a:p>
        </p:txBody>
      </p:sp>
      <p:sp>
        <p:nvSpPr>
          <p:cNvPr id="231" name="Google Shape;231;g3e049f9ed10_0_70"/>
          <p:cNvSpPr/>
          <p:nvPr/>
        </p:nvSpPr>
        <p:spPr>
          <a:xfrm>
            <a:off x="483077" y="4341772"/>
            <a:ext cx="2087100" cy="172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1A2E"/>
              </a:buClr>
              <a:buSzPts val="1400"/>
              <a:buFont typeface="Georgia"/>
              <a:buNone/>
            </a:pPr>
            <a:r>
              <a:rPr b="1" lang="en">
                <a:solidFill>
                  <a:srgbClr val="1A1A2E"/>
                </a:solidFill>
                <a:latin typeface="Inter"/>
                <a:ea typeface="Inter"/>
                <a:cs typeface="Inter"/>
                <a:sym typeface="Inter"/>
              </a:rPr>
              <a:t>Failure Modes</a:t>
            </a:r>
            <a:endParaRPr b="1" i="0" sz="1400" u="none" cap="none" strike="noStrike">
              <a:solidFill>
                <a:srgbClr val="000000"/>
              </a:solidFill>
              <a:latin typeface="Inter"/>
              <a:ea typeface="Inter"/>
              <a:cs typeface="Inter"/>
              <a:sym typeface="Inter"/>
            </a:endParaRPr>
          </a:p>
        </p:txBody>
      </p:sp>
      <p:sp>
        <p:nvSpPr>
          <p:cNvPr id="232" name="Google Shape;232;g3e049f9ed10_0_70"/>
          <p:cNvSpPr/>
          <p:nvPr/>
        </p:nvSpPr>
        <p:spPr>
          <a:xfrm>
            <a:off x="483088" y="4566992"/>
            <a:ext cx="490800" cy="11700"/>
          </a:xfrm>
          <a:prstGeom prst="rect">
            <a:avLst/>
          </a:prstGeom>
          <a:solidFill>
            <a:srgbClr val="E0666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i="0" sz="1400" u="none" cap="none" strike="noStrike">
              <a:solidFill>
                <a:srgbClr val="000000"/>
              </a:solidFill>
              <a:latin typeface="Inter"/>
              <a:ea typeface="Inter"/>
              <a:cs typeface="Inter"/>
              <a:sym typeface="Inter"/>
            </a:endParaRPr>
          </a:p>
        </p:txBody>
      </p:sp>
      <p:sp>
        <p:nvSpPr>
          <p:cNvPr id="233" name="Google Shape;233;g3e049f9ed10_0_70"/>
          <p:cNvSpPr txBox="1"/>
          <p:nvPr/>
        </p:nvSpPr>
        <p:spPr>
          <a:xfrm>
            <a:off x="384050" y="4514756"/>
            <a:ext cx="8547300" cy="526500"/>
          </a:xfrm>
          <a:prstGeom prst="rect">
            <a:avLst/>
          </a:prstGeom>
          <a:noFill/>
          <a:ln>
            <a:noFill/>
          </a:ln>
        </p:spPr>
        <p:txBody>
          <a:bodyPr anchorCtr="0" anchor="t" bIns="91425" lIns="91425" spcFirstLastPara="1" rIns="91425" wrap="square" tIns="91425">
            <a:noAutofit/>
          </a:bodyPr>
          <a:lstStyle/>
          <a:p>
            <a:pPr indent="-298450" lvl="0" marL="457200" rtl="0" algn="l">
              <a:lnSpc>
                <a:spcPct val="115000"/>
              </a:lnSpc>
              <a:spcBef>
                <a:spcPts val="1200"/>
              </a:spcBef>
              <a:spcAft>
                <a:spcPts val="0"/>
              </a:spcAft>
              <a:buClr>
                <a:schemeClr val="dk2"/>
              </a:buClr>
              <a:buSzPts val="1100"/>
              <a:buFont typeface="Inter"/>
              <a:buChar char="●"/>
            </a:pPr>
            <a:r>
              <a:rPr lang="en" sz="1200">
                <a:solidFill>
                  <a:schemeClr val="dk2"/>
                </a:solidFill>
                <a:latin typeface="Inter"/>
                <a:ea typeface="Inter"/>
                <a:cs typeface="Inter"/>
                <a:sym typeface="Inter"/>
              </a:rPr>
              <a:t>Model should not be used for predicting housing prices.</a:t>
            </a:r>
            <a:endParaRPr sz="1200">
              <a:solidFill>
                <a:schemeClr val="dk2"/>
              </a:solidFill>
              <a:latin typeface="Inter"/>
              <a:ea typeface="Inter"/>
              <a:cs typeface="Inter"/>
              <a:sym typeface="Inter"/>
            </a:endParaRPr>
          </a:p>
          <a:p>
            <a:pPr indent="-298450" lvl="0" marL="457200" rtl="0" algn="l">
              <a:lnSpc>
                <a:spcPct val="115000"/>
              </a:lnSpc>
              <a:spcBef>
                <a:spcPts val="0"/>
              </a:spcBef>
              <a:spcAft>
                <a:spcPts val="0"/>
              </a:spcAft>
              <a:buClr>
                <a:schemeClr val="dk2"/>
              </a:buClr>
              <a:buSzPts val="1100"/>
              <a:buFont typeface="Inter"/>
              <a:buChar char="●"/>
            </a:pPr>
            <a:r>
              <a:rPr lang="en" sz="1200">
                <a:solidFill>
                  <a:schemeClr val="dk2"/>
                </a:solidFill>
                <a:latin typeface="Inter"/>
                <a:ea typeface="Inter"/>
                <a:cs typeface="Inter"/>
                <a:sym typeface="Inter"/>
              </a:rPr>
              <a:t>Static snapshot means that subtle changes to geographic neighborhoods overtime may not be captured.</a:t>
            </a:r>
            <a:endParaRPr sz="1200">
              <a:solidFill>
                <a:schemeClr val="dk2"/>
              </a:solidFill>
              <a:latin typeface="Inter"/>
              <a:ea typeface="Inter"/>
              <a:cs typeface="Inter"/>
              <a:sym typeface="Inter"/>
            </a:endParaRPr>
          </a:p>
          <a:p>
            <a:pPr indent="0" lvl="0" marL="0" rtl="0" algn="l">
              <a:lnSpc>
                <a:spcPct val="115000"/>
              </a:lnSpc>
              <a:spcBef>
                <a:spcPts val="1200"/>
              </a:spcBef>
              <a:spcAft>
                <a:spcPts val="0"/>
              </a:spcAft>
              <a:buNone/>
            </a:pPr>
            <a:r>
              <a:t/>
            </a:r>
            <a:endParaRPr sz="1200">
              <a:solidFill>
                <a:schemeClr val="dk2"/>
              </a:solidFill>
              <a:latin typeface="Inter"/>
              <a:ea typeface="Inter"/>
              <a:cs typeface="Inter"/>
              <a:sym typeface="Inter"/>
            </a:endParaRPr>
          </a:p>
          <a:p>
            <a:pPr indent="0" lvl="0" marL="0" rtl="0" algn="l">
              <a:spcBef>
                <a:spcPts val="1200"/>
              </a:spcBef>
              <a:spcAft>
                <a:spcPts val="0"/>
              </a:spcAft>
              <a:buNone/>
            </a:pPr>
            <a:r>
              <a:t/>
            </a:r>
            <a:endParaRPr sz="1200">
              <a:solidFill>
                <a:schemeClr val="dk2"/>
              </a:solidFill>
              <a:latin typeface="Inter"/>
              <a:ea typeface="Inter"/>
              <a:cs typeface="Inter"/>
              <a:sym typeface="Inter"/>
            </a:endParaRPr>
          </a:p>
        </p:txBody>
      </p:sp>
      <p:sp>
        <p:nvSpPr>
          <p:cNvPr id="234" name="Google Shape;234;g3e049f9ed10_0_70"/>
          <p:cNvSpPr txBox="1"/>
          <p:nvPr/>
        </p:nvSpPr>
        <p:spPr>
          <a:xfrm>
            <a:off x="284650" y="2309200"/>
            <a:ext cx="4248900" cy="760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2"/>
                </a:solidFill>
              </a:rPr>
              <a:t>Source: California Housing Prices Dataset, Kaggle</a:t>
            </a:r>
            <a:endParaRPr sz="1200">
              <a:solidFill>
                <a:schemeClr val="dk2"/>
              </a:solidFill>
            </a:endParaRPr>
          </a:p>
          <a:p>
            <a:pPr indent="0" lvl="0" marL="0" rtl="0" algn="l">
              <a:spcBef>
                <a:spcPts val="0"/>
              </a:spcBef>
              <a:spcAft>
                <a:spcPts val="0"/>
              </a:spcAft>
              <a:buNone/>
            </a:pPr>
            <a:r>
              <a:rPr lang="en" sz="1200">
                <a:solidFill>
                  <a:schemeClr val="dk2"/>
                </a:solidFill>
              </a:rPr>
              <a:t>Features: Longitude, Latitude, Median Income, Median House Value, Population, Households</a:t>
            </a:r>
            <a:endParaRPr sz="1200">
              <a:solidFill>
                <a:schemeClr val="dk2"/>
              </a:solidFill>
            </a:endParaRPr>
          </a:p>
          <a:p>
            <a:pPr indent="0" lvl="0" marL="0" rtl="0" algn="l">
              <a:spcBef>
                <a:spcPts val="0"/>
              </a:spcBef>
              <a:spcAft>
                <a:spcPts val="0"/>
              </a:spcAft>
              <a:buNone/>
            </a:pPr>
            <a:r>
              <a:t/>
            </a:r>
            <a:endParaRPr sz="1200">
              <a:solidFill>
                <a:schemeClr val="dk2"/>
              </a:solidFill>
            </a:endParaRPr>
          </a:p>
        </p:txBody>
      </p:sp>
      <p:sp>
        <p:nvSpPr>
          <p:cNvPr id="235" name="Google Shape;235;g3e049f9ed10_0_70"/>
          <p:cNvSpPr txBox="1"/>
          <p:nvPr/>
        </p:nvSpPr>
        <p:spPr>
          <a:xfrm>
            <a:off x="315350" y="3403575"/>
            <a:ext cx="4218000" cy="809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2"/>
                </a:solidFill>
              </a:rPr>
              <a:t>This Model is designed to identify geographic patterns in income in California</a:t>
            </a:r>
            <a:endParaRPr sz="1200">
              <a:solidFill>
                <a:schemeClr val="dk2"/>
              </a:solidFill>
            </a:endParaRPr>
          </a:p>
          <a:p>
            <a:pPr indent="0" lvl="0" marL="0" rtl="0" algn="l">
              <a:spcBef>
                <a:spcPts val="0"/>
              </a:spcBef>
              <a:spcAft>
                <a:spcPts val="0"/>
              </a:spcAft>
              <a:buNone/>
            </a:pPr>
            <a:r>
              <a:rPr lang="en" sz="1200">
                <a:solidFill>
                  <a:schemeClr val="dk2"/>
                </a:solidFill>
              </a:rPr>
              <a:t>Out of Scope: Should not be used for lending decisions.</a:t>
            </a:r>
            <a:endParaRPr sz="1200">
              <a:solidFill>
                <a:schemeClr val="dk2"/>
              </a:solidFill>
            </a:endParaRPr>
          </a:p>
          <a:p>
            <a:pPr indent="0" lvl="0" marL="0" rtl="0" algn="l">
              <a:spcBef>
                <a:spcPts val="0"/>
              </a:spcBef>
              <a:spcAft>
                <a:spcPts val="0"/>
              </a:spcAft>
              <a:buNone/>
            </a:pPr>
            <a:r>
              <a:t/>
            </a:r>
            <a:endParaRPr sz="1200">
              <a:solidFill>
                <a:schemeClr val="dk2"/>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9" name="Shape 239"/>
        <p:cNvGrpSpPr/>
        <p:nvPr/>
      </p:nvGrpSpPr>
      <p:grpSpPr>
        <a:xfrm>
          <a:off x="0" y="0"/>
          <a:ext cx="0" cy="0"/>
          <a:chOff x="0" y="0"/>
          <a:chExt cx="0" cy="0"/>
        </a:xfrm>
      </p:grpSpPr>
      <p:sp>
        <p:nvSpPr>
          <p:cNvPr id="240" name="Google Shape;240;g3c5d521f515_1_95"/>
          <p:cNvSpPr/>
          <p:nvPr/>
        </p:nvSpPr>
        <p:spPr>
          <a:xfrm>
            <a:off x="376550" y="3439700"/>
            <a:ext cx="8208600" cy="1288800"/>
          </a:xfrm>
          <a:prstGeom prst="roundRect">
            <a:avLst>
              <a:gd fmla="val 16667" name="adj"/>
            </a:avLst>
          </a:prstGeom>
          <a:solidFill>
            <a:srgbClr val="F4CCCC"/>
          </a:solidFill>
          <a:ln>
            <a:noFill/>
          </a:ln>
        </p:spPr>
        <p:txBody>
          <a:bodyPr anchorCtr="0" anchor="ctr" bIns="91425" lIns="91425" spcFirstLastPara="1" rIns="91425" wrap="square" tIns="91425">
            <a:noAutofit/>
          </a:bodyPr>
          <a:lstStyle/>
          <a:p>
            <a:pPr indent="0" lvl="0" marL="2743200" marR="0" rtl="0" algn="ctr">
              <a:lnSpc>
                <a:spcPct val="100000"/>
              </a:lnSpc>
              <a:spcBef>
                <a:spcPts val="0"/>
              </a:spcBef>
              <a:spcAft>
                <a:spcPts val="0"/>
              </a:spcAft>
              <a:buClr>
                <a:srgbClr val="000000"/>
              </a:buClr>
              <a:buSzPts val="1400"/>
              <a:buFont typeface="Arial"/>
              <a:buNone/>
            </a:pPr>
            <a:r>
              <a:t/>
            </a:r>
            <a:endParaRPr i="0" sz="1400" u="none" cap="none" strike="noStrike">
              <a:solidFill>
                <a:srgbClr val="000000"/>
              </a:solidFill>
              <a:latin typeface="Inter"/>
              <a:ea typeface="Inter"/>
              <a:cs typeface="Inter"/>
              <a:sym typeface="Inter"/>
            </a:endParaRPr>
          </a:p>
        </p:txBody>
      </p:sp>
      <p:sp>
        <p:nvSpPr>
          <p:cNvPr id="241" name="Google Shape;241;g3c5d521f515_1_95"/>
          <p:cNvSpPr/>
          <p:nvPr/>
        </p:nvSpPr>
        <p:spPr>
          <a:xfrm>
            <a:off x="4889500" y="1164575"/>
            <a:ext cx="3695700" cy="2118300"/>
          </a:xfrm>
          <a:prstGeom prst="roundRect">
            <a:avLst>
              <a:gd fmla="val 16667" name="adj"/>
            </a:avLst>
          </a:prstGeom>
          <a:solidFill>
            <a:srgbClr val="D4E4D1"/>
          </a:solidFill>
          <a:ln>
            <a:noFill/>
          </a:ln>
        </p:spPr>
        <p:txBody>
          <a:bodyPr anchorCtr="0" anchor="ctr" bIns="91425" lIns="91425" spcFirstLastPara="1" rIns="91425" wrap="square" tIns="91425">
            <a:noAutofit/>
          </a:bodyPr>
          <a:lstStyle/>
          <a:p>
            <a:pPr indent="0" lvl="0" marL="2743200" marR="0" rtl="0" algn="ctr">
              <a:lnSpc>
                <a:spcPct val="100000"/>
              </a:lnSpc>
              <a:spcBef>
                <a:spcPts val="0"/>
              </a:spcBef>
              <a:spcAft>
                <a:spcPts val="0"/>
              </a:spcAft>
              <a:buClr>
                <a:srgbClr val="000000"/>
              </a:buClr>
              <a:buSzPts val="1400"/>
              <a:buFont typeface="Arial"/>
              <a:buNone/>
            </a:pPr>
            <a:r>
              <a:t/>
            </a:r>
            <a:endParaRPr i="0" sz="1400" u="none" cap="none" strike="noStrike">
              <a:solidFill>
                <a:srgbClr val="000000"/>
              </a:solidFill>
              <a:latin typeface="Inter"/>
              <a:ea typeface="Inter"/>
              <a:cs typeface="Inter"/>
              <a:sym typeface="Inter"/>
            </a:endParaRPr>
          </a:p>
        </p:txBody>
      </p:sp>
      <p:sp>
        <p:nvSpPr>
          <p:cNvPr id="242" name="Google Shape;242;g3c5d521f515_1_95"/>
          <p:cNvSpPr/>
          <p:nvPr/>
        </p:nvSpPr>
        <p:spPr>
          <a:xfrm>
            <a:off x="376550" y="1143400"/>
            <a:ext cx="4173900" cy="2118300"/>
          </a:xfrm>
          <a:prstGeom prst="roundRect">
            <a:avLst>
              <a:gd fmla="val 16667" name="adj"/>
            </a:avLst>
          </a:prstGeom>
          <a:solidFill>
            <a:srgbClr val="F5F0E8"/>
          </a:solidFill>
          <a:ln>
            <a:noFill/>
          </a:ln>
        </p:spPr>
        <p:txBody>
          <a:bodyPr anchorCtr="0" anchor="ctr" bIns="91425" lIns="91425" spcFirstLastPara="1" rIns="91425" wrap="square" tIns="91425">
            <a:noAutofit/>
          </a:bodyPr>
          <a:lstStyle/>
          <a:p>
            <a:pPr indent="0" lvl="0" marL="2743200" marR="0" rtl="0" algn="ctr">
              <a:lnSpc>
                <a:spcPct val="100000"/>
              </a:lnSpc>
              <a:spcBef>
                <a:spcPts val="0"/>
              </a:spcBef>
              <a:spcAft>
                <a:spcPts val="0"/>
              </a:spcAft>
              <a:buClr>
                <a:srgbClr val="000000"/>
              </a:buClr>
              <a:buSzPts val="1400"/>
              <a:buFont typeface="Arial"/>
              <a:buNone/>
            </a:pPr>
            <a:r>
              <a:t/>
            </a:r>
            <a:endParaRPr i="0" sz="1400" u="none" cap="none" strike="noStrike">
              <a:solidFill>
                <a:srgbClr val="000000"/>
              </a:solidFill>
              <a:latin typeface="Inter"/>
              <a:ea typeface="Inter"/>
              <a:cs typeface="Inter"/>
              <a:sym typeface="Inter"/>
            </a:endParaRPr>
          </a:p>
        </p:txBody>
      </p:sp>
      <p:sp>
        <p:nvSpPr>
          <p:cNvPr id="243" name="Google Shape;243;g3c5d521f515_1_95"/>
          <p:cNvSpPr/>
          <p:nvPr/>
        </p:nvSpPr>
        <p:spPr>
          <a:xfrm>
            <a:off x="760218" y="1365665"/>
            <a:ext cx="32796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1A2E"/>
              </a:buClr>
              <a:buSzPts val="1400"/>
              <a:buFont typeface="Georgia"/>
              <a:buNone/>
            </a:pPr>
            <a:r>
              <a:rPr b="1" lang="en">
                <a:solidFill>
                  <a:srgbClr val="1A1A2E"/>
                </a:solidFill>
                <a:latin typeface="Inter"/>
                <a:ea typeface="Inter"/>
                <a:cs typeface="Inter"/>
                <a:sym typeface="Inter"/>
              </a:rPr>
              <a:t>Definition</a:t>
            </a:r>
            <a:endParaRPr b="1" i="0" sz="1400" u="none" cap="none" strike="noStrike">
              <a:solidFill>
                <a:srgbClr val="000000"/>
              </a:solidFill>
              <a:latin typeface="Inter"/>
              <a:ea typeface="Inter"/>
              <a:cs typeface="Inter"/>
              <a:sym typeface="Inter"/>
            </a:endParaRPr>
          </a:p>
        </p:txBody>
      </p:sp>
      <p:sp>
        <p:nvSpPr>
          <p:cNvPr id="244" name="Google Shape;244;g3c5d521f515_1_95"/>
          <p:cNvSpPr/>
          <p:nvPr/>
        </p:nvSpPr>
        <p:spPr>
          <a:xfrm>
            <a:off x="760218" y="1621602"/>
            <a:ext cx="846000" cy="18300"/>
          </a:xfrm>
          <a:prstGeom prst="rect">
            <a:avLst/>
          </a:prstGeom>
          <a:solidFill>
            <a:srgbClr val="B85C3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i="0" sz="1400" u="none" cap="none" strike="noStrike">
              <a:solidFill>
                <a:srgbClr val="000000"/>
              </a:solidFill>
              <a:latin typeface="Inter"/>
              <a:ea typeface="Inter"/>
              <a:cs typeface="Inter"/>
              <a:sym typeface="Inter"/>
            </a:endParaRPr>
          </a:p>
        </p:txBody>
      </p:sp>
      <p:sp>
        <p:nvSpPr>
          <p:cNvPr id="245" name="Google Shape;245;g3c5d521f515_1_95"/>
          <p:cNvSpPr/>
          <p:nvPr/>
        </p:nvSpPr>
        <p:spPr>
          <a:xfrm>
            <a:off x="5196179" y="1293215"/>
            <a:ext cx="29040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1A2E"/>
              </a:buClr>
              <a:buSzPts val="1400"/>
              <a:buFont typeface="Georgia"/>
              <a:buNone/>
            </a:pPr>
            <a:r>
              <a:rPr b="1" i="0" lang="en" sz="1400" u="none" cap="none" strike="noStrike">
                <a:solidFill>
                  <a:srgbClr val="1A1A2E"/>
                </a:solidFill>
                <a:latin typeface="Inter"/>
                <a:ea typeface="Inter"/>
                <a:cs typeface="Inter"/>
                <a:sym typeface="Inter"/>
              </a:rPr>
              <a:t>Goal</a:t>
            </a:r>
            <a:endParaRPr b="1" i="0" sz="1400" u="none" cap="none" strike="noStrike">
              <a:solidFill>
                <a:srgbClr val="000000"/>
              </a:solidFill>
              <a:latin typeface="Inter"/>
              <a:ea typeface="Inter"/>
              <a:cs typeface="Inter"/>
              <a:sym typeface="Inter"/>
            </a:endParaRPr>
          </a:p>
        </p:txBody>
      </p:sp>
      <p:sp>
        <p:nvSpPr>
          <p:cNvPr id="246" name="Google Shape;246;g3c5d521f515_1_95"/>
          <p:cNvSpPr/>
          <p:nvPr/>
        </p:nvSpPr>
        <p:spPr>
          <a:xfrm>
            <a:off x="5196179" y="1600679"/>
            <a:ext cx="645300" cy="18300"/>
          </a:xfrm>
          <a:prstGeom prst="rect">
            <a:avLst/>
          </a:prstGeom>
          <a:solidFill>
            <a:srgbClr val="2C6E6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i="0" sz="1400" u="none" cap="none" strike="noStrike">
              <a:solidFill>
                <a:srgbClr val="000000"/>
              </a:solidFill>
              <a:latin typeface="Inter"/>
              <a:ea typeface="Inter"/>
              <a:cs typeface="Inter"/>
              <a:sym typeface="Inter"/>
            </a:endParaRPr>
          </a:p>
        </p:txBody>
      </p:sp>
      <p:grpSp>
        <p:nvGrpSpPr>
          <p:cNvPr id="247" name="Google Shape;247;g3c5d521f515_1_95"/>
          <p:cNvGrpSpPr/>
          <p:nvPr/>
        </p:nvGrpSpPr>
        <p:grpSpPr>
          <a:xfrm>
            <a:off x="8625" y="0"/>
            <a:ext cx="9144000" cy="267600"/>
            <a:chOff x="8625" y="0"/>
            <a:chExt cx="9144000" cy="267600"/>
          </a:xfrm>
        </p:grpSpPr>
        <p:sp>
          <p:nvSpPr>
            <p:cNvPr id="248" name="Google Shape;248;g3c5d521f515_1_95"/>
            <p:cNvSpPr/>
            <p:nvPr/>
          </p:nvSpPr>
          <p:spPr>
            <a:xfrm>
              <a:off x="8625" y="0"/>
              <a:ext cx="9144000" cy="2676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249" name="Google Shape;249;g3c5d521f515_1_95" title="Logo Header.png"/>
            <p:cNvPicPr preferRelativeResize="0"/>
            <p:nvPr/>
          </p:nvPicPr>
          <p:blipFill rotWithShape="1">
            <a:blip r:embed="rId3">
              <a:alphaModFix/>
            </a:blip>
            <a:srcRect b="0" l="0" r="0" t="0"/>
            <a:stretch/>
          </p:blipFill>
          <p:spPr>
            <a:xfrm>
              <a:off x="8348195" y="15790"/>
              <a:ext cx="634775" cy="199625"/>
            </a:xfrm>
            <a:prstGeom prst="rect">
              <a:avLst/>
            </a:prstGeom>
            <a:noFill/>
            <a:ln>
              <a:noFill/>
            </a:ln>
          </p:spPr>
        </p:pic>
      </p:grpSp>
      <p:sp>
        <p:nvSpPr>
          <p:cNvPr id="250" name="Google Shape;250;g3c5d521f515_1_95"/>
          <p:cNvSpPr/>
          <p:nvPr/>
        </p:nvSpPr>
        <p:spPr>
          <a:xfrm>
            <a:off x="559116" y="3602966"/>
            <a:ext cx="19203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1A2E"/>
              </a:buClr>
              <a:buSzPts val="1400"/>
              <a:buFont typeface="Georgia"/>
              <a:buNone/>
            </a:pPr>
            <a:r>
              <a:rPr b="1" lang="en">
                <a:solidFill>
                  <a:srgbClr val="1A1A2E"/>
                </a:solidFill>
                <a:latin typeface="Inter"/>
                <a:ea typeface="Inter"/>
                <a:cs typeface="Inter"/>
                <a:sym typeface="Inter"/>
              </a:rPr>
              <a:t>Example</a:t>
            </a:r>
            <a:endParaRPr b="1" i="0" sz="1400" u="none" cap="none" strike="noStrike">
              <a:solidFill>
                <a:srgbClr val="000000"/>
              </a:solidFill>
              <a:latin typeface="Inter"/>
              <a:ea typeface="Inter"/>
              <a:cs typeface="Inter"/>
              <a:sym typeface="Inter"/>
            </a:endParaRPr>
          </a:p>
        </p:txBody>
      </p:sp>
      <p:sp>
        <p:nvSpPr>
          <p:cNvPr id="251" name="Google Shape;251;g3c5d521f515_1_95"/>
          <p:cNvSpPr/>
          <p:nvPr/>
        </p:nvSpPr>
        <p:spPr>
          <a:xfrm>
            <a:off x="559126" y="3862044"/>
            <a:ext cx="451500" cy="18300"/>
          </a:xfrm>
          <a:prstGeom prst="rect">
            <a:avLst/>
          </a:prstGeom>
          <a:solidFill>
            <a:srgbClr val="E0666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i="0" sz="1400" u="none" cap="none" strike="noStrike">
              <a:solidFill>
                <a:srgbClr val="000000"/>
              </a:solidFill>
              <a:latin typeface="Inter"/>
              <a:ea typeface="Inter"/>
              <a:cs typeface="Inter"/>
              <a:sym typeface="Inter"/>
            </a:endParaRPr>
          </a:p>
        </p:txBody>
      </p:sp>
      <p:sp>
        <p:nvSpPr>
          <p:cNvPr id="252" name="Google Shape;252;g3c5d521f515_1_95"/>
          <p:cNvSpPr txBox="1"/>
          <p:nvPr>
            <p:ph idx="1" type="subTitle"/>
          </p:nvPr>
        </p:nvSpPr>
        <p:spPr>
          <a:xfrm>
            <a:off x="398200" y="460488"/>
            <a:ext cx="5545500" cy="8097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2800"/>
              <a:buNone/>
            </a:pPr>
            <a:r>
              <a:rPr b="1" lang="en" sz="2700">
                <a:solidFill>
                  <a:schemeClr val="dk1"/>
                </a:solidFill>
                <a:latin typeface="Inter"/>
                <a:ea typeface="Inter"/>
                <a:cs typeface="Inter"/>
                <a:sym typeface="Inter"/>
              </a:rPr>
              <a:t>Subgroup Analysis</a:t>
            </a:r>
            <a:endParaRPr b="1" sz="2700">
              <a:solidFill>
                <a:schemeClr val="dk1"/>
              </a:solidFill>
              <a:latin typeface="Inter"/>
              <a:ea typeface="Inter"/>
              <a:cs typeface="Inter"/>
              <a:sym typeface="Inter"/>
            </a:endParaRPr>
          </a:p>
        </p:txBody>
      </p:sp>
      <p:sp>
        <p:nvSpPr>
          <p:cNvPr id="253" name="Google Shape;253;g3c5d521f515_1_95"/>
          <p:cNvSpPr txBox="1"/>
          <p:nvPr/>
        </p:nvSpPr>
        <p:spPr>
          <a:xfrm>
            <a:off x="633227" y="1765988"/>
            <a:ext cx="3279600" cy="11412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lang="en" sz="1200">
                <a:solidFill>
                  <a:schemeClr val="dk2"/>
                </a:solidFill>
                <a:latin typeface="Inter"/>
                <a:ea typeface="Inter"/>
                <a:cs typeface="Inter"/>
                <a:sym typeface="Inter"/>
              </a:rPr>
              <a:t>Evaluating model performance separately for different subsets or subgroups in the dataset, specifically looking if a model generalizes equally well across different segments of the population or dataset.</a:t>
            </a:r>
            <a:endParaRPr sz="1200">
              <a:solidFill>
                <a:schemeClr val="dk2"/>
              </a:solidFill>
              <a:latin typeface="Inter"/>
              <a:ea typeface="Inter"/>
              <a:cs typeface="Inter"/>
              <a:sym typeface="Inter"/>
            </a:endParaRPr>
          </a:p>
          <a:p>
            <a:pPr indent="0" lvl="0" marL="0" rtl="0" algn="l">
              <a:spcBef>
                <a:spcPts val="1200"/>
              </a:spcBef>
              <a:spcAft>
                <a:spcPts val="0"/>
              </a:spcAft>
              <a:buNone/>
            </a:pPr>
            <a:r>
              <a:t/>
            </a:r>
            <a:endParaRPr sz="1200">
              <a:solidFill>
                <a:schemeClr val="dk2"/>
              </a:solidFill>
              <a:latin typeface="Inter"/>
              <a:ea typeface="Inter"/>
              <a:cs typeface="Inter"/>
              <a:sym typeface="Inter"/>
            </a:endParaRPr>
          </a:p>
        </p:txBody>
      </p:sp>
      <p:sp>
        <p:nvSpPr>
          <p:cNvPr id="254" name="Google Shape;254;g3c5d521f515_1_95"/>
          <p:cNvSpPr txBox="1"/>
          <p:nvPr/>
        </p:nvSpPr>
        <p:spPr>
          <a:xfrm>
            <a:off x="5100063" y="1652225"/>
            <a:ext cx="3269400" cy="1552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200">
                <a:solidFill>
                  <a:schemeClr val="dk2"/>
                </a:solidFill>
                <a:latin typeface="Inter"/>
                <a:ea typeface="Inter"/>
                <a:cs typeface="Inter"/>
                <a:sym typeface="Inter"/>
              </a:rPr>
              <a:t>Should be done by looking at demographics and other subsets of the data to determine bias in a model.</a:t>
            </a:r>
            <a:endParaRPr sz="1200">
              <a:solidFill>
                <a:schemeClr val="dk2"/>
              </a:solidFill>
              <a:latin typeface="Inter"/>
              <a:ea typeface="Inter"/>
              <a:cs typeface="Inter"/>
              <a:sym typeface="Inter"/>
            </a:endParaRPr>
          </a:p>
          <a:p>
            <a:pPr indent="0" lvl="0" marL="0" rtl="0" algn="l">
              <a:lnSpc>
                <a:spcPct val="115000"/>
              </a:lnSpc>
              <a:spcBef>
                <a:spcPts val="1200"/>
              </a:spcBef>
              <a:spcAft>
                <a:spcPts val="0"/>
              </a:spcAft>
              <a:buNone/>
            </a:pPr>
            <a:r>
              <a:rPr lang="en" sz="1200">
                <a:solidFill>
                  <a:schemeClr val="dk2"/>
                </a:solidFill>
                <a:latin typeface="Inter"/>
                <a:ea typeface="Inter"/>
                <a:cs typeface="Inter"/>
                <a:sym typeface="Inter"/>
              </a:rPr>
              <a:t>Average performance measures can hide disparities.</a:t>
            </a:r>
            <a:endParaRPr sz="1200">
              <a:solidFill>
                <a:schemeClr val="dk2"/>
              </a:solidFill>
              <a:latin typeface="Inter"/>
              <a:ea typeface="Inter"/>
              <a:cs typeface="Inter"/>
              <a:sym typeface="Inter"/>
            </a:endParaRPr>
          </a:p>
          <a:p>
            <a:pPr indent="0" lvl="0" marL="0" rtl="0" algn="l">
              <a:spcBef>
                <a:spcPts val="1200"/>
              </a:spcBef>
              <a:spcAft>
                <a:spcPts val="0"/>
              </a:spcAft>
              <a:buNone/>
            </a:pPr>
            <a:r>
              <a:t/>
            </a:r>
            <a:endParaRPr sz="1200">
              <a:solidFill>
                <a:schemeClr val="dk2"/>
              </a:solidFill>
              <a:latin typeface="Inter"/>
              <a:ea typeface="Inter"/>
              <a:cs typeface="Inter"/>
              <a:sym typeface="Inter"/>
            </a:endParaRPr>
          </a:p>
        </p:txBody>
      </p:sp>
      <p:sp>
        <p:nvSpPr>
          <p:cNvPr id="255" name="Google Shape;255;g3c5d521f515_1_95"/>
          <p:cNvSpPr txBox="1"/>
          <p:nvPr/>
        </p:nvSpPr>
        <p:spPr>
          <a:xfrm>
            <a:off x="447276" y="3891550"/>
            <a:ext cx="7506000" cy="720600"/>
          </a:xfrm>
          <a:prstGeom prst="rect">
            <a:avLst/>
          </a:prstGeom>
          <a:noFill/>
          <a:ln>
            <a:noFill/>
          </a:ln>
        </p:spPr>
        <p:txBody>
          <a:bodyPr anchorCtr="0" anchor="t" bIns="91425" lIns="91425" spcFirstLastPara="1" rIns="91425" wrap="square" tIns="91425">
            <a:noAutofit/>
          </a:bodyPr>
          <a:lstStyle/>
          <a:p>
            <a:pPr indent="-298450" lvl="0" marL="457200" rtl="0" algn="l">
              <a:lnSpc>
                <a:spcPct val="115000"/>
              </a:lnSpc>
              <a:spcBef>
                <a:spcPts val="1200"/>
              </a:spcBef>
              <a:spcAft>
                <a:spcPts val="0"/>
              </a:spcAft>
              <a:buClr>
                <a:schemeClr val="dk2"/>
              </a:buClr>
              <a:buSzPts val="1100"/>
              <a:buFont typeface="Inter"/>
              <a:buChar char="●"/>
            </a:pPr>
            <a:r>
              <a:rPr lang="en" sz="1200">
                <a:solidFill>
                  <a:schemeClr val="dk2"/>
                </a:solidFill>
                <a:latin typeface="Inter"/>
                <a:ea typeface="Inter"/>
                <a:cs typeface="Inter"/>
                <a:sym typeface="Inter"/>
              </a:rPr>
              <a:t>Healthcare models can have worse performance for certain ethnic groups [1]</a:t>
            </a:r>
            <a:endParaRPr sz="1200">
              <a:solidFill>
                <a:schemeClr val="dk2"/>
              </a:solidFill>
              <a:latin typeface="Inter"/>
              <a:ea typeface="Inter"/>
              <a:cs typeface="Inter"/>
              <a:sym typeface="Inter"/>
            </a:endParaRPr>
          </a:p>
          <a:p>
            <a:pPr indent="-298450" lvl="0" marL="457200" rtl="0" algn="l">
              <a:lnSpc>
                <a:spcPct val="115000"/>
              </a:lnSpc>
              <a:spcBef>
                <a:spcPts val="0"/>
              </a:spcBef>
              <a:spcAft>
                <a:spcPts val="0"/>
              </a:spcAft>
              <a:buClr>
                <a:schemeClr val="dk2"/>
              </a:buClr>
              <a:buSzPts val="1100"/>
              <a:buFont typeface="Inter"/>
              <a:buChar char="●"/>
            </a:pPr>
            <a:r>
              <a:rPr lang="en" sz="1200">
                <a:solidFill>
                  <a:schemeClr val="dk2"/>
                </a:solidFill>
                <a:latin typeface="Inter"/>
                <a:ea typeface="Inter"/>
                <a:cs typeface="Inter"/>
                <a:sym typeface="Inter"/>
              </a:rPr>
              <a:t>Facial recognition can have worse performance for non-white individuals [2]</a:t>
            </a:r>
            <a:endParaRPr sz="1200">
              <a:solidFill>
                <a:schemeClr val="dk2"/>
              </a:solidFill>
              <a:latin typeface="Inter"/>
              <a:ea typeface="Inter"/>
              <a:cs typeface="Inter"/>
              <a:sym typeface="Inter"/>
            </a:endParaRPr>
          </a:p>
          <a:p>
            <a:pPr indent="-298450" lvl="0" marL="457200" rtl="0" algn="l">
              <a:lnSpc>
                <a:spcPct val="115000"/>
              </a:lnSpc>
              <a:spcBef>
                <a:spcPts val="0"/>
              </a:spcBef>
              <a:spcAft>
                <a:spcPts val="0"/>
              </a:spcAft>
              <a:buClr>
                <a:schemeClr val="dk2"/>
              </a:buClr>
              <a:buSzPts val="1100"/>
              <a:buFont typeface="Inter"/>
              <a:buChar char="●"/>
            </a:pPr>
            <a:r>
              <a:rPr lang="en" sz="1200">
                <a:solidFill>
                  <a:schemeClr val="dk2"/>
                </a:solidFill>
                <a:latin typeface="Inter"/>
                <a:ea typeface="Inter"/>
                <a:cs typeface="Inter"/>
                <a:sym typeface="Inter"/>
              </a:rPr>
              <a:t>Child welfare risk assessments can have better performance for reunified children [3]</a:t>
            </a:r>
            <a:endParaRPr sz="1200">
              <a:solidFill>
                <a:schemeClr val="dk2"/>
              </a:solidFill>
              <a:latin typeface="Inter"/>
              <a:ea typeface="Inter"/>
              <a:cs typeface="Inter"/>
              <a:sym typeface="Inter"/>
            </a:endParaRPr>
          </a:p>
          <a:p>
            <a:pPr indent="0" lvl="0" marL="0" rtl="0" algn="l">
              <a:spcBef>
                <a:spcPts val="1200"/>
              </a:spcBef>
              <a:spcAft>
                <a:spcPts val="0"/>
              </a:spcAft>
              <a:buNone/>
            </a:pPr>
            <a:r>
              <a:t/>
            </a:r>
            <a:endParaRPr sz="1200">
              <a:solidFill>
                <a:schemeClr val="dk2"/>
              </a:solidFill>
              <a:latin typeface="Inter"/>
              <a:ea typeface="Inter"/>
              <a:cs typeface="Inter"/>
              <a:sym typeface="Inte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9" name="Shape 259"/>
        <p:cNvGrpSpPr/>
        <p:nvPr/>
      </p:nvGrpSpPr>
      <p:grpSpPr>
        <a:xfrm>
          <a:off x="0" y="0"/>
          <a:ext cx="0" cy="0"/>
          <a:chOff x="0" y="0"/>
          <a:chExt cx="0" cy="0"/>
        </a:xfrm>
      </p:grpSpPr>
      <p:sp>
        <p:nvSpPr>
          <p:cNvPr id="260" name="Google Shape;260;p10"/>
          <p:cNvSpPr/>
          <p:nvPr/>
        </p:nvSpPr>
        <p:spPr>
          <a:xfrm>
            <a:off x="503800" y="979625"/>
            <a:ext cx="1857900" cy="71400"/>
          </a:xfrm>
          <a:prstGeom prst="rect">
            <a:avLst/>
          </a:prstGeom>
          <a:solidFill>
            <a:srgbClr val="13AE8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1" name="Google Shape;261;p10"/>
          <p:cNvSpPr txBox="1"/>
          <p:nvPr>
            <p:ph idx="1" type="subTitle"/>
          </p:nvPr>
        </p:nvSpPr>
        <p:spPr>
          <a:xfrm>
            <a:off x="409575" y="447125"/>
            <a:ext cx="2207400" cy="12702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2800"/>
              <a:buNone/>
            </a:pPr>
            <a:r>
              <a:rPr b="1" lang="en" sz="3500">
                <a:solidFill>
                  <a:schemeClr val="dk1"/>
                </a:solidFill>
                <a:latin typeface="Roboto"/>
                <a:ea typeface="Roboto"/>
                <a:cs typeface="Roboto"/>
                <a:sym typeface="Roboto"/>
                <a:extLst>
                  <a:ext uri="http://customooxmlschemas.google.com/">
                    <go:slidesCustomData xmlns:go="http://customooxmlschemas.google.com/" textRoundtripDataId="4"/>
                  </a:ext>
                </a:extLst>
              </a:rPr>
              <a:t>Activity</a:t>
            </a:r>
            <a:r>
              <a:rPr b="1" lang="en" sz="3500">
                <a:solidFill>
                  <a:schemeClr val="dk1"/>
                </a:solidFill>
                <a:latin typeface="Roboto"/>
                <a:ea typeface="Roboto"/>
                <a:cs typeface="Roboto"/>
                <a:sym typeface="Roboto"/>
              </a:rPr>
              <a:t> 1</a:t>
            </a:r>
            <a:endParaRPr i="1" sz="3500">
              <a:solidFill>
                <a:schemeClr val="dk1"/>
              </a:solidFill>
              <a:latin typeface="Roboto"/>
              <a:ea typeface="Roboto"/>
              <a:cs typeface="Roboto"/>
              <a:sym typeface="Roboto"/>
            </a:endParaRPr>
          </a:p>
        </p:txBody>
      </p:sp>
      <p:grpSp>
        <p:nvGrpSpPr>
          <p:cNvPr id="262" name="Google Shape;262;p10"/>
          <p:cNvGrpSpPr/>
          <p:nvPr/>
        </p:nvGrpSpPr>
        <p:grpSpPr>
          <a:xfrm>
            <a:off x="8625" y="0"/>
            <a:ext cx="9144000" cy="267600"/>
            <a:chOff x="8625" y="0"/>
            <a:chExt cx="9144000" cy="267600"/>
          </a:xfrm>
        </p:grpSpPr>
        <p:sp>
          <p:nvSpPr>
            <p:cNvPr id="263" name="Google Shape;263;p10"/>
            <p:cNvSpPr/>
            <p:nvPr/>
          </p:nvSpPr>
          <p:spPr>
            <a:xfrm>
              <a:off x="8625" y="0"/>
              <a:ext cx="9144000" cy="2676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264" name="Google Shape;264;p10" title="Logo Header.png"/>
            <p:cNvPicPr preferRelativeResize="0"/>
            <p:nvPr/>
          </p:nvPicPr>
          <p:blipFill rotWithShape="1">
            <a:blip r:embed="rId3">
              <a:alphaModFix/>
            </a:blip>
            <a:srcRect b="0" l="0" r="0" t="0"/>
            <a:stretch/>
          </p:blipFill>
          <p:spPr>
            <a:xfrm>
              <a:off x="8348195" y="15790"/>
              <a:ext cx="634775" cy="199625"/>
            </a:xfrm>
            <a:prstGeom prst="rect">
              <a:avLst/>
            </a:prstGeom>
            <a:noFill/>
            <a:ln>
              <a:noFill/>
            </a:ln>
          </p:spPr>
        </p:pic>
      </p:grpSp>
      <p:pic>
        <p:nvPicPr>
          <p:cNvPr id="265" name="Google Shape;265;p10" title="Logo Main.png"/>
          <p:cNvPicPr preferRelativeResize="0"/>
          <p:nvPr/>
        </p:nvPicPr>
        <p:blipFill rotWithShape="1">
          <a:blip r:embed="rId4">
            <a:alphaModFix/>
          </a:blip>
          <a:srcRect b="0" l="0" r="0" t="0"/>
          <a:stretch/>
        </p:blipFill>
        <p:spPr>
          <a:xfrm>
            <a:off x="503800" y="4440950"/>
            <a:ext cx="1529475" cy="434512"/>
          </a:xfrm>
          <a:prstGeom prst="rect">
            <a:avLst/>
          </a:prstGeom>
          <a:noFill/>
          <a:ln>
            <a:noFill/>
          </a:ln>
        </p:spPr>
      </p:pic>
      <p:sp>
        <p:nvSpPr>
          <p:cNvPr id="266" name="Google Shape;266;p10"/>
          <p:cNvSpPr txBox="1"/>
          <p:nvPr/>
        </p:nvSpPr>
        <p:spPr>
          <a:xfrm>
            <a:off x="470875" y="1385475"/>
            <a:ext cx="8170500" cy="3241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1" lang="en" sz="1800">
                <a:solidFill>
                  <a:schemeClr val="dk1"/>
                </a:solidFill>
                <a:latin typeface="Inter"/>
                <a:ea typeface="Inter"/>
                <a:cs typeface="Inter"/>
                <a:sym typeface="Inter"/>
              </a:rPr>
              <a:t>Examine the Yellow Taxi Trip dataset and answer the following questions: </a:t>
            </a:r>
            <a:r>
              <a:rPr lang="en" sz="1800">
                <a:solidFill>
                  <a:schemeClr val="dk1"/>
                </a:solidFill>
                <a:latin typeface="Inter"/>
                <a:ea typeface="Inter"/>
                <a:cs typeface="Inter"/>
                <a:sym typeface="Inter"/>
              </a:rPr>
              <a:t>[</a:t>
            </a:r>
            <a:r>
              <a:rPr lang="en" sz="1800" u="sng">
                <a:solidFill>
                  <a:schemeClr val="hlink"/>
                </a:solidFill>
                <a:latin typeface="Inter"/>
                <a:ea typeface="Inter"/>
                <a:cs typeface="Inter"/>
                <a:sym typeface="Inter"/>
                <a:hlinkClick r:id="rId5"/>
              </a:rPr>
              <a:t>NYC Yellow Taxi Trip Data</a:t>
            </a:r>
            <a:r>
              <a:rPr lang="en" sz="1800">
                <a:solidFill>
                  <a:schemeClr val="dk1"/>
                </a:solidFill>
                <a:latin typeface="Inter"/>
                <a:ea typeface="Inter"/>
                <a:cs typeface="Inter"/>
                <a:sym typeface="Inter"/>
              </a:rPr>
              <a:t>]</a:t>
            </a:r>
            <a:endParaRPr sz="1800">
              <a:solidFill>
                <a:schemeClr val="dk1"/>
              </a:solidFill>
              <a:latin typeface="Inter"/>
              <a:ea typeface="Inter"/>
              <a:cs typeface="Inter"/>
              <a:sym typeface="Inter"/>
            </a:endParaRPr>
          </a:p>
          <a:p>
            <a:pPr indent="-330200" lvl="0" marL="457200" rtl="0" algn="l">
              <a:lnSpc>
                <a:spcPct val="115000"/>
              </a:lnSpc>
              <a:spcBef>
                <a:spcPts val="1200"/>
              </a:spcBef>
              <a:spcAft>
                <a:spcPts val="0"/>
              </a:spcAft>
              <a:buClr>
                <a:schemeClr val="dk1"/>
              </a:buClr>
              <a:buSzPts val="1600"/>
              <a:buFont typeface="Inter"/>
              <a:buChar char="-"/>
            </a:pPr>
            <a:r>
              <a:rPr b="1" lang="en" sz="1600">
                <a:solidFill>
                  <a:schemeClr val="dk1"/>
                </a:solidFill>
                <a:latin typeface="Inter"/>
                <a:ea typeface="Inter"/>
                <a:cs typeface="Inter"/>
                <a:sym typeface="Inter"/>
              </a:rPr>
              <a:t>Which feature of this dataset could be used as a target variable?</a:t>
            </a:r>
            <a:endParaRPr b="1" sz="1600">
              <a:solidFill>
                <a:schemeClr val="dk1"/>
              </a:solidFill>
              <a:latin typeface="Inter"/>
              <a:ea typeface="Inter"/>
              <a:cs typeface="Inter"/>
              <a:sym typeface="Inter"/>
            </a:endParaRPr>
          </a:p>
          <a:p>
            <a:pPr indent="-330200" lvl="0" marL="457200" rtl="0" algn="l">
              <a:lnSpc>
                <a:spcPct val="115000"/>
              </a:lnSpc>
              <a:spcBef>
                <a:spcPts val="0"/>
              </a:spcBef>
              <a:spcAft>
                <a:spcPts val="0"/>
              </a:spcAft>
              <a:buClr>
                <a:schemeClr val="dk1"/>
              </a:buClr>
              <a:buSzPts val="1600"/>
              <a:buFont typeface="Inter"/>
              <a:buChar char="-"/>
            </a:pPr>
            <a:r>
              <a:rPr b="1" lang="en" sz="1600">
                <a:solidFill>
                  <a:schemeClr val="dk1"/>
                </a:solidFill>
                <a:latin typeface="Inter"/>
                <a:ea typeface="Inter"/>
                <a:cs typeface="Inter"/>
                <a:sym typeface="Inter"/>
              </a:rPr>
              <a:t>What type of machine learning would you use, which model?</a:t>
            </a:r>
            <a:endParaRPr b="1" sz="1600">
              <a:solidFill>
                <a:schemeClr val="dk1"/>
              </a:solidFill>
              <a:latin typeface="Inter"/>
              <a:ea typeface="Inter"/>
              <a:cs typeface="Inter"/>
              <a:sym typeface="Inter"/>
            </a:endParaRPr>
          </a:p>
          <a:p>
            <a:pPr indent="-285750" lvl="1" marL="914400" rtl="0" algn="l">
              <a:lnSpc>
                <a:spcPct val="115000"/>
              </a:lnSpc>
              <a:spcBef>
                <a:spcPts val="0"/>
              </a:spcBef>
              <a:spcAft>
                <a:spcPts val="0"/>
              </a:spcAft>
              <a:buClr>
                <a:schemeClr val="dk1"/>
              </a:buClr>
              <a:buSzPts val="900"/>
              <a:buChar char="-"/>
            </a:pPr>
            <a:r>
              <a:rPr i="1" lang="en" sz="1600">
                <a:solidFill>
                  <a:schemeClr val="dk1"/>
                </a:solidFill>
                <a:latin typeface="Inter"/>
                <a:ea typeface="Inter"/>
                <a:cs typeface="Inter"/>
                <a:sym typeface="Inter"/>
              </a:rPr>
              <a:t>Why are you selecting this type of learning?</a:t>
            </a:r>
            <a:endParaRPr b="1" sz="1600">
              <a:solidFill>
                <a:schemeClr val="dk1"/>
              </a:solidFill>
              <a:latin typeface="Inter"/>
              <a:ea typeface="Inter"/>
              <a:cs typeface="Inter"/>
              <a:sym typeface="Inter"/>
            </a:endParaRPr>
          </a:p>
          <a:p>
            <a:pPr indent="-285750" lvl="1" marL="914400" rtl="0" algn="l">
              <a:lnSpc>
                <a:spcPct val="115000"/>
              </a:lnSpc>
              <a:spcBef>
                <a:spcPts val="0"/>
              </a:spcBef>
              <a:spcAft>
                <a:spcPts val="0"/>
              </a:spcAft>
              <a:buClr>
                <a:schemeClr val="dk1"/>
              </a:buClr>
              <a:buSzPts val="900"/>
              <a:buChar char="-"/>
            </a:pPr>
            <a:r>
              <a:rPr i="1" lang="en" sz="1600">
                <a:solidFill>
                  <a:schemeClr val="dk1"/>
                </a:solidFill>
                <a:latin typeface="Inter"/>
                <a:ea typeface="Inter"/>
                <a:cs typeface="Inter"/>
                <a:sym typeface="Inter"/>
              </a:rPr>
              <a:t>What information about the data informs this decision?</a:t>
            </a:r>
            <a:endParaRPr i="1" sz="1600">
              <a:solidFill>
                <a:schemeClr val="dk1"/>
              </a:solidFill>
              <a:latin typeface="Inter"/>
              <a:ea typeface="Inter"/>
              <a:cs typeface="Inter"/>
              <a:sym typeface="Inter"/>
            </a:endParaRPr>
          </a:p>
          <a:p>
            <a:pPr indent="-330200" lvl="0" marL="457200" rtl="0" algn="l">
              <a:lnSpc>
                <a:spcPct val="115000"/>
              </a:lnSpc>
              <a:spcBef>
                <a:spcPts val="0"/>
              </a:spcBef>
              <a:spcAft>
                <a:spcPts val="0"/>
              </a:spcAft>
              <a:buClr>
                <a:schemeClr val="dk1"/>
              </a:buClr>
              <a:buSzPts val="1600"/>
              <a:buFont typeface="Inter"/>
              <a:buChar char="-"/>
            </a:pPr>
            <a:r>
              <a:rPr b="1" lang="en" sz="1600">
                <a:solidFill>
                  <a:schemeClr val="dk1"/>
                </a:solidFill>
                <a:latin typeface="Inter"/>
                <a:ea typeface="Inter"/>
                <a:cs typeface="Inter"/>
                <a:sym typeface="Inter"/>
              </a:rPr>
              <a:t>What do you expect to learn from the model you used?</a:t>
            </a:r>
            <a:endParaRPr b="1" sz="1600">
              <a:solidFill>
                <a:schemeClr val="dk1"/>
              </a:solidFill>
              <a:latin typeface="Inter"/>
              <a:ea typeface="Inter"/>
              <a:cs typeface="Inter"/>
              <a:sym typeface="Inter"/>
            </a:endParaRPr>
          </a:p>
          <a:p>
            <a:pPr indent="-330200" lvl="0" marL="457200" rtl="0" algn="l">
              <a:lnSpc>
                <a:spcPct val="115000"/>
              </a:lnSpc>
              <a:spcBef>
                <a:spcPts val="0"/>
              </a:spcBef>
              <a:spcAft>
                <a:spcPts val="0"/>
              </a:spcAft>
              <a:buClr>
                <a:schemeClr val="dk1"/>
              </a:buClr>
              <a:buSzPts val="1600"/>
              <a:buFont typeface="Inter"/>
              <a:buChar char="-"/>
            </a:pPr>
            <a:r>
              <a:rPr b="1" lang="en" sz="1600">
                <a:solidFill>
                  <a:schemeClr val="dk1"/>
                </a:solidFill>
                <a:latin typeface="Inter"/>
                <a:ea typeface="Inter"/>
                <a:cs typeface="Inter"/>
                <a:sym typeface="Inter"/>
              </a:rPr>
              <a:t>What subgroup analysis would be needed during evaluation?</a:t>
            </a:r>
            <a:endParaRPr b="1" sz="1600">
              <a:solidFill>
                <a:schemeClr val="dk1"/>
              </a:solidFill>
              <a:latin typeface="Inter"/>
              <a:ea typeface="Inter"/>
              <a:cs typeface="Inter"/>
              <a:sym typeface="Inter"/>
            </a:endParaRPr>
          </a:p>
          <a:p>
            <a:pPr indent="-330200" lvl="0" marL="457200" rtl="0" algn="l">
              <a:lnSpc>
                <a:spcPct val="115000"/>
              </a:lnSpc>
              <a:spcBef>
                <a:spcPts val="0"/>
              </a:spcBef>
              <a:spcAft>
                <a:spcPts val="0"/>
              </a:spcAft>
              <a:buClr>
                <a:schemeClr val="dk1"/>
              </a:buClr>
              <a:buSzPts val="1600"/>
              <a:buFont typeface="Inter"/>
              <a:buChar char="-"/>
            </a:pPr>
            <a:r>
              <a:rPr b="1" lang="en" sz="1600">
                <a:solidFill>
                  <a:schemeClr val="dk1"/>
                </a:solidFill>
                <a:latin typeface="Inter"/>
                <a:ea typeface="Inter"/>
                <a:cs typeface="Inter"/>
                <a:sym typeface="Inter"/>
              </a:rPr>
              <a:t>What should be documented before modeling?</a:t>
            </a:r>
            <a:endParaRPr b="1" sz="1600">
              <a:solidFill>
                <a:schemeClr val="dk1"/>
              </a:solidFill>
              <a:latin typeface="Inter"/>
              <a:ea typeface="Inter"/>
              <a:cs typeface="Inter"/>
              <a:sym typeface="Inte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0" name="Shape 270"/>
        <p:cNvGrpSpPr/>
        <p:nvPr/>
      </p:nvGrpSpPr>
      <p:grpSpPr>
        <a:xfrm>
          <a:off x="0" y="0"/>
          <a:ext cx="0" cy="0"/>
          <a:chOff x="0" y="0"/>
          <a:chExt cx="0" cy="0"/>
        </a:xfrm>
      </p:grpSpPr>
      <p:sp>
        <p:nvSpPr>
          <p:cNvPr id="271" name="Google Shape;271;g3d855c145fb_0_0"/>
          <p:cNvSpPr txBox="1"/>
          <p:nvPr>
            <p:ph idx="1" type="subTitle"/>
          </p:nvPr>
        </p:nvSpPr>
        <p:spPr>
          <a:xfrm>
            <a:off x="272100" y="447125"/>
            <a:ext cx="6475200" cy="757200"/>
          </a:xfrm>
          <a:prstGeom prst="rect">
            <a:avLst/>
          </a:prstGeom>
          <a:noFill/>
          <a:ln>
            <a:noFill/>
          </a:ln>
        </p:spPr>
        <p:txBody>
          <a:bodyPr anchorCtr="0" anchor="t" bIns="91425" lIns="91425" spcFirstLastPara="1" rIns="91425" wrap="square" tIns="91425">
            <a:normAutofit fontScale="92500"/>
          </a:bodyPr>
          <a:lstStyle/>
          <a:p>
            <a:pPr indent="0" lvl="0" marL="0" rtl="0" algn="l">
              <a:lnSpc>
                <a:spcPct val="100000"/>
              </a:lnSpc>
              <a:spcBef>
                <a:spcPts val="0"/>
              </a:spcBef>
              <a:spcAft>
                <a:spcPts val="0"/>
              </a:spcAft>
              <a:buSzPct val="80000"/>
              <a:buNone/>
            </a:pPr>
            <a:r>
              <a:rPr b="1" lang="en" sz="3500">
                <a:solidFill>
                  <a:schemeClr val="dk1"/>
                </a:solidFill>
                <a:latin typeface="Inter"/>
                <a:ea typeface="Inter"/>
                <a:cs typeface="Inter"/>
                <a:sym typeface="Inter"/>
              </a:rPr>
              <a:t>Handling and Visualizing Data</a:t>
            </a:r>
            <a:endParaRPr b="1" sz="3500">
              <a:solidFill>
                <a:schemeClr val="dk1"/>
              </a:solidFill>
              <a:latin typeface="Inter"/>
              <a:ea typeface="Inter"/>
              <a:cs typeface="Inter"/>
              <a:sym typeface="Inter"/>
            </a:endParaRPr>
          </a:p>
        </p:txBody>
      </p:sp>
      <p:grpSp>
        <p:nvGrpSpPr>
          <p:cNvPr id="272" name="Google Shape;272;g3d855c145fb_0_0"/>
          <p:cNvGrpSpPr/>
          <p:nvPr/>
        </p:nvGrpSpPr>
        <p:grpSpPr>
          <a:xfrm>
            <a:off x="8625" y="0"/>
            <a:ext cx="9144000" cy="267600"/>
            <a:chOff x="8625" y="0"/>
            <a:chExt cx="9144000" cy="267600"/>
          </a:xfrm>
        </p:grpSpPr>
        <p:sp>
          <p:nvSpPr>
            <p:cNvPr id="273" name="Google Shape;273;g3d855c145fb_0_0"/>
            <p:cNvSpPr/>
            <p:nvPr/>
          </p:nvSpPr>
          <p:spPr>
            <a:xfrm>
              <a:off x="8625" y="0"/>
              <a:ext cx="9144000" cy="2676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274" name="Google Shape;274;g3d855c145fb_0_0" title="Logo Header.png"/>
            <p:cNvPicPr preferRelativeResize="0"/>
            <p:nvPr/>
          </p:nvPicPr>
          <p:blipFill rotWithShape="1">
            <a:blip r:embed="rId3">
              <a:alphaModFix/>
            </a:blip>
            <a:srcRect b="0" l="0" r="0" t="0"/>
            <a:stretch/>
          </p:blipFill>
          <p:spPr>
            <a:xfrm>
              <a:off x="8348195" y="15790"/>
              <a:ext cx="634775" cy="199625"/>
            </a:xfrm>
            <a:prstGeom prst="rect">
              <a:avLst/>
            </a:prstGeom>
            <a:noFill/>
            <a:ln>
              <a:noFill/>
            </a:ln>
          </p:spPr>
        </p:pic>
      </p:grpSp>
      <p:sp>
        <p:nvSpPr>
          <p:cNvPr id="275" name="Google Shape;275;g3d855c145fb_0_0"/>
          <p:cNvSpPr txBox="1"/>
          <p:nvPr>
            <p:ph idx="1" type="subTitle"/>
          </p:nvPr>
        </p:nvSpPr>
        <p:spPr>
          <a:xfrm>
            <a:off x="272100" y="1204325"/>
            <a:ext cx="5545500" cy="8097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2800"/>
              <a:buNone/>
            </a:pPr>
            <a:r>
              <a:rPr b="1" lang="en" sz="2200">
                <a:solidFill>
                  <a:schemeClr val="dk1"/>
                </a:solidFill>
                <a:latin typeface="Inter"/>
                <a:ea typeface="Inter"/>
                <a:cs typeface="Inter"/>
                <a:sym typeface="Inter"/>
              </a:rPr>
              <a:t>Data Handling</a:t>
            </a:r>
            <a:endParaRPr b="1" sz="2200">
              <a:solidFill>
                <a:schemeClr val="dk1"/>
              </a:solidFill>
              <a:latin typeface="Inter"/>
              <a:ea typeface="Inter"/>
              <a:cs typeface="Inter"/>
              <a:sym typeface="Inter"/>
            </a:endParaRPr>
          </a:p>
        </p:txBody>
      </p:sp>
      <p:sp>
        <p:nvSpPr>
          <p:cNvPr id="276" name="Google Shape;276;g3d855c145fb_0_0"/>
          <p:cNvSpPr txBox="1"/>
          <p:nvPr/>
        </p:nvSpPr>
        <p:spPr>
          <a:xfrm>
            <a:off x="272100" y="1617375"/>
            <a:ext cx="4860900" cy="34581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1200"/>
              </a:spcBef>
              <a:spcAft>
                <a:spcPts val="0"/>
              </a:spcAft>
              <a:buClr>
                <a:srgbClr val="000000"/>
              </a:buClr>
              <a:buSzPts val="1800"/>
              <a:buFont typeface="Arial"/>
              <a:buNone/>
            </a:pPr>
            <a:r>
              <a:rPr lang="en" sz="1800">
                <a:solidFill>
                  <a:schemeClr val="dk1"/>
                </a:solidFill>
                <a:latin typeface="Inter"/>
                <a:ea typeface="Inter"/>
                <a:cs typeface="Inter"/>
                <a:sym typeface="Inter"/>
              </a:rPr>
              <a:t>Automated digital tools can streamline data collection, cleaning, and preparation for machine learning, reducing manual effort and speeding up data workflows.</a:t>
            </a:r>
            <a:endParaRPr sz="1800">
              <a:solidFill>
                <a:schemeClr val="dk1"/>
              </a:solidFill>
              <a:latin typeface="Inter"/>
              <a:ea typeface="Inter"/>
              <a:cs typeface="Inter"/>
              <a:sym typeface="Inter"/>
            </a:endParaRPr>
          </a:p>
          <a:p>
            <a:pPr indent="0" lvl="0" marL="0" marR="0" rtl="0" algn="l">
              <a:lnSpc>
                <a:spcPct val="100000"/>
              </a:lnSpc>
              <a:spcBef>
                <a:spcPts val="1200"/>
              </a:spcBef>
              <a:spcAft>
                <a:spcPts val="0"/>
              </a:spcAft>
              <a:buClr>
                <a:srgbClr val="000000"/>
              </a:buClr>
              <a:buSzPts val="1800"/>
              <a:buFont typeface="Arial"/>
              <a:buNone/>
            </a:pPr>
            <a:r>
              <a:rPr lang="en" sz="1800">
                <a:solidFill>
                  <a:schemeClr val="dk1"/>
                </a:solidFill>
                <a:latin typeface="Inter"/>
                <a:ea typeface="Inter"/>
                <a:cs typeface="Inter"/>
                <a:sym typeface="Inter"/>
              </a:rPr>
              <a:t>Risks:</a:t>
            </a:r>
            <a:endParaRPr sz="1800">
              <a:solidFill>
                <a:schemeClr val="dk1"/>
              </a:solidFill>
              <a:latin typeface="Inter"/>
              <a:ea typeface="Inter"/>
              <a:cs typeface="Inter"/>
              <a:sym typeface="Inter"/>
            </a:endParaRPr>
          </a:p>
          <a:p>
            <a:pPr indent="-342900" lvl="0" marL="457200" marR="0" rtl="0" algn="l">
              <a:lnSpc>
                <a:spcPct val="100000"/>
              </a:lnSpc>
              <a:spcBef>
                <a:spcPts val="1200"/>
              </a:spcBef>
              <a:spcAft>
                <a:spcPts val="0"/>
              </a:spcAft>
              <a:buClr>
                <a:schemeClr val="dk1"/>
              </a:buClr>
              <a:buSzPts val="1800"/>
              <a:buFont typeface="Inter"/>
              <a:buChar char="●"/>
            </a:pPr>
            <a:r>
              <a:rPr lang="en" sz="1800">
                <a:solidFill>
                  <a:schemeClr val="dk1"/>
                </a:solidFill>
                <a:latin typeface="Inter"/>
                <a:ea typeface="Inter"/>
                <a:cs typeface="Inter"/>
                <a:sym typeface="Inter"/>
              </a:rPr>
              <a:t>Hidden errors and bias</a:t>
            </a:r>
            <a:endParaRPr sz="1800">
              <a:solidFill>
                <a:schemeClr val="dk1"/>
              </a:solidFill>
              <a:latin typeface="Inter"/>
              <a:ea typeface="Inter"/>
              <a:cs typeface="Inter"/>
              <a:sym typeface="Inter"/>
            </a:endParaRPr>
          </a:p>
          <a:p>
            <a:pPr indent="-342900" lvl="0" marL="457200" marR="0" rtl="0" algn="l">
              <a:lnSpc>
                <a:spcPct val="100000"/>
              </a:lnSpc>
              <a:spcBef>
                <a:spcPts val="0"/>
              </a:spcBef>
              <a:spcAft>
                <a:spcPts val="0"/>
              </a:spcAft>
              <a:buClr>
                <a:schemeClr val="dk1"/>
              </a:buClr>
              <a:buSzPts val="1800"/>
              <a:buFont typeface="Inter"/>
              <a:buChar char="●"/>
            </a:pPr>
            <a:r>
              <a:rPr lang="en" sz="1800">
                <a:solidFill>
                  <a:schemeClr val="dk1"/>
                </a:solidFill>
                <a:latin typeface="Inter"/>
                <a:ea typeface="Inter"/>
                <a:cs typeface="Inter"/>
                <a:sym typeface="Inter"/>
              </a:rPr>
              <a:t>Incorrectly cleaned or mislabeled data</a:t>
            </a:r>
            <a:endParaRPr sz="1800">
              <a:solidFill>
                <a:schemeClr val="dk1"/>
              </a:solidFill>
              <a:latin typeface="Inter"/>
              <a:ea typeface="Inter"/>
              <a:cs typeface="Inter"/>
              <a:sym typeface="Inter"/>
            </a:endParaRPr>
          </a:p>
          <a:p>
            <a:pPr indent="-342900" lvl="0" marL="457200" marR="0" rtl="0" algn="l">
              <a:lnSpc>
                <a:spcPct val="100000"/>
              </a:lnSpc>
              <a:spcBef>
                <a:spcPts val="0"/>
              </a:spcBef>
              <a:spcAft>
                <a:spcPts val="0"/>
              </a:spcAft>
              <a:buClr>
                <a:schemeClr val="dk1"/>
              </a:buClr>
              <a:buSzPts val="1800"/>
              <a:buFont typeface="Inter"/>
              <a:buChar char="●"/>
            </a:pPr>
            <a:r>
              <a:rPr lang="en" sz="1800">
                <a:solidFill>
                  <a:schemeClr val="dk1"/>
                </a:solidFill>
                <a:latin typeface="Inter"/>
                <a:ea typeface="Inter"/>
                <a:cs typeface="Inter"/>
                <a:sym typeface="Inter"/>
              </a:rPr>
              <a:t>Data storage privacy concerns</a:t>
            </a:r>
            <a:endParaRPr sz="1800">
              <a:solidFill>
                <a:schemeClr val="dk1"/>
              </a:solidFill>
              <a:latin typeface="Inter"/>
              <a:ea typeface="Inter"/>
              <a:cs typeface="Inter"/>
              <a:sym typeface="Inter"/>
            </a:endParaRPr>
          </a:p>
        </p:txBody>
      </p:sp>
      <p:pic>
        <p:nvPicPr>
          <p:cNvPr descr="just one icon without any cutoffs like how the hands are cut off" id="277" name="Google Shape;277;g3d855c145fb_0_0"/>
          <p:cNvPicPr preferRelativeResize="0"/>
          <p:nvPr/>
        </p:nvPicPr>
        <p:blipFill>
          <a:blip r:embed="rId4">
            <a:alphaModFix/>
          </a:blip>
          <a:stretch>
            <a:fillRect/>
          </a:stretch>
        </p:blipFill>
        <p:spPr>
          <a:xfrm>
            <a:off x="5133000" y="948325"/>
            <a:ext cx="3568724" cy="3568724"/>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1" name="Shape 281"/>
        <p:cNvGrpSpPr/>
        <p:nvPr/>
      </p:nvGrpSpPr>
      <p:grpSpPr>
        <a:xfrm>
          <a:off x="0" y="0"/>
          <a:ext cx="0" cy="0"/>
          <a:chOff x="0" y="0"/>
          <a:chExt cx="0" cy="0"/>
        </a:xfrm>
      </p:grpSpPr>
      <p:grpSp>
        <p:nvGrpSpPr>
          <p:cNvPr id="282" name="Google Shape;282;g3c5d521f515_0_161"/>
          <p:cNvGrpSpPr/>
          <p:nvPr/>
        </p:nvGrpSpPr>
        <p:grpSpPr>
          <a:xfrm>
            <a:off x="8625" y="0"/>
            <a:ext cx="9144000" cy="267600"/>
            <a:chOff x="8625" y="0"/>
            <a:chExt cx="9144000" cy="267600"/>
          </a:xfrm>
        </p:grpSpPr>
        <p:sp>
          <p:nvSpPr>
            <p:cNvPr id="283" name="Google Shape;283;g3c5d521f515_0_161"/>
            <p:cNvSpPr/>
            <p:nvPr/>
          </p:nvSpPr>
          <p:spPr>
            <a:xfrm>
              <a:off x="8625" y="0"/>
              <a:ext cx="9144000" cy="2676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284" name="Google Shape;284;g3c5d521f515_0_161" title="Logo Header.png"/>
            <p:cNvPicPr preferRelativeResize="0"/>
            <p:nvPr/>
          </p:nvPicPr>
          <p:blipFill rotWithShape="1">
            <a:blip r:embed="rId3">
              <a:alphaModFix/>
            </a:blip>
            <a:srcRect b="0" l="0" r="0" t="0"/>
            <a:stretch/>
          </p:blipFill>
          <p:spPr>
            <a:xfrm>
              <a:off x="8348195" y="15790"/>
              <a:ext cx="634775" cy="199625"/>
            </a:xfrm>
            <a:prstGeom prst="rect">
              <a:avLst/>
            </a:prstGeom>
            <a:noFill/>
            <a:ln>
              <a:noFill/>
            </a:ln>
          </p:spPr>
        </p:pic>
      </p:grpSp>
      <p:sp>
        <p:nvSpPr>
          <p:cNvPr id="285" name="Google Shape;285;g3c5d521f515_0_161"/>
          <p:cNvSpPr txBox="1"/>
          <p:nvPr>
            <p:ph idx="1" type="subTitle"/>
          </p:nvPr>
        </p:nvSpPr>
        <p:spPr>
          <a:xfrm>
            <a:off x="599812" y="460488"/>
            <a:ext cx="5545500" cy="8097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2800"/>
              <a:buNone/>
            </a:pPr>
            <a:r>
              <a:rPr b="1" lang="en" sz="2700">
                <a:solidFill>
                  <a:schemeClr val="dk1"/>
                </a:solidFill>
                <a:latin typeface="Inter"/>
                <a:ea typeface="Inter"/>
                <a:cs typeface="Inter"/>
                <a:sym typeface="Inter"/>
              </a:rPr>
              <a:t>Data Representation</a:t>
            </a:r>
            <a:endParaRPr b="1" sz="2700">
              <a:solidFill>
                <a:schemeClr val="dk1"/>
              </a:solidFill>
              <a:latin typeface="Inter"/>
              <a:ea typeface="Inter"/>
              <a:cs typeface="Inter"/>
              <a:sym typeface="Inter"/>
            </a:endParaRPr>
          </a:p>
        </p:txBody>
      </p:sp>
      <p:sp>
        <p:nvSpPr>
          <p:cNvPr id="286" name="Google Shape;286;g3c5d521f515_0_161"/>
          <p:cNvSpPr txBox="1"/>
          <p:nvPr/>
        </p:nvSpPr>
        <p:spPr>
          <a:xfrm>
            <a:off x="272100" y="1463100"/>
            <a:ext cx="4035300" cy="3612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1200"/>
              </a:spcBef>
              <a:spcAft>
                <a:spcPts val="0"/>
              </a:spcAft>
              <a:buNone/>
            </a:pPr>
            <a:r>
              <a:rPr b="1" lang="en" sz="1800">
                <a:solidFill>
                  <a:schemeClr val="dk1"/>
                </a:solidFill>
                <a:latin typeface="Inter"/>
                <a:ea typeface="Inter"/>
                <a:cs typeface="Inter"/>
                <a:sym typeface="Inter"/>
              </a:rPr>
              <a:t>Underrepresentation</a:t>
            </a:r>
            <a:r>
              <a:rPr lang="en" sz="1800">
                <a:solidFill>
                  <a:schemeClr val="dk1"/>
                </a:solidFill>
                <a:latin typeface="Inter"/>
                <a:ea typeface="Inter"/>
                <a:cs typeface="Inter"/>
                <a:sym typeface="Inter"/>
              </a:rPr>
              <a:t>:</a:t>
            </a:r>
            <a:endParaRPr sz="1800">
              <a:solidFill>
                <a:schemeClr val="dk1"/>
              </a:solidFill>
              <a:latin typeface="Inter"/>
              <a:ea typeface="Inter"/>
              <a:cs typeface="Inter"/>
              <a:sym typeface="Inter"/>
            </a:endParaRPr>
          </a:p>
          <a:p>
            <a:pPr indent="-330200" lvl="0" marL="457200" marR="0" rtl="0" algn="l">
              <a:lnSpc>
                <a:spcPct val="100000"/>
              </a:lnSpc>
              <a:spcBef>
                <a:spcPts val="1200"/>
              </a:spcBef>
              <a:spcAft>
                <a:spcPts val="0"/>
              </a:spcAft>
              <a:buClr>
                <a:schemeClr val="dk1"/>
              </a:buClr>
              <a:buSzPts val="1600"/>
              <a:buFont typeface="Inter"/>
              <a:buChar char="●"/>
            </a:pPr>
            <a:r>
              <a:rPr lang="en" sz="1600">
                <a:solidFill>
                  <a:schemeClr val="dk1"/>
                </a:solidFill>
                <a:latin typeface="Inter"/>
                <a:ea typeface="Inter"/>
                <a:cs typeface="Inter"/>
                <a:sym typeface="Inter"/>
              </a:rPr>
              <a:t>When groups within the population are not proportionally represented in a dataset</a:t>
            </a:r>
            <a:endParaRPr sz="1600">
              <a:solidFill>
                <a:schemeClr val="dk1"/>
              </a:solidFill>
              <a:latin typeface="Inter"/>
              <a:ea typeface="Inter"/>
              <a:cs typeface="Inter"/>
              <a:sym typeface="Inter"/>
            </a:endParaRPr>
          </a:p>
          <a:p>
            <a:pPr indent="-330200" lvl="0" marL="457200" marR="0" rtl="0" algn="l">
              <a:lnSpc>
                <a:spcPct val="100000"/>
              </a:lnSpc>
              <a:spcBef>
                <a:spcPts val="0"/>
              </a:spcBef>
              <a:spcAft>
                <a:spcPts val="0"/>
              </a:spcAft>
              <a:buClr>
                <a:schemeClr val="dk1"/>
              </a:buClr>
              <a:buSzPts val="1600"/>
              <a:buFont typeface="Inter"/>
              <a:buChar char="●"/>
            </a:pPr>
            <a:r>
              <a:rPr lang="en" sz="1600">
                <a:solidFill>
                  <a:schemeClr val="dk1"/>
                </a:solidFill>
                <a:latin typeface="Inter"/>
                <a:ea typeface="Inter"/>
                <a:cs typeface="Inter"/>
                <a:sym typeface="Inter"/>
              </a:rPr>
              <a:t>Groups can often be defined by: gender, age, sex, disability, ethic background</a:t>
            </a:r>
            <a:endParaRPr sz="1600">
              <a:solidFill>
                <a:schemeClr val="dk1"/>
              </a:solidFill>
              <a:latin typeface="Inter"/>
              <a:ea typeface="Inter"/>
              <a:cs typeface="Inter"/>
              <a:sym typeface="Inter"/>
            </a:endParaRPr>
          </a:p>
          <a:p>
            <a:pPr indent="-330200" lvl="0" marL="457200" marR="0" rtl="0" algn="l">
              <a:lnSpc>
                <a:spcPct val="100000"/>
              </a:lnSpc>
              <a:spcBef>
                <a:spcPts val="0"/>
              </a:spcBef>
              <a:spcAft>
                <a:spcPts val="0"/>
              </a:spcAft>
              <a:buClr>
                <a:schemeClr val="dk1"/>
              </a:buClr>
              <a:buSzPts val="1600"/>
              <a:buFont typeface="Inter"/>
              <a:buChar char="●"/>
            </a:pPr>
            <a:r>
              <a:rPr lang="en" sz="1600">
                <a:solidFill>
                  <a:schemeClr val="dk1"/>
                </a:solidFill>
                <a:latin typeface="Inter"/>
                <a:ea typeface="Inter"/>
                <a:cs typeface="Inter"/>
                <a:sym typeface="Inter"/>
              </a:rPr>
              <a:t>Using such datasets can result in the perpetuation and/or increase in historical and systemic biases</a:t>
            </a:r>
            <a:endParaRPr sz="1600">
              <a:solidFill>
                <a:schemeClr val="dk1"/>
              </a:solidFill>
              <a:latin typeface="Inter"/>
              <a:ea typeface="Inter"/>
              <a:cs typeface="Inter"/>
              <a:sym typeface="Inter"/>
            </a:endParaRPr>
          </a:p>
          <a:p>
            <a:pPr indent="0" lvl="0" marL="0" marR="0" rtl="0" algn="l">
              <a:lnSpc>
                <a:spcPct val="100000"/>
              </a:lnSpc>
              <a:spcBef>
                <a:spcPts val="1200"/>
              </a:spcBef>
              <a:spcAft>
                <a:spcPts val="0"/>
              </a:spcAft>
              <a:buNone/>
            </a:pPr>
            <a:r>
              <a:t/>
            </a:r>
            <a:endParaRPr sz="1800">
              <a:solidFill>
                <a:schemeClr val="dk1"/>
              </a:solidFill>
              <a:latin typeface="Inter"/>
              <a:ea typeface="Inter"/>
              <a:cs typeface="Inter"/>
              <a:sym typeface="Inter"/>
            </a:endParaRPr>
          </a:p>
          <a:p>
            <a:pPr indent="0" lvl="0" marL="0" marR="0" rtl="0" algn="l">
              <a:lnSpc>
                <a:spcPct val="100000"/>
              </a:lnSpc>
              <a:spcBef>
                <a:spcPts val="1200"/>
              </a:spcBef>
              <a:spcAft>
                <a:spcPts val="0"/>
              </a:spcAft>
              <a:buNone/>
            </a:pPr>
            <a:r>
              <a:t/>
            </a:r>
            <a:endParaRPr sz="1800">
              <a:solidFill>
                <a:schemeClr val="dk1"/>
              </a:solidFill>
              <a:latin typeface="Inter"/>
              <a:ea typeface="Inter"/>
              <a:cs typeface="Inter"/>
              <a:sym typeface="Inter"/>
            </a:endParaRPr>
          </a:p>
          <a:p>
            <a:pPr indent="0" lvl="0" marL="0" marR="0" rtl="0" algn="l">
              <a:lnSpc>
                <a:spcPct val="100000"/>
              </a:lnSpc>
              <a:spcBef>
                <a:spcPts val="1200"/>
              </a:spcBef>
              <a:spcAft>
                <a:spcPts val="0"/>
              </a:spcAft>
              <a:buNone/>
            </a:pPr>
            <a:r>
              <a:t/>
            </a:r>
            <a:endParaRPr sz="1800">
              <a:solidFill>
                <a:schemeClr val="dk1"/>
              </a:solidFill>
              <a:latin typeface="Inter"/>
              <a:ea typeface="Inter"/>
              <a:cs typeface="Inter"/>
              <a:sym typeface="Inter"/>
            </a:endParaRPr>
          </a:p>
        </p:txBody>
      </p:sp>
      <p:sp>
        <p:nvSpPr>
          <p:cNvPr id="287" name="Google Shape;287;g3c5d521f515_0_161"/>
          <p:cNvSpPr txBox="1"/>
          <p:nvPr/>
        </p:nvSpPr>
        <p:spPr>
          <a:xfrm>
            <a:off x="4572000" y="654950"/>
            <a:ext cx="4308600" cy="3979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1200"/>
              </a:spcBef>
              <a:spcAft>
                <a:spcPts val="0"/>
              </a:spcAft>
              <a:buNone/>
            </a:pPr>
            <a:r>
              <a:rPr b="1" lang="en" sz="1800">
                <a:solidFill>
                  <a:schemeClr val="dk1"/>
                </a:solidFill>
                <a:latin typeface="Inter"/>
                <a:ea typeface="Inter"/>
                <a:cs typeface="Inter"/>
                <a:sym typeface="Inter"/>
              </a:rPr>
              <a:t>Label Quality:</a:t>
            </a:r>
            <a:endParaRPr b="1" sz="1800">
              <a:solidFill>
                <a:schemeClr val="dk1"/>
              </a:solidFill>
              <a:latin typeface="Inter"/>
              <a:ea typeface="Inter"/>
              <a:cs typeface="Inter"/>
              <a:sym typeface="Inter"/>
            </a:endParaRPr>
          </a:p>
          <a:p>
            <a:pPr indent="-330200" lvl="0" marL="457200" marR="0" rtl="0" algn="l">
              <a:lnSpc>
                <a:spcPct val="100000"/>
              </a:lnSpc>
              <a:spcBef>
                <a:spcPts val="1200"/>
              </a:spcBef>
              <a:spcAft>
                <a:spcPts val="0"/>
              </a:spcAft>
              <a:buClr>
                <a:schemeClr val="dk1"/>
              </a:buClr>
              <a:buSzPts val="1600"/>
              <a:buFont typeface="Inter"/>
              <a:buChar char="●"/>
            </a:pPr>
            <a:r>
              <a:rPr lang="en" sz="1600">
                <a:solidFill>
                  <a:schemeClr val="dk1"/>
                </a:solidFill>
                <a:latin typeface="Inter"/>
                <a:ea typeface="Inter"/>
                <a:cs typeface="Inter"/>
                <a:sym typeface="Inter"/>
              </a:rPr>
              <a:t>The accuracy of labels attributed to observations</a:t>
            </a:r>
            <a:endParaRPr sz="1600">
              <a:solidFill>
                <a:schemeClr val="dk1"/>
              </a:solidFill>
              <a:latin typeface="Inter"/>
              <a:ea typeface="Inter"/>
              <a:cs typeface="Inter"/>
              <a:sym typeface="Inter"/>
            </a:endParaRPr>
          </a:p>
          <a:p>
            <a:pPr indent="-330200" lvl="0" marL="457200" marR="0" rtl="0" algn="l">
              <a:lnSpc>
                <a:spcPct val="100000"/>
              </a:lnSpc>
              <a:spcBef>
                <a:spcPts val="0"/>
              </a:spcBef>
              <a:spcAft>
                <a:spcPts val="0"/>
              </a:spcAft>
              <a:buClr>
                <a:schemeClr val="dk1"/>
              </a:buClr>
              <a:buSzPts val="1600"/>
              <a:buFont typeface="Inter"/>
              <a:buChar char="●"/>
            </a:pPr>
            <a:r>
              <a:rPr lang="en" sz="1600">
                <a:solidFill>
                  <a:schemeClr val="dk1"/>
                </a:solidFill>
                <a:latin typeface="Inter"/>
                <a:ea typeface="Inter"/>
                <a:cs typeface="Inter"/>
                <a:sym typeface="Inter"/>
              </a:rPr>
              <a:t>Labels should optimize mirroring “ground </a:t>
            </a:r>
            <a:r>
              <a:rPr lang="en" sz="1600">
                <a:solidFill>
                  <a:schemeClr val="dk1"/>
                </a:solidFill>
                <a:latin typeface="Inter"/>
                <a:ea typeface="Inter"/>
                <a:cs typeface="Inter"/>
                <a:sym typeface="Inter"/>
              </a:rPr>
              <a:t>truth</a:t>
            </a:r>
            <a:r>
              <a:rPr lang="en" sz="1600">
                <a:solidFill>
                  <a:schemeClr val="dk1"/>
                </a:solidFill>
                <a:latin typeface="Inter"/>
                <a:ea typeface="Inter"/>
                <a:cs typeface="Inter"/>
                <a:sym typeface="Inter"/>
              </a:rPr>
              <a:t>” </a:t>
            </a:r>
            <a:endParaRPr sz="1600">
              <a:solidFill>
                <a:schemeClr val="dk1"/>
              </a:solidFill>
              <a:latin typeface="Inter"/>
              <a:ea typeface="Inter"/>
              <a:cs typeface="Inter"/>
              <a:sym typeface="Inter"/>
            </a:endParaRPr>
          </a:p>
          <a:p>
            <a:pPr indent="-330200" lvl="0" marL="457200" marR="0" rtl="0" algn="l">
              <a:lnSpc>
                <a:spcPct val="100000"/>
              </a:lnSpc>
              <a:spcBef>
                <a:spcPts val="0"/>
              </a:spcBef>
              <a:spcAft>
                <a:spcPts val="0"/>
              </a:spcAft>
              <a:buClr>
                <a:schemeClr val="dk1"/>
              </a:buClr>
              <a:buSzPts val="1600"/>
              <a:buFont typeface="Inter"/>
              <a:buChar char="●"/>
            </a:pPr>
            <a:r>
              <a:rPr lang="en" sz="1600">
                <a:solidFill>
                  <a:schemeClr val="dk1"/>
                </a:solidFill>
                <a:latin typeface="Inter"/>
                <a:ea typeface="Inter"/>
                <a:cs typeface="Inter"/>
                <a:sym typeface="Inter"/>
              </a:rPr>
              <a:t>Inaccurate labels can perpetuate bias and/or reduce model generalizability</a:t>
            </a:r>
            <a:endParaRPr sz="1600">
              <a:solidFill>
                <a:schemeClr val="dk1"/>
              </a:solidFill>
              <a:latin typeface="Inter"/>
              <a:ea typeface="Inter"/>
              <a:cs typeface="Inter"/>
              <a:sym typeface="Inter"/>
            </a:endParaRPr>
          </a:p>
          <a:p>
            <a:pPr indent="0" lvl="0" marL="0" marR="0" rtl="0" algn="l">
              <a:lnSpc>
                <a:spcPct val="100000"/>
              </a:lnSpc>
              <a:spcBef>
                <a:spcPts val="1200"/>
              </a:spcBef>
              <a:spcAft>
                <a:spcPts val="0"/>
              </a:spcAft>
              <a:buNone/>
            </a:pPr>
            <a:r>
              <a:rPr b="1" lang="en" sz="1800">
                <a:solidFill>
                  <a:schemeClr val="dk1"/>
                </a:solidFill>
                <a:latin typeface="Inter"/>
                <a:ea typeface="Inter"/>
                <a:cs typeface="Inter"/>
                <a:sym typeface="Inter"/>
              </a:rPr>
              <a:t>Proxy Features:</a:t>
            </a:r>
            <a:endParaRPr b="1" sz="1800">
              <a:solidFill>
                <a:schemeClr val="dk1"/>
              </a:solidFill>
              <a:latin typeface="Inter"/>
              <a:ea typeface="Inter"/>
              <a:cs typeface="Inter"/>
              <a:sym typeface="Inter"/>
            </a:endParaRPr>
          </a:p>
          <a:p>
            <a:pPr indent="-330200" lvl="0" marL="457200" marR="0" rtl="0" algn="l">
              <a:lnSpc>
                <a:spcPct val="100000"/>
              </a:lnSpc>
              <a:spcBef>
                <a:spcPts val="1200"/>
              </a:spcBef>
              <a:spcAft>
                <a:spcPts val="0"/>
              </a:spcAft>
              <a:buClr>
                <a:schemeClr val="dk1"/>
              </a:buClr>
              <a:buSzPts val="1600"/>
              <a:buFont typeface="Inter"/>
              <a:buChar char="●"/>
            </a:pPr>
            <a:r>
              <a:rPr lang="en" sz="1600">
                <a:solidFill>
                  <a:schemeClr val="dk1"/>
                </a:solidFill>
                <a:latin typeface="Inter"/>
                <a:ea typeface="Inter"/>
                <a:cs typeface="Inter"/>
                <a:sym typeface="Inter"/>
              </a:rPr>
              <a:t>Using other features as “stand-ins” within a dataset</a:t>
            </a:r>
            <a:endParaRPr sz="1600">
              <a:solidFill>
                <a:schemeClr val="dk1"/>
              </a:solidFill>
              <a:latin typeface="Inter"/>
              <a:ea typeface="Inter"/>
              <a:cs typeface="Inter"/>
              <a:sym typeface="Inter"/>
            </a:endParaRPr>
          </a:p>
          <a:p>
            <a:pPr indent="-330200" lvl="0" marL="457200" marR="0" rtl="0" algn="l">
              <a:lnSpc>
                <a:spcPct val="100000"/>
              </a:lnSpc>
              <a:spcBef>
                <a:spcPts val="0"/>
              </a:spcBef>
              <a:spcAft>
                <a:spcPts val="0"/>
              </a:spcAft>
              <a:buClr>
                <a:schemeClr val="dk1"/>
              </a:buClr>
              <a:buSzPts val="1600"/>
              <a:buFont typeface="Inter"/>
              <a:buChar char="●"/>
            </a:pPr>
            <a:r>
              <a:rPr lang="en" sz="1600">
                <a:solidFill>
                  <a:schemeClr val="dk1"/>
                </a:solidFill>
                <a:latin typeface="Inter"/>
                <a:ea typeface="Inter"/>
                <a:cs typeface="Inter"/>
                <a:sym typeface="Inter"/>
              </a:rPr>
              <a:t>Proxies for demographics and/or protected attributes can lead to discriminate model results</a:t>
            </a:r>
            <a:endParaRPr sz="1600">
              <a:solidFill>
                <a:schemeClr val="dk1"/>
              </a:solidFill>
              <a:latin typeface="Inter"/>
              <a:ea typeface="Inter"/>
              <a:cs typeface="Inter"/>
              <a:sym typeface="Inte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1" name="Shape 291"/>
        <p:cNvGrpSpPr/>
        <p:nvPr/>
      </p:nvGrpSpPr>
      <p:grpSpPr>
        <a:xfrm>
          <a:off x="0" y="0"/>
          <a:ext cx="0" cy="0"/>
          <a:chOff x="0" y="0"/>
          <a:chExt cx="0" cy="0"/>
        </a:xfrm>
      </p:grpSpPr>
      <p:grpSp>
        <p:nvGrpSpPr>
          <p:cNvPr id="292" name="Google Shape;292;p20"/>
          <p:cNvGrpSpPr/>
          <p:nvPr/>
        </p:nvGrpSpPr>
        <p:grpSpPr>
          <a:xfrm>
            <a:off x="8625" y="0"/>
            <a:ext cx="9144000" cy="267600"/>
            <a:chOff x="8625" y="0"/>
            <a:chExt cx="9144000" cy="267600"/>
          </a:xfrm>
        </p:grpSpPr>
        <p:sp>
          <p:nvSpPr>
            <p:cNvPr id="293" name="Google Shape;293;p20"/>
            <p:cNvSpPr/>
            <p:nvPr/>
          </p:nvSpPr>
          <p:spPr>
            <a:xfrm>
              <a:off x="8625" y="0"/>
              <a:ext cx="9144000" cy="2676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294" name="Google Shape;294;p20" title="Logo Header.png"/>
            <p:cNvPicPr preferRelativeResize="0"/>
            <p:nvPr/>
          </p:nvPicPr>
          <p:blipFill rotWithShape="1">
            <a:blip r:embed="rId3">
              <a:alphaModFix/>
            </a:blip>
            <a:srcRect b="0" l="0" r="0" t="0"/>
            <a:stretch/>
          </p:blipFill>
          <p:spPr>
            <a:xfrm>
              <a:off x="8348195" y="15790"/>
              <a:ext cx="634775" cy="199625"/>
            </a:xfrm>
            <a:prstGeom prst="rect">
              <a:avLst/>
            </a:prstGeom>
            <a:noFill/>
            <a:ln>
              <a:noFill/>
            </a:ln>
          </p:spPr>
        </p:pic>
      </p:grpSp>
      <p:sp>
        <p:nvSpPr>
          <p:cNvPr id="295" name="Google Shape;295;p20"/>
          <p:cNvSpPr txBox="1"/>
          <p:nvPr>
            <p:ph idx="1" type="subTitle"/>
          </p:nvPr>
        </p:nvSpPr>
        <p:spPr>
          <a:xfrm>
            <a:off x="269350" y="449138"/>
            <a:ext cx="8408700" cy="75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2800"/>
              <a:buNone/>
            </a:pPr>
            <a:r>
              <a:rPr b="1" lang="en" sz="2200">
                <a:solidFill>
                  <a:schemeClr val="dk1"/>
                </a:solidFill>
                <a:latin typeface="Roboto"/>
                <a:ea typeface="Roboto"/>
                <a:cs typeface="Roboto"/>
                <a:sym typeface="Roboto"/>
              </a:rPr>
              <a:t>Data Visualization (Exploratory Data Analysis - EDA)</a:t>
            </a:r>
            <a:endParaRPr i="1" sz="2200">
              <a:solidFill>
                <a:schemeClr val="dk1"/>
              </a:solidFill>
              <a:latin typeface="Roboto"/>
              <a:ea typeface="Roboto"/>
              <a:cs typeface="Roboto"/>
              <a:sym typeface="Roboto"/>
            </a:endParaRPr>
          </a:p>
        </p:txBody>
      </p:sp>
      <p:sp>
        <p:nvSpPr>
          <p:cNvPr id="296" name="Google Shape;296;p20"/>
          <p:cNvSpPr txBox="1"/>
          <p:nvPr/>
        </p:nvSpPr>
        <p:spPr>
          <a:xfrm>
            <a:off x="470875" y="1385475"/>
            <a:ext cx="4222800" cy="3241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lang="en" sz="1800">
                <a:solidFill>
                  <a:schemeClr val="dk1"/>
                </a:solidFill>
                <a:latin typeface="Inter"/>
                <a:ea typeface="Inter"/>
                <a:cs typeface="Inter"/>
                <a:sym typeface="Inter"/>
              </a:rPr>
              <a:t>An initial stage in data science problem solving, EDA visually explores the data to:</a:t>
            </a:r>
            <a:endParaRPr sz="1800">
              <a:solidFill>
                <a:schemeClr val="dk1"/>
              </a:solidFill>
              <a:latin typeface="Inter"/>
              <a:ea typeface="Inter"/>
              <a:cs typeface="Inter"/>
              <a:sym typeface="Inter"/>
            </a:endParaRPr>
          </a:p>
          <a:p>
            <a:pPr indent="0" lvl="0" marL="0" marR="0" rtl="0" algn="l">
              <a:lnSpc>
                <a:spcPct val="100000"/>
              </a:lnSpc>
              <a:spcBef>
                <a:spcPts val="0"/>
              </a:spcBef>
              <a:spcAft>
                <a:spcPts val="0"/>
              </a:spcAft>
              <a:buClr>
                <a:srgbClr val="000000"/>
              </a:buClr>
              <a:buSzPts val="1800"/>
              <a:buFont typeface="Arial"/>
              <a:buNone/>
            </a:pPr>
            <a:r>
              <a:t/>
            </a:r>
            <a:endParaRPr sz="1800">
              <a:solidFill>
                <a:schemeClr val="dk1"/>
              </a:solidFill>
              <a:latin typeface="Inter"/>
              <a:ea typeface="Inter"/>
              <a:cs typeface="Inter"/>
              <a:sym typeface="Inter"/>
            </a:endParaRPr>
          </a:p>
          <a:p>
            <a:pPr indent="-342900" lvl="0" marL="457200" marR="0" rtl="0" algn="l">
              <a:lnSpc>
                <a:spcPct val="100000"/>
              </a:lnSpc>
              <a:spcBef>
                <a:spcPts val="0"/>
              </a:spcBef>
              <a:spcAft>
                <a:spcPts val="0"/>
              </a:spcAft>
              <a:buClr>
                <a:schemeClr val="dk1"/>
              </a:buClr>
              <a:buSzPts val="1800"/>
              <a:buFont typeface="Inter"/>
              <a:buChar char="-"/>
            </a:pPr>
            <a:r>
              <a:rPr lang="en" sz="1800">
                <a:solidFill>
                  <a:schemeClr val="dk1"/>
                </a:solidFill>
                <a:latin typeface="Inter"/>
                <a:ea typeface="Inter"/>
                <a:cs typeface="Inter"/>
                <a:sym typeface="Inter"/>
              </a:rPr>
              <a:t>Understand the composition, range, and complexity of large datasets</a:t>
            </a:r>
            <a:endParaRPr sz="1800">
              <a:solidFill>
                <a:schemeClr val="dk1"/>
              </a:solidFill>
              <a:latin typeface="Inter"/>
              <a:ea typeface="Inter"/>
              <a:cs typeface="Inter"/>
              <a:sym typeface="Inter"/>
            </a:endParaRPr>
          </a:p>
          <a:p>
            <a:pPr indent="0" lvl="0" marL="0" marR="0" rtl="0" algn="l">
              <a:lnSpc>
                <a:spcPct val="100000"/>
              </a:lnSpc>
              <a:spcBef>
                <a:spcPts val="0"/>
              </a:spcBef>
              <a:spcAft>
                <a:spcPts val="0"/>
              </a:spcAft>
              <a:buClr>
                <a:srgbClr val="000000"/>
              </a:buClr>
              <a:buSzPts val="1800"/>
              <a:buFont typeface="Arial"/>
              <a:buNone/>
            </a:pPr>
            <a:r>
              <a:t/>
            </a:r>
            <a:endParaRPr sz="1800">
              <a:solidFill>
                <a:schemeClr val="dk1"/>
              </a:solidFill>
              <a:latin typeface="Inter"/>
              <a:ea typeface="Inter"/>
              <a:cs typeface="Inter"/>
              <a:sym typeface="Inter"/>
            </a:endParaRPr>
          </a:p>
          <a:p>
            <a:pPr indent="-342900" lvl="0" marL="457200" marR="0" rtl="0" algn="l">
              <a:lnSpc>
                <a:spcPct val="100000"/>
              </a:lnSpc>
              <a:spcBef>
                <a:spcPts val="0"/>
              </a:spcBef>
              <a:spcAft>
                <a:spcPts val="0"/>
              </a:spcAft>
              <a:buClr>
                <a:schemeClr val="dk1"/>
              </a:buClr>
              <a:buSzPts val="1800"/>
              <a:buFont typeface="Inter"/>
              <a:buChar char="-"/>
            </a:pPr>
            <a:r>
              <a:rPr lang="en" sz="1800">
                <a:solidFill>
                  <a:schemeClr val="dk1"/>
                </a:solidFill>
                <a:latin typeface="Inter"/>
                <a:ea typeface="Inter"/>
                <a:cs typeface="Inter"/>
                <a:sym typeface="Inter"/>
              </a:rPr>
              <a:t>Guide development of research questions, make decisions, find patterns, and/or tell a story</a:t>
            </a:r>
            <a:endParaRPr sz="1800">
              <a:solidFill>
                <a:schemeClr val="dk1"/>
              </a:solidFill>
              <a:latin typeface="Inter"/>
              <a:ea typeface="Inter"/>
              <a:cs typeface="Inter"/>
              <a:sym typeface="Inter"/>
            </a:endParaRPr>
          </a:p>
        </p:txBody>
      </p:sp>
      <p:pic>
        <p:nvPicPr>
          <p:cNvPr id="297" name="Google Shape;297;p20"/>
          <p:cNvPicPr preferRelativeResize="0"/>
          <p:nvPr/>
        </p:nvPicPr>
        <p:blipFill rotWithShape="1">
          <a:blip r:embed="rId4">
            <a:alphaModFix/>
          </a:blip>
          <a:srcRect b="14148" l="0" r="0" t="11778"/>
          <a:stretch/>
        </p:blipFill>
        <p:spPr>
          <a:xfrm>
            <a:off x="4693800" y="1558650"/>
            <a:ext cx="3287525" cy="243535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1" name="Shape 301"/>
        <p:cNvGrpSpPr/>
        <p:nvPr/>
      </p:nvGrpSpPr>
      <p:grpSpPr>
        <a:xfrm>
          <a:off x="0" y="0"/>
          <a:ext cx="0" cy="0"/>
          <a:chOff x="0" y="0"/>
          <a:chExt cx="0" cy="0"/>
        </a:xfrm>
      </p:grpSpPr>
      <p:grpSp>
        <p:nvGrpSpPr>
          <p:cNvPr id="302" name="Google Shape;302;g3d855c145fb_0_28"/>
          <p:cNvGrpSpPr/>
          <p:nvPr/>
        </p:nvGrpSpPr>
        <p:grpSpPr>
          <a:xfrm>
            <a:off x="8625" y="0"/>
            <a:ext cx="9144000" cy="267600"/>
            <a:chOff x="8625" y="0"/>
            <a:chExt cx="9144000" cy="267600"/>
          </a:xfrm>
        </p:grpSpPr>
        <p:sp>
          <p:nvSpPr>
            <p:cNvPr id="303" name="Google Shape;303;g3d855c145fb_0_28"/>
            <p:cNvSpPr/>
            <p:nvPr/>
          </p:nvSpPr>
          <p:spPr>
            <a:xfrm>
              <a:off x="8625" y="0"/>
              <a:ext cx="9144000" cy="2676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304" name="Google Shape;304;g3d855c145fb_0_28" title="Logo Header.png"/>
            <p:cNvPicPr preferRelativeResize="0"/>
            <p:nvPr/>
          </p:nvPicPr>
          <p:blipFill rotWithShape="1">
            <a:blip r:embed="rId3">
              <a:alphaModFix/>
            </a:blip>
            <a:srcRect b="0" l="0" r="0" t="0"/>
            <a:stretch/>
          </p:blipFill>
          <p:spPr>
            <a:xfrm>
              <a:off x="8348195" y="15790"/>
              <a:ext cx="634775" cy="199625"/>
            </a:xfrm>
            <a:prstGeom prst="rect">
              <a:avLst/>
            </a:prstGeom>
            <a:noFill/>
            <a:ln>
              <a:noFill/>
            </a:ln>
          </p:spPr>
        </p:pic>
      </p:grpSp>
      <p:sp>
        <p:nvSpPr>
          <p:cNvPr id="305" name="Google Shape;305;g3d855c145fb_0_28"/>
          <p:cNvSpPr txBox="1"/>
          <p:nvPr>
            <p:ph idx="1" type="subTitle"/>
          </p:nvPr>
        </p:nvSpPr>
        <p:spPr>
          <a:xfrm>
            <a:off x="269350" y="449138"/>
            <a:ext cx="8408700" cy="75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2800"/>
              <a:buNone/>
            </a:pPr>
            <a:r>
              <a:rPr b="1" lang="en" sz="2200">
                <a:solidFill>
                  <a:schemeClr val="dk1"/>
                </a:solidFill>
                <a:latin typeface="Roboto"/>
                <a:ea typeface="Roboto"/>
                <a:cs typeface="Roboto"/>
                <a:sym typeface="Roboto"/>
              </a:rPr>
              <a:t>What We Can Learn from EDA</a:t>
            </a:r>
            <a:endParaRPr i="1" sz="2200">
              <a:solidFill>
                <a:schemeClr val="dk1"/>
              </a:solidFill>
              <a:latin typeface="Roboto"/>
              <a:ea typeface="Roboto"/>
              <a:cs typeface="Roboto"/>
              <a:sym typeface="Roboto"/>
            </a:endParaRPr>
          </a:p>
        </p:txBody>
      </p:sp>
      <p:sp>
        <p:nvSpPr>
          <p:cNvPr id="306" name="Google Shape;306;g3d855c145fb_0_28"/>
          <p:cNvSpPr txBox="1"/>
          <p:nvPr/>
        </p:nvSpPr>
        <p:spPr>
          <a:xfrm>
            <a:off x="269350" y="1143975"/>
            <a:ext cx="4868700" cy="3587100"/>
          </a:xfrm>
          <a:prstGeom prst="rect">
            <a:avLst/>
          </a:prstGeom>
          <a:noFill/>
          <a:ln>
            <a:noFill/>
          </a:ln>
        </p:spPr>
        <p:txBody>
          <a:bodyPr anchorCtr="0" anchor="t" bIns="91425" lIns="91425" spcFirstLastPara="1" rIns="91425" wrap="square" tIns="91425">
            <a:noAutofit/>
          </a:bodyPr>
          <a:lstStyle/>
          <a:p>
            <a:pPr indent="-336550" lvl="0" marL="457200" marR="0" rtl="0" algn="l">
              <a:lnSpc>
                <a:spcPct val="100000"/>
              </a:lnSpc>
              <a:spcBef>
                <a:spcPts val="0"/>
              </a:spcBef>
              <a:spcAft>
                <a:spcPts val="0"/>
              </a:spcAft>
              <a:buClr>
                <a:schemeClr val="dk1"/>
              </a:buClr>
              <a:buSzPts val="1700"/>
              <a:buFont typeface="Inter"/>
              <a:buChar char="-"/>
            </a:pPr>
            <a:r>
              <a:rPr lang="en" sz="1700">
                <a:solidFill>
                  <a:schemeClr val="dk1"/>
                </a:solidFill>
                <a:latin typeface="Inter"/>
                <a:ea typeface="Inter"/>
                <a:cs typeface="Inter"/>
                <a:sym typeface="Inter"/>
              </a:rPr>
              <a:t>Numeric: range and central tendency of each variable (scatter plot, line charts, histogram, boxplot)</a:t>
            </a:r>
            <a:endParaRPr sz="1700">
              <a:solidFill>
                <a:schemeClr val="dk1"/>
              </a:solidFill>
              <a:latin typeface="Inter"/>
              <a:ea typeface="Inter"/>
              <a:cs typeface="Inter"/>
              <a:sym typeface="Inter"/>
            </a:endParaRPr>
          </a:p>
          <a:p>
            <a:pPr indent="-336550" lvl="0" marL="457200" marR="0" rtl="0" algn="l">
              <a:lnSpc>
                <a:spcPct val="100000"/>
              </a:lnSpc>
              <a:spcBef>
                <a:spcPts val="0"/>
              </a:spcBef>
              <a:spcAft>
                <a:spcPts val="0"/>
              </a:spcAft>
              <a:buClr>
                <a:schemeClr val="dk1"/>
              </a:buClr>
              <a:buSzPts val="1700"/>
              <a:buFont typeface="Inter"/>
              <a:buChar char="-"/>
            </a:pPr>
            <a:r>
              <a:rPr lang="en" sz="1700">
                <a:solidFill>
                  <a:schemeClr val="dk1"/>
                </a:solidFill>
                <a:latin typeface="Inter"/>
                <a:ea typeface="Inter"/>
                <a:cs typeface="Inter"/>
                <a:sym typeface="Inter"/>
              </a:rPr>
              <a:t>Categorical: distribution and count of each </a:t>
            </a:r>
            <a:r>
              <a:rPr lang="en" sz="1700">
                <a:solidFill>
                  <a:schemeClr val="dk1"/>
                </a:solidFill>
                <a:latin typeface="Inter"/>
                <a:ea typeface="Inter"/>
                <a:cs typeface="Inter"/>
                <a:sym typeface="Inter"/>
              </a:rPr>
              <a:t>variable, class imbalance (bar plot)</a:t>
            </a:r>
            <a:endParaRPr sz="1700">
              <a:solidFill>
                <a:schemeClr val="dk1"/>
              </a:solidFill>
              <a:latin typeface="Inter"/>
              <a:ea typeface="Inter"/>
              <a:cs typeface="Inter"/>
              <a:sym typeface="Inter"/>
            </a:endParaRPr>
          </a:p>
          <a:p>
            <a:pPr indent="-336550" lvl="0" marL="457200" marR="0" rtl="0" algn="l">
              <a:lnSpc>
                <a:spcPct val="100000"/>
              </a:lnSpc>
              <a:spcBef>
                <a:spcPts val="0"/>
              </a:spcBef>
              <a:spcAft>
                <a:spcPts val="0"/>
              </a:spcAft>
              <a:buClr>
                <a:schemeClr val="dk1"/>
              </a:buClr>
              <a:buSzPts val="1700"/>
              <a:buFont typeface="Inter"/>
              <a:buChar char="-"/>
            </a:pPr>
            <a:r>
              <a:rPr lang="en" sz="1700">
                <a:solidFill>
                  <a:schemeClr val="dk1"/>
                </a:solidFill>
                <a:latin typeface="Inter"/>
                <a:ea typeface="Inter"/>
                <a:cs typeface="Inter"/>
                <a:sym typeface="Inter"/>
              </a:rPr>
              <a:t>Correlations between variables (heat map)</a:t>
            </a:r>
            <a:endParaRPr sz="1700">
              <a:solidFill>
                <a:schemeClr val="dk1"/>
              </a:solidFill>
              <a:latin typeface="Inter"/>
              <a:ea typeface="Inter"/>
              <a:cs typeface="Inter"/>
              <a:sym typeface="Inter"/>
            </a:endParaRPr>
          </a:p>
          <a:p>
            <a:pPr indent="-336550" lvl="0" marL="457200" marR="0" rtl="0" algn="l">
              <a:lnSpc>
                <a:spcPct val="100000"/>
              </a:lnSpc>
              <a:spcBef>
                <a:spcPts val="0"/>
              </a:spcBef>
              <a:spcAft>
                <a:spcPts val="0"/>
              </a:spcAft>
              <a:buClr>
                <a:schemeClr val="dk1"/>
              </a:buClr>
              <a:buSzPts val="1700"/>
              <a:buFont typeface="Inter"/>
              <a:buChar char="-"/>
            </a:pPr>
            <a:r>
              <a:rPr lang="en" sz="1700">
                <a:solidFill>
                  <a:schemeClr val="dk1"/>
                </a:solidFill>
                <a:latin typeface="Inter"/>
                <a:ea typeface="Inter"/>
                <a:cs typeface="Inter"/>
                <a:sym typeface="Inter"/>
              </a:rPr>
              <a:t>Anomalies</a:t>
            </a:r>
            <a:r>
              <a:rPr lang="en" sz="1700">
                <a:solidFill>
                  <a:schemeClr val="dk1"/>
                </a:solidFill>
                <a:latin typeface="Inter"/>
                <a:ea typeface="Inter"/>
                <a:cs typeface="Inter"/>
                <a:sym typeface="Inter"/>
              </a:rPr>
              <a:t> and outliers (boxplot, violin plot)</a:t>
            </a:r>
            <a:endParaRPr sz="1700">
              <a:solidFill>
                <a:schemeClr val="dk1"/>
              </a:solidFill>
              <a:latin typeface="Inter"/>
              <a:ea typeface="Inter"/>
              <a:cs typeface="Inter"/>
              <a:sym typeface="Inter"/>
            </a:endParaRPr>
          </a:p>
          <a:p>
            <a:pPr indent="-336550" lvl="0" marL="457200" marR="0" rtl="0" algn="l">
              <a:lnSpc>
                <a:spcPct val="100000"/>
              </a:lnSpc>
              <a:spcBef>
                <a:spcPts val="0"/>
              </a:spcBef>
              <a:spcAft>
                <a:spcPts val="0"/>
              </a:spcAft>
              <a:buClr>
                <a:schemeClr val="dk1"/>
              </a:buClr>
              <a:buSzPts val="1700"/>
              <a:buFont typeface="Inter"/>
              <a:buChar char="-"/>
            </a:pPr>
            <a:r>
              <a:rPr lang="en" sz="1700">
                <a:solidFill>
                  <a:schemeClr val="dk1"/>
                </a:solidFill>
                <a:latin typeface="Inter"/>
                <a:ea typeface="Inter"/>
                <a:cs typeface="Inter"/>
                <a:sym typeface="Inter"/>
              </a:rPr>
              <a:t>Missing values</a:t>
            </a:r>
            <a:endParaRPr sz="1700">
              <a:solidFill>
                <a:schemeClr val="dk1"/>
              </a:solidFill>
              <a:latin typeface="Inter"/>
              <a:ea typeface="Inter"/>
              <a:cs typeface="Inter"/>
              <a:sym typeface="Inter"/>
            </a:endParaRPr>
          </a:p>
          <a:p>
            <a:pPr indent="0" lvl="0" marL="457200" marR="0" rtl="0" algn="l">
              <a:lnSpc>
                <a:spcPct val="100000"/>
              </a:lnSpc>
              <a:spcBef>
                <a:spcPts val="0"/>
              </a:spcBef>
              <a:spcAft>
                <a:spcPts val="0"/>
              </a:spcAft>
              <a:buNone/>
            </a:pPr>
            <a:r>
              <a:t/>
            </a:r>
            <a:endParaRPr sz="1700">
              <a:solidFill>
                <a:schemeClr val="dk1"/>
              </a:solidFill>
              <a:latin typeface="Inter"/>
              <a:ea typeface="Inter"/>
              <a:cs typeface="Inter"/>
              <a:sym typeface="Inter"/>
            </a:endParaRPr>
          </a:p>
          <a:p>
            <a:pPr indent="0" lvl="0" marL="457200" marR="0" rtl="0" algn="l">
              <a:lnSpc>
                <a:spcPct val="100000"/>
              </a:lnSpc>
              <a:spcBef>
                <a:spcPts val="0"/>
              </a:spcBef>
              <a:spcAft>
                <a:spcPts val="0"/>
              </a:spcAft>
              <a:buNone/>
            </a:pPr>
            <a:r>
              <a:rPr lang="en" sz="1700">
                <a:solidFill>
                  <a:schemeClr val="dk1"/>
                </a:solidFill>
                <a:latin typeface="Inter"/>
                <a:ea typeface="Inter"/>
                <a:cs typeface="Inter"/>
                <a:sym typeface="Inter"/>
              </a:rPr>
              <a:t>From this </a:t>
            </a:r>
            <a:r>
              <a:rPr lang="en" sz="1700">
                <a:solidFill>
                  <a:schemeClr val="dk1"/>
                </a:solidFill>
                <a:latin typeface="Inter"/>
                <a:ea typeface="Inter"/>
                <a:cs typeface="Inter"/>
                <a:sym typeface="Inter"/>
              </a:rPr>
              <a:t>information</a:t>
            </a:r>
            <a:r>
              <a:rPr lang="en" sz="1700">
                <a:solidFill>
                  <a:schemeClr val="dk1"/>
                </a:solidFill>
                <a:latin typeface="Inter"/>
                <a:ea typeface="Inter"/>
                <a:cs typeface="Inter"/>
                <a:sym typeface="Inter"/>
              </a:rPr>
              <a:t> we can generate </a:t>
            </a:r>
            <a:r>
              <a:rPr b="1" lang="en" sz="1700">
                <a:solidFill>
                  <a:schemeClr val="dk1"/>
                </a:solidFill>
                <a:latin typeface="Inter"/>
                <a:ea typeface="Inter"/>
                <a:cs typeface="Inter"/>
                <a:sym typeface="Inter"/>
              </a:rPr>
              <a:t>hypotheses</a:t>
            </a:r>
            <a:r>
              <a:rPr lang="en" sz="1700">
                <a:solidFill>
                  <a:schemeClr val="dk1"/>
                </a:solidFill>
                <a:latin typeface="Inter"/>
                <a:ea typeface="Inter"/>
                <a:cs typeface="Inter"/>
                <a:sym typeface="Inter"/>
              </a:rPr>
              <a:t>!</a:t>
            </a:r>
            <a:endParaRPr sz="1700">
              <a:solidFill>
                <a:schemeClr val="dk1"/>
              </a:solidFill>
              <a:latin typeface="Inter"/>
              <a:ea typeface="Inter"/>
              <a:cs typeface="Inter"/>
              <a:sym typeface="Inter"/>
            </a:endParaRPr>
          </a:p>
        </p:txBody>
      </p:sp>
      <p:pic>
        <p:nvPicPr>
          <p:cNvPr id="307" name="Google Shape;307;g3d855c145fb_0_28"/>
          <p:cNvPicPr preferRelativeResize="0"/>
          <p:nvPr/>
        </p:nvPicPr>
        <p:blipFill>
          <a:blip r:embed="rId4">
            <a:alphaModFix/>
          </a:blip>
          <a:stretch>
            <a:fillRect/>
          </a:stretch>
        </p:blipFill>
        <p:spPr>
          <a:xfrm>
            <a:off x="5200900" y="1562577"/>
            <a:ext cx="3676400" cy="2504447"/>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1" name="Shape 311"/>
        <p:cNvGrpSpPr/>
        <p:nvPr/>
      </p:nvGrpSpPr>
      <p:grpSpPr>
        <a:xfrm>
          <a:off x="0" y="0"/>
          <a:ext cx="0" cy="0"/>
          <a:chOff x="0" y="0"/>
          <a:chExt cx="0" cy="0"/>
        </a:xfrm>
      </p:grpSpPr>
      <p:sp>
        <p:nvSpPr>
          <p:cNvPr id="312" name="Google Shape;312;p19"/>
          <p:cNvSpPr/>
          <p:nvPr/>
        </p:nvSpPr>
        <p:spPr>
          <a:xfrm>
            <a:off x="5372825" y="704800"/>
            <a:ext cx="2572200" cy="1752300"/>
          </a:xfrm>
          <a:prstGeom prst="roundRect">
            <a:avLst>
              <a:gd fmla="val 16667" name="adj"/>
            </a:avLst>
          </a:prstGeom>
          <a:solidFill>
            <a:srgbClr val="D4E4D1"/>
          </a:solidFill>
          <a:ln>
            <a:noFill/>
          </a:ln>
        </p:spPr>
        <p:txBody>
          <a:bodyPr anchorCtr="0" anchor="ctr" bIns="91425" lIns="91425" spcFirstLastPara="1" rIns="91425" wrap="square" tIns="91425">
            <a:noAutofit/>
          </a:bodyPr>
          <a:lstStyle/>
          <a:p>
            <a:pPr indent="0" lvl="0" marL="2743200" marR="0" rtl="0" algn="ctr">
              <a:lnSpc>
                <a:spcPct val="100000"/>
              </a:lnSpc>
              <a:spcBef>
                <a:spcPts val="0"/>
              </a:spcBef>
              <a:spcAft>
                <a:spcPts val="0"/>
              </a:spcAft>
              <a:buClr>
                <a:srgbClr val="000000"/>
              </a:buClr>
              <a:buSzPts val="1400"/>
              <a:buFont typeface="Arial"/>
              <a:buNone/>
            </a:pPr>
            <a:r>
              <a:t/>
            </a:r>
            <a:endParaRPr i="0" sz="1400" u="none" cap="none" strike="noStrike">
              <a:solidFill>
                <a:srgbClr val="000000"/>
              </a:solidFill>
              <a:latin typeface="Inter"/>
              <a:ea typeface="Inter"/>
              <a:cs typeface="Inter"/>
              <a:sym typeface="Inter"/>
            </a:endParaRPr>
          </a:p>
        </p:txBody>
      </p:sp>
      <p:sp>
        <p:nvSpPr>
          <p:cNvPr id="313" name="Google Shape;313;p19"/>
          <p:cNvSpPr/>
          <p:nvPr/>
        </p:nvSpPr>
        <p:spPr>
          <a:xfrm>
            <a:off x="319975" y="2571750"/>
            <a:ext cx="2443800" cy="2279700"/>
          </a:xfrm>
          <a:prstGeom prst="roundRect">
            <a:avLst>
              <a:gd fmla="val 16667" name="adj"/>
            </a:avLst>
          </a:prstGeom>
          <a:solidFill>
            <a:srgbClr val="D4E4D1"/>
          </a:solidFill>
          <a:ln>
            <a:noFill/>
          </a:ln>
        </p:spPr>
        <p:txBody>
          <a:bodyPr anchorCtr="0" anchor="ctr" bIns="91425" lIns="91425" spcFirstLastPara="1" rIns="91425" wrap="square" tIns="91425">
            <a:noAutofit/>
          </a:bodyPr>
          <a:lstStyle/>
          <a:p>
            <a:pPr indent="0" lvl="0" marL="2743200" marR="0" rtl="0" algn="ctr">
              <a:lnSpc>
                <a:spcPct val="100000"/>
              </a:lnSpc>
              <a:spcBef>
                <a:spcPts val="0"/>
              </a:spcBef>
              <a:spcAft>
                <a:spcPts val="0"/>
              </a:spcAft>
              <a:buClr>
                <a:srgbClr val="000000"/>
              </a:buClr>
              <a:buSzPts val="1400"/>
              <a:buFont typeface="Arial"/>
              <a:buNone/>
            </a:pPr>
            <a:r>
              <a:t/>
            </a:r>
            <a:endParaRPr i="0" sz="1400" u="none" cap="none" strike="noStrike">
              <a:solidFill>
                <a:srgbClr val="000000"/>
              </a:solidFill>
              <a:latin typeface="Inter"/>
              <a:ea typeface="Inter"/>
              <a:cs typeface="Inter"/>
              <a:sym typeface="Inter"/>
            </a:endParaRPr>
          </a:p>
        </p:txBody>
      </p:sp>
      <p:sp>
        <p:nvSpPr>
          <p:cNvPr id="314" name="Google Shape;314;p19"/>
          <p:cNvSpPr/>
          <p:nvPr/>
        </p:nvSpPr>
        <p:spPr>
          <a:xfrm>
            <a:off x="2846400" y="704800"/>
            <a:ext cx="2443800" cy="1752300"/>
          </a:xfrm>
          <a:prstGeom prst="roundRect">
            <a:avLst>
              <a:gd fmla="val 16667" name="adj"/>
            </a:avLst>
          </a:prstGeom>
          <a:solidFill>
            <a:srgbClr val="D4E4D1"/>
          </a:solidFill>
          <a:ln>
            <a:noFill/>
          </a:ln>
        </p:spPr>
        <p:txBody>
          <a:bodyPr anchorCtr="0" anchor="ctr" bIns="91425" lIns="91425" spcFirstLastPara="1" rIns="91425" wrap="square" tIns="91425">
            <a:noAutofit/>
          </a:bodyPr>
          <a:lstStyle/>
          <a:p>
            <a:pPr indent="0" lvl="0" marL="2743200" marR="0" rtl="0" algn="ctr">
              <a:lnSpc>
                <a:spcPct val="100000"/>
              </a:lnSpc>
              <a:spcBef>
                <a:spcPts val="0"/>
              </a:spcBef>
              <a:spcAft>
                <a:spcPts val="0"/>
              </a:spcAft>
              <a:buClr>
                <a:srgbClr val="000000"/>
              </a:buClr>
              <a:buSzPts val="1400"/>
              <a:buFont typeface="Arial"/>
              <a:buNone/>
            </a:pPr>
            <a:r>
              <a:t/>
            </a:r>
            <a:endParaRPr i="0" sz="1400" u="none" cap="none" strike="noStrike">
              <a:solidFill>
                <a:srgbClr val="000000"/>
              </a:solidFill>
              <a:latin typeface="Inter"/>
              <a:ea typeface="Inter"/>
              <a:cs typeface="Inter"/>
              <a:sym typeface="Inter"/>
            </a:endParaRPr>
          </a:p>
        </p:txBody>
      </p:sp>
      <p:sp>
        <p:nvSpPr>
          <p:cNvPr id="315" name="Google Shape;315;p19"/>
          <p:cNvSpPr/>
          <p:nvPr/>
        </p:nvSpPr>
        <p:spPr>
          <a:xfrm>
            <a:off x="319975" y="701800"/>
            <a:ext cx="2443800" cy="1752300"/>
          </a:xfrm>
          <a:prstGeom prst="roundRect">
            <a:avLst>
              <a:gd fmla="val 16667" name="adj"/>
            </a:avLst>
          </a:prstGeom>
          <a:solidFill>
            <a:srgbClr val="D4E4D1"/>
          </a:solidFill>
          <a:ln>
            <a:noFill/>
          </a:ln>
        </p:spPr>
        <p:txBody>
          <a:bodyPr anchorCtr="0" anchor="ctr" bIns="91425" lIns="91425" spcFirstLastPara="1" rIns="91425" wrap="square" tIns="91425">
            <a:noAutofit/>
          </a:bodyPr>
          <a:lstStyle/>
          <a:p>
            <a:pPr indent="0" lvl="0" marL="2743200" marR="0" rtl="0" algn="ctr">
              <a:lnSpc>
                <a:spcPct val="100000"/>
              </a:lnSpc>
              <a:spcBef>
                <a:spcPts val="0"/>
              </a:spcBef>
              <a:spcAft>
                <a:spcPts val="0"/>
              </a:spcAft>
              <a:buClr>
                <a:srgbClr val="000000"/>
              </a:buClr>
              <a:buSzPts val="1400"/>
              <a:buFont typeface="Arial"/>
              <a:buNone/>
            </a:pPr>
            <a:r>
              <a:t/>
            </a:r>
            <a:endParaRPr i="0" sz="1400" u="none" cap="none" strike="noStrike">
              <a:solidFill>
                <a:srgbClr val="000000"/>
              </a:solidFill>
              <a:latin typeface="Inter"/>
              <a:ea typeface="Inter"/>
              <a:cs typeface="Inter"/>
              <a:sym typeface="Inter"/>
            </a:endParaRPr>
          </a:p>
        </p:txBody>
      </p:sp>
      <p:grpSp>
        <p:nvGrpSpPr>
          <p:cNvPr id="316" name="Google Shape;316;p19"/>
          <p:cNvGrpSpPr/>
          <p:nvPr/>
        </p:nvGrpSpPr>
        <p:grpSpPr>
          <a:xfrm>
            <a:off x="8625" y="0"/>
            <a:ext cx="9144000" cy="267600"/>
            <a:chOff x="8625" y="0"/>
            <a:chExt cx="9144000" cy="267600"/>
          </a:xfrm>
        </p:grpSpPr>
        <p:sp>
          <p:nvSpPr>
            <p:cNvPr id="317" name="Google Shape;317;p19"/>
            <p:cNvSpPr/>
            <p:nvPr/>
          </p:nvSpPr>
          <p:spPr>
            <a:xfrm>
              <a:off x="8625" y="0"/>
              <a:ext cx="9144000" cy="2676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318" name="Google Shape;318;p19" title="Logo Header.png"/>
            <p:cNvPicPr preferRelativeResize="0"/>
            <p:nvPr/>
          </p:nvPicPr>
          <p:blipFill rotWithShape="1">
            <a:blip r:embed="rId3">
              <a:alphaModFix/>
            </a:blip>
            <a:srcRect b="0" l="0" r="0" t="0"/>
            <a:stretch/>
          </p:blipFill>
          <p:spPr>
            <a:xfrm>
              <a:off x="8348195" y="15790"/>
              <a:ext cx="634775" cy="199625"/>
            </a:xfrm>
            <a:prstGeom prst="rect">
              <a:avLst/>
            </a:prstGeom>
            <a:noFill/>
            <a:ln>
              <a:noFill/>
            </a:ln>
          </p:spPr>
        </p:pic>
      </p:grpSp>
      <p:sp>
        <p:nvSpPr>
          <p:cNvPr id="319" name="Google Shape;319;p19"/>
          <p:cNvSpPr/>
          <p:nvPr/>
        </p:nvSpPr>
        <p:spPr>
          <a:xfrm>
            <a:off x="569090" y="879615"/>
            <a:ext cx="19203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1A2E"/>
              </a:buClr>
              <a:buSzPts val="1400"/>
              <a:buFont typeface="Georgia"/>
              <a:buNone/>
            </a:pPr>
            <a:r>
              <a:rPr b="1" i="0" lang="en" sz="1400" u="none" cap="none" strike="noStrike">
                <a:solidFill>
                  <a:srgbClr val="1A1A2E"/>
                </a:solidFill>
                <a:latin typeface="Inter"/>
                <a:ea typeface="Inter"/>
                <a:cs typeface="Inter"/>
                <a:sym typeface="Inter"/>
              </a:rPr>
              <a:t>1. </a:t>
            </a:r>
            <a:r>
              <a:rPr b="1" lang="en">
                <a:solidFill>
                  <a:srgbClr val="1A1A2E"/>
                </a:solidFill>
                <a:latin typeface="Inter"/>
                <a:ea typeface="Inter"/>
                <a:cs typeface="Inter"/>
                <a:sym typeface="Inter"/>
              </a:rPr>
              <a:t>Principle of Consistency</a:t>
            </a:r>
            <a:endParaRPr b="1" i="0" sz="1400" u="none" cap="none" strike="noStrike">
              <a:solidFill>
                <a:srgbClr val="000000"/>
              </a:solidFill>
              <a:latin typeface="Inter"/>
              <a:ea typeface="Inter"/>
              <a:cs typeface="Inter"/>
              <a:sym typeface="Inter"/>
            </a:endParaRPr>
          </a:p>
        </p:txBody>
      </p:sp>
      <p:sp>
        <p:nvSpPr>
          <p:cNvPr id="320" name="Google Shape;320;p19"/>
          <p:cNvSpPr/>
          <p:nvPr/>
        </p:nvSpPr>
        <p:spPr>
          <a:xfrm>
            <a:off x="592760" y="1214904"/>
            <a:ext cx="426600" cy="18300"/>
          </a:xfrm>
          <a:prstGeom prst="rect">
            <a:avLst/>
          </a:prstGeom>
          <a:solidFill>
            <a:srgbClr val="2C6E6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i="0" sz="1400" u="none" cap="none" strike="noStrike">
              <a:solidFill>
                <a:srgbClr val="000000"/>
              </a:solidFill>
              <a:latin typeface="Inter"/>
              <a:ea typeface="Inter"/>
              <a:cs typeface="Inter"/>
              <a:sym typeface="Inter"/>
            </a:endParaRPr>
          </a:p>
        </p:txBody>
      </p:sp>
      <p:sp>
        <p:nvSpPr>
          <p:cNvPr id="321" name="Google Shape;321;p19"/>
          <p:cNvSpPr/>
          <p:nvPr/>
        </p:nvSpPr>
        <p:spPr>
          <a:xfrm>
            <a:off x="5710782" y="915038"/>
            <a:ext cx="19203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1A2E"/>
              </a:buClr>
              <a:buSzPts val="1400"/>
              <a:buFont typeface="Georgia"/>
              <a:buNone/>
            </a:pPr>
            <a:r>
              <a:rPr b="1" i="0" lang="en" sz="1400" u="none" cap="none" strike="noStrike">
                <a:solidFill>
                  <a:srgbClr val="1A1A2E"/>
                </a:solidFill>
                <a:latin typeface="Inter"/>
                <a:ea typeface="Inter"/>
                <a:cs typeface="Inter"/>
                <a:sym typeface="Inter"/>
              </a:rPr>
              <a:t>3. Princ</a:t>
            </a:r>
            <a:r>
              <a:rPr b="1" lang="en">
                <a:solidFill>
                  <a:srgbClr val="1A1A2E"/>
                </a:solidFill>
                <a:latin typeface="Inter"/>
                <a:ea typeface="Inter"/>
                <a:cs typeface="Inter"/>
                <a:sym typeface="Inter"/>
              </a:rPr>
              <a:t>iple of </a:t>
            </a:r>
            <a:r>
              <a:rPr b="1" lang="en">
                <a:solidFill>
                  <a:srgbClr val="1A1A2E"/>
                </a:solidFill>
                <a:latin typeface="Inter"/>
                <a:ea typeface="Inter"/>
                <a:cs typeface="Inter"/>
                <a:sym typeface="Inter"/>
              </a:rPr>
              <a:t>Expressiveness</a:t>
            </a:r>
            <a:endParaRPr b="1" i="0" sz="1400" u="none" cap="none" strike="noStrike">
              <a:solidFill>
                <a:srgbClr val="000000"/>
              </a:solidFill>
              <a:latin typeface="Inter"/>
              <a:ea typeface="Inter"/>
              <a:cs typeface="Inter"/>
              <a:sym typeface="Inter"/>
            </a:endParaRPr>
          </a:p>
        </p:txBody>
      </p:sp>
      <p:sp>
        <p:nvSpPr>
          <p:cNvPr id="322" name="Google Shape;322;p19"/>
          <p:cNvSpPr/>
          <p:nvPr/>
        </p:nvSpPr>
        <p:spPr>
          <a:xfrm>
            <a:off x="5710787" y="1253502"/>
            <a:ext cx="426600" cy="18300"/>
          </a:xfrm>
          <a:prstGeom prst="rect">
            <a:avLst/>
          </a:prstGeom>
          <a:solidFill>
            <a:srgbClr val="2C6E6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i="0" sz="1400" u="none" cap="none" strike="noStrike">
              <a:solidFill>
                <a:srgbClr val="000000"/>
              </a:solidFill>
              <a:latin typeface="Inter"/>
              <a:ea typeface="Inter"/>
              <a:cs typeface="Inter"/>
              <a:sym typeface="Inter"/>
            </a:endParaRPr>
          </a:p>
        </p:txBody>
      </p:sp>
      <p:sp>
        <p:nvSpPr>
          <p:cNvPr id="323" name="Google Shape;323;p19"/>
          <p:cNvSpPr/>
          <p:nvPr/>
        </p:nvSpPr>
        <p:spPr>
          <a:xfrm>
            <a:off x="635235" y="2711893"/>
            <a:ext cx="19203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1A2E"/>
              </a:buClr>
              <a:buSzPts val="1400"/>
              <a:buFont typeface="Georgia"/>
              <a:buNone/>
            </a:pPr>
            <a:r>
              <a:rPr b="1" i="0" lang="en" sz="1400" u="none" cap="none" strike="noStrike">
                <a:solidFill>
                  <a:srgbClr val="1A1A2E"/>
                </a:solidFill>
                <a:latin typeface="Inter"/>
                <a:ea typeface="Inter"/>
                <a:cs typeface="Inter"/>
                <a:sym typeface="Inter"/>
              </a:rPr>
              <a:t>4. Principle of Effectiveness</a:t>
            </a:r>
            <a:endParaRPr b="1" i="0" sz="1400" u="none" cap="none" strike="noStrike">
              <a:solidFill>
                <a:srgbClr val="000000"/>
              </a:solidFill>
              <a:latin typeface="Inter"/>
              <a:ea typeface="Inter"/>
              <a:cs typeface="Inter"/>
              <a:sym typeface="Inter"/>
            </a:endParaRPr>
          </a:p>
        </p:txBody>
      </p:sp>
      <p:sp>
        <p:nvSpPr>
          <p:cNvPr id="324" name="Google Shape;324;p19"/>
          <p:cNvSpPr/>
          <p:nvPr/>
        </p:nvSpPr>
        <p:spPr>
          <a:xfrm>
            <a:off x="649087" y="3049585"/>
            <a:ext cx="426600" cy="18300"/>
          </a:xfrm>
          <a:prstGeom prst="rect">
            <a:avLst/>
          </a:prstGeom>
          <a:solidFill>
            <a:srgbClr val="2C6E6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i="0" sz="1400" u="none" cap="none" strike="noStrike">
              <a:solidFill>
                <a:srgbClr val="000000"/>
              </a:solidFill>
              <a:latin typeface="Inter"/>
              <a:ea typeface="Inter"/>
              <a:cs typeface="Inter"/>
              <a:sym typeface="Inter"/>
            </a:endParaRPr>
          </a:p>
        </p:txBody>
      </p:sp>
      <p:sp>
        <p:nvSpPr>
          <p:cNvPr id="325" name="Google Shape;325;p19"/>
          <p:cNvSpPr/>
          <p:nvPr/>
        </p:nvSpPr>
        <p:spPr>
          <a:xfrm>
            <a:off x="3108128" y="881494"/>
            <a:ext cx="19203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1A2E"/>
              </a:buClr>
              <a:buSzPts val="1400"/>
              <a:buFont typeface="Georgia"/>
              <a:buNone/>
            </a:pPr>
            <a:r>
              <a:rPr b="1" i="0" lang="en" sz="1400" u="none" cap="none" strike="noStrike">
                <a:solidFill>
                  <a:srgbClr val="1A1A2E"/>
                </a:solidFill>
                <a:latin typeface="Inter"/>
                <a:ea typeface="Inter"/>
                <a:cs typeface="Inter"/>
                <a:sym typeface="Inter"/>
              </a:rPr>
              <a:t>2. Principle of Importance </a:t>
            </a:r>
            <a:r>
              <a:rPr b="1" lang="en">
                <a:solidFill>
                  <a:srgbClr val="1A1A2E"/>
                </a:solidFill>
                <a:latin typeface="Inter"/>
                <a:ea typeface="Inter"/>
                <a:cs typeface="Inter"/>
                <a:sym typeface="Inter"/>
              </a:rPr>
              <a:t>O</a:t>
            </a:r>
            <a:r>
              <a:rPr b="1" i="0" lang="en" sz="1400" u="none" cap="none" strike="noStrike">
                <a:solidFill>
                  <a:srgbClr val="1A1A2E"/>
                </a:solidFill>
                <a:latin typeface="Inter"/>
                <a:ea typeface="Inter"/>
                <a:cs typeface="Inter"/>
                <a:sym typeface="Inter"/>
              </a:rPr>
              <a:t>rdering</a:t>
            </a:r>
            <a:endParaRPr b="1" i="0" sz="1400" u="none" cap="none" strike="noStrike">
              <a:solidFill>
                <a:srgbClr val="000000"/>
              </a:solidFill>
              <a:latin typeface="Inter"/>
              <a:ea typeface="Inter"/>
              <a:cs typeface="Inter"/>
              <a:sym typeface="Inter"/>
            </a:endParaRPr>
          </a:p>
        </p:txBody>
      </p:sp>
      <p:sp>
        <p:nvSpPr>
          <p:cNvPr id="326" name="Google Shape;326;p19"/>
          <p:cNvSpPr/>
          <p:nvPr/>
        </p:nvSpPr>
        <p:spPr>
          <a:xfrm>
            <a:off x="3114048" y="1214906"/>
            <a:ext cx="426600" cy="18300"/>
          </a:xfrm>
          <a:prstGeom prst="rect">
            <a:avLst/>
          </a:prstGeom>
          <a:solidFill>
            <a:srgbClr val="2C6E6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i="0" sz="1400" u="none" cap="none" strike="noStrike">
              <a:solidFill>
                <a:srgbClr val="000000"/>
              </a:solidFill>
              <a:latin typeface="Inter"/>
              <a:ea typeface="Inter"/>
              <a:cs typeface="Inter"/>
              <a:sym typeface="Inter"/>
            </a:endParaRPr>
          </a:p>
        </p:txBody>
      </p:sp>
      <p:sp>
        <p:nvSpPr>
          <p:cNvPr id="327" name="Google Shape;327;p19"/>
          <p:cNvSpPr txBox="1"/>
          <p:nvPr>
            <p:ph idx="4294967295" type="subTitle"/>
          </p:nvPr>
        </p:nvSpPr>
        <p:spPr>
          <a:xfrm>
            <a:off x="771784" y="3406733"/>
            <a:ext cx="8125500" cy="754800"/>
          </a:xfrm>
          <a:prstGeom prst="rect">
            <a:avLst/>
          </a:prstGeom>
          <a:noFill/>
          <a:ln>
            <a:noFill/>
          </a:ln>
        </p:spPr>
        <p:txBody>
          <a:bodyPr anchorCtr="0" anchor="t" bIns="91425" lIns="91425" spcFirstLastPara="1" rIns="91425" wrap="square" tIns="91425">
            <a:noAutofit/>
          </a:bodyPr>
          <a:lstStyle/>
          <a:p>
            <a:pPr indent="0" lvl="0" marL="0" marR="0" rtl="0" algn="r">
              <a:lnSpc>
                <a:spcPct val="115000"/>
              </a:lnSpc>
              <a:spcBef>
                <a:spcPts val="1200"/>
              </a:spcBef>
              <a:spcAft>
                <a:spcPts val="0"/>
              </a:spcAft>
              <a:buClr>
                <a:schemeClr val="dk2"/>
              </a:buClr>
              <a:buSzPts val="1800"/>
              <a:buFont typeface="Arial"/>
              <a:buNone/>
            </a:pPr>
            <a:r>
              <a:rPr b="1" lang="en" sz="3500">
                <a:solidFill>
                  <a:schemeClr val="dk1"/>
                </a:solidFill>
                <a:latin typeface="Roboto"/>
                <a:ea typeface="Roboto"/>
                <a:cs typeface="Roboto"/>
                <a:sym typeface="Roboto"/>
              </a:rPr>
              <a:t>Types of </a:t>
            </a:r>
            <a:endParaRPr b="1" sz="3500">
              <a:solidFill>
                <a:schemeClr val="dk1"/>
              </a:solidFill>
              <a:latin typeface="Roboto"/>
              <a:ea typeface="Roboto"/>
              <a:cs typeface="Roboto"/>
              <a:sym typeface="Roboto"/>
            </a:endParaRPr>
          </a:p>
          <a:p>
            <a:pPr indent="0" lvl="0" marL="0" marR="0" rtl="0" algn="r">
              <a:lnSpc>
                <a:spcPct val="115000"/>
              </a:lnSpc>
              <a:spcBef>
                <a:spcPts val="1200"/>
              </a:spcBef>
              <a:spcAft>
                <a:spcPts val="1200"/>
              </a:spcAft>
              <a:buClr>
                <a:schemeClr val="dk2"/>
              </a:buClr>
              <a:buSzPts val="1800"/>
              <a:buFont typeface="Arial"/>
              <a:buNone/>
            </a:pPr>
            <a:r>
              <a:rPr b="1" lang="en" sz="3500">
                <a:solidFill>
                  <a:schemeClr val="dk1"/>
                </a:solidFill>
                <a:latin typeface="Roboto"/>
                <a:ea typeface="Roboto"/>
                <a:cs typeface="Roboto"/>
                <a:sym typeface="Roboto"/>
              </a:rPr>
              <a:t>Visual Encoding</a:t>
            </a:r>
            <a:endParaRPr b="1" i="1" sz="3500" u="none" cap="none" strike="noStrike">
              <a:solidFill>
                <a:schemeClr val="dk1"/>
              </a:solidFill>
              <a:latin typeface="Roboto"/>
              <a:ea typeface="Roboto"/>
              <a:cs typeface="Roboto"/>
              <a:sym typeface="Roboto"/>
            </a:endParaRPr>
          </a:p>
        </p:txBody>
      </p:sp>
      <p:sp>
        <p:nvSpPr>
          <p:cNvPr id="328" name="Google Shape;328;p19"/>
          <p:cNvSpPr txBox="1"/>
          <p:nvPr/>
        </p:nvSpPr>
        <p:spPr>
          <a:xfrm>
            <a:off x="520700" y="1257300"/>
            <a:ext cx="2034900" cy="1003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300">
                <a:solidFill>
                  <a:schemeClr val="dk2"/>
                </a:solidFill>
                <a:latin typeface="Inter"/>
                <a:ea typeface="Inter"/>
                <a:cs typeface="Inter"/>
                <a:sym typeface="Inter"/>
              </a:rPr>
              <a:t>Visual attributes should match data attributes. Use only one dimension to represent linear data.</a:t>
            </a:r>
            <a:endParaRPr sz="1300">
              <a:solidFill>
                <a:schemeClr val="dk2"/>
              </a:solidFill>
              <a:latin typeface="Inter"/>
              <a:ea typeface="Inter"/>
              <a:cs typeface="Inter"/>
              <a:sym typeface="Inter"/>
            </a:endParaRPr>
          </a:p>
        </p:txBody>
      </p:sp>
      <p:sp>
        <p:nvSpPr>
          <p:cNvPr id="329" name="Google Shape;329;p19"/>
          <p:cNvSpPr txBox="1"/>
          <p:nvPr/>
        </p:nvSpPr>
        <p:spPr>
          <a:xfrm>
            <a:off x="3029075" y="1199584"/>
            <a:ext cx="2002800" cy="901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300">
                <a:solidFill>
                  <a:schemeClr val="dk2"/>
                </a:solidFill>
                <a:latin typeface="Inter"/>
                <a:ea typeface="Inter"/>
                <a:cs typeface="Inter"/>
                <a:sym typeface="Inter"/>
              </a:rPr>
              <a:t>The most important information should be encoded in the most impactful format.</a:t>
            </a:r>
            <a:endParaRPr sz="1300">
              <a:solidFill>
                <a:schemeClr val="dk2"/>
              </a:solidFill>
              <a:latin typeface="Inter"/>
              <a:ea typeface="Inter"/>
              <a:cs typeface="Inter"/>
              <a:sym typeface="Inter"/>
            </a:endParaRPr>
          </a:p>
        </p:txBody>
      </p:sp>
      <p:sp>
        <p:nvSpPr>
          <p:cNvPr id="330" name="Google Shape;330;p19"/>
          <p:cNvSpPr txBox="1"/>
          <p:nvPr/>
        </p:nvSpPr>
        <p:spPr>
          <a:xfrm>
            <a:off x="5606203" y="1214900"/>
            <a:ext cx="2190600" cy="963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300">
                <a:solidFill>
                  <a:schemeClr val="dk2"/>
                </a:solidFill>
                <a:latin typeface="Inter"/>
                <a:ea typeface="Inter"/>
                <a:cs typeface="Inter"/>
                <a:sym typeface="Inter"/>
              </a:rPr>
              <a:t>Visualizations should utilize colour, shape, and format to express all the information from the dataset.</a:t>
            </a:r>
            <a:endParaRPr sz="1300">
              <a:solidFill>
                <a:schemeClr val="dk2"/>
              </a:solidFill>
              <a:latin typeface="Inter"/>
              <a:ea typeface="Inter"/>
              <a:cs typeface="Inter"/>
              <a:sym typeface="Inter"/>
            </a:endParaRPr>
          </a:p>
        </p:txBody>
      </p:sp>
      <p:sp>
        <p:nvSpPr>
          <p:cNvPr id="331" name="Google Shape;331;p19"/>
          <p:cNvSpPr txBox="1"/>
          <p:nvPr/>
        </p:nvSpPr>
        <p:spPr>
          <a:xfrm>
            <a:off x="533400" y="3136153"/>
            <a:ext cx="1689000" cy="1600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300">
                <a:solidFill>
                  <a:schemeClr val="dk2"/>
                </a:solidFill>
              </a:rPr>
              <a:t>A visualization is better than another if the information being conveyed is more </a:t>
            </a:r>
            <a:r>
              <a:rPr lang="en" sz="1300">
                <a:solidFill>
                  <a:schemeClr val="dk2"/>
                </a:solidFill>
              </a:rPr>
              <a:t>easily understood using that visualization.</a:t>
            </a:r>
            <a:endParaRPr sz="1300">
              <a:solidFill>
                <a:schemeClr val="dk2"/>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5" name="Shape 335"/>
        <p:cNvGrpSpPr/>
        <p:nvPr/>
      </p:nvGrpSpPr>
      <p:grpSpPr>
        <a:xfrm>
          <a:off x="0" y="0"/>
          <a:ext cx="0" cy="0"/>
          <a:chOff x="0" y="0"/>
          <a:chExt cx="0" cy="0"/>
        </a:xfrm>
      </p:grpSpPr>
      <p:grpSp>
        <p:nvGrpSpPr>
          <p:cNvPr id="336" name="Google Shape;336;g3c5d521f515_0_214"/>
          <p:cNvGrpSpPr/>
          <p:nvPr/>
        </p:nvGrpSpPr>
        <p:grpSpPr>
          <a:xfrm>
            <a:off x="8625" y="0"/>
            <a:ext cx="9144000" cy="267600"/>
            <a:chOff x="8625" y="0"/>
            <a:chExt cx="9144000" cy="267600"/>
          </a:xfrm>
        </p:grpSpPr>
        <p:sp>
          <p:nvSpPr>
            <p:cNvPr id="337" name="Google Shape;337;g3c5d521f515_0_214"/>
            <p:cNvSpPr/>
            <p:nvPr/>
          </p:nvSpPr>
          <p:spPr>
            <a:xfrm>
              <a:off x="8625" y="0"/>
              <a:ext cx="9144000" cy="2676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338" name="Google Shape;338;g3c5d521f515_0_214" title="Logo Header.png"/>
            <p:cNvPicPr preferRelativeResize="0"/>
            <p:nvPr/>
          </p:nvPicPr>
          <p:blipFill rotWithShape="1">
            <a:blip r:embed="rId3">
              <a:alphaModFix/>
            </a:blip>
            <a:srcRect b="0" l="0" r="0" t="0"/>
            <a:stretch/>
          </p:blipFill>
          <p:spPr>
            <a:xfrm>
              <a:off x="8348195" y="15790"/>
              <a:ext cx="634775" cy="199625"/>
            </a:xfrm>
            <a:prstGeom prst="rect">
              <a:avLst/>
            </a:prstGeom>
            <a:noFill/>
            <a:ln>
              <a:noFill/>
            </a:ln>
          </p:spPr>
        </p:pic>
      </p:grpSp>
      <p:sp>
        <p:nvSpPr>
          <p:cNvPr id="339" name="Google Shape;339;g3c5d521f515_0_214"/>
          <p:cNvSpPr txBox="1"/>
          <p:nvPr>
            <p:ph idx="1" type="subTitle"/>
          </p:nvPr>
        </p:nvSpPr>
        <p:spPr>
          <a:xfrm>
            <a:off x="470870" y="401850"/>
            <a:ext cx="8125500" cy="75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2800"/>
              <a:buNone/>
            </a:pPr>
            <a:r>
              <a:rPr b="1" lang="en" sz="2700">
                <a:solidFill>
                  <a:schemeClr val="dk1"/>
                </a:solidFill>
                <a:latin typeface="Roboto"/>
                <a:ea typeface="Roboto"/>
                <a:cs typeface="Roboto"/>
                <a:sym typeface="Roboto"/>
              </a:rPr>
              <a:t>Visualization Tools</a:t>
            </a:r>
            <a:endParaRPr i="1" sz="2700">
              <a:solidFill>
                <a:schemeClr val="dk1"/>
              </a:solidFill>
              <a:latin typeface="Roboto"/>
              <a:ea typeface="Roboto"/>
              <a:cs typeface="Roboto"/>
              <a:sym typeface="Roboto"/>
            </a:endParaRPr>
          </a:p>
        </p:txBody>
      </p:sp>
      <p:sp>
        <p:nvSpPr>
          <p:cNvPr id="340" name="Google Shape;340;g3c5d521f515_0_214"/>
          <p:cNvSpPr txBox="1"/>
          <p:nvPr/>
        </p:nvSpPr>
        <p:spPr>
          <a:xfrm>
            <a:off x="470875" y="1156650"/>
            <a:ext cx="4291500" cy="3649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lang="en" sz="1800">
                <a:solidFill>
                  <a:schemeClr val="dk1"/>
                </a:solidFill>
                <a:latin typeface="Inter"/>
                <a:ea typeface="Inter"/>
                <a:cs typeface="Inter"/>
                <a:sym typeface="Inter"/>
              </a:rPr>
              <a:t>Software such as </a:t>
            </a:r>
            <a:r>
              <a:rPr i="1" lang="en" sz="1800">
                <a:solidFill>
                  <a:schemeClr val="dk1"/>
                </a:solidFill>
                <a:latin typeface="Inter"/>
                <a:ea typeface="Inter"/>
                <a:cs typeface="Inter"/>
                <a:sym typeface="Inter"/>
              </a:rPr>
              <a:t>Excel, R (ggplot), Python (matplotlib, Seaborn), PowerBI, and Tableau </a:t>
            </a:r>
            <a:r>
              <a:rPr lang="en" sz="1800">
                <a:solidFill>
                  <a:schemeClr val="dk1"/>
                </a:solidFill>
                <a:latin typeface="Inter"/>
                <a:ea typeface="Inter"/>
                <a:cs typeface="Inter"/>
                <a:sym typeface="Inter"/>
              </a:rPr>
              <a:t>can be used to visualize data.</a:t>
            </a:r>
            <a:endParaRPr sz="1800">
              <a:solidFill>
                <a:schemeClr val="dk1"/>
              </a:solidFill>
              <a:latin typeface="Inter"/>
              <a:ea typeface="Inter"/>
              <a:cs typeface="Inter"/>
              <a:sym typeface="Inter"/>
            </a:endParaRPr>
          </a:p>
          <a:p>
            <a:pPr indent="0" lvl="0" marL="0" marR="0" rtl="0" algn="l">
              <a:lnSpc>
                <a:spcPct val="100000"/>
              </a:lnSpc>
              <a:spcBef>
                <a:spcPts val="0"/>
              </a:spcBef>
              <a:spcAft>
                <a:spcPts val="0"/>
              </a:spcAft>
              <a:buClr>
                <a:srgbClr val="000000"/>
              </a:buClr>
              <a:buSzPts val="1800"/>
              <a:buFont typeface="Arial"/>
              <a:buNone/>
            </a:pPr>
            <a:r>
              <a:t/>
            </a:r>
            <a:endParaRPr sz="1800">
              <a:solidFill>
                <a:schemeClr val="dk1"/>
              </a:solidFill>
              <a:latin typeface="Inter"/>
              <a:ea typeface="Inter"/>
              <a:cs typeface="Inter"/>
              <a:sym typeface="Inter"/>
            </a:endParaRPr>
          </a:p>
          <a:p>
            <a:pPr indent="0" lvl="0" marL="0" marR="0" rtl="0" algn="l">
              <a:lnSpc>
                <a:spcPct val="100000"/>
              </a:lnSpc>
              <a:spcBef>
                <a:spcPts val="0"/>
              </a:spcBef>
              <a:spcAft>
                <a:spcPts val="0"/>
              </a:spcAft>
              <a:buClr>
                <a:srgbClr val="000000"/>
              </a:buClr>
              <a:buSzPts val="1800"/>
              <a:buFont typeface="Arial"/>
              <a:buNone/>
            </a:pPr>
            <a:r>
              <a:rPr lang="en" sz="1800" u="sng">
                <a:solidFill>
                  <a:schemeClr val="dk1"/>
                </a:solidFill>
                <a:latin typeface="Inter"/>
                <a:ea typeface="Inter"/>
                <a:cs typeface="Inter"/>
                <a:sym typeface="Inter"/>
              </a:rPr>
              <a:t>Importance of EDA:</a:t>
            </a:r>
            <a:r>
              <a:rPr lang="en" sz="1800">
                <a:solidFill>
                  <a:schemeClr val="dk1"/>
                </a:solidFill>
                <a:latin typeface="Inter"/>
                <a:ea typeface="Inter"/>
                <a:cs typeface="Inter"/>
                <a:sym typeface="Inter"/>
              </a:rPr>
              <a:t> understand data, develop RQs, present narrative.</a:t>
            </a:r>
            <a:endParaRPr sz="1800">
              <a:solidFill>
                <a:schemeClr val="dk1"/>
              </a:solidFill>
              <a:latin typeface="Inter"/>
              <a:ea typeface="Inter"/>
              <a:cs typeface="Inter"/>
              <a:sym typeface="Inter"/>
            </a:endParaRPr>
          </a:p>
          <a:p>
            <a:pPr indent="0" lvl="0" marL="0" marR="0" rtl="0" algn="l">
              <a:lnSpc>
                <a:spcPct val="100000"/>
              </a:lnSpc>
              <a:spcBef>
                <a:spcPts val="0"/>
              </a:spcBef>
              <a:spcAft>
                <a:spcPts val="0"/>
              </a:spcAft>
              <a:buClr>
                <a:srgbClr val="000000"/>
              </a:buClr>
              <a:buSzPts val="1800"/>
              <a:buFont typeface="Arial"/>
              <a:buNone/>
            </a:pPr>
            <a:r>
              <a:t/>
            </a:r>
            <a:endParaRPr sz="1800">
              <a:solidFill>
                <a:schemeClr val="dk1"/>
              </a:solidFill>
              <a:latin typeface="Inter"/>
              <a:ea typeface="Inter"/>
              <a:cs typeface="Inter"/>
              <a:sym typeface="Inter"/>
            </a:endParaRPr>
          </a:p>
          <a:p>
            <a:pPr indent="0" lvl="0" marL="0" marR="0" rtl="0" algn="l">
              <a:lnSpc>
                <a:spcPct val="100000"/>
              </a:lnSpc>
              <a:spcBef>
                <a:spcPts val="0"/>
              </a:spcBef>
              <a:spcAft>
                <a:spcPts val="0"/>
              </a:spcAft>
              <a:buClr>
                <a:srgbClr val="000000"/>
              </a:buClr>
              <a:buSzPts val="1800"/>
              <a:buFont typeface="Arial"/>
              <a:buNone/>
            </a:pPr>
            <a:r>
              <a:rPr lang="en" sz="1800" u="sng">
                <a:solidFill>
                  <a:schemeClr val="dk1"/>
                </a:solidFill>
                <a:latin typeface="Inter"/>
                <a:ea typeface="Inter"/>
                <a:cs typeface="Inter"/>
                <a:sym typeface="Inter"/>
              </a:rPr>
              <a:t>Uses of EDA:</a:t>
            </a:r>
            <a:r>
              <a:rPr lang="en" sz="1800">
                <a:solidFill>
                  <a:schemeClr val="dk1"/>
                </a:solidFill>
                <a:latin typeface="Inter"/>
                <a:ea typeface="Inter"/>
                <a:cs typeface="Inter"/>
                <a:sym typeface="Inter"/>
              </a:rPr>
              <a:t> summarize datasets, visually identify trends, find relationships and patterns.</a:t>
            </a:r>
            <a:endParaRPr sz="1800">
              <a:solidFill>
                <a:schemeClr val="dk1"/>
              </a:solidFill>
              <a:latin typeface="Inter"/>
              <a:ea typeface="Inter"/>
              <a:cs typeface="Inter"/>
              <a:sym typeface="Inter"/>
            </a:endParaRPr>
          </a:p>
          <a:p>
            <a:pPr indent="0" lvl="0" marL="0" marR="0" rtl="0" algn="l">
              <a:lnSpc>
                <a:spcPct val="100000"/>
              </a:lnSpc>
              <a:spcBef>
                <a:spcPts val="0"/>
              </a:spcBef>
              <a:spcAft>
                <a:spcPts val="0"/>
              </a:spcAft>
              <a:buClr>
                <a:srgbClr val="000000"/>
              </a:buClr>
              <a:buSzPts val="1800"/>
              <a:buFont typeface="Arial"/>
              <a:buNone/>
            </a:pPr>
            <a:r>
              <a:t/>
            </a:r>
            <a:endParaRPr sz="1800" strike="sngStrike">
              <a:solidFill>
                <a:schemeClr val="dk1"/>
              </a:solidFill>
              <a:latin typeface="Inter"/>
              <a:ea typeface="Inter"/>
              <a:cs typeface="Inter"/>
              <a:sym typeface="Inter"/>
            </a:endParaRPr>
          </a:p>
        </p:txBody>
      </p:sp>
      <p:pic>
        <p:nvPicPr>
          <p:cNvPr descr="same scheme but icon for visualization tools" id="341" name="Google Shape;341;g3c5d521f515_0_214"/>
          <p:cNvPicPr preferRelativeResize="0"/>
          <p:nvPr/>
        </p:nvPicPr>
        <p:blipFill>
          <a:blip r:embed="rId4">
            <a:alphaModFix/>
          </a:blip>
          <a:stretch>
            <a:fillRect/>
          </a:stretch>
        </p:blipFill>
        <p:spPr>
          <a:xfrm>
            <a:off x="4914325" y="922400"/>
            <a:ext cx="3682051" cy="3682051"/>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5" name="Shape 345"/>
        <p:cNvGrpSpPr/>
        <p:nvPr/>
      </p:nvGrpSpPr>
      <p:grpSpPr>
        <a:xfrm>
          <a:off x="0" y="0"/>
          <a:ext cx="0" cy="0"/>
          <a:chOff x="0" y="0"/>
          <a:chExt cx="0" cy="0"/>
        </a:xfrm>
      </p:grpSpPr>
      <p:sp>
        <p:nvSpPr>
          <p:cNvPr id="346" name="Google Shape;346;g3c5d521f515_0_223"/>
          <p:cNvSpPr/>
          <p:nvPr/>
        </p:nvSpPr>
        <p:spPr>
          <a:xfrm>
            <a:off x="503800" y="979625"/>
            <a:ext cx="1857900" cy="71400"/>
          </a:xfrm>
          <a:prstGeom prst="rect">
            <a:avLst/>
          </a:prstGeom>
          <a:solidFill>
            <a:srgbClr val="13AE8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7" name="Google Shape;347;g3c5d521f515_0_223"/>
          <p:cNvSpPr txBox="1"/>
          <p:nvPr>
            <p:ph idx="1" type="subTitle"/>
          </p:nvPr>
        </p:nvSpPr>
        <p:spPr>
          <a:xfrm>
            <a:off x="409575" y="447125"/>
            <a:ext cx="2207400" cy="12702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2800"/>
              <a:buNone/>
            </a:pPr>
            <a:r>
              <a:rPr b="1" lang="en" sz="3500">
                <a:solidFill>
                  <a:schemeClr val="dk1"/>
                </a:solidFill>
                <a:latin typeface="Roboto"/>
                <a:ea typeface="Roboto"/>
                <a:cs typeface="Roboto"/>
                <a:sym typeface="Roboto"/>
              </a:rPr>
              <a:t>Activity 2</a:t>
            </a:r>
            <a:endParaRPr i="1" sz="3500">
              <a:solidFill>
                <a:schemeClr val="dk1"/>
              </a:solidFill>
              <a:latin typeface="Roboto"/>
              <a:ea typeface="Roboto"/>
              <a:cs typeface="Roboto"/>
              <a:sym typeface="Roboto"/>
            </a:endParaRPr>
          </a:p>
        </p:txBody>
      </p:sp>
      <p:grpSp>
        <p:nvGrpSpPr>
          <p:cNvPr id="348" name="Google Shape;348;g3c5d521f515_0_223"/>
          <p:cNvGrpSpPr/>
          <p:nvPr/>
        </p:nvGrpSpPr>
        <p:grpSpPr>
          <a:xfrm>
            <a:off x="8625" y="0"/>
            <a:ext cx="9144000" cy="267600"/>
            <a:chOff x="8625" y="0"/>
            <a:chExt cx="9144000" cy="267600"/>
          </a:xfrm>
        </p:grpSpPr>
        <p:sp>
          <p:nvSpPr>
            <p:cNvPr id="349" name="Google Shape;349;g3c5d521f515_0_223"/>
            <p:cNvSpPr/>
            <p:nvPr/>
          </p:nvSpPr>
          <p:spPr>
            <a:xfrm>
              <a:off x="8625" y="0"/>
              <a:ext cx="9144000" cy="2676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350" name="Google Shape;350;g3c5d521f515_0_223" title="Logo Header.png"/>
            <p:cNvPicPr preferRelativeResize="0"/>
            <p:nvPr/>
          </p:nvPicPr>
          <p:blipFill rotWithShape="1">
            <a:blip r:embed="rId3">
              <a:alphaModFix/>
            </a:blip>
            <a:srcRect b="0" l="0" r="0" t="0"/>
            <a:stretch/>
          </p:blipFill>
          <p:spPr>
            <a:xfrm>
              <a:off x="8348195" y="15790"/>
              <a:ext cx="634775" cy="199625"/>
            </a:xfrm>
            <a:prstGeom prst="rect">
              <a:avLst/>
            </a:prstGeom>
            <a:noFill/>
            <a:ln>
              <a:noFill/>
            </a:ln>
          </p:spPr>
        </p:pic>
      </p:grpSp>
      <p:pic>
        <p:nvPicPr>
          <p:cNvPr id="351" name="Google Shape;351;g3c5d521f515_0_223" title="Logo Main.png"/>
          <p:cNvPicPr preferRelativeResize="0"/>
          <p:nvPr/>
        </p:nvPicPr>
        <p:blipFill rotWithShape="1">
          <a:blip r:embed="rId4">
            <a:alphaModFix/>
          </a:blip>
          <a:srcRect b="0" l="0" r="0" t="0"/>
          <a:stretch/>
        </p:blipFill>
        <p:spPr>
          <a:xfrm>
            <a:off x="503800" y="4440950"/>
            <a:ext cx="1529475" cy="434512"/>
          </a:xfrm>
          <a:prstGeom prst="rect">
            <a:avLst/>
          </a:prstGeom>
          <a:noFill/>
          <a:ln>
            <a:noFill/>
          </a:ln>
        </p:spPr>
      </p:pic>
      <p:sp>
        <p:nvSpPr>
          <p:cNvPr id="352" name="Google Shape;352;g3c5d521f515_0_223"/>
          <p:cNvSpPr txBox="1"/>
          <p:nvPr/>
        </p:nvSpPr>
        <p:spPr>
          <a:xfrm>
            <a:off x="470875" y="1385475"/>
            <a:ext cx="3875700" cy="3241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lang="en" sz="1800">
                <a:solidFill>
                  <a:schemeClr val="dk1"/>
                </a:solidFill>
                <a:latin typeface="Inter"/>
                <a:ea typeface="Inter"/>
                <a:cs typeface="Inter"/>
                <a:sym typeface="Inter"/>
              </a:rPr>
              <a:t>How would you mitigate bias when </a:t>
            </a:r>
            <a:r>
              <a:rPr lang="en" sz="1800" u="sng">
                <a:solidFill>
                  <a:schemeClr val="dk1"/>
                </a:solidFill>
                <a:latin typeface="Inter"/>
                <a:ea typeface="Inter"/>
                <a:cs typeface="Inter"/>
                <a:sym typeface="Inter"/>
              </a:rPr>
              <a:t>collecting</a:t>
            </a:r>
            <a:r>
              <a:rPr lang="en" sz="1800">
                <a:solidFill>
                  <a:schemeClr val="dk1"/>
                </a:solidFill>
                <a:latin typeface="Inter"/>
                <a:ea typeface="Inter"/>
                <a:cs typeface="Inter"/>
                <a:sym typeface="Inter"/>
              </a:rPr>
              <a:t>, </a:t>
            </a:r>
            <a:r>
              <a:rPr lang="en" sz="1800" u="sng">
                <a:solidFill>
                  <a:schemeClr val="dk1"/>
                </a:solidFill>
                <a:latin typeface="Inter"/>
                <a:ea typeface="Inter"/>
                <a:cs typeface="Inter"/>
                <a:sym typeface="Inter"/>
              </a:rPr>
              <a:t>cleaning</a:t>
            </a:r>
            <a:r>
              <a:rPr lang="en" sz="1800">
                <a:solidFill>
                  <a:schemeClr val="dk1"/>
                </a:solidFill>
                <a:latin typeface="Inter"/>
                <a:ea typeface="Inter"/>
                <a:cs typeface="Inter"/>
                <a:sym typeface="Inter"/>
              </a:rPr>
              <a:t>, and </a:t>
            </a:r>
            <a:r>
              <a:rPr lang="en" sz="1800" u="sng">
                <a:solidFill>
                  <a:schemeClr val="dk1"/>
                </a:solidFill>
                <a:latin typeface="Inter"/>
                <a:ea typeface="Inter"/>
                <a:cs typeface="Inter"/>
                <a:sym typeface="Inter"/>
              </a:rPr>
              <a:t>handling data</a:t>
            </a:r>
            <a:r>
              <a:rPr lang="en" sz="1800">
                <a:solidFill>
                  <a:schemeClr val="dk1"/>
                </a:solidFill>
                <a:latin typeface="Inter"/>
                <a:ea typeface="Inter"/>
                <a:cs typeface="Inter"/>
                <a:sym typeface="Inter"/>
              </a:rPr>
              <a:t> for the model you selected in Activity 1?</a:t>
            </a:r>
            <a:endParaRPr sz="1800">
              <a:solidFill>
                <a:schemeClr val="dk1"/>
              </a:solidFill>
              <a:latin typeface="Inter"/>
              <a:ea typeface="Inter"/>
              <a:cs typeface="Inter"/>
              <a:sym typeface="Inter"/>
            </a:endParaRPr>
          </a:p>
          <a:p>
            <a:pPr indent="0" lvl="0" marL="0" marR="0" rtl="0" algn="l">
              <a:lnSpc>
                <a:spcPct val="100000"/>
              </a:lnSpc>
              <a:spcBef>
                <a:spcPts val="0"/>
              </a:spcBef>
              <a:spcAft>
                <a:spcPts val="0"/>
              </a:spcAft>
              <a:buNone/>
            </a:pPr>
            <a:r>
              <a:t/>
            </a:r>
            <a:endParaRPr sz="1800">
              <a:solidFill>
                <a:schemeClr val="dk1"/>
              </a:solidFill>
              <a:latin typeface="Inter"/>
              <a:ea typeface="Inter"/>
              <a:cs typeface="Inter"/>
              <a:sym typeface="Inter"/>
            </a:endParaRPr>
          </a:p>
          <a:p>
            <a:pPr indent="0" lvl="0" marL="0" marR="0" rtl="0" algn="l">
              <a:lnSpc>
                <a:spcPct val="100000"/>
              </a:lnSpc>
              <a:spcBef>
                <a:spcPts val="0"/>
              </a:spcBef>
              <a:spcAft>
                <a:spcPts val="0"/>
              </a:spcAft>
              <a:buNone/>
            </a:pPr>
            <a:r>
              <a:rPr i="1" lang="en" sz="1800">
                <a:solidFill>
                  <a:schemeClr val="dk1"/>
                </a:solidFill>
                <a:latin typeface="Inter"/>
                <a:ea typeface="Inter"/>
                <a:cs typeface="Inter"/>
                <a:sym typeface="Inter"/>
              </a:rPr>
              <a:t>Which stakeholders would you talk to in order to help with these concerns? </a:t>
            </a:r>
            <a:r>
              <a:rPr lang="en" sz="1800">
                <a:solidFill>
                  <a:schemeClr val="dk1"/>
                </a:solidFill>
                <a:latin typeface="Inter"/>
                <a:ea typeface="Inter"/>
                <a:cs typeface="Inter"/>
                <a:sym typeface="Inter"/>
              </a:rPr>
              <a:t>List up to 3</a:t>
            </a:r>
            <a:endParaRPr sz="1800">
              <a:solidFill>
                <a:schemeClr val="dk1"/>
              </a:solidFill>
              <a:latin typeface="Inter"/>
              <a:ea typeface="Inter"/>
              <a:cs typeface="Inter"/>
              <a:sym typeface="Inter"/>
            </a:endParaRPr>
          </a:p>
          <a:p>
            <a:pPr indent="0" lvl="0" marL="0" marR="0" rtl="0" algn="l">
              <a:lnSpc>
                <a:spcPct val="100000"/>
              </a:lnSpc>
              <a:spcBef>
                <a:spcPts val="0"/>
              </a:spcBef>
              <a:spcAft>
                <a:spcPts val="0"/>
              </a:spcAft>
              <a:buNone/>
            </a:pPr>
            <a:r>
              <a:t/>
            </a:r>
            <a:endParaRPr i="1" sz="1800">
              <a:solidFill>
                <a:schemeClr val="dk1"/>
              </a:solidFill>
              <a:latin typeface="Inter"/>
              <a:ea typeface="Inter"/>
              <a:cs typeface="Inter"/>
              <a:sym typeface="Inter"/>
            </a:endParaRPr>
          </a:p>
        </p:txBody>
      </p:sp>
      <p:pic>
        <p:nvPicPr>
          <p:cNvPr descr="create an icon for collecting, cleaning and ml with color #14AD81 and white background" id="353" name="Google Shape;353;g3c5d521f515_0_223"/>
          <p:cNvPicPr preferRelativeResize="0"/>
          <p:nvPr/>
        </p:nvPicPr>
        <p:blipFill>
          <a:blip r:embed="rId5">
            <a:alphaModFix/>
          </a:blip>
          <a:stretch>
            <a:fillRect/>
          </a:stretch>
        </p:blipFill>
        <p:spPr>
          <a:xfrm>
            <a:off x="4791325" y="816100"/>
            <a:ext cx="3691775" cy="3691775"/>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7" name="Shape 357"/>
        <p:cNvGrpSpPr/>
        <p:nvPr/>
      </p:nvGrpSpPr>
      <p:grpSpPr>
        <a:xfrm>
          <a:off x="0" y="0"/>
          <a:ext cx="0" cy="0"/>
          <a:chOff x="0" y="0"/>
          <a:chExt cx="0" cy="0"/>
        </a:xfrm>
      </p:grpSpPr>
      <p:sp>
        <p:nvSpPr>
          <p:cNvPr id="358" name="Google Shape;358;g3d855c145fb_0_12"/>
          <p:cNvSpPr txBox="1"/>
          <p:nvPr>
            <p:ph idx="1" type="subTitle"/>
          </p:nvPr>
        </p:nvSpPr>
        <p:spPr>
          <a:xfrm>
            <a:off x="529200" y="1195859"/>
            <a:ext cx="5076000" cy="3443400"/>
          </a:xfrm>
          <a:prstGeom prst="rect">
            <a:avLst/>
          </a:prstGeom>
          <a:noFill/>
          <a:ln>
            <a:noFill/>
          </a:ln>
        </p:spPr>
        <p:txBody>
          <a:bodyPr anchorCtr="0" anchor="t" bIns="91425" lIns="91425" spcFirstLastPara="1" rIns="91425" wrap="square" tIns="91425">
            <a:noAutofit/>
          </a:bodyPr>
          <a:lstStyle/>
          <a:p>
            <a:pPr indent="0" lvl="0" marL="457200" rtl="0" algn="l">
              <a:lnSpc>
                <a:spcPct val="100000"/>
              </a:lnSpc>
              <a:spcBef>
                <a:spcPts val="1200"/>
              </a:spcBef>
              <a:spcAft>
                <a:spcPts val="0"/>
              </a:spcAft>
              <a:buNone/>
            </a:pPr>
            <a:r>
              <a:rPr lang="en" sz="1400">
                <a:solidFill>
                  <a:schemeClr val="dk1"/>
                </a:solidFill>
                <a:latin typeface="Inter"/>
                <a:ea typeface="Inter"/>
                <a:cs typeface="Inter"/>
                <a:sym typeface="Inter"/>
              </a:rPr>
              <a:t>Collect, clean, and document data responsibly, including imputation</a:t>
            </a:r>
            <a:endParaRPr sz="1400">
              <a:solidFill>
                <a:schemeClr val="dk1"/>
              </a:solidFill>
              <a:latin typeface="Inter"/>
              <a:ea typeface="Inter"/>
              <a:cs typeface="Inter"/>
              <a:sym typeface="Inter"/>
            </a:endParaRPr>
          </a:p>
          <a:p>
            <a:pPr indent="0" lvl="0" marL="457200" rtl="0" algn="l">
              <a:lnSpc>
                <a:spcPct val="100000"/>
              </a:lnSpc>
              <a:spcBef>
                <a:spcPts val="1200"/>
              </a:spcBef>
              <a:spcAft>
                <a:spcPts val="0"/>
              </a:spcAft>
              <a:buNone/>
            </a:pPr>
            <a:r>
              <a:t/>
            </a:r>
            <a:endParaRPr sz="1400">
              <a:solidFill>
                <a:schemeClr val="dk1"/>
              </a:solidFill>
              <a:latin typeface="Inter"/>
              <a:ea typeface="Inter"/>
              <a:cs typeface="Inter"/>
              <a:sym typeface="Inter"/>
            </a:endParaRPr>
          </a:p>
          <a:p>
            <a:pPr indent="0" lvl="0" marL="457200" rtl="0" algn="l">
              <a:lnSpc>
                <a:spcPct val="100000"/>
              </a:lnSpc>
              <a:spcBef>
                <a:spcPts val="1200"/>
              </a:spcBef>
              <a:spcAft>
                <a:spcPts val="0"/>
              </a:spcAft>
              <a:buNone/>
            </a:pPr>
            <a:r>
              <a:rPr lang="en" sz="1400">
                <a:solidFill>
                  <a:schemeClr val="dk1"/>
                </a:solidFill>
                <a:latin typeface="Inter"/>
                <a:ea typeface="Inter"/>
                <a:cs typeface="Inter"/>
                <a:sym typeface="Inter"/>
              </a:rPr>
              <a:t>Discuss data representation (such as underrepresentation)</a:t>
            </a:r>
            <a:endParaRPr sz="1400">
              <a:solidFill>
                <a:schemeClr val="dk1"/>
              </a:solidFill>
              <a:latin typeface="Inter"/>
              <a:ea typeface="Inter"/>
              <a:cs typeface="Inter"/>
              <a:sym typeface="Inter"/>
            </a:endParaRPr>
          </a:p>
          <a:p>
            <a:pPr indent="457200" lvl="0" marL="0" rtl="0" algn="l">
              <a:lnSpc>
                <a:spcPct val="150000"/>
              </a:lnSpc>
              <a:spcBef>
                <a:spcPts val="1200"/>
              </a:spcBef>
              <a:spcAft>
                <a:spcPts val="0"/>
              </a:spcAft>
              <a:buNone/>
            </a:pPr>
            <a:r>
              <a:t/>
            </a:r>
            <a:endParaRPr sz="1400">
              <a:solidFill>
                <a:schemeClr val="dk1"/>
              </a:solidFill>
              <a:latin typeface="Inter"/>
              <a:ea typeface="Inter"/>
              <a:cs typeface="Inter"/>
              <a:sym typeface="Inter"/>
            </a:endParaRPr>
          </a:p>
          <a:p>
            <a:pPr indent="457200" lvl="0" marL="0" rtl="0" algn="l">
              <a:lnSpc>
                <a:spcPct val="150000"/>
              </a:lnSpc>
              <a:spcBef>
                <a:spcPts val="1200"/>
              </a:spcBef>
              <a:spcAft>
                <a:spcPts val="0"/>
              </a:spcAft>
              <a:buNone/>
            </a:pPr>
            <a:r>
              <a:rPr lang="en" sz="1400">
                <a:solidFill>
                  <a:schemeClr val="dk1"/>
                </a:solidFill>
                <a:latin typeface="Inter"/>
                <a:ea typeface="Inter"/>
                <a:cs typeface="Inter"/>
                <a:sym typeface="Inter"/>
              </a:rPr>
              <a:t>Interpret models with subgroup analysis</a:t>
            </a:r>
            <a:endParaRPr sz="1400">
              <a:solidFill>
                <a:schemeClr val="dk1"/>
              </a:solidFill>
              <a:latin typeface="Inter"/>
              <a:ea typeface="Inter"/>
              <a:cs typeface="Inter"/>
              <a:sym typeface="Inter"/>
            </a:endParaRPr>
          </a:p>
          <a:p>
            <a:pPr indent="457200" lvl="0" marL="0" rtl="0" algn="l">
              <a:lnSpc>
                <a:spcPct val="150000"/>
              </a:lnSpc>
              <a:spcBef>
                <a:spcPts val="1200"/>
              </a:spcBef>
              <a:spcAft>
                <a:spcPts val="0"/>
              </a:spcAft>
              <a:buNone/>
            </a:pPr>
            <a:r>
              <a:t/>
            </a:r>
            <a:endParaRPr sz="1400">
              <a:solidFill>
                <a:schemeClr val="dk1"/>
              </a:solidFill>
              <a:latin typeface="Inter"/>
              <a:ea typeface="Inter"/>
              <a:cs typeface="Inter"/>
              <a:sym typeface="Inter"/>
            </a:endParaRPr>
          </a:p>
          <a:p>
            <a:pPr indent="457200" lvl="0" marL="0" rtl="0" algn="l">
              <a:lnSpc>
                <a:spcPct val="150000"/>
              </a:lnSpc>
              <a:spcBef>
                <a:spcPts val="1200"/>
              </a:spcBef>
              <a:spcAft>
                <a:spcPts val="0"/>
              </a:spcAft>
              <a:buNone/>
            </a:pPr>
            <a:r>
              <a:rPr lang="en" sz="1400">
                <a:solidFill>
                  <a:schemeClr val="dk1"/>
                </a:solidFill>
                <a:latin typeface="Inter"/>
                <a:ea typeface="Inter"/>
                <a:cs typeface="Inter"/>
                <a:sym typeface="Inter"/>
              </a:rPr>
              <a:t>Introduce model-cards and datasheets</a:t>
            </a:r>
            <a:endParaRPr sz="1400">
              <a:solidFill>
                <a:schemeClr val="dk1"/>
              </a:solidFill>
              <a:latin typeface="Inter"/>
              <a:ea typeface="Inter"/>
              <a:cs typeface="Inter"/>
              <a:sym typeface="Inter"/>
            </a:endParaRPr>
          </a:p>
          <a:p>
            <a:pPr indent="0" lvl="0" marL="457200" rtl="0" algn="l">
              <a:lnSpc>
                <a:spcPct val="115000"/>
              </a:lnSpc>
              <a:spcBef>
                <a:spcPts val="1200"/>
              </a:spcBef>
              <a:spcAft>
                <a:spcPts val="0"/>
              </a:spcAft>
              <a:buSzPts val="2800"/>
              <a:buNone/>
            </a:pPr>
            <a:r>
              <a:t/>
            </a:r>
            <a:endParaRPr sz="1400">
              <a:solidFill>
                <a:schemeClr val="dk1"/>
              </a:solidFill>
              <a:latin typeface="Inter"/>
              <a:ea typeface="Inter"/>
              <a:cs typeface="Inter"/>
              <a:sym typeface="Inter"/>
            </a:endParaRPr>
          </a:p>
        </p:txBody>
      </p:sp>
      <p:sp>
        <p:nvSpPr>
          <p:cNvPr id="359" name="Google Shape;359;g3d855c145fb_0_12"/>
          <p:cNvSpPr txBox="1"/>
          <p:nvPr>
            <p:ph idx="1" type="subTitle"/>
          </p:nvPr>
        </p:nvSpPr>
        <p:spPr>
          <a:xfrm>
            <a:off x="409575" y="447125"/>
            <a:ext cx="5936700" cy="7572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2800"/>
              <a:buNone/>
            </a:pPr>
            <a:r>
              <a:rPr b="1" lang="en" sz="3500">
                <a:solidFill>
                  <a:schemeClr val="dk1"/>
                </a:solidFill>
                <a:latin typeface="Inter"/>
                <a:ea typeface="Inter"/>
                <a:cs typeface="Inter"/>
                <a:sym typeface="Inter"/>
              </a:rPr>
              <a:t>Statistical Applications</a:t>
            </a:r>
            <a:endParaRPr b="1" sz="3500">
              <a:solidFill>
                <a:schemeClr val="dk1"/>
              </a:solidFill>
              <a:latin typeface="Inter"/>
              <a:ea typeface="Inter"/>
              <a:cs typeface="Inter"/>
              <a:sym typeface="Inter"/>
            </a:endParaRPr>
          </a:p>
        </p:txBody>
      </p:sp>
      <p:grpSp>
        <p:nvGrpSpPr>
          <p:cNvPr id="360" name="Google Shape;360;g3d855c145fb_0_12"/>
          <p:cNvGrpSpPr/>
          <p:nvPr/>
        </p:nvGrpSpPr>
        <p:grpSpPr>
          <a:xfrm>
            <a:off x="8625" y="0"/>
            <a:ext cx="9144000" cy="267600"/>
            <a:chOff x="8625" y="0"/>
            <a:chExt cx="9144000" cy="267600"/>
          </a:xfrm>
        </p:grpSpPr>
        <p:sp>
          <p:nvSpPr>
            <p:cNvPr id="361" name="Google Shape;361;g3d855c145fb_0_12"/>
            <p:cNvSpPr/>
            <p:nvPr/>
          </p:nvSpPr>
          <p:spPr>
            <a:xfrm>
              <a:off x="8625" y="0"/>
              <a:ext cx="9144000" cy="2676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362" name="Google Shape;362;g3d855c145fb_0_12" title="Logo Header.png"/>
            <p:cNvPicPr preferRelativeResize="0"/>
            <p:nvPr/>
          </p:nvPicPr>
          <p:blipFill rotWithShape="1">
            <a:blip r:embed="rId3">
              <a:alphaModFix/>
            </a:blip>
            <a:srcRect b="0" l="0" r="0" t="0"/>
            <a:stretch/>
          </p:blipFill>
          <p:spPr>
            <a:xfrm>
              <a:off x="8348195" y="15790"/>
              <a:ext cx="634775" cy="199625"/>
            </a:xfrm>
            <a:prstGeom prst="rect">
              <a:avLst/>
            </a:prstGeom>
            <a:noFill/>
            <a:ln>
              <a:noFill/>
            </a:ln>
          </p:spPr>
        </p:pic>
      </p:grpSp>
      <p:pic>
        <p:nvPicPr>
          <p:cNvPr id="363" name="Google Shape;363;g3d855c145fb_0_12" title="cone.png"/>
          <p:cNvPicPr preferRelativeResize="0"/>
          <p:nvPr/>
        </p:nvPicPr>
        <p:blipFill rotWithShape="1">
          <a:blip r:embed="rId4">
            <a:alphaModFix/>
          </a:blip>
          <a:srcRect b="0" l="0" r="0" t="0"/>
          <a:stretch/>
        </p:blipFill>
        <p:spPr>
          <a:xfrm>
            <a:off x="372864" y="2155643"/>
            <a:ext cx="467000" cy="457025"/>
          </a:xfrm>
          <a:prstGeom prst="rect">
            <a:avLst/>
          </a:prstGeom>
          <a:noFill/>
          <a:ln>
            <a:noFill/>
          </a:ln>
        </p:spPr>
      </p:pic>
      <p:pic>
        <p:nvPicPr>
          <p:cNvPr id="364" name="Google Shape;364;g3d855c145fb_0_12" title="cube 1.png"/>
          <p:cNvPicPr preferRelativeResize="0"/>
          <p:nvPr/>
        </p:nvPicPr>
        <p:blipFill rotWithShape="1">
          <a:blip r:embed="rId5">
            <a:alphaModFix/>
          </a:blip>
          <a:srcRect b="0" l="0" r="0" t="0"/>
          <a:stretch/>
        </p:blipFill>
        <p:spPr>
          <a:xfrm>
            <a:off x="504250" y="3195029"/>
            <a:ext cx="311425" cy="351200"/>
          </a:xfrm>
          <a:prstGeom prst="rect">
            <a:avLst/>
          </a:prstGeom>
          <a:noFill/>
          <a:ln>
            <a:noFill/>
          </a:ln>
        </p:spPr>
      </p:pic>
      <p:pic>
        <p:nvPicPr>
          <p:cNvPr id="365" name="Google Shape;365;g3d855c145fb_0_12" title="cube 2.png"/>
          <p:cNvPicPr preferRelativeResize="0"/>
          <p:nvPr/>
        </p:nvPicPr>
        <p:blipFill rotWithShape="1">
          <a:blip r:embed="rId6">
            <a:alphaModFix/>
          </a:blip>
          <a:srcRect b="0" l="0" r="0" t="0"/>
          <a:stretch/>
        </p:blipFill>
        <p:spPr>
          <a:xfrm>
            <a:off x="504240" y="1271623"/>
            <a:ext cx="311425" cy="416786"/>
          </a:xfrm>
          <a:prstGeom prst="rect">
            <a:avLst/>
          </a:prstGeom>
          <a:noFill/>
          <a:ln>
            <a:noFill/>
          </a:ln>
        </p:spPr>
      </p:pic>
      <p:pic>
        <p:nvPicPr>
          <p:cNvPr id="366" name="Google Shape;366;g3d855c145fb_0_12" title="asterisk.png"/>
          <p:cNvPicPr preferRelativeResize="0"/>
          <p:nvPr/>
        </p:nvPicPr>
        <p:blipFill rotWithShape="1">
          <a:blip r:embed="rId7">
            <a:alphaModFix/>
          </a:blip>
          <a:srcRect b="0" l="0" r="0" t="0"/>
          <a:stretch/>
        </p:blipFill>
        <p:spPr>
          <a:xfrm>
            <a:off x="504240" y="4212602"/>
            <a:ext cx="311425" cy="311425"/>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0" name="Shape 370"/>
        <p:cNvGrpSpPr/>
        <p:nvPr/>
      </p:nvGrpSpPr>
      <p:grpSpPr>
        <a:xfrm>
          <a:off x="0" y="0"/>
          <a:ext cx="0" cy="0"/>
          <a:chOff x="0" y="0"/>
          <a:chExt cx="0" cy="0"/>
        </a:xfrm>
      </p:grpSpPr>
      <p:grpSp>
        <p:nvGrpSpPr>
          <p:cNvPr id="371" name="Google Shape;371;g3c5d521f515_0_67"/>
          <p:cNvGrpSpPr/>
          <p:nvPr/>
        </p:nvGrpSpPr>
        <p:grpSpPr>
          <a:xfrm>
            <a:off x="8625" y="0"/>
            <a:ext cx="9144000" cy="267600"/>
            <a:chOff x="8625" y="0"/>
            <a:chExt cx="9144000" cy="267600"/>
          </a:xfrm>
        </p:grpSpPr>
        <p:sp>
          <p:nvSpPr>
            <p:cNvPr id="372" name="Google Shape;372;g3c5d521f515_0_67"/>
            <p:cNvSpPr/>
            <p:nvPr/>
          </p:nvSpPr>
          <p:spPr>
            <a:xfrm>
              <a:off x="8625" y="0"/>
              <a:ext cx="9144000" cy="2676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373" name="Google Shape;373;g3c5d521f515_0_67" title="Logo Header.png"/>
            <p:cNvPicPr preferRelativeResize="0"/>
            <p:nvPr/>
          </p:nvPicPr>
          <p:blipFill rotWithShape="1">
            <a:blip r:embed="rId3">
              <a:alphaModFix/>
            </a:blip>
            <a:srcRect b="0" l="0" r="0" t="0"/>
            <a:stretch/>
          </p:blipFill>
          <p:spPr>
            <a:xfrm>
              <a:off x="8348195" y="15790"/>
              <a:ext cx="634775" cy="199625"/>
            </a:xfrm>
            <a:prstGeom prst="rect">
              <a:avLst/>
            </a:prstGeom>
            <a:noFill/>
            <a:ln>
              <a:noFill/>
            </a:ln>
          </p:spPr>
        </p:pic>
      </p:grpSp>
      <p:sp>
        <p:nvSpPr>
          <p:cNvPr id="374" name="Google Shape;374;g3c5d521f515_0_67"/>
          <p:cNvSpPr txBox="1"/>
          <p:nvPr>
            <p:ph idx="1" type="subTitle"/>
          </p:nvPr>
        </p:nvSpPr>
        <p:spPr>
          <a:xfrm>
            <a:off x="590500" y="460488"/>
            <a:ext cx="5820000" cy="8097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2800"/>
              <a:buNone/>
            </a:pPr>
            <a:r>
              <a:rPr b="1" lang="en" sz="2700">
                <a:solidFill>
                  <a:schemeClr val="dk1"/>
                </a:solidFill>
                <a:latin typeface="Inter"/>
                <a:ea typeface="Inter"/>
                <a:cs typeface="Inter"/>
                <a:sym typeface="Inter"/>
              </a:rPr>
              <a:t>Statistics &amp; Removing Bias</a:t>
            </a:r>
            <a:endParaRPr b="1" sz="2700">
              <a:solidFill>
                <a:schemeClr val="dk1"/>
              </a:solidFill>
              <a:latin typeface="Inter"/>
              <a:ea typeface="Inter"/>
              <a:cs typeface="Inter"/>
              <a:sym typeface="Inter"/>
            </a:endParaRPr>
          </a:p>
        </p:txBody>
      </p:sp>
      <p:sp>
        <p:nvSpPr>
          <p:cNvPr id="375" name="Google Shape;375;g3c5d521f515_0_67"/>
          <p:cNvSpPr txBox="1"/>
          <p:nvPr/>
        </p:nvSpPr>
        <p:spPr>
          <a:xfrm>
            <a:off x="409575" y="1342450"/>
            <a:ext cx="7993800" cy="3511200"/>
          </a:xfrm>
          <a:prstGeom prst="rect">
            <a:avLst/>
          </a:prstGeom>
          <a:noFill/>
          <a:ln>
            <a:noFill/>
          </a:ln>
        </p:spPr>
        <p:txBody>
          <a:bodyPr anchorCtr="0" anchor="t" bIns="91425" lIns="91425" spcFirstLastPara="1" rIns="91425" wrap="square" tIns="91425">
            <a:noAutofit/>
          </a:bodyPr>
          <a:lstStyle/>
          <a:p>
            <a:pPr indent="-342900" lvl="0" marL="457200" marR="0" rtl="0" algn="l">
              <a:lnSpc>
                <a:spcPct val="100000"/>
              </a:lnSpc>
              <a:spcBef>
                <a:spcPts val="1200"/>
              </a:spcBef>
              <a:spcAft>
                <a:spcPts val="0"/>
              </a:spcAft>
              <a:buClr>
                <a:schemeClr val="dk1"/>
              </a:buClr>
              <a:buSzPts val="1800"/>
              <a:buFont typeface="Inter"/>
              <a:buChar char="●"/>
            </a:pPr>
            <a:r>
              <a:rPr lang="en" sz="1800">
                <a:solidFill>
                  <a:schemeClr val="dk1"/>
                </a:solidFill>
                <a:latin typeface="Inter"/>
                <a:ea typeface="Inter"/>
                <a:cs typeface="Inter"/>
                <a:sym typeface="Inter"/>
              </a:rPr>
              <a:t>Quantitative statistical analysis helps us analyze data and measure patterns. </a:t>
            </a:r>
            <a:endParaRPr sz="1800">
              <a:solidFill>
                <a:schemeClr val="dk1"/>
              </a:solidFill>
              <a:latin typeface="Inter"/>
              <a:ea typeface="Inter"/>
              <a:cs typeface="Inter"/>
              <a:sym typeface="Inter"/>
            </a:endParaRPr>
          </a:p>
          <a:p>
            <a:pPr indent="-342900" lvl="0" marL="457200" marR="0" rtl="0" algn="l">
              <a:lnSpc>
                <a:spcPct val="100000"/>
              </a:lnSpc>
              <a:spcBef>
                <a:spcPts val="0"/>
              </a:spcBef>
              <a:spcAft>
                <a:spcPts val="0"/>
              </a:spcAft>
              <a:buClr>
                <a:schemeClr val="dk1"/>
              </a:buClr>
              <a:buSzPts val="1800"/>
              <a:buFont typeface="Inter"/>
              <a:buChar char="●"/>
            </a:pPr>
            <a:r>
              <a:rPr lang="en" sz="1800">
                <a:solidFill>
                  <a:schemeClr val="dk1"/>
                </a:solidFill>
                <a:latin typeface="Inter"/>
                <a:ea typeface="Inter"/>
                <a:cs typeface="Inter"/>
                <a:sym typeface="Inter"/>
              </a:rPr>
              <a:t>Bias is systematic errors that distort results or lead to unfair outcomes</a:t>
            </a:r>
            <a:endParaRPr sz="1800">
              <a:solidFill>
                <a:schemeClr val="dk1"/>
              </a:solidFill>
              <a:latin typeface="Inter"/>
              <a:ea typeface="Inter"/>
              <a:cs typeface="Inter"/>
              <a:sym typeface="Inter"/>
            </a:endParaRPr>
          </a:p>
          <a:p>
            <a:pPr indent="-342900" lvl="0" marL="457200" marR="0" rtl="0" algn="l">
              <a:lnSpc>
                <a:spcPct val="100000"/>
              </a:lnSpc>
              <a:spcBef>
                <a:spcPts val="0"/>
              </a:spcBef>
              <a:spcAft>
                <a:spcPts val="0"/>
              </a:spcAft>
              <a:buClr>
                <a:schemeClr val="dk1"/>
              </a:buClr>
              <a:buSzPts val="1800"/>
              <a:buFont typeface="Inter"/>
              <a:buChar char="●"/>
            </a:pPr>
            <a:r>
              <a:rPr lang="en" sz="1800">
                <a:solidFill>
                  <a:schemeClr val="dk1"/>
                </a:solidFill>
                <a:latin typeface="Inter"/>
                <a:ea typeface="Inter"/>
                <a:cs typeface="Inter"/>
                <a:sym typeface="Inter"/>
              </a:rPr>
              <a:t>Being aware of the potential biases arising from applying statistical methods to data is important to prevent biased or poorly analyzed data. This can </a:t>
            </a:r>
            <a:r>
              <a:rPr lang="en" sz="1800">
                <a:solidFill>
                  <a:schemeClr val="dk1"/>
                </a:solidFill>
                <a:latin typeface="Inter"/>
                <a:ea typeface="Inter"/>
                <a:cs typeface="Inter"/>
                <a:sym typeface="Inter"/>
              </a:rPr>
              <a:t>ultimately</a:t>
            </a:r>
            <a:r>
              <a:rPr lang="en" sz="1800">
                <a:solidFill>
                  <a:schemeClr val="dk1"/>
                </a:solidFill>
                <a:latin typeface="Inter"/>
                <a:ea typeface="Inter"/>
                <a:cs typeface="Inter"/>
                <a:sym typeface="Inter"/>
              </a:rPr>
              <a:t> lead to inaccurate models and misleading conclusions.</a:t>
            </a:r>
            <a:endParaRPr sz="1800">
              <a:solidFill>
                <a:schemeClr val="dk1"/>
              </a:solidFill>
              <a:latin typeface="Inter"/>
              <a:ea typeface="Inter"/>
              <a:cs typeface="Inter"/>
              <a:sym typeface="Inter"/>
            </a:endParaRPr>
          </a:p>
          <a:p>
            <a:pPr indent="-342900" lvl="0" marL="457200" marR="0" rtl="0" algn="l">
              <a:lnSpc>
                <a:spcPct val="100000"/>
              </a:lnSpc>
              <a:spcBef>
                <a:spcPts val="0"/>
              </a:spcBef>
              <a:spcAft>
                <a:spcPts val="0"/>
              </a:spcAft>
              <a:buClr>
                <a:schemeClr val="dk1"/>
              </a:buClr>
              <a:buSzPts val="1800"/>
              <a:buFont typeface="Inter"/>
              <a:buChar char="●"/>
            </a:pPr>
            <a:r>
              <a:rPr lang="en" sz="1800">
                <a:solidFill>
                  <a:schemeClr val="dk1"/>
                </a:solidFill>
                <a:latin typeface="Inter"/>
                <a:ea typeface="Inter"/>
                <a:cs typeface="Inter"/>
                <a:sym typeface="Inter"/>
              </a:rPr>
              <a:t>Addressing bias through the data pipeline ensures that machine learning results are fair and reliable.</a:t>
            </a:r>
            <a:endParaRPr sz="1800">
              <a:solidFill>
                <a:schemeClr val="dk1"/>
              </a:solidFill>
              <a:latin typeface="Inter"/>
              <a:ea typeface="Inter"/>
              <a:cs typeface="Inter"/>
              <a:sym typeface="Inter"/>
            </a:endParaRPr>
          </a:p>
          <a:p>
            <a:pPr indent="-342900" lvl="0" marL="457200" marR="0" rtl="0" algn="l">
              <a:lnSpc>
                <a:spcPct val="100000"/>
              </a:lnSpc>
              <a:spcBef>
                <a:spcPts val="0"/>
              </a:spcBef>
              <a:spcAft>
                <a:spcPts val="0"/>
              </a:spcAft>
              <a:buClr>
                <a:schemeClr val="dk1"/>
              </a:buClr>
              <a:buSzPts val="1800"/>
              <a:buFont typeface="Inter"/>
              <a:buChar char="●"/>
            </a:pPr>
            <a:r>
              <a:rPr lang="en" sz="1800">
                <a:solidFill>
                  <a:schemeClr val="dk1"/>
                </a:solidFill>
                <a:latin typeface="Inter"/>
                <a:ea typeface="Inter"/>
                <a:cs typeface="Inter"/>
                <a:sym typeface="Inter"/>
              </a:rPr>
              <a:t>Types of biases: societal, statistical, selection, measurement</a:t>
            </a:r>
            <a:endParaRPr sz="1800">
              <a:solidFill>
                <a:schemeClr val="dk1"/>
              </a:solidFill>
              <a:latin typeface="Inter"/>
              <a:ea typeface="Inter"/>
              <a:cs typeface="Inter"/>
              <a:sym typeface="Inte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9" name="Shape 379"/>
        <p:cNvGrpSpPr/>
        <p:nvPr/>
      </p:nvGrpSpPr>
      <p:grpSpPr>
        <a:xfrm>
          <a:off x="0" y="0"/>
          <a:ext cx="0" cy="0"/>
          <a:chOff x="0" y="0"/>
          <a:chExt cx="0" cy="0"/>
        </a:xfrm>
      </p:grpSpPr>
      <p:sp>
        <p:nvSpPr>
          <p:cNvPr id="380" name="Google Shape;380;g3c5d521f515_1_123"/>
          <p:cNvSpPr/>
          <p:nvPr/>
        </p:nvSpPr>
        <p:spPr>
          <a:xfrm>
            <a:off x="4813300" y="1077169"/>
            <a:ext cx="4102200" cy="3517500"/>
          </a:xfrm>
          <a:prstGeom prst="roundRect">
            <a:avLst>
              <a:gd fmla="val 16667" name="adj"/>
            </a:avLst>
          </a:prstGeom>
          <a:solidFill>
            <a:srgbClr val="D4E4D1"/>
          </a:solidFill>
          <a:ln>
            <a:noFill/>
          </a:ln>
        </p:spPr>
        <p:txBody>
          <a:bodyPr anchorCtr="0" anchor="ctr" bIns="91425" lIns="91425" spcFirstLastPara="1" rIns="91425" wrap="square" tIns="91425">
            <a:noAutofit/>
          </a:bodyPr>
          <a:lstStyle/>
          <a:p>
            <a:pPr indent="0" lvl="0" marL="2743200" marR="0" rtl="0" algn="ctr">
              <a:lnSpc>
                <a:spcPct val="100000"/>
              </a:lnSpc>
              <a:spcBef>
                <a:spcPts val="0"/>
              </a:spcBef>
              <a:spcAft>
                <a:spcPts val="0"/>
              </a:spcAft>
              <a:buClr>
                <a:srgbClr val="000000"/>
              </a:buClr>
              <a:buSzPts val="1400"/>
              <a:buFont typeface="Arial"/>
              <a:buNone/>
            </a:pPr>
            <a:r>
              <a:t/>
            </a:r>
            <a:endParaRPr i="0" sz="1400" u="none" cap="none" strike="noStrike">
              <a:solidFill>
                <a:srgbClr val="000000"/>
              </a:solidFill>
              <a:latin typeface="Inter"/>
              <a:ea typeface="Inter"/>
              <a:cs typeface="Inter"/>
              <a:sym typeface="Inter"/>
            </a:endParaRPr>
          </a:p>
        </p:txBody>
      </p:sp>
      <p:sp>
        <p:nvSpPr>
          <p:cNvPr id="381" name="Google Shape;381;g3c5d521f515_1_123"/>
          <p:cNvSpPr/>
          <p:nvPr/>
        </p:nvSpPr>
        <p:spPr>
          <a:xfrm>
            <a:off x="376550" y="1055994"/>
            <a:ext cx="4173900" cy="3517500"/>
          </a:xfrm>
          <a:prstGeom prst="roundRect">
            <a:avLst>
              <a:gd fmla="val 16667" name="adj"/>
            </a:avLst>
          </a:prstGeom>
          <a:solidFill>
            <a:srgbClr val="F5F0E8"/>
          </a:solidFill>
          <a:ln>
            <a:noFill/>
          </a:ln>
        </p:spPr>
        <p:txBody>
          <a:bodyPr anchorCtr="0" anchor="ctr" bIns="91425" lIns="91425" spcFirstLastPara="1" rIns="91425" wrap="square" tIns="91425">
            <a:noAutofit/>
          </a:bodyPr>
          <a:lstStyle/>
          <a:p>
            <a:pPr indent="0" lvl="0" marL="2743200" marR="0" rtl="0" algn="ctr">
              <a:lnSpc>
                <a:spcPct val="100000"/>
              </a:lnSpc>
              <a:spcBef>
                <a:spcPts val="0"/>
              </a:spcBef>
              <a:spcAft>
                <a:spcPts val="0"/>
              </a:spcAft>
              <a:buClr>
                <a:srgbClr val="000000"/>
              </a:buClr>
              <a:buSzPts val="1400"/>
              <a:buFont typeface="Arial"/>
              <a:buNone/>
            </a:pPr>
            <a:r>
              <a:t/>
            </a:r>
            <a:endParaRPr i="0" sz="1400" u="none" cap="none" strike="noStrike">
              <a:solidFill>
                <a:srgbClr val="000000"/>
              </a:solidFill>
              <a:latin typeface="Inter"/>
              <a:ea typeface="Inter"/>
              <a:cs typeface="Inter"/>
              <a:sym typeface="Inter"/>
            </a:endParaRPr>
          </a:p>
        </p:txBody>
      </p:sp>
      <p:sp>
        <p:nvSpPr>
          <p:cNvPr id="382" name="Google Shape;382;g3c5d521f515_1_123"/>
          <p:cNvSpPr/>
          <p:nvPr/>
        </p:nvSpPr>
        <p:spPr>
          <a:xfrm>
            <a:off x="760218" y="1414770"/>
            <a:ext cx="3279600" cy="4554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1A2E"/>
              </a:buClr>
              <a:buSzPts val="1400"/>
              <a:buFont typeface="Georgia"/>
              <a:buNone/>
            </a:pPr>
            <a:r>
              <a:rPr b="1" lang="en" sz="1700">
                <a:solidFill>
                  <a:srgbClr val="1A1A2E"/>
                </a:solidFill>
                <a:latin typeface="Inter"/>
                <a:ea typeface="Inter"/>
                <a:cs typeface="Inter"/>
                <a:sym typeface="Inter"/>
              </a:rPr>
              <a:t>Definition</a:t>
            </a:r>
            <a:endParaRPr b="1" i="0" sz="1700" u="none" cap="none" strike="noStrike">
              <a:solidFill>
                <a:srgbClr val="000000"/>
              </a:solidFill>
              <a:latin typeface="Inter"/>
              <a:ea typeface="Inter"/>
              <a:cs typeface="Inter"/>
              <a:sym typeface="Inter"/>
            </a:endParaRPr>
          </a:p>
        </p:txBody>
      </p:sp>
      <p:sp>
        <p:nvSpPr>
          <p:cNvPr id="383" name="Google Shape;383;g3c5d521f515_1_123"/>
          <p:cNvSpPr/>
          <p:nvPr/>
        </p:nvSpPr>
        <p:spPr>
          <a:xfrm>
            <a:off x="760218" y="1850063"/>
            <a:ext cx="846000" cy="30300"/>
          </a:xfrm>
          <a:prstGeom prst="rect">
            <a:avLst/>
          </a:prstGeom>
          <a:solidFill>
            <a:srgbClr val="B85C3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i="0" sz="1400" u="none" cap="none" strike="noStrike">
              <a:solidFill>
                <a:srgbClr val="000000"/>
              </a:solidFill>
              <a:latin typeface="Inter"/>
              <a:ea typeface="Inter"/>
              <a:cs typeface="Inter"/>
              <a:sym typeface="Inter"/>
            </a:endParaRPr>
          </a:p>
        </p:txBody>
      </p:sp>
      <p:sp>
        <p:nvSpPr>
          <p:cNvPr id="384" name="Google Shape;384;g3c5d521f515_1_123"/>
          <p:cNvSpPr/>
          <p:nvPr/>
        </p:nvSpPr>
        <p:spPr>
          <a:xfrm>
            <a:off x="5153703" y="1414920"/>
            <a:ext cx="3223500" cy="455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1A2E"/>
              </a:buClr>
              <a:buSzPts val="1400"/>
              <a:buFont typeface="Georgia"/>
              <a:buNone/>
            </a:pPr>
            <a:r>
              <a:rPr b="1" lang="en" sz="1700">
                <a:solidFill>
                  <a:srgbClr val="1A1A2E"/>
                </a:solidFill>
                <a:latin typeface="Inter"/>
                <a:ea typeface="Inter"/>
                <a:cs typeface="Inter"/>
                <a:sym typeface="Inter"/>
              </a:rPr>
              <a:t>Bayesian Hierarchical Model</a:t>
            </a:r>
            <a:endParaRPr b="1" i="0" sz="1700" u="none" cap="none" strike="noStrike">
              <a:solidFill>
                <a:srgbClr val="000000"/>
              </a:solidFill>
              <a:latin typeface="Inter"/>
              <a:ea typeface="Inter"/>
              <a:cs typeface="Inter"/>
              <a:sym typeface="Inter"/>
            </a:endParaRPr>
          </a:p>
        </p:txBody>
      </p:sp>
      <p:sp>
        <p:nvSpPr>
          <p:cNvPr id="385" name="Google Shape;385;g3c5d521f515_1_123"/>
          <p:cNvSpPr/>
          <p:nvPr/>
        </p:nvSpPr>
        <p:spPr>
          <a:xfrm>
            <a:off x="5153703" y="1801360"/>
            <a:ext cx="716100" cy="30300"/>
          </a:xfrm>
          <a:prstGeom prst="rect">
            <a:avLst/>
          </a:prstGeom>
          <a:solidFill>
            <a:srgbClr val="2C6E6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i="0" sz="1400" u="none" cap="none" strike="noStrike">
              <a:solidFill>
                <a:srgbClr val="000000"/>
              </a:solidFill>
              <a:latin typeface="Inter"/>
              <a:ea typeface="Inter"/>
              <a:cs typeface="Inter"/>
              <a:sym typeface="Inter"/>
            </a:endParaRPr>
          </a:p>
        </p:txBody>
      </p:sp>
      <p:grpSp>
        <p:nvGrpSpPr>
          <p:cNvPr id="386" name="Google Shape;386;g3c5d521f515_1_123"/>
          <p:cNvGrpSpPr/>
          <p:nvPr/>
        </p:nvGrpSpPr>
        <p:grpSpPr>
          <a:xfrm>
            <a:off x="8625" y="0"/>
            <a:ext cx="9144000" cy="267600"/>
            <a:chOff x="8625" y="0"/>
            <a:chExt cx="9144000" cy="267600"/>
          </a:xfrm>
        </p:grpSpPr>
        <p:sp>
          <p:nvSpPr>
            <p:cNvPr id="387" name="Google Shape;387;g3c5d521f515_1_123"/>
            <p:cNvSpPr/>
            <p:nvPr/>
          </p:nvSpPr>
          <p:spPr>
            <a:xfrm>
              <a:off x="8625" y="0"/>
              <a:ext cx="9144000" cy="2676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388" name="Google Shape;388;g3c5d521f515_1_123" title="Logo Header.png"/>
            <p:cNvPicPr preferRelativeResize="0"/>
            <p:nvPr/>
          </p:nvPicPr>
          <p:blipFill rotWithShape="1">
            <a:blip r:embed="rId3">
              <a:alphaModFix/>
            </a:blip>
            <a:srcRect b="0" l="0" r="0" t="0"/>
            <a:stretch/>
          </p:blipFill>
          <p:spPr>
            <a:xfrm>
              <a:off x="8348195" y="15790"/>
              <a:ext cx="634775" cy="199625"/>
            </a:xfrm>
            <a:prstGeom prst="rect">
              <a:avLst/>
            </a:prstGeom>
            <a:noFill/>
            <a:ln>
              <a:noFill/>
            </a:ln>
          </p:spPr>
        </p:pic>
      </p:grpSp>
      <p:sp>
        <p:nvSpPr>
          <p:cNvPr id="389" name="Google Shape;389;g3c5d521f515_1_123"/>
          <p:cNvSpPr txBox="1"/>
          <p:nvPr>
            <p:ph idx="1" type="subTitle"/>
          </p:nvPr>
        </p:nvSpPr>
        <p:spPr>
          <a:xfrm>
            <a:off x="398200" y="460488"/>
            <a:ext cx="5545500" cy="809700"/>
          </a:xfrm>
          <a:prstGeom prst="rect">
            <a:avLst/>
          </a:prstGeom>
          <a:noFill/>
          <a:ln>
            <a:noFill/>
          </a:ln>
        </p:spPr>
        <p:txBody>
          <a:bodyPr anchorCtr="0" anchor="t" bIns="91425" lIns="91425" spcFirstLastPara="1" rIns="91425" wrap="square" tIns="91425">
            <a:noAutofit/>
          </a:bodyPr>
          <a:lstStyle/>
          <a:p>
            <a:pPr indent="0" lvl="0" marL="0" rtl="0" algn="l">
              <a:lnSpc>
                <a:spcPct val="80000"/>
              </a:lnSpc>
              <a:spcBef>
                <a:spcPts val="0"/>
              </a:spcBef>
              <a:spcAft>
                <a:spcPts val="0"/>
              </a:spcAft>
              <a:buClr>
                <a:schemeClr val="dk1"/>
              </a:buClr>
              <a:buSzPts val="1960"/>
              <a:buFont typeface="Arial"/>
              <a:buNone/>
            </a:pPr>
            <a:r>
              <a:rPr b="1" lang="en" sz="2700">
                <a:solidFill>
                  <a:schemeClr val="dk1"/>
                </a:solidFill>
                <a:latin typeface="Inter"/>
                <a:ea typeface="Inter"/>
                <a:cs typeface="Inter"/>
                <a:sym typeface="Inter"/>
              </a:rPr>
              <a:t>Bayesian Statistics</a:t>
            </a:r>
            <a:endParaRPr b="1" sz="2700">
              <a:solidFill>
                <a:schemeClr val="dk1"/>
              </a:solidFill>
              <a:latin typeface="Inter"/>
              <a:ea typeface="Inter"/>
              <a:cs typeface="Inter"/>
              <a:sym typeface="Inter"/>
            </a:endParaRPr>
          </a:p>
          <a:p>
            <a:pPr indent="0" lvl="0" marL="0" rtl="0" algn="l">
              <a:lnSpc>
                <a:spcPct val="80000"/>
              </a:lnSpc>
              <a:spcBef>
                <a:spcPts val="0"/>
              </a:spcBef>
              <a:spcAft>
                <a:spcPts val="0"/>
              </a:spcAft>
              <a:buSzPts val="1960"/>
              <a:buNone/>
            </a:pPr>
            <a:r>
              <a:t/>
            </a:r>
            <a:endParaRPr b="1" sz="2700">
              <a:solidFill>
                <a:schemeClr val="dk1"/>
              </a:solidFill>
              <a:latin typeface="Inter"/>
              <a:ea typeface="Inter"/>
              <a:cs typeface="Inter"/>
              <a:sym typeface="Inter"/>
            </a:endParaRPr>
          </a:p>
        </p:txBody>
      </p:sp>
      <p:sp>
        <p:nvSpPr>
          <p:cNvPr id="390" name="Google Shape;390;g3c5d521f515_1_123"/>
          <p:cNvSpPr txBox="1"/>
          <p:nvPr/>
        </p:nvSpPr>
        <p:spPr>
          <a:xfrm>
            <a:off x="633225" y="1952930"/>
            <a:ext cx="3695700" cy="21402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lang="en">
                <a:solidFill>
                  <a:schemeClr val="dk2"/>
                </a:solidFill>
                <a:latin typeface="Inter"/>
                <a:ea typeface="Inter"/>
                <a:cs typeface="Inter"/>
                <a:sym typeface="Inter"/>
              </a:rPr>
              <a:t>In Bayesian Statistics we treat parameters as random variables, and assume that parameters’ values change because the datasets change. As you acquire more data your predictions and probabilities are updated to become more accurate.</a:t>
            </a:r>
            <a:endParaRPr>
              <a:solidFill>
                <a:schemeClr val="dk2"/>
              </a:solidFill>
              <a:latin typeface="Inter"/>
              <a:ea typeface="Inter"/>
              <a:cs typeface="Inter"/>
              <a:sym typeface="Inter"/>
            </a:endParaRPr>
          </a:p>
          <a:p>
            <a:pPr indent="0" lvl="0" marL="0" rtl="0" algn="l">
              <a:lnSpc>
                <a:spcPct val="115000"/>
              </a:lnSpc>
              <a:spcBef>
                <a:spcPts val="1200"/>
              </a:spcBef>
              <a:spcAft>
                <a:spcPts val="0"/>
              </a:spcAft>
              <a:buNone/>
            </a:pPr>
            <a:r>
              <a:t/>
            </a:r>
            <a:endParaRPr sz="1200">
              <a:solidFill>
                <a:schemeClr val="dk2"/>
              </a:solidFill>
              <a:latin typeface="Inter"/>
              <a:ea typeface="Inter"/>
              <a:cs typeface="Inter"/>
              <a:sym typeface="Inter"/>
            </a:endParaRPr>
          </a:p>
          <a:p>
            <a:pPr indent="0" lvl="0" marL="0" rtl="0" algn="l">
              <a:spcBef>
                <a:spcPts val="1200"/>
              </a:spcBef>
              <a:spcAft>
                <a:spcPts val="0"/>
              </a:spcAft>
              <a:buNone/>
            </a:pPr>
            <a:r>
              <a:t/>
            </a:r>
            <a:endParaRPr sz="1200">
              <a:solidFill>
                <a:schemeClr val="dk2"/>
              </a:solidFill>
              <a:latin typeface="Inter"/>
              <a:ea typeface="Inter"/>
              <a:cs typeface="Inter"/>
              <a:sym typeface="Inter"/>
            </a:endParaRPr>
          </a:p>
        </p:txBody>
      </p:sp>
      <p:sp>
        <p:nvSpPr>
          <p:cNvPr id="391" name="Google Shape;391;g3c5d521f515_1_123"/>
          <p:cNvSpPr txBox="1"/>
          <p:nvPr/>
        </p:nvSpPr>
        <p:spPr>
          <a:xfrm>
            <a:off x="5060778" y="1887156"/>
            <a:ext cx="3629100" cy="25779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lang="en">
                <a:solidFill>
                  <a:schemeClr val="dk2"/>
                </a:solidFill>
                <a:latin typeface="Inter"/>
                <a:ea typeface="Inter"/>
                <a:cs typeface="Inter"/>
                <a:sym typeface="Inter"/>
              </a:rPr>
              <a:t>Parameters are modeled at multiple levels of a hierarchy, allowing related groups to share information.</a:t>
            </a:r>
            <a:endParaRPr>
              <a:solidFill>
                <a:schemeClr val="dk2"/>
              </a:solidFill>
              <a:latin typeface="Inter"/>
              <a:ea typeface="Inter"/>
              <a:cs typeface="Inter"/>
              <a:sym typeface="Inter"/>
            </a:endParaRPr>
          </a:p>
          <a:p>
            <a:pPr indent="-311150" lvl="1" marL="914400" rtl="0" algn="l">
              <a:lnSpc>
                <a:spcPct val="115000"/>
              </a:lnSpc>
              <a:spcBef>
                <a:spcPts val="1200"/>
              </a:spcBef>
              <a:spcAft>
                <a:spcPts val="0"/>
              </a:spcAft>
              <a:buClr>
                <a:schemeClr val="dk1"/>
              </a:buClr>
              <a:buSzPts val="1300"/>
              <a:buFont typeface="Inter"/>
              <a:buChar char="○"/>
            </a:pPr>
            <a:r>
              <a:rPr lang="en">
                <a:solidFill>
                  <a:schemeClr val="dk2"/>
                </a:solidFill>
                <a:latin typeface="Inter"/>
                <a:ea typeface="Inter"/>
                <a:cs typeface="Inter"/>
                <a:sym typeface="Inter"/>
              </a:rPr>
              <a:t>Individual observations belong to groups, group parameters are drawn from shared distribution</a:t>
            </a:r>
            <a:endParaRPr>
              <a:solidFill>
                <a:schemeClr val="dk2"/>
              </a:solidFill>
              <a:latin typeface="Inter"/>
              <a:ea typeface="Inter"/>
              <a:cs typeface="Inter"/>
              <a:sym typeface="Inter"/>
            </a:endParaRPr>
          </a:p>
          <a:p>
            <a:pPr indent="0" lvl="0" marL="0" rtl="0" algn="l">
              <a:spcBef>
                <a:spcPts val="1200"/>
              </a:spcBef>
              <a:spcAft>
                <a:spcPts val="0"/>
              </a:spcAft>
              <a:buNone/>
            </a:pPr>
            <a:r>
              <a:t/>
            </a:r>
            <a:endParaRPr sz="1200">
              <a:solidFill>
                <a:schemeClr val="dk2"/>
              </a:solidFill>
              <a:latin typeface="Inter"/>
              <a:ea typeface="Inter"/>
              <a:cs typeface="Inter"/>
              <a:sym typeface="Inte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5" name="Shape 395"/>
        <p:cNvGrpSpPr/>
        <p:nvPr/>
      </p:nvGrpSpPr>
      <p:grpSpPr>
        <a:xfrm>
          <a:off x="0" y="0"/>
          <a:ext cx="0" cy="0"/>
          <a:chOff x="0" y="0"/>
          <a:chExt cx="0" cy="0"/>
        </a:xfrm>
      </p:grpSpPr>
      <p:sp>
        <p:nvSpPr>
          <p:cNvPr id="396" name="Google Shape;396;g3c5d521f515_1_144"/>
          <p:cNvSpPr/>
          <p:nvPr/>
        </p:nvSpPr>
        <p:spPr>
          <a:xfrm>
            <a:off x="4813300" y="1012175"/>
            <a:ext cx="4102200" cy="3828900"/>
          </a:xfrm>
          <a:prstGeom prst="roundRect">
            <a:avLst>
              <a:gd fmla="val 16667" name="adj"/>
            </a:avLst>
          </a:prstGeom>
          <a:solidFill>
            <a:srgbClr val="D4E4D1"/>
          </a:solidFill>
          <a:ln>
            <a:noFill/>
          </a:ln>
        </p:spPr>
        <p:txBody>
          <a:bodyPr anchorCtr="0" anchor="ctr" bIns="91425" lIns="91425" spcFirstLastPara="1" rIns="91425" wrap="square" tIns="91425">
            <a:noAutofit/>
          </a:bodyPr>
          <a:lstStyle/>
          <a:p>
            <a:pPr indent="0" lvl="0" marL="2743200" marR="0" rtl="0" algn="ctr">
              <a:lnSpc>
                <a:spcPct val="100000"/>
              </a:lnSpc>
              <a:spcBef>
                <a:spcPts val="0"/>
              </a:spcBef>
              <a:spcAft>
                <a:spcPts val="0"/>
              </a:spcAft>
              <a:buClr>
                <a:srgbClr val="000000"/>
              </a:buClr>
              <a:buSzPts val="1400"/>
              <a:buFont typeface="Arial"/>
              <a:buNone/>
            </a:pPr>
            <a:r>
              <a:t/>
            </a:r>
            <a:endParaRPr i="0" sz="1400" u="none" cap="none" strike="noStrike">
              <a:solidFill>
                <a:srgbClr val="000000"/>
              </a:solidFill>
              <a:latin typeface="Inter"/>
              <a:ea typeface="Inter"/>
              <a:cs typeface="Inter"/>
              <a:sym typeface="Inter"/>
            </a:endParaRPr>
          </a:p>
        </p:txBody>
      </p:sp>
      <p:sp>
        <p:nvSpPr>
          <p:cNvPr id="397" name="Google Shape;397;g3c5d521f515_1_144"/>
          <p:cNvSpPr/>
          <p:nvPr/>
        </p:nvSpPr>
        <p:spPr>
          <a:xfrm>
            <a:off x="376550" y="991000"/>
            <a:ext cx="4173900" cy="2817600"/>
          </a:xfrm>
          <a:prstGeom prst="roundRect">
            <a:avLst>
              <a:gd fmla="val 16667" name="adj"/>
            </a:avLst>
          </a:prstGeom>
          <a:solidFill>
            <a:srgbClr val="F5F0E8"/>
          </a:solidFill>
          <a:ln>
            <a:noFill/>
          </a:ln>
        </p:spPr>
        <p:txBody>
          <a:bodyPr anchorCtr="0" anchor="ctr" bIns="91425" lIns="91425" spcFirstLastPara="1" rIns="91425" wrap="square" tIns="91425">
            <a:noAutofit/>
          </a:bodyPr>
          <a:lstStyle/>
          <a:p>
            <a:pPr indent="0" lvl="0" marL="2743200" marR="0" rtl="0" algn="ctr">
              <a:lnSpc>
                <a:spcPct val="100000"/>
              </a:lnSpc>
              <a:spcBef>
                <a:spcPts val="0"/>
              </a:spcBef>
              <a:spcAft>
                <a:spcPts val="0"/>
              </a:spcAft>
              <a:buClr>
                <a:srgbClr val="000000"/>
              </a:buClr>
              <a:buSzPts val="1400"/>
              <a:buFont typeface="Arial"/>
              <a:buNone/>
            </a:pPr>
            <a:r>
              <a:t/>
            </a:r>
            <a:endParaRPr i="0" sz="1400" u="none" cap="none" strike="noStrike">
              <a:solidFill>
                <a:srgbClr val="000000"/>
              </a:solidFill>
              <a:latin typeface="Inter"/>
              <a:ea typeface="Inter"/>
              <a:cs typeface="Inter"/>
              <a:sym typeface="Inter"/>
            </a:endParaRPr>
          </a:p>
        </p:txBody>
      </p:sp>
      <p:sp>
        <p:nvSpPr>
          <p:cNvPr id="398" name="Google Shape;398;g3c5d521f515_1_144"/>
          <p:cNvSpPr/>
          <p:nvPr/>
        </p:nvSpPr>
        <p:spPr>
          <a:xfrm>
            <a:off x="760218" y="1785069"/>
            <a:ext cx="846000" cy="30300"/>
          </a:xfrm>
          <a:prstGeom prst="rect">
            <a:avLst/>
          </a:prstGeom>
          <a:solidFill>
            <a:srgbClr val="B85C3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i="0" sz="1400" u="none" cap="none" strike="noStrike">
              <a:solidFill>
                <a:srgbClr val="000000"/>
              </a:solidFill>
              <a:latin typeface="Inter"/>
              <a:ea typeface="Inter"/>
              <a:cs typeface="Inter"/>
              <a:sym typeface="Inter"/>
            </a:endParaRPr>
          </a:p>
        </p:txBody>
      </p:sp>
      <p:sp>
        <p:nvSpPr>
          <p:cNvPr id="399" name="Google Shape;399;g3c5d521f515_1_144"/>
          <p:cNvSpPr/>
          <p:nvPr/>
        </p:nvSpPr>
        <p:spPr>
          <a:xfrm>
            <a:off x="5153703" y="1736365"/>
            <a:ext cx="716100" cy="30300"/>
          </a:xfrm>
          <a:prstGeom prst="rect">
            <a:avLst/>
          </a:prstGeom>
          <a:solidFill>
            <a:srgbClr val="2C6E6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i="0" sz="1400" u="none" cap="none" strike="noStrike">
              <a:solidFill>
                <a:srgbClr val="000000"/>
              </a:solidFill>
              <a:latin typeface="Inter"/>
              <a:ea typeface="Inter"/>
              <a:cs typeface="Inter"/>
              <a:sym typeface="Inter"/>
            </a:endParaRPr>
          </a:p>
        </p:txBody>
      </p:sp>
      <p:sp>
        <p:nvSpPr>
          <p:cNvPr id="400" name="Google Shape;400;g3c5d521f515_1_144"/>
          <p:cNvSpPr/>
          <p:nvPr/>
        </p:nvSpPr>
        <p:spPr>
          <a:xfrm>
            <a:off x="760218" y="1369136"/>
            <a:ext cx="3279600" cy="4554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1A2E"/>
              </a:buClr>
              <a:buSzPts val="1400"/>
              <a:buFont typeface="Georgia"/>
              <a:buNone/>
            </a:pPr>
            <a:r>
              <a:rPr b="1" lang="en" sz="1700">
                <a:solidFill>
                  <a:srgbClr val="1A1A2E"/>
                </a:solidFill>
                <a:latin typeface="Inter"/>
                <a:ea typeface="Inter"/>
                <a:cs typeface="Inter"/>
                <a:sym typeface="Inter"/>
              </a:rPr>
              <a:t>Definition</a:t>
            </a:r>
            <a:endParaRPr b="1" i="0" sz="1700" u="none" cap="none" strike="noStrike">
              <a:solidFill>
                <a:srgbClr val="000000"/>
              </a:solidFill>
              <a:latin typeface="Inter"/>
              <a:ea typeface="Inter"/>
              <a:cs typeface="Inter"/>
              <a:sym typeface="Inter"/>
            </a:endParaRPr>
          </a:p>
        </p:txBody>
      </p:sp>
      <p:sp>
        <p:nvSpPr>
          <p:cNvPr id="401" name="Google Shape;401;g3c5d521f515_1_144"/>
          <p:cNvSpPr/>
          <p:nvPr/>
        </p:nvSpPr>
        <p:spPr>
          <a:xfrm>
            <a:off x="5153703" y="1369286"/>
            <a:ext cx="3223500" cy="455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1A2E"/>
              </a:buClr>
              <a:buSzPts val="1400"/>
              <a:buFont typeface="Georgia"/>
              <a:buNone/>
            </a:pPr>
            <a:r>
              <a:rPr b="1" lang="en" sz="1700">
                <a:solidFill>
                  <a:srgbClr val="1A1A2E"/>
                </a:solidFill>
                <a:latin typeface="Inter"/>
                <a:ea typeface="Inter"/>
                <a:cs typeface="Inter"/>
                <a:sym typeface="Inter"/>
              </a:rPr>
              <a:t>ANOVA-Analysis of Variance</a:t>
            </a:r>
            <a:endParaRPr b="1" i="0" sz="1700" u="none" cap="none" strike="noStrike">
              <a:solidFill>
                <a:srgbClr val="000000"/>
              </a:solidFill>
              <a:latin typeface="Inter"/>
              <a:ea typeface="Inter"/>
              <a:cs typeface="Inter"/>
              <a:sym typeface="Inter"/>
            </a:endParaRPr>
          </a:p>
        </p:txBody>
      </p:sp>
      <p:grpSp>
        <p:nvGrpSpPr>
          <p:cNvPr id="402" name="Google Shape;402;g3c5d521f515_1_144"/>
          <p:cNvGrpSpPr/>
          <p:nvPr/>
        </p:nvGrpSpPr>
        <p:grpSpPr>
          <a:xfrm>
            <a:off x="8625" y="0"/>
            <a:ext cx="9144000" cy="267600"/>
            <a:chOff x="8625" y="0"/>
            <a:chExt cx="9144000" cy="267600"/>
          </a:xfrm>
        </p:grpSpPr>
        <p:sp>
          <p:nvSpPr>
            <p:cNvPr id="403" name="Google Shape;403;g3c5d521f515_1_144"/>
            <p:cNvSpPr/>
            <p:nvPr/>
          </p:nvSpPr>
          <p:spPr>
            <a:xfrm>
              <a:off x="8625" y="0"/>
              <a:ext cx="9144000" cy="2676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404" name="Google Shape;404;g3c5d521f515_1_144" title="Logo Header.png"/>
            <p:cNvPicPr preferRelativeResize="0"/>
            <p:nvPr/>
          </p:nvPicPr>
          <p:blipFill rotWithShape="1">
            <a:blip r:embed="rId3">
              <a:alphaModFix/>
            </a:blip>
            <a:srcRect b="0" l="0" r="0" t="0"/>
            <a:stretch/>
          </p:blipFill>
          <p:spPr>
            <a:xfrm>
              <a:off x="8348195" y="15790"/>
              <a:ext cx="634775" cy="199625"/>
            </a:xfrm>
            <a:prstGeom prst="rect">
              <a:avLst/>
            </a:prstGeom>
            <a:noFill/>
            <a:ln>
              <a:noFill/>
            </a:ln>
          </p:spPr>
        </p:pic>
      </p:grpSp>
      <p:sp>
        <p:nvSpPr>
          <p:cNvPr id="405" name="Google Shape;405;g3c5d521f515_1_144"/>
          <p:cNvSpPr txBox="1"/>
          <p:nvPr>
            <p:ph idx="1" type="subTitle"/>
          </p:nvPr>
        </p:nvSpPr>
        <p:spPr>
          <a:xfrm>
            <a:off x="398200" y="460488"/>
            <a:ext cx="5545500" cy="809700"/>
          </a:xfrm>
          <a:prstGeom prst="rect">
            <a:avLst/>
          </a:prstGeom>
          <a:noFill/>
          <a:ln>
            <a:noFill/>
          </a:ln>
        </p:spPr>
        <p:txBody>
          <a:bodyPr anchorCtr="0" anchor="t" bIns="91425" lIns="91425" spcFirstLastPara="1" rIns="91425" wrap="square" tIns="91425">
            <a:noAutofit/>
          </a:bodyPr>
          <a:lstStyle/>
          <a:p>
            <a:pPr indent="0" lvl="0" marL="0" rtl="0" algn="l">
              <a:lnSpc>
                <a:spcPct val="80000"/>
              </a:lnSpc>
              <a:spcBef>
                <a:spcPts val="0"/>
              </a:spcBef>
              <a:spcAft>
                <a:spcPts val="0"/>
              </a:spcAft>
              <a:buSzPts val="1960"/>
              <a:buNone/>
            </a:pPr>
            <a:r>
              <a:rPr b="1" lang="en" sz="2700">
                <a:solidFill>
                  <a:schemeClr val="dk1"/>
                </a:solidFill>
                <a:latin typeface="Inter"/>
                <a:ea typeface="Inter"/>
                <a:cs typeface="Inter"/>
                <a:sym typeface="Inter"/>
              </a:rPr>
              <a:t>Parametric</a:t>
            </a:r>
            <a:r>
              <a:rPr b="1" lang="en" sz="2700">
                <a:solidFill>
                  <a:schemeClr val="dk1"/>
                </a:solidFill>
                <a:latin typeface="Inter"/>
                <a:ea typeface="Inter"/>
                <a:cs typeface="Inter"/>
                <a:sym typeface="Inter"/>
              </a:rPr>
              <a:t> Statistics</a:t>
            </a:r>
            <a:endParaRPr b="1" sz="2700">
              <a:solidFill>
                <a:schemeClr val="dk1"/>
              </a:solidFill>
              <a:latin typeface="Inter"/>
              <a:ea typeface="Inter"/>
              <a:cs typeface="Inter"/>
              <a:sym typeface="Inter"/>
            </a:endParaRPr>
          </a:p>
          <a:p>
            <a:pPr indent="0" lvl="0" marL="0" rtl="0" algn="l">
              <a:lnSpc>
                <a:spcPct val="80000"/>
              </a:lnSpc>
              <a:spcBef>
                <a:spcPts val="0"/>
              </a:spcBef>
              <a:spcAft>
                <a:spcPts val="0"/>
              </a:spcAft>
              <a:buSzPts val="1960"/>
              <a:buNone/>
            </a:pPr>
            <a:r>
              <a:t/>
            </a:r>
            <a:endParaRPr b="1" sz="2700">
              <a:solidFill>
                <a:schemeClr val="dk1"/>
              </a:solidFill>
              <a:latin typeface="Inter"/>
              <a:ea typeface="Inter"/>
              <a:cs typeface="Inter"/>
              <a:sym typeface="Inter"/>
            </a:endParaRPr>
          </a:p>
        </p:txBody>
      </p:sp>
      <p:sp>
        <p:nvSpPr>
          <p:cNvPr id="406" name="Google Shape;406;g3c5d521f515_1_144"/>
          <p:cNvSpPr txBox="1"/>
          <p:nvPr/>
        </p:nvSpPr>
        <p:spPr>
          <a:xfrm>
            <a:off x="633225" y="1796248"/>
            <a:ext cx="3695700" cy="21402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lang="en">
                <a:solidFill>
                  <a:schemeClr val="dk2"/>
                </a:solidFill>
                <a:latin typeface="Inter"/>
                <a:ea typeface="Inter"/>
                <a:cs typeface="Inter"/>
                <a:sym typeface="Inter"/>
              </a:rPr>
              <a:t>Parametric statistical methods assume that data follow a specific probability distribution. These methods look at parameters such as mean and variance, allowing for inferences about the larger population.</a:t>
            </a:r>
            <a:endParaRPr>
              <a:solidFill>
                <a:schemeClr val="dk2"/>
              </a:solidFill>
              <a:latin typeface="Inter"/>
              <a:ea typeface="Inter"/>
              <a:cs typeface="Inter"/>
              <a:sym typeface="Inter"/>
            </a:endParaRPr>
          </a:p>
          <a:p>
            <a:pPr indent="0" lvl="0" marL="0" rtl="0" algn="l">
              <a:lnSpc>
                <a:spcPct val="115000"/>
              </a:lnSpc>
              <a:spcBef>
                <a:spcPts val="1200"/>
              </a:spcBef>
              <a:spcAft>
                <a:spcPts val="0"/>
              </a:spcAft>
              <a:buNone/>
            </a:pPr>
            <a:r>
              <a:t/>
            </a:r>
            <a:endParaRPr sz="1200">
              <a:solidFill>
                <a:schemeClr val="dk2"/>
              </a:solidFill>
              <a:latin typeface="Inter"/>
              <a:ea typeface="Inter"/>
              <a:cs typeface="Inter"/>
              <a:sym typeface="Inter"/>
            </a:endParaRPr>
          </a:p>
          <a:p>
            <a:pPr indent="0" lvl="0" marL="0" rtl="0" algn="l">
              <a:spcBef>
                <a:spcPts val="1200"/>
              </a:spcBef>
              <a:spcAft>
                <a:spcPts val="0"/>
              </a:spcAft>
              <a:buNone/>
            </a:pPr>
            <a:r>
              <a:t/>
            </a:r>
            <a:endParaRPr sz="1200">
              <a:solidFill>
                <a:schemeClr val="dk2"/>
              </a:solidFill>
              <a:latin typeface="Inter"/>
              <a:ea typeface="Inter"/>
              <a:cs typeface="Inter"/>
              <a:sym typeface="Inter"/>
            </a:endParaRPr>
          </a:p>
        </p:txBody>
      </p:sp>
      <p:sp>
        <p:nvSpPr>
          <p:cNvPr id="407" name="Google Shape;407;g3c5d521f515_1_144"/>
          <p:cNvSpPr txBox="1"/>
          <p:nvPr/>
        </p:nvSpPr>
        <p:spPr>
          <a:xfrm>
            <a:off x="5059319" y="1821962"/>
            <a:ext cx="3629100" cy="25779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lang="en">
                <a:solidFill>
                  <a:schemeClr val="dk2"/>
                </a:solidFill>
                <a:latin typeface="Inter"/>
                <a:ea typeface="Inter"/>
                <a:cs typeface="Inter"/>
                <a:sym typeface="Inter"/>
              </a:rPr>
              <a:t>Used to compare the means of groups to see if at least one group mean is significantly different from the others.</a:t>
            </a:r>
            <a:endParaRPr>
              <a:solidFill>
                <a:schemeClr val="dk2"/>
              </a:solidFill>
              <a:latin typeface="Inter"/>
              <a:ea typeface="Inter"/>
              <a:cs typeface="Inter"/>
              <a:sym typeface="Inter"/>
            </a:endParaRPr>
          </a:p>
          <a:p>
            <a:pPr indent="0" lvl="0" marL="0" rtl="0" algn="l">
              <a:lnSpc>
                <a:spcPct val="115000"/>
              </a:lnSpc>
              <a:spcBef>
                <a:spcPts val="1200"/>
              </a:spcBef>
              <a:spcAft>
                <a:spcPts val="0"/>
              </a:spcAft>
              <a:buNone/>
            </a:pPr>
            <a:r>
              <a:rPr lang="en">
                <a:solidFill>
                  <a:schemeClr val="dk2"/>
                </a:solidFill>
                <a:latin typeface="Inter"/>
                <a:ea typeface="Inter"/>
                <a:cs typeface="Inter"/>
                <a:sym typeface="Inter"/>
              </a:rPr>
              <a:t>Comparing exam scores across three teaching methods:</a:t>
            </a:r>
            <a:endParaRPr>
              <a:solidFill>
                <a:schemeClr val="dk2"/>
              </a:solidFill>
              <a:latin typeface="Inter"/>
              <a:ea typeface="Inter"/>
              <a:cs typeface="Inter"/>
              <a:sym typeface="Inter"/>
            </a:endParaRPr>
          </a:p>
          <a:p>
            <a:pPr indent="-317500" lvl="0" marL="457200" rtl="0" algn="l">
              <a:lnSpc>
                <a:spcPct val="115000"/>
              </a:lnSpc>
              <a:spcBef>
                <a:spcPts val="1200"/>
              </a:spcBef>
              <a:spcAft>
                <a:spcPts val="0"/>
              </a:spcAft>
              <a:buClr>
                <a:schemeClr val="dk2"/>
              </a:buClr>
              <a:buSzPts val="1400"/>
              <a:buFont typeface="Inter"/>
              <a:buChar char="-"/>
            </a:pPr>
            <a:r>
              <a:rPr lang="en">
                <a:solidFill>
                  <a:schemeClr val="dk2"/>
                </a:solidFill>
                <a:latin typeface="Inter"/>
                <a:ea typeface="Inter"/>
                <a:cs typeface="Inter"/>
                <a:sym typeface="Inter"/>
              </a:rPr>
              <a:t>ANOVA tests whether the average scores differ among the three methods.</a:t>
            </a:r>
            <a:endParaRPr>
              <a:solidFill>
                <a:schemeClr val="dk2"/>
              </a:solidFill>
              <a:latin typeface="Inter"/>
              <a:ea typeface="Inter"/>
              <a:cs typeface="Inter"/>
              <a:sym typeface="Inter"/>
            </a:endParaRPr>
          </a:p>
          <a:p>
            <a:pPr indent="-317500" lvl="0" marL="457200" rtl="0" algn="l">
              <a:lnSpc>
                <a:spcPct val="115000"/>
              </a:lnSpc>
              <a:spcBef>
                <a:spcPts val="0"/>
              </a:spcBef>
              <a:spcAft>
                <a:spcPts val="0"/>
              </a:spcAft>
              <a:buClr>
                <a:schemeClr val="dk2"/>
              </a:buClr>
              <a:buSzPts val="1400"/>
              <a:buFont typeface="Inter"/>
              <a:buChar char="-"/>
            </a:pPr>
            <a:r>
              <a:rPr lang="en">
                <a:solidFill>
                  <a:schemeClr val="dk2"/>
                </a:solidFill>
                <a:latin typeface="Inter"/>
                <a:ea typeface="Inter"/>
                <a:cs typeface="Inter"/>
                <a:sym typeface="Inter"/>
              </a:rPr>
              <a:t>Highlights </a:t>
            </a:r>
            <a:r>
              <a:rPr lang="en">
                <a:solidFill>
                  <a:schemeClr val="dk2"/>
                </a:solidFill>
                <a:latin typeface="Inter"/>
                <a:ea typeface="Inter"/>
                <a:cs typeface="Inter"/>
                <a:sym typeface="Inter"/>
              </a:rPr>
              <a:t>potential</a:t>
            </a:r>
            <a:r>
              <a:rPr lang="en">
                <a:solidFill>
                  <a:schemeClr val="dk2"/>
                </a:solidFill>
                <a:latin typeface="Inter"/>
                <a:ea typeface="Inter"/>
                <a:cs typeface="Inter"/>
                <a:sym typeface="Inter"/>
              </a:rPr>
              <a:t> differences due to an explanatory variable.</a:t>
            </a:r>
            <a:endParaRPr>
              <a:solidFill>
                <a:schemeClr val="dk2"/>
              </a:solidFill>
              <a:latin typeface="Inter"/>
              <a:ea typeface="Inter"/>
              <a:cs typeface="Inter"/>
              <a:sym typeface="Inter"/>
            </a:endParaRPr>
          </a:p>
          <a:p>
            <a:pPr indent="0" lvl="0" marL="0" rtl="0" algn="l">
              <a:spcBef>
                <a:spcPts val="1200"/>
              </a:spcBef>
              <a:spcAft>
                <a:spcPts val="0"/>
              </a:spcAft>
              <a:buNone/>
            </a:pPr>
            <a:r>
              <a:t/>
            </a:r>
            <a:endParaRPr sz="1200">
              <a:solidFill>
                <a:schemeClr val="dk2"/>
              </a:solidFill>
              <a:latin typeface="Inter"/>
              <a:ea typeface="Inter"/>
              <a:cs typeface="Inter"/>
              <a:sym typeface="Inte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1" name="Shape 411"/>
        <p:cNvGrpSpPr/>
        <p:nvPr/>
      </p:nvGrpSpPr>
      <p:grpSpPr>
        <a:xfrm>
          <a:off x="0" y="0"/>
          <a:ext cx="0" cy="0"/>
          <a:chOff x="0" y="0"/>
          <a:chExt cx="0" cy="0"/>
        </a:xfrm>
      </p:grpSpPr>
      <p:grpSp>
        <p:nvGrpSpPr>
          <p:cNvPr id="412" name="Google Shape;412;g3c5d521f515_0_138"/>
          <p:cNvGrpSpPr/>
          <p:nvPr/>
        </p:nvGrpSpPr>
        <p:grpSpPr>
          <a:xfrm>
            <a:off x="8625" y="0"/>
            <a:ext cx="9144000" cy="267600"/>
            <a:chOff x="8625" y="0"/>
            <a:chExt cx="9144000" cy="267600"/>
          </a:xfrm>
        </p:grpSpPr>
        <p:sp>
          <p:nvSpPr>
            <p:cNvPr id="413" name="Google Shape;413;g3c5d521f515_0_138"/>
            <p:cNvSpPr/>
            <p:nvPr/>
          </p:nvSpPr>
          <p:spPr>
            <a:xfrm>
              <a:off x="8625" y="0"/>
              <a:ext cx="9144000" cy="2676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414" name="Google Shape;414;g3c5d521f515_0_138" title="Logo Header.png"/>
            <p:cNvPicPr preferRelativeResize="0"/>
            <p:nvPr/>
          </p:nvPicPr>
          <p:blipFill rotWithShape="1">
            <a:blip r:embed="rId3">
              <a:alphaModFix/>
            </a:blip>
            <a:srcRect b="0" l="0" r="0" t="0"/>
            <a:stretch/>
          </p:blipFill>
          <p:spPr>
            <a:xfrm>
              <a:off x="8348195" y="15790"/>
              <a:ext cx="634775" cy="199625"/>
            </a:xfrm>
            <a:prstGeom prst="rect">
              <a:avLst/>
            </a:prstGeom>
            <a:noFill/>
            <a:ln>
              <a:noFill/>
            </a:ln>
          </p:spPr>
        </p:pic>
      </p:grpSp>
      <p:sp>
        <p:nvSpPr>
          <p:cNvPr id="415" name="Google Shape;415;g3c5d521f515_0_138"/>
          <p:cNvSpPr txBox="1"/>
          <p:nvPr>
            <p:ph idx="1" type="subTitle"/>
          </p:nvPr>
        </p:nvSpPr>
        <p:spPr>
          <a:xfrm>
            <a:off x="409575" y="532750"/>
            <a:ext cx="5545500" cy="8097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2800"/>
              <a:buNone/>
            </a:pPr>
            <a:r>
              <a:rPr b="1" lang="en" sz="2700">
                <a:solidFill>
                  <a:schemeClr val="dk1"/>
                </a:solidFill>
                <a:latin typeface="Inter"/>
                <a:ea typeface="Inter"/>
                <a:cs typeface="Inter"/>
                <a:sym typeface="Inter"/>
              </a:rPr>
              <a:t>Experimental Design</a:t>
            </a:r>
            <a:endParaRPr b="1" sz="2700">
              <a:solidFill>
                <a:schemeClr val="dk1"/>
              </a:solidFill>
              <a:latin typeface="Inter"/>
              <a:ea typeface="Inter"/>
              <a:cs typeface="Inter"/>
              <a:sym typeface="Inter"/>
            </a:endParaRPr>
          </a:p>
        </p:txBody>
      </p:sp>
      <p:sp>
        <p:nvSpPr>
          <p:cNvPr id="416" name="Google Shape;416;g3c5d521f515_0_138"/>
          <p:cNvSpPr txBox="1"/>
          <p:nvPr/>
        </p:nvSpPr>
        <p:spPr>
          <a:xfrm>
            <a:off x="409575" y="1342450"/>
            <a:ext cx="7662600" cy="36105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1200"/>
              </a:spcBef>
              <a:spcAft>
                <a:spcPts val="0"/>
              </a:spcAft>
              <a:buClr>
                <a:srgbClr val="000000"/>
              </a:buClr>
              <a:buSzPts val="1800"/>
              <a:buFont typeface="Arial"/>
              <a:buNone/>
            </a:pPr>
            <a:r>
              <a:rPr lang="en" sz="1800">
                <a:solidFill>
                  <a:schemeClr val="dk1"/>
                </a:solidFill>
                <a:latin typeface="Inter"/>
                <a:ea typeface="Inter"/>
                <a:cs typeface="Inter"/>
                <a:sym typeface="Inter"/>
              </a:rPr>
              <a:t>Formal analysis and design of experiments to conduct statistical modeling. Specifically has a set of hypotheses and uses variables to predict an outcome. Refers to experiments in which the design introduces conditions that control variation.</a:t>
            </a:r>
            <a:endParaRPr sz="1800">
              <a:solidFill>
                <a:schemeClr val="dk1"/>
              </a:solidFill>
              <a:latin typeface="Inter"/>
              <a:ea typeface="Inter"/>
              <a:cs typeface="Inter"/>
              <a:sym typeface="Inter"/>
            </a:endParaRPr>
          </a:p>
          <a:p>
            <a:pPr indent="0" lvl="0" marL="0" marR="0" rtl="0" algn="l">
              <a:lnSpc>
                <a:spcPct val="100000"/>
              </a:lnSpc>
              <a:spcBef>
                <a:spcPts val="1200"/>
              </a:spcBef>
              <a:spcAft>
                <a:spcPts val="0"/>
              </a:spcAft>
              <a:buClr>
                <a:srgbClr val="000000"/>
              </a:buClr>
              <a:buSzPts val="1800"/>
              <a:buFont typeface="Arial"/>
              <a:buNone/>
            </a:pPr>
            <a:r>
              <a:rPr i="1" lang="en" sz="1800">
                <a:solidFill>
                  <a:schemeClr val="dk1"/>
                </a:solidFill>
                <a:latin typeface="Inter"/>
                <a:ea typeface="Inter"/>
                <a:cs typeface="Inter"/>
                <a:sym typeface="Inter"/>
              </a:rPr>
              <a:t>Example</a:t>
            </a:r>
            <a:r>
              <a:rPr lang="en" sz="1800">
                <a:solidFill>
                  <a:schemeClr val="dk1"/>
                </a:solidFill>
                <a:latin typeface="Inter"/>
                <a:ea typeface="Inter"/>
                <a:cs typeface="Inter"/>
                <a:sym typeface="Inter"/>
              </a:rPr>
              <a:t>: </a:t>
            </a:r>
            <a:endParaRPr sz="1800">
              <a:solidFill>
                <a:schemeClr val="dk1"/>
              </a:solidFill>
              <a:latin typeface="Inter"/>
              <a:ea typeface="Inter"/>
              <a:cs typeface="Inter"/>
              <a:sym typeface="Inter"/>
            </a:endParaRPr>
          </a:p>
          <a:p>
            <a:pPr indent="0" lvl="0" marL="0" marR="0" rtl="0" algn="l">
              <a:lnSpc>
                <a:spcPct val="100000"/>
              </a:lnSpc>
              <a:spcBef>
                <a:spcPts val="1200"/>
              </a:spcBef>
              <a:spcAft>
                <a:spcPts val="0"/>
              </a:spcAft>
              <a:buClr>
                <a:srgbClr val="000000"/>
              </a:buClr>
              <a:buSzPts val="1800"/>
              <a:buFont typeface="Arial"/>
              <a:buNone/>
            </a:pPr>
            <a:r>
              <a:rPr i="1" lang="en">
                <a:solidFill>
                  <a:schemeClr val="dk1"/>
                </a:solidFill>
                <a:latin typeface="Inter"/>
                <a:ea typeface="Inter"/>
                <a:cs typeface="Inter"/>
                <a:sym typeface="Inter"/>
              </a:rPr>
              <a:t>Clinical trial: Testing the effectiveness of a new drug by assigning patients to treatment and control groups to measure a certain health outcome.</a:t>
            </a:r>
            <a:endParaRPr i="1">
              <a:solidFill>
                <a:schemeClr val="dk1"/>
              </a:solidFill>
              <a:latin typeface="Inter"/>
              <a:ea typeface="Inter"/>
              <a:cs typeface="Inter"/>
              <a:sym typeface="Inter"/>
            </a:endParaRPr>
          </a:p>
          <a:p>
            <a:pPr indent="0" lvl="0" marL="0" marR="0" rtl="0" algn="l">
              <a:lnSpc>
                <a:spcPct val="100000"/>
              </a:lnSpc>
              <a:spcBef>
                <a:spcPts val="1200"/>
              </a:spcBef>
              <a:spcAft>
                <a:spcPts val="0"/>
              </a:spcAft>
              <a:buClr>
                <a:srgbClr val="000000"/>
              </a:buClr>
              <a:buSzPts val="1800"/>
              <a:buFont typeface="Arial"/>
              <a:buNone/>
            </a:pPr>
            <a:r>
              <a:rPr i="1" lang="en">
                <a:solidFill>
                  <a:schemeClr val="dk1"/>
                </a:solidFill>
                <a:latin typeface="Inter"/>
                <a:ea typeface="Inter"/>
                <a:cs typeface="Inter"/>
                <a:sym typeface="Inter"/>
              </a:rPr>
              <a:t>Agricultural study: Varying </a:t>
            </a:r>
            <a:r>
              <a:rPr i="1" lang="en">
                <a:solidFill>
                  <a:schemeClr val="dk1"/>
                </a:solidFill>
                <a:latin typeface="Inter"/>
                <a:ea typeface="Inter"/>
                <a:cs typeface="Inter"/>
                <a:sym typeface="Inter"/>
              </a:rPr>
              <a:t>fertilizer</a:t>
            </a:r>
            <a:r>
              <a:rPr i="1" lang="en">
                <a:solidFill>
                  <a:schemeClr val="dk1"/>
                </a:solidFill>
                <a:latin typeface="Inter"/>
                <a:ea typeface="Inter"/>
                <a:cs typeface="Inter"/>
                <a:sym typeface="Inter"/>
              </a:rPr>
              <a:t> types and amounts on crop plots to predict yield differences.</a:t>
            </a:r>
            <a:endParaRPr i="1">
              <a:solidFill>
                <a:schemeClr val="dk1"/>
              </a:solidFill>
              <a:latin typeface="Inter"/>
              <a:ea typeface="Inter"/>
              <a:cs typeface="Inter"/>
              <a:sym typeface="Inter"/>
            </a:endParaRPr>
          </a:p>
          <a:p>
            <a:pPr indent="0" lvl="0" marL="0" marR="0" rtl="0" algn="l">
              <a:lnSpc>
                <a:spcPct val="100000"/>
              </a:lnSpc>
              <a:spcBef>
                <a:spcPts val="1200"/>
              </a:spcBef>
              <a:spcAft>
                <a:spcPts val="0"/>
              </a:spcAft>
              <a:buClr>
                <a:srgbClr val="000000"/>
              </a:buClr>
              <a:buSzPts val="1800"/>
              <a:buFont typeface="Arial"/>
              <a:buNone/>
            </a:pPr>
            <a:r>
              <a:rPr i="1" lang="en">
                <a:solidFill>
                  <a:schemeClr val="dk1"/>
                </a:solidFill>
                <a:latin typeface="Inter"/>
                <a:ea typeface="Inter"/>
                <a:cs typeface="Inter"/>
                <a:sym typeface="Inter"/>
              </a:rPr>
              <a:t>Education: Implementing </a:t>
            </a:r>
            <a:r>
              <a:rPr i="1" lang="en">
                <a:solidFill>
                  <a:schemeClr val="dk1"/>
                </a:solidFill>
                <a:latin typeface="Inter"/>
                <a:ea typeface="Inter"/>
                <a:cs typeface="Inter"/>
                <a:sym typeface="Inter"/>
              </a:rPr>
              <a:t>educational tools (smart boards, tablets) to assess which are most conducive to increasing student learning outcomes.</a:t>
            </a:r>
            <a:endParaRPr i="1">
              <a:solidFill>
                <a:schemeClr val="dk1"/>
              </a:solidFill>
              <a:latin typeface="Inter"/>
              <a:ea typeface="Inter"/>
              <a:cs typeface="Inter"/>
              <a:sym typeface="Inte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0" name="Shape 420"/>
        <p:cNvGrpSpPr/>
        <p:nvPr/>
      </p:nvGrpSpPr>
      <p:grpSpPr>
        <a:xfrm>
          <a:off x="0" y="0"/>
          <a:ext cx="0" cy="0"/>
          <a:chOff x="0" y="0"/>
          <a:chExt cx="0" cy="0"/>
        </a:xfrm>
      </p:grpSpPr>
      <p:sp>
        <p:nvSpPr>
          <p:cNvPr id="421" name="Google Shape;421;g3deba3393e7_0_1"/>
          <p:cNvSpPr/>
          <p:nvPr/>
        </p:nvSpPr>
        <p:spPr>
          <a:xfrm>
            <a:off x="630025" y="3129500"/>
            <a:ext cx="3053100" cy="1788600"/>
          </a:xfrm>
          <a:prstGeom prst="roundRect">
            <a:avLst>
              <a:gd fmla="val 16667" name="adj"/>
            </a:avLst>
          </a:prstGeom>
          <a:solidFill>
            <a:srgbClr val="F5F0E8"/>
          </a:solidFill>
          <a:ln>
            <a:noFill/>
          </a:ln>
        </p:spPr>
        <p:txBody>
          <a:bodyPr anchorCtr="0" anchor="ctr" bIns="91425" lIns="91425" spcFirstLastPara="1" rIns="91425" wrap="square" tIns="91425">
            <a:noAutofit/>
          </a:bodyPr>
          <a:lstStyle/>
          <a:p>
            <a:pPr indent="0" lvl="0" marL="274320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2" name="Google Shape;422;g3deba3393e7_0_1"/>
          <p:cNvSpPr/>
          <p:nvPr/>
        </p:nvSpPr>
        <p:spPr>
          <a:xfrm>
            <a:off x="631500" y="1182100"/>
            <a:ext cx="3084900" cy="1816800"/>
          </a:xfrm>
          <a:prstGeom prst="roundRect">
            <a:avLst>
              <a:gd fmla="val 16667" name="adj"/>
            </a:avLst>
          </a:prstGeom>
          <a:solidFill>
            <a:srgbClr val="F5F0E8"/>
          </a:solidFill>
          <a:ln>
            <a:noFill/>
          </a:ln>
        </p:spPr>
        <p:txBody>
          <a:bodyPr anchorCtr="0" anchor="ctr" bIns="91425" lIns="91425" spcFirstLastPara="1" rIns="91425" wrap="square" tIns="91425">
            <a:noAutofit/>
          </a:bodyPr>
          <a:lstStyle/>
          <a:p>
            <a:pPr indent="0" lvl="0" marL="274320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3" name="Google Shape;423;g3deba3393e7_0_1"/>
          <p:cNvSpPr/>
          <p:nvPr/>
        </p:nvSpPr>
        <p:spPr>
          <a:xfrm>
            <a:off x="946004" y="1326761"/>
            <a:ext cx="24240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1A2E"/>
              </a:buClr>
              <a:buSzPts val="1400"/>
              <a:buFont typeface="Georgia"/>
              <a:buNone/>
            </a:pPr>
            <a:r>
              <a:rPr b="1" lang="en">
                <a:solidFill>
                  <a:srgbClr val="1A1A2E"/>
                </a:solidFill>
                <a:latin typeface="Inter"/>
                <a:ea typeface="Inter"/>
                <a:cs typeface="Inter"/>
                <a:sym typeface="Inter"/>
              </a:rPr>
              <a:t>Underfitting</a:t>
            </a:r>
            <a:endParaRPr b="1" i="0" sz="1400" u="none" cap="none" strike="noStrike">
              <a:solidFill>
                <a:srgbClr val="000000"/>
              </a:solidFill>
              <a:latin typeface="Inter"/>
              <a:ea typeface="Inter"/>
              <a:cs typeface="Inter"/>
              <a:sym typeface="Inter"/>
            </a:endParaRPr>
          </a:p>
        </p:txBody>
      </p:sp>
      <p:sp>
        <p:nvSpPr>
          <p:cNvPr id="424" name="Google Shape;424;g3deba3393e7_0_1"/>
          <p:cNvSpPr/>
          <p:nvPr/>
        </p:nvSpPr>
        <p:spPr>
          <a:xfrm>
            <a:off x="946004" y="1646286"/>
            <a:ext cx="625200" cy="18300"/>
          </a:xfrm>
          <a:prstGeom prst="rect">
            <a:avLst/>
          </a:prstGeom>
          <a:solidFill>
            <a:srgbClr val="B85C3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425" name="Google Shape;425;g3deba3393e7_0_1"/>
          <p:cNvSpPr/>
          <p:nvPr/>
        </p:nvSpPr>
        <p:spPr>
          <a:xfrm>
            <a:off x="915729" y="3306307"/>
            <a:ext cx="23994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1A2E"/>
              </a:buClr>
              <a:buSzPts val="1400"/>
              <a:buFont typeface="Georgia"/>
              <a:buNone/>
            </a:pPr>
            <a:r>
              <a:rPr b="1" lang="en">
                <a:solidFill>
                  <a:srgbClr val="1A1A2E"/>
                </a:solidFill>
                <a:latin typeface="Inter"/>
                <a:ea typeface="Inter"/>
                <a:cs typeface="Inter"/>
                <a:sym typeface="Inter"/>
              </a:rPr>
              <a:t>Overfitting</a:t>
            </a:r>
            <a:endParaRPr b="1" i="0" sz="1400" u="none" cap="none" strike="noStrike">
              <a:solidFill>
                <a:srgbClr val="000000"/>
              </a:solidFill>
              <a:latin typeface="Inter"/>
              <a:ea typeface="Inter"/>
              <a:cs typeface="Inter"/>
              <a:sym typeface="Inter"/>
            </a:endParaRPr>
          </a:p>
        </p:txBody>
      </p:sp>
      <p:sp>
        <p:nvSpPr>
          <p:cNvPr id="426" name="Google Shape;426;g3deba3393e7_0_1"/>
          <p:cNvSpPr/>
          <p:nvPr/>
        </p:nvSpPr>
        <p:spPr>
          <a:xfrm>
            <a:off x="915729" y="3608546"/>
            <a:ext cx="533100" cy="18300"/>
          </a:xfrm>
          <a:prstGeom prst="rect">
            <a:avLst/>
          </a:prstGeom>
          <a:solidFill>
            <a:srgbClr val="B85C3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grpSp>
        <p:nvGrpSpPr>
          <p:cNvPr id="427" name="Google Shape;427;g3deba3393e7_0_1"/>
          <p:cNvGrpSpPr/>
          <p:nvPr/>
        </p:nvGrpSpPr>
        <p:grpSpPr>
          <a:xfrm>
            <a:off x="8625" y="0"/>
            <a:ext cx="9144000" cy="267600"/>
            <a:chOff x="8625" y="0"/>
            <a:chExt cx="9144000" cy="267600"/>
          </a:xfrm>
        </p:grpSpPr>
        <p:sp>
          <p:nvSpPr>
            <p:cNvPr id="428" name="Google Shape;428;g3deba3393e7_0_1"/>
            <p:cNvSpPr/>
            <p:nvPr/>
          </p:nvSpPr>
          <p:spPr>
            <a:xfrm>
              <a:off x="8625" y="0"/>
              <a:ext cx="9144000" cy="2676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429" name="Google Shape;429;g3deba3393e7_0_1" title="Logo Header.png"/>
            <p:cNvPicPr preferRelativeResize="0"/>
            <p:nvPr/>
          </p:nvPicPr>
          <p:blipFill rotWithShape="1">
            <a:blip r:embed="rId3">
              <a:alphaModFix/>
            </a:blip>
            <a:srcRect b="0" l="0" r="0" t="0"/>
            <a:stretch/>
          </p:blipFill>
          <p:spPr>
            <a:xfrm>
              <a:off x="8348195" y="15790"/>
              <a:ext cx="634775" cy="199625"/>
            </a:xfrm>
            <a:prstGeom prst="rect">
              <a:avLst/>
            </a:prstGeom>
            <a:noFill/>
            <a:ln>
              <a:noFill/>
            </a:ln>
          </p:spPr>
        </p:pic>
      </p:grpSp>
      <p:sp>
        <p:nvSpPr>
          <p:cNvPr id="430" name="Google Shape;430;g3deba3393e7_0_1"/>
          <p:cNvSpPr txBox="1"/>
          <p:nvPr>
            <p:ph idx="1" type="subTitle"/>
          </p:nvPr>
        </p:nvSpPr>
        <p:spPr>
          <a:xfrm>
            <a:off x="599812" y="460488"/>
            <a:ext cx="5545500" cy="8097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2800"/>
              <a:buNone/>
            </a:pPr>
            <a:r>
              <a:rPr b="1" lang="en" sz="2700">
                <a:solidFill>
                  <a:schemeClr val="dk1"/>
                </a:solidFill>
                <a:latin typeface="Inter"/>
                <a:ea typeface="Inter"/>
                <a:cs typeface="Inter"/>
                <a:sym typeface="Inter"/>
              </a:rPr>
              <a:t>Appropriate Training</a:t>
            </a:r>
            <a:endParaRPr b="1" sz="2700">
              <a:solidFill>
                <a:schemeClr val="dk1"/>
              </a:solidFill>
              <a:latin typeface="Inter"/>
              <a:ea typeface="Inter"/>
              <a:cs typeface="Inter"/>
              <a:sym typeface="Inter"/>
            </a:endParaRPr>
          </a:p>
        </p:txBody>
      </p:sp>
      <p:sp>
        <p:nvSpPr>
          <p:cNvPr id="431" name="Google Shape;431;g3deba3393e7_0_1"/>
          <p:cNvSpPr/>
          <p:nvPr/>
        </p:nvSpPr>
        <p:spPr>
          <a:xfrm>
            <a:off x="4400650" y="1181975"/>
            <a:ext cx="3116700" cy="1816800"/>
          </a:xfrm>
          <a:prstGeom prst="roundRect">
            <a:avLst>
              <a:gd fmla="val 16667" name="adj"/>
            </a:avLst>
          </a:prstGeom>
          <a:solidFill>
            <a:srgbClr val="F4CCCC"/>
          </a:solidFill>
          <a:ln>
            <a:noFill/>
          </a:ln>
        </p:spPr>
        <p:txBody>
          <a:bodyPr anchorCtr="0" anchor="ctr" bIns="91425" lIns="91425" spcFirstLastPara="1" rIns="91425" wrap="square" tIns="91425">
            <a:noAutofit/>
          </a:bodyPr>
          <a:lstStyle/>
          <a:p>
            <a:pPr indent="0" lvl="0" marL="274320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2" name="Google Shape;432;g3deba3393e7_0_1"/>
          <p:cNvSpPr/>
          <p:nvPr/>
        </p:nvSpPr>
        <p:spPr>
          <a:xfrm>
            <a:off x="4645400" y="1210095"/>
            <a:ext cx="2424000" cy="39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1A2E"/>
              </a:buClr>
              <a:buSzPts val="1400"/>
              <a:buFont typeface="Georgia"/>
              <a:buNone/>
            </a:pPr>
            <a:r>
              <a:rPr b="1" lang="en">
                <a:solidFill>
                  <a:srgbClr val="1A1A2E"/>
                </a:solidFill>
                <a:latin typeface="Inter"/>
                <a:ea typeface="Inter"/>
                <a:cs typeface="Inter"/>
                <a:sym typeface="Inter"/>
              </a:rPr>
              <a:t>Example / Cons</a:t>
            </a:r>
            <a:endParaRPr b="1" i="0" sz="1400" u="none" cap="none" strike="noStrike">
              <a:solidFill>
                <a:srgbClr val="000000"/>
              </a:solidFill>
              <a:latin typeface="Inter"/>
              <a:ea typeface="Inter"/>
              <a:cs typeface="Inter"/>
              <a:sym typeface="Inter"/>
            </a:endParaRPr>
          </a:p>
        </p:txBody>
      </p:sp>
      <p:sp>
        <p:nvSpPr>
          <p:cNvPr id="433" name="Google Shape;433;g3deba3393e7_0_1"/>
          <p:cNvSpPr/>
          <p:nvPr/>
        </p:nvSpPr>
        <p:spPr>
          <a:xfrm>
            <a:off x="4645338" y="1536199"/>
            <a:ext cx="570000" cy="26400"/>
          </a:xfrm>
          <a:prstGeom prst="rect">
            <a:avLst/>
          </a:prstGeom>
          <a:solidFill>
            <a:srgbClr val="E0666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434" name="Google Shape;434;g3deba3393e7_0_1"/>
          <p:cNvSpPr/>
          <p:nvPr/>
        </p:nvSpPr>
        <p:spPr>
          <a:xfrm>
            <a:off x="4402175" y="3129575"/>
            <a:ext cx="3084900" cy="1788600"/>
          </a:xfrm>
          <a:prstGeom prst="roundRect">
            <a:avLst>
              <a:gd fmla="val 16667" name="adj"/>
            </a:avLst>
          </a:prstGeom>
          <a:solidFill>
            <a:srgbClr val="F4CCCC"/>
          </a:solidFill>
          <a:ln>
            <a:noFill/>
          </a:ln>
        </p:spPr>
        <p:txBody>
          <a:bodyPr anchorCtr="0" anchor="ctr" bIns="91425" lIns="91425" spcFirstLastPara="1" rIns="91425" wrap="square" tIns="91425">
            <a:noAutofit/>
          </a:bodyPr>
          <a:lstStyle/>
          <a:p>
            <a:pPr indent="0" lvl="0" marL="274320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5" name="Google Shape;435;g3deba3393e7_0_1"/>
          <p:cNvSpPr/>
          <p:nvPr/>
        </p:nvSpPr>
        <p:spPr>
          <a:xfrm>
            <a:off x="4644023" y="3177492"/>
            <a:ext cx="2399400" cy="39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1A2E"/>
              </a:buClr>
              <a:buSzPts val="1400"/>
              <a:buFont typeface="Georgia"/>
              <a:buNone/>
            </a:pPr>
            <a:r>
              <a:rPr b="1" lang="en">
                <a:solidFill>
                  <a:srgbClr val="1A1A2E"/>
                </a:solidFill>
                <a:latin typeface="Inter"/>
                <a:ea typeface="Inter"/>
                <a:cs typeface="Inter"/>
                <a:sym typeface="Inter"/>
              </a:rPr>
              <a:t>Example / Pros &amp; Cons</a:t>
            </a:r>
            <a:endParaRPr b="1" i="0" sz="1400" u="none" cap="none" strike="noStrike">
              <a:solidFill>
                <a:srgbClr val="000000"/>
              </a:solidFill>
              <a:latin typeface="Inter"/>
              <a:ea typeface="Inter"/>
              <a:cs typeface="Inter"/>
              <a:sym typeface="Inter"/>
            </a:endParaRPr>
          </a:p>
        </p:txBody>
      </p:sp>
      <p:sp>
        <p:nvSpPr>
          <p:cNvPr id="436" name="Google Shape;436;g3deba3393e7_0_1"/>
          <p:cNvSpPr/>
          <p:nvPr/>
        </p:nvSpPr>
        <p:spPr>
          <a:xfrm>
            <a:off x="4644036" y="3508528"/>
            <a:ext cx="564300" cy="26400"/>
          </a:xfrm>
          <a:prstGeom prst="rect">
            <a:avLst/>
          </a:prstGeom>
          <a:solidFill>
            <a:srgbClr val="E0666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437" name="Google Shape;437;g3deba3393e7_0_1"/>
          <p:cNvSpPr txBox="1"/>
          <p:nvPr/>
        </p:nvSpPr>
        <p:spPr>
          <a:xfrm>
            <a:off x="862244" y="1657005"/>
            <a:ext cx="2424000" cy="1168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300">
                <a:solidFill>
                  <a:schemeClr val="dk2"/>
                </a:solidFill>
              </a:rPr>
              <a:t>When machine learning models does not appropriately represent underlying complexity in the data.</a:t>
            </a:r>
            <a:endParaRPr sz="1300">
              <a:solidFill>
                <a:schemeClr val="dk2"/>
              </a:solidFill>
            </a:endParaRPr>
          </a:p>
        </p:txBody>
      </p:sp>
      <p:sp>
        <p:nvSpPr>
          <p:cNvPr id="438" name="Google Shape;438;g3deba3393e7_0_1"/>
          <p:cNvSpPr txBox="1"/>
          <p:nvPr/>
        </p:nvSpPr>
        <p:spPr>
          <a:xfrm>
            <a:off x="839529" y="3608542"/>
            <a:ext cx="2399400" cy="1168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300">
                <a:solidFill>
                  <a:schemeClr val="dk2"/>
                </a:solidFill>
              </a:rPr>
              <a:t>When a machine learning model fits the training data set perfectly, reducing </a:t>
            </a:r>
            <a:r>
              <a:rPr b="1" lang="en" sz="1300">
                <a:solidFill>
                  <a:schemeClr val="dk2"/>
                </a:solidFill>
              </a:rPr>
              <a:t>generalizability</a:t>
            </a:r>
            <a:r>
              <a:rPr lang="en" sz="1300">
                <a:solidFill>
                  <a:schemeClr val="dk2"/>
                </a:solidFill>
              </a:rPr>
              <a:t> to external data.</a:t>
            </a:r>
            <a:endParaRPr sz="1300">
              <a:solidFill>
                <a:schemeClr val="dk2"/>
              </a:solidFill>
            </a:endParaRPr>
          </a:p>
        </p:txBody>
      </p:sp>
      <p:sp>
        <p:nvSpPr>
          <p:cNvPr id="439" name="Google Shape;439;g3deba3393e7_0_1"/>
          <p:cNvSpPr txBox="1"/>
          <p:nvPr/>
        </p:nvSpPr>
        <p:spPr>
          <a:xfrm>
            <a:off x="4514600" y="1463100"/>
            <a:ext cx="2895300" cy="1298700"/>
          </a:xfrm>
          <a:prstGeom prst="rect">
            <a:avLst/>
          </a:prstGeom>
          <a:noFill/>
          <a:ln>
            <a:noFill/>
          </a:ln>
        </p:spPr>
        <p:txBody>
          <a:bodyPr anchorCtr="0" anchor="t" bIns="91425" lIns="91425" spcFirstLastPara="1" rIns="91425" wrap="square" tIns="91425">
            <a:noAutofit/>
          </a:bodyPr>
          <a:lstStyle/>
          <a:p>
            <a:pPr indent="-311150" lvl="0" marL="457200" rtl="0" algn="l">
              <a:spcBef>
                <a:spcPts val="0"/>
              </a:spcBef>
              <a:spcAft>
                <a:spcPts val="0"/>
              </a:spcAft>
              <a:buClr>
                <a:schemeClr val="dk2"/>
              </a:buClr>
              <a:buSzPts val="1300"/>
              <a:buChar char="●"/>
            </a:pPr>
            <a:r>
              <a:rPr lang="en" sz="1300">
                <a:solidFill>
                  <a:schemeClr val="dk2"/>
                </a:solidFill>
              </a:rPr>
              <a:t>A model that is unable to predict future observations reliably</a:t>
            </a:r>
            <a:endParaRPr sz="1300">
              <a:solidFill>
                <a:schemeClr val="dk2"/>
              </a:solidFill>
            </a:endParaRPr>
          </a:p>
          <a:p>
            <a:pPr indent="-311150" lvl="0" marL="457200" rtl="0" algn="l">
              <a:spcBef>
                <a:spcPts val="0"/>
              </a:spcBef>
              <a:spcAft>
                <a:spcPts val="0"/>
              </a:spcAft>
              <a:buClr>
                <a:schemeClr val="dk2"/>
              </a:buClr>
              <a:buSzPts val="1300"/>
              <a:buChar char="●"/>
            </a:pPr>
            <a:r>
              <a:rPr lang="en" sz="1300">
                <a:solidFill>
                  <a:schemeClr val="dk2"/>
                </a:solidFill>
              </a:rPr>
              <a:t>Poor performance</a:t>
            </a:r>
            <a:endParaRPr sz="1300">
              <a:solidFill>
                <a:schemeClr val="dk2"/>
              </a:solidFill>
            </a:endParaRPr>
          </a:p>
          <a:p>
            <a:pPr indent="-311150" lvl="0" marL="457200" rtl="0" algn="l">
              <a:spcBef>
                <a:spcPts val="0"/>
              </a:spcBef>
              <a:spcAft>
                <a:spcPts val="0"/>
              </a:spcAft>
              <a:buClr>
                <a:schemeClr val="dk2"/>
              </a:buClr>
              <a:buSzPts val="1300"/>
              <a:buChar char="●"/>
            </a:pPr>
            <a:r>
              <a:rPr lang="en" sz="1300">
                <a:solidFill>
                  <a:schemeClr val="dk2"/>
                </a:solidFill>
              </a:rPr>
              <a:t>Poor predictive power</a:t>
            </a:r>
            <a:endParaRPr sz="1300">
              <a:solidFill>
                <a:schemeClr val="dk2"/>
              </a:solidFill>
            </a:endParaRPr>
          </a:p>
          <a:p>
            <a:pPr indent="-311150" lvl="0" marL="457200" rtl="0" algn="l">
              <a:spcBef>
                <a:spcPts val="0"/>
              </a:spcBef>
              <a:spcAft>
                <a:spcPts val="0"/>
              </a:spcAft>
              <a:buClr>
                <a:schemeClr val="dk2"/>
              </a:buClr>
              <a:buSzPts val="1300"/>
              <a:buChar char="●"/>
            </a:pPr>
            <a:r>
              <a:rPr lang="en" sz="1300">
                <a:solidFill>
                  <a:schemeClr val="dk2"/>
                </a:solidFill>
              </a:rPr>
              <a:t>Neglect nuanced data patterns.</a:t>
            </a:r>
            <a:endParaRPr sz="1300">
              <a:solidFill>
                <a:schemeClr val="dk2"/>
              </a:solidFill>
            </a:endParaRPr>
          </a:p>
        </p:txBody>
      </p:sp>
      <p:sp>
        <p:nvSpPr>
          <p:cNvPr id="440" name="Google Shape;440;g3deba3393e7_0_1"/>
          <p:cNvSpPr txBox="1"/>
          <p:nvPr/>
        </p:nvSpPr>
        <p:spPr>
          <a:xfrm>
            <a:off x="4656025" y="3551750"/>
            <a:ext cx="2603400" cy="1168500"/>
          </a:xfrm>
          <a:prstGeom prst="rect">
            <a:avLst/>
          </a:prstGeom>
          <a:noFill/>
          <a:ln>
            <a:noFill/>
          </a:ln>
        </p:spPr>
        <p:txBody>
          <a:bodyPr anchorCtr="0" anchor="t" bIns="91425" lIns="91425" spcFirstLastPara="1" rIns="91425" wrap="square" tIns="91425">
            <a:noAutofit/>
          </a:bodyPr>
          <a:lstStyle/>
          <a:p>
            <a:pPr indent="-311150" lvl="0" marL="457200" rtl="0" algn="l">
              <a:spcBef>
                <a:spcPts val="0"/>
              </a:spcBef>
              <a:spcAft>
                <a:spcPts val="0"/>
              </a:spcAft>
              <a:buClr>
                <a:schemeClr val="dk2"/>
              </a:buClr>
              <a:buSzPts val="1300"/>
              <a:buChar char="●"/>
            </a:pPr>
            <a:r>
              <a:rPr lang="en" sz="1300">
                <a:solidFill>
                  <a:schemeClr val="dk2"/>
                </a:solidFill>
              </a:rPr>
              <a:t>Only fits current data</a:t>
            </a:r>
            <a:endParaRPr sz="1300">
              <a:solidFill>
                <a:schemeClr val="dk2"/>
              </a:solidFill>
            </a:endParaRPr>
          </a:p>
          <a:p>
            <a:pPr indent="-311150" lvl="0" marL="457200" rtl="0" algn="l">
              <a:spcBef>
                <a:spcPts val="0"/>
              </a:spcBef>
              <a:spcAft>
                <a:spcPts val="0"/>
              </a:spcAft>
              <a:buClr>
                <a:schemeClr val="dk2"/>
              </a:buClr>
              <a:buSzPts val="1300"/>
              <a:buChar char="●"/>
            </a:pPr>
            <a:r>
              <a:rPr lang="en" sz="1300">
                <a:solidFill>
                  <a:schemeClr val="dk2"/>
                </a:solidFill>
              </a:rPr>
              <a:t>Unable to predict unseen or testing datasets reliably</a:t>
            </a:r>
            <a:endParaRPr sz="1300">
              <a:solidFill>
                <a:schemeClr val="dk2"/>
              </a:solidFill>
            </a:endParaRPr>
          </a:p>
        </p:txBody>
      </p:sp>
      <p:cxnSp>
        <p:nvCxnSpPr>
          <p:cNvPr id="441" name="Google Shape;441;g3deba3393e7_0_1"/>
          <p:cNvCxnSpPr>
            <a:stCxn id="422" idx="3"/>
            <a:endCxn id="431" idx="1"/>
          </p:cNvCxnSpPr>
          <p:nvPr/>
        </p:nvCxnSpPr>
        <p:spPr>
          <a:xfrm>
            <a:off x="3716400" y="2090500"/>
            <a:ext cx="684300" cy="0"/>
          </a:xfrm>
          <a:prstGeom prst="straightConnector1">
            <a:avLst/>
          </a:prstGeom>
          <a:noFill/>
          <a:ln cap="flat" cmpd="sng" w="28575">
            <a:solidFill>
              <a:srgbClr val="13AE81"/>
            </a:solidFill>
            <a:prstDash val="solid"/>
            <a:round/>
            <a:headEnd len="med" w="med" type="none"/>
            <a:tailEnd len="med" w="med" type="triangle"/>
          </a:ln>
        </p:spPr>
      </p:cxnSp>
      <p:cxnSp>
        <p:nvCxnSpPr>
          <p:cNvPr id="442" name="Google Shape;442;g3deba3393e7_0_1"/>
          <p:cNvCxnSpPr>
            <a:stCxn id="421" idx="3"/>
            <a:endCxn id="434" idx="1"/>
          </p:cNvCxnSpPr>
          <p:nvPr/>
        </p:nvCxnSpPr>
        <p:spPr>
          <a:xfrm>
            <a:off x="3683125" y="4023800"/>
            <a:ext cx="719100" cy="0"/>
          </a:xfrm>
          <a:prstGeom prst="straightConnector1">
            <a:avLst/>
          </a:prstGeom>
          <a:noFill/>
          <a:ln cap="flat" cmpd="sng" w="28575">
            <a:solidFill>
              <a:srgbClr val="13AE81"/>
            </a:solidFill>
            <a:prstDash val="solid"/>
            <a:round/>
            <a:headEnd len="med" w="med" type="none"/>
            <a:tailEnd len="med" w="med" type="triangle"/>
          </a:ln>
        </p:spPr>
      </p:cxn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6" name="Shape 446"/>
        <p:cNvGrpSpPr/>
        <p:nvPr/>
      </p:nvGrpSpPr>
      <p:grpSpPr>
        <a:xfrm>
          <a:off x="0" y="0"/>
          <a:ext cx="0" cy="0"/>
          <a:chOff x="0" y="0"/>
          <a:chExt cx="0" cy="0"/>
        </a:xfrm>
      </p:grpSpPr>
      <p:sp>
        <p:nvSpPr>
          <p:cNvPr id="447" name="Google Shape;447;g3c5d521f515_0_186"/>
          <p:cNvSpPr/>
          <p:nvPr/>
        </p:nvSpPr>
        <p:spPr>
          <a:xfrm>
            <a:off x="4388900" y="1099100"/>
            <a:ext cx="3244500" cy="1939800"/>
          </a:xfrm>
          <a:prstGeom prst="roundRect">
            <a:avLst>
              <a:gd fmla="val 16667" name="adj"/>
            </a:avLst>
          </a:prstGeom>
          <a:solidFill>
            <a:srgbClr val="D4E4D1"/>
          </a:solidFill>
          <a:ln>
            <a:noFill/>
          </a:ln>
        </p:spPr>
        <p:txBody>
          <a:bodyPr anchorCtr="0" anchor="ctr" bIns="91425" lIns="91425" spcFirstLastPara="1" rIns="91425" wrap="square" tIns="91425">
            <a:noAutofit/>
          </a:bodyPr>
          <a:lstStyle/>
          <a:p>
            <a:pPr indent="0" lvl="0" marL="2743200" marR="0" rtl="0" algn="ctr">
              <a:lnSpc>
                <a:spcPct val="100000"/>
              </a:lnSpc>
              <a:spcBef>
                <a:spcPts val="0"/>
              </a:spcBef>
              <a:spcAft>
                <a:spcPts val="0"/>
              </a:spcAft>
              <a:buClr>
                <a:srgbClr val="000000"/>
              </a:buClr>
              <a:buSzPts val="1400"/>
              <a:buFont typeface="Arial"/>
              <a:buNone/>
            </a:pPr>
            <a:r>
              <a:t/>
            </a:r>
            <a:endParaRPr i="0" sz="1400" u="none" cap="none" strike="noStrike">
              <a:solidFill>
                <a:srgbClr val="000000"/>
              </a:solidFill>
              <a:latin typeface="Inter"/>
              <a:ea typeface="Inter"/>
              <a:cs typeface="Inter"/>
              <a:sym typeface="Inter"/>
            </a:endParaRPr>
          </a:p>
        </p:txBody>
      </p:sp>
      <p:sp>
        <p:nvSpPr>
          <p:cNvPr id="448" name="Google Shape;448;g3c5d521f515_0_186"/>
          <p:cNvSpPr/>
          <p:nvPr/>
        </p:nvSpPr>
        <p:spPr>
          <a:xfrm>
            <a:off x="553500" y="1185950"/>
            <a:ext cx="3244500" cy="1853100"/>
          </a:xfrm>
          <a:prstGeom prst="roundRect">
            <a:avLst>
              <a:gd fmla="val 16667" name="adj"/>
            </a:avLst>
          </a:prstGeom>
          <a:solidFill>
            <a:srgbClr val="F5F0E8"/>
          </a:solidFill>
          <a:ln>
            <a:noFill/>
          </a:ln>
        </p:spPr>
        <p:txBody>
          <a:bodyPr anchorCtr="0" anchor="ctr" bIns="91425" lIns="91425" spcFirstLastPara="1" rIns="91425" wrap="square" tIns="91425">
            <a:noAutofit/>
          </a:bodyPr>
          <a:lstStyle/>
          <a:p>
            <a:pPr indent="0" lvl="0" marL="2743200" marR="0" rtl="0" algn="ctr">
              <a:lnSpc>
                <a:spcPct val="100000"/>
              </a:lnSpc>
              <a:spcBef>
                <a:spcPts val="0"/>
              </a:spcBef>
              <a:spcAft>
                <a:spcPts val="0"/>
              </a:spcAft>
              <a:buClr>
                <a:srgbClr val="000000"/>
              </a:buClr>
              <a:buSzPts val="1400"/>
              <a:buFont typeface="Arial"/>
              <a:buNone/>
            </a:pPr>
            <a:r>
              <a:t/>
            </a:r>
            <a:endParaRPr i="0" sz="1400" u="none" cap="none" strike="noStrike">
              <a:solidFill>
                <a:srgbClr val="000000"/>
              </a:solidFill>
              <a:latin typeface="Inter"/>
              <a:ea typeface="Inter"/>
              <a:cs typeface="Inter"/>
              <a:sym typeface="Inter"/>
            </a:endParaRPr>
          </a:p>
        </p:txBody>
      </p:sp>
      <p:sp>
        <p:nvSpPr>
          <p:cNvPr id="449" name="Google Shape;449;g3c5d521f515_0_186"/>
          <p:cNvSpPr/>
          <p:nvPr/>
        </p:nvSpPr>
        <p:spPr>
          <a:xfrm>
            <a:off x="883952" y="1408202"/>
            <a:ext cx="19203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1A2E"/>
              </a:buClr>
              <a:buSzPts val="1400"/>
              <a:buFont typeface="Georgia"/>
              <a:buNone/>
            </a:pPr>
            <a:r>
              <a:rPr b="1" lang="en">
                <a:solidFill>
                  <a:srgbClr val="1A1A2E"/>
                </a:solidFill>
                <a:latin typeface="Inter"/>
                <a:ea typeface="Inter"/>
                <a:cs typeface="Inter"/>
                <a:sym typeface="Inter"/>
              </a:rPr>
              <a:t>Bias in Features </a:t>
            </a:r>
            <a:r>
              <a:rPr lang="en">
                <a:solidFill>
                  <a:srgbClr val="1A1A2E"/>
                </a:solidFill>
                <a:latin typeface="Inter"/>
                <a:ea typeface="Inter"/>
                <a:cs typeface="Inter"/>
                <a:sym typeface="Inter"/>
              </a:rPr>
              <a:t>[1]</a:t>
            </a:r>
            <a:endParaRPr i="0" sz="1400" u="none" cap="none" strike="noStrike">
              <a:solidFill>
                <a:srgbClr val="000000"/>
              </a:solidFill>
              <a:latin typeface="Inter"/>
              <a:ea typeface="Inter"/>
              <a:cs typeface="Inter"/>
              <a:sym typeface="Inter"/>
            </a:endParaRPr>
          </a:p>
        </p:txBody>
      </p:sp>
      <p:sp>
        <p:nvSpPr>
          <p:cNvPr id="450" name="Google Shape;450;g3c5d521f515_0_186"/>
          <p:cNvSpPr/>
          <p:nvPr/>
        </p:nvSpPr>
        <p:spPr>
          <a:xfrm>
            <a:off x="883952" y="1690365"/>
            <a:ext cx="495300" cy="18300"/>
          </a:xfrm>
          <a:prstGeom prst="rect">
            <a:avLst/>
          </a:prstGeom>
          <a:solidFill>
            <a:srgbClr val="B85C3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i="0" sz="1400" u="none" cap="none" strike="noStrike">
              <a:solidFill>
                <a:srgbClr val="000000"/>
              </a:solidFill>
              <a:latin typeface="Inter"/>
              <a:ea typeface="Inter"/>
              <a:cs typeface="Inter"/>
              <a:sym typeface="Inter"/>
            </a:endParaRPr>
          </a:p>
        </p:txBody>
      </p:sp>
      <p:sp>
        <p:nvSpPr>
          <p:cNvPr id="451" name="Google Shape;451;g3c5d521f515_0_186"/>
          <p:cNvSpPr/>
          <p:nvPr/>
        </p:nvSpPr>
        <p:spPr>
          <a:xfrm>
            <a:off x="4696293" y="1336353"/>
            <a:ext cx="23694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1A2E"/>
              </a:buClr>
              <a:buSzPts val="1400"/>
              <a:buFont typeface="Georgia"/>
              <a:buNone/>
            </a:pPr>
            <a:r>
              <a:rPr b="1" lang="en">
                <a:solidFill>
                  <a:srgbClr val="1A1A2E"/>
                </a:solidFill>
                <a:latin typeface="Inter"/>
                <a:ea typeface="Inter"/>
                <a:cs typeface="Inter"/>
                <a:sym typeface="Inter"/>
              </a:rPr>
              <a:t>Bias in Models</a:t>
            </a:r>
            <a:endParaRPr b="1" i="0" sz="1400" u="none" cap="none" strike="noStrike">
              <a:solidFill>
                <a:srgbClr val="000000"/>
              </a:solidFill>
              <a:latin typeface="Inter"/>
              <a:ea typeface="Inter"/>
              <a:cs typeface="Inter"/>
              <a:sym typeface="Inter"/>
            </a:endParaRPr>
          </a:p>
        </p:txBody>
      </p:sp>
      <p:sp>
        <p:nvSpPr>
          <p:cNvPr id="452" name="Google Shape;452;g3c5d521f515_0_186"/>
          <p:cNvSpPr/>
          <p:nvPr/>
        </p:nvSpPr>
        <p:spPr>
          <a:xfrm>
            <a:off x="4696299" y="1610554"/>
            <a:ext cx="526500" cy="18300"/>
          </a:xfrm>
          <a:prstGeom prst="rect">
            <a:avLst/>
          </a:prstGeom>
          <a:solidFill>
            <a:srgbClr val="2C6E6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i="0" sz="1400" u="none" cap="none" strike="noStrike">
              <a:solidFill>
                <a:srgbClr val="000000"/>
              </a:solidFill>
              <a:latin typeface="Inter"/>
              <a:ea typeface="Inter"/>
              <a:cs typeface="Inter"/>
              <a:sym typeface="Inter"/>
            </a:endParaRPr>
          </a:p>
        </p:txBody>
      </p:sp>
      <p:grpSp>
        <p:nvGrpSpPr>
          <p:cNvPr id="453" name="Google Shape;453;g3c5d521f515_0_186"/>
          <p:cNvGrpSpPr/>
          <p:nvPr/>
        </p:nvGrpSpPr>
        <p:grpSpPr>
          <a:xfrm>
            <a:off x="8625" y="0"/>
            <a:ext cx="9144000" cy="267600"/>
            <a:chOff x="8625" y="0"/>
            <a:chExt cx="9144000" cy="267600"/>
          </a:xfrm>
        </p:grpSpPr>
        <p:sp>
          <p:nvSpPr>
            <p:cNvPr id="454" name="Google Shape;454;g3c5d521f515_0_186"/>
            <p:cNvSpPr/>
            <p:nvPr/>
          </p:nvSpPr>
          <p:spPr>
            <a:xfrm>
              <a:off x="8625" y="0"/>
              <a:ext cx="9144000" cy="2676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455" name="Google Shape;455;g3c5d521f515_0_186" title="Logo Header.png"/>
            <p:cNvPicPr preferRelativeResize="0"/>
            <p:nvPr/>
          </p:nvPicPr>
          <p:blipFill rotWithShape="1">
            <a:blip r:embed="rId3">
              <a:alphaModFix/>
            </a:blip>
            <a:srcRect b="0" l="0" r="0" t="0"/>
            <a:stretch/>
          </p:blipFill>
          <p:spPr>
            <a:xfrm>
              <a:off x="8348195" y="15790"/>
              <a:ext cx="634775" cy="199625"/>
            </a:xfrm>
            <a:prstGeom prst="rect">
              <a:avLst/>
            </a:prstGeom>
            <a:noFill/>
            <a:ln>
              <a:noFill/>
            </a:ln>
          </p:spPr>
        </p:pic>
      </p:grpSp>
      <p:sp>
        <p:nvSpPr>
          <p:cNvPr id="456" name="Google Shape;456;g3c5d521f515_0_186"/>
          <p:cNvSpPr txBox="1"/>
          <p:nvPr>
            <p:ph idx="1" type="subTitle"/>
          </p:nvPr>
        </p:nvSpPr>
        <p:spPr>
          <a:xfrm>
            <a:off x="324900" y="463625"/>
            <a:ext cx="5545500" cy="8097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2800"/>
              <a:buNone/>
            </a:pPr>
            <a:r>
              <a:rPr b="1" lang="en" sz="2700">
                <a:solidFill>
                  <a:schemeClr val="dk1"/>
                </a:solidFill>
                <a:latin typeface="Inter"/>
                <a:ea typeface="Inter"/>
                <a:cs typeface="Inter"/>
                <a:sym typeface="Inter"/>
              </a:rPr>
              <a:t>Potential Bias Embedding</a:t>
            </a:r>
            <a:endParaRPr b="1" sz="2700">
              <a:solidFill>
                <a:schemeClr val="dk1"/>
              </a:solidFill>
              <a:latin typeface="Inter"/>
              <a:ea typeface="Inter"/>
              <a:cs typeface="Inter"/>
              <a:sym typeface="Inter"/>
            </a:endParaRPr>
          </a:p>
        </p:txBody>
      </p:sp>
      <p:sp>
        <p:nvSpPr>
          <p:cNvPr id="457" name="Google Shape;457;g3c5d521f515_0_186"/>
          <p:cNvSpPr/>
          <p:nvPr/>
        </p:nvSpPr>
        <p:spPr>
          <a:xfrm>
            <a:off x="553500" y="3156575"/>
            <a:ext cx="3244500" cy="1853100"/>
          </a:xfrm>
          <a:prstGeom prst="roundRect">
            <a:avLst>
              <a:gd fmla="val 16667" name="adj"/>
            </a:avLst>
          </a:prstGeom>
          <a:solidFill>
            <a:srgbClr val="CFE2F3"/>
          </a:solidFill>
          <a:ln>
            <a:noFill/>
          </a:ln>
        </p:spPr>
        <p:txBody>
          <a:bodyPr anchorCtr="0" anchor="ctr" bIns="91425" lIns="91425" spcFirstLastPara="1" rIns="91425" wrap="square" tIns="91425">
            <a:noAutofit/>
          </a:bodyPr>
          <a:lstStyle/>
          <a:p>
            <a:pPr indent="0" lvl="0" marL="2743200" marR="0" rtl="0" algn="ctr">
              <a:lnSpc>
                <a:spcPct val="100000"/>
              </a:lnSpc>
              <a:spcBef>
                <a:spcPts val="0"/>
              </a:spcBef>
              <a:spcAft>
                <a:spcPts val="0"/>
              </a:spcAft>
              <a:buClr>
                <a:srgbClr val="000000"/>
              </a:buClr>
              <a:buSzPts val="1400"/>
              <a:buFont typeface="Arial"/>
              <a:buNone/>
            </a:pPr>
            <a:r>
              <a:t/>
            </a:r>
            <a:endParaRPr i="0" sz="1400" u="none" cap="none" strike="noStrike">
              <a:solidFill>
                <a:srgbClr val="000000"/>
              </a:solidFill>
              <a:latin typeface="Inter"/>
              <a:ea typeface="Inter"/>
              <a:cs typeface="Inter"/>
              <a:sym typeface="Inter"/>
            </a:endParaRPr>
          </a:p>
        </p:txBody>
      </p:sp>
      <p:sp>
        <p:nvSpPr>
          <p:cNvPr id="458" name="Google Shape;458;g3c5d521f515_0_186"/>
          <p:cNvSpPr/>
          <p:nvPr/>
        </p:nvSpPr>
        <p:spPr>
          <a:xfrm>
            <a:off x="865153" y="3318232"/>
            <a:ext cx="2345100" cy="3657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1A2E"/>
              </a:buClr>
              <a:buSzPts val="1400"/>
              <a:buFont typeface="Georgia"/>
              <a:buNone/>
            </a:pPr>
            <a:r>
              <a:rPr b="1" lang="en">
                <a:solidFill>
                  <a:srgbClr val="1A1A2E"/>
                </a:solidFill>
                <a:latin typeface="Inter"/>
                <a:ea typeface="Inter"/>
                <a:cs typeface="Inter"/>
                <a:sym typeface="Inter"/>
              </a:rPr>
              <a:t>Bias in Outcomes </a:t>
            </a:r>
            <a:r>
              <a:rPr lang="en">
                <a:solidFill>
                  <a:srgbClr val="1A1A2E"/>
                </a:solidFill>
                <a:latin typeface="Inter"/>
                <a:ea typeface="Inter"/>
                <a:cs typeface="Inter"/>
                <a:sym typeface="Inter"/>
              </a:rPr>
              <a:t>[1,2]</a:t>
            </a:r>
            <a:endParaRPr i="0" sz="1400" u="none" cap="none" strike="noStrike">
              <a:solidFill>
                <a:srgbClr val="000000"/>
              </a:solidFill>
              <a:latin typeface="Inter"/>
              <a:ea typeface="Inter"/>
              <a:cs typeface="Inter"/>
              <a:sym typeface="Inter"/>
            </a:endParaRPr>
          </a:p>
        </p:txBody>
      </p:sp>
      <p:sp>
        <p:nvSpPr>
          <p:cNvPr id="459" name="Google Shape;459;g3c5d521f515_0_186"/>
          <p:cNvSpPr/>
          <p:nvPr/>
        </p:nvSpPr>
        <p:spPr>
          <a:xfrm>
            <a:off x="865153" y="3632925"/>
            <a:ext cx="551400" cy="246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i="0" sz="1400" u="none" cap="none" strike="noStrike">
              <a:solidFill>
                <a:srgbClr val="000000"/>
              </a:solidFill>
              <a:latin typeface="Inter"/>
              <a:ea typeface="Inter"/>
              <a:cs typeface="Inter"/>
              <a:sym typeface="Inter"/>
            </a:endParaRPr>
          </a:p>
        </p:txBody>
      </p:sp>
      <p:sp>
        <p:nvSpPr>
          <p:cNvPr id="460" name="Google Shape;460;g3c5d521f515_0_186"/>
          <p:cNvSpPr/>
          <p:nvPr/>
        </p:nvSpPr>
        <p:spPr>
          <a:xfrm>
            <a:off x="4305300" y="3156575"/>
            <a:ext cx="3328200" cy="1853100"/>
          </a:xfrm>
          <a:prstGeom prst="roundRect">
            <a:avLst>
              <a:gd fmla="val 16667" name="adj"/>
            </a:avLst>
          </a:prstGeom>
          <a:solidFill>
            <a:srgbClr val="F4CCCC"/>
          </a:solidFill>
          <a:ln>
            <a:noFill/>
          </a:ln>
        </p:spPr>
        <p:txBody>
          <a:bodyPr anchorCtr="0" anchor="ctr" bIns="108175" lIns="108175" spcFirstLastPara="1" rIns="108175" wrap="square" tIns="108175">
            <a:noAutofit/>
          </a:bodyPr>
          <a:lstStyle/>
          <a:p>
            <a:pPr indent="0" lvl="0" marL="3245509" marR="0" rtl="0" algn="ctr">
              <a:lnSpc>
                <a:spcPct val="100000"/>
              </a:lnSpc>
              <a:spcBef>
                <a:spcPts val="0"/>
              </a:spcBef>
              <a:spcAft>
                <a:spcPts val="0"/>
              </a:spcAft>
              <a:buClr>
                <a:srgbClr val="000000"/>
              </a:buClr>
              <a:buSzPts val="1656"/>
              <a:buFont typeface="Arial"/>
              <a:buNone/>
            </a:pPr>
            <a:r>
              <a:t/>
            </a:r>
            <a:endParaRPr i="0" sz="1656" u="none" cap="none" strike="noStrike">
              <a:solidFill>
                <a:srgbClr val="000000"/>
              </a:solidFill>
              <a:latin typeface="Inter"/>
              <a:ea typeface="Inter"/>
              <a:cs typeface="Inter"/>
              <a:sym typeface="Inter"/>
            </a:endParaRPr>
          </a:p>
        </p:txBody>
      </p:sp>
      <p:sp>
        <p:nvSpPr>
          <p:cNvPr id="461" name="Google Shape;461;g3c5d521f515_0_186"/>
          <p:cNvSpPr/>
          <p:nvPr/>
        </p:nvSpPr>
        <p:spPr>
          <a:xfrm>
            <a:off x="4718851" y="3239025"/>
            <a:ext cx="2621100" cy="393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1A2E"/>
              </a:buClr>
              <a:buSzPts val="1656"/>
              <a:buFont typeface="Georgia"/>
              <a:buNone/>
            </a:pPr>
            <a:r>
              <a:rPr b="1" lang="en" sz="1456">
                <a:solidFill>
                  <a:srgbClr val="1A1A2E"/>
                </a:solidFill>
                <a:latin typeface="Inter"/>
                <a:ea typeface="Inter"/>
                <a:cs typeface="Inter"/>
                <a:sym typeface="Inter"/>
              </a:rPr>
              <a:t>Bias from Other Sources </a:t>
            </a:r>
            <a:r>
              <a:rPr lang="en" sz="1456">
                <a:solidFill>
                  <a:srgbClr val="1A1A2E"/>
                </a:solidFill>
                <a:latin typeface="Inter"/>
                <a:ea typeface="Inter"/>
                <a:cs typeface="Inter"/>
                <a:sym typeface="Inter"/>
              </a:rPr>
              <a:t>[1,2]</a:t>
            </a:r>
            <a:endParaRPr i="0" sz="1456" u="none" cap="none" strike="noStrike">
              <a:solidFill>
                <a:srgbClr val="000000"/>
              </a:solidFill>
              <a:latin typeface="Inter"/>
              <a:ea typeface="Inter"/>
              <a:cs typeface="Inter"/>
              <a:sym typeface="Inter"/>
            </a:endParaRPr>
          </a:p>
        </p:txBody>
      </p:sp>
      <p:sp>
        <p:nvSpPr>
          <p:cNvPr id="462" name="Google Shape;462;g3c5d521f515_0_186"/>
          <p:cNvSpPr/>
          <p:nvPr/>
        </p:nvSpPr>
        <p:spPr>
          <a:xfrm>
            <a:off x="4726024" y="3577663"/>
            <a:ext cx="534300" cy="26100"/>
          </a:xfrm>
          <a:prstGeom prst="rect">
            <a:avLst/>
          </a:prstGeom>
          <a:solidFill>
            <a:srgbClr val="E06666"/>
          </a:solidFill>
          <a:ln>
            <a:noFill/>
          </a:ln>
        </p:spPr>
        <p:txBody>
          <a:bodyPr anchorCtr="0" anchor="ctr" bIns="108175" lIns="108175" spcFirstLastPara="1" rIns="108175" wrap="square" tIns="108175">
            <a:noAutofit/>
          </a:bodyPr>
          <a:lstStyle/>
          <a:p>
            <a:pPr indent="0" lvl="0" marL="0" marR="0" rtl="0" algn="l">
              <a:lnSpc>
                <a:spcPct val="100000"/>
              </a:lnSpc>
              <a:spcBef>
                <a:spcPts val="0"/>
              </a:spcBef>
              <a:spcAft>
                <a:spcPts val="0"/>
              </a:spcAft>
              <a:buClr>
                <a:srgbClr val="000000"/>
              </a:buClr>
              <a:buSzPts val="1656"/>
              <a:buFont typeface="Arial"/>
              <a:buNone/>
            </a:pPr>
            <a:r>
              <a:t/>
            </a:r>
            <a:endParaRPr i="0" sz="1656" u="none" cap="none" strike="noStrike">
              <a:solidFill>
                <a:srgbClr val="000000"/>
              </a:solidFill>
              <a:latin typeface="Inter"/>
              <a:ea typeface="Inter"/>
              <a:cs typeface="Inter"/>
              <a:sym typeface="Inter"/>
            </a:endParaRPr>
          </a:p>
        </p:txBody>
      </p:sp>
      <p:sp>
        <p:nvSpPr>
          <p:cNvPr id="463" name="Google Shape;463;g3c5d521f515_0_186"/>
          <p:cNvSpPr txBox="1"/>
          <p:nvPr/>
        </p:nvSpPr>
        <p:spPr>
          <a:xfrm>
            <a:off x="801350" y="1716650"/>
            <a:ext cx="2862300" cy="996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500">
                <a:solidFill>
                  <a:schemeClr val="dk2"/>
                </a:solidFill>
                <a:latin typeface="Inter"/>
                <a:ea typeface="Inter"/>
                <a:cs typeface="Inter"/>
                <a:sym typeface="Inter"/>
              </a:rPr>
              <a:t>When the input data itself is unrepresentative or skewed, it can lead to </a:t>
            </a:r>
            <a:r>
              <a:rPr lang="en" sz="1500">
                <a:solidFill>
                  <a:schemeClr val="dk2"/>
                </a:solidFill>
                <a:latin typeface="Inter"/>
                <a:ea typeface="Inter"/>
                <a:cs typeface="Inter"/>
                <a:sym typeface="Inter"/>
              </a:rPr>
              <a:t>inaccurate</a:t>
            </a:r>
            <a:r>
              <a:rPr lang="en" sz="1500">
                <a:solidFill>
                  <a:schemeClr val="dk2"/>
                </a:solidFill>
                <a:latin typeface="Inter"/>
                <a:ea typeface="Inter"/>
                <a:cs typeface="Inter"/>
                <a:sym typeface="Inter"/>
              </a:rPr>
              <a:t> models and predictions.</a:t>
            </a:r>
            <a:endParaRPr sz="1500">
              <a:solidFill>
                <a:schemeClr val="dk2"/>
              </a:solidFill>
              <a:latin typeface="Inter"/>
              <a:ea typeface="Inter"/>
              <a:cs typeface="Inter"/>
              <a:sym typeface="Inter"/>
            </a:endParaRPr>
          </a:p>
        </p:txBody>
      </p:sp>
      <p:sp>
        <p:nvSpPr>
          <p:cNvPr id="464" name="Google Shape;464;g3c5d521f515_0_186"/>
          <p:cNvSpPr txBox="1"/>
          <p:nvPr/>
        </p:nvSpPr>
        <p:spPr>
          <a:xfrm>
            <a:off x="4599800" y="1673575"/>
            <a:ext cx="2799900" cy="100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500">
                <a:solidFill>
                  <a:schemeClr val="dk2"/>
                </a:solidFill>
                <a:latin typeface="Inter"/>
                <a:ea typeface="Inter"/>
                <a:cs typeface="Inter"/>
                <a:sym typeface="Inter"/>
              </a:rPr>
              <a:t>When the model’s structure or assumptions favor certain patterns, this limits the types of data it can learn from.</a:t>
            </a:r>
            <a:endParaRPr sz="1500">
              <a:solidFill>
                <a:schemeClr val="dk2"/>
              </a:solidFill>
              <a:latin typeface="Inter"/>
              <a:ea typeface="Inter"/>
              <a:cs typeface="Inter"/>
              <a:sym typeface="Inter"/>
            </a:endParaRPr>
          </a:p>
        </p:txBody>
      </p:sp>
      <p:sp>
        <p:nvSpPr>
          <p:cNvPr id="465" name="Google Shape;465;g3c5d521f515_0_186"/>
          <p:cNvSpPr txBox="1"/>
          <p:nvPr/>
        </p:nvSpPr>
        <p:spPr>
          <a:xfrm>
            <a:off x="764300" y="3632925"/>
            <a:ext cx="2712900" cy="996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500">
                <a:solidFill>
                  <a:schemeClr val="dk2"/>
                </a:solidFill>
                <a:latin typeface="Inter"/>
                <a:ea typeface="Inter"/>
                <a:cs typeface="Inter"/>
                <a:sym typeface="Inter"/>
              </a:rPr>
              <a:t>When </a:t>
            </a:r>
            <a:r>
              <a:rPr lang="en" sz="1500">
                <a:solidFill>
                  <a:schemeClr val="dk2"/>
                </a:solidFill>
                <a:latin typeface="Inter"/>
                <a:ea typeface="Inter"/>
                <a:cs typeface="Inter"/>
                <a:sym typeface="Inter"/>
              </a:rPr>
              <a:t>predictions</a:t>
            </a:r>
            <a:r>
              <a:rPr lang="en" sz="1500">
                <a:solidFill>
                  <a:schemeClr val="dk2"/>
                </a:solidFill>
                <a:latin typeface="Inter"/>
                <a:ea typeface="Inter"/>
                <a:cs typeface="Inter"/>
                <a:sym typeface="Inter"/>
              </a:rPr>
              <a:t> or decisions systematically favour or disadvantage </a:t>
            </a:r>
            <a:r>
              <a:rPr lang="en" sz="1500">
                <a:solidFill>
                  <a:schemeClr val="dk2"/>
                </a:solidFill>
                <a:latin typeface="Inter"/>
                <a:ea typeface="Inter"/>
                <a:cs typeface="Inter"/>
                <a:sym typeface="Inter"/>
              </a:rPr>
              <a:t>certain</a:t>
            </a:r>
            <a:r>
              <a:rPr lang="en" sz="1500">
                <a:solidFill>
                  <a:schemeClr val="dk2"/>
                </a:solidFill>
                <a:latin typeface="Inter"/>
                <a:ea typeface="Inter"/>
                <a:cs typeface="Inter"/>
                <a:sym typeface="Inter"/>
              </a:rPr>
              <a:t> groups.</a:t>
            </a:r>
            <a:endParaRPr sz="1500">
              <a:solidFill>
                <a:schemeClr val="dk2"/>
              </a:solidFill>
              <a:latin typeface="Inter"/>
              <a:ea typeface="Inter"/>
              <a:cs typeface="Inter"/>
              <a:sym typeface="Inter"/>
            </a:endParaRPr>
          </a:p>
        </p:txBody>
      </p:sp>
      <p:sp>
        <p:nvSpPr>
          <p:cNvPr id="466" name="Google Shape;466;g3c5d521f515_0_186"/>
          <p:cNvSpPr txBox="1"/>
          <p:nvPr/>
        </p:nvSpPr>
        <p:spPr>
          <a:xfrm>
            <a:off x="4627050" y="3607575"/>
            <a:ext cx="2712900" cy="1047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500">
                <a:solidFill>
                  <a:schemeClr val="dk2"/>
                </a:solidFill>
                <a:latin typeface="Inter"/>
                <a:ea typeface="Inter"/>
                <a:cs typeface="Inter"/>
                <a:sym typeface="Inter"/>
              </a:rPr>
              <a:t>Includes external factors like societal, historical, or measurement bias that affect the data or the results.</a:t>
            </a:r>
            <a:endParaRPr sz="1500">
              <a:solidFill>
                <a:schemeClr val="dk2"/>
              </a:solidFill>
              <a:latin typeface="Inter"/>
              <a:ea typeface="Inter"/>
              <a:cs typeface="Inter"/>
              <a:sym typeface="Inte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0" name="Shape 470"/>
        <p:cNvGrpSpPr/>
        <p:nvPr/>
      </p:nvGrpSpPr>
      <p:grpSpPr>
        <a:xfrm>
          <a:off x="0" y="0"/>
          <a:ext cx="0" cy="0"/>
          <a:chOff x="0" y="0"/>
          <a:chExt cx="0" cy="0"/>
        </a:xfrm>
      </p:grpSpPr>
      <p:sp>
        <p:nvSpPr>
          <p:cNvPr id="471" name="Google Shape;471;p25"/>
          <p:cNvSpPr/>
          <p:nvPr/>
        </p:nvSpPr>
        <p:spPr>
          <a:xfrm>
            <a:off x="503800" y="979625"/>
            <a:ext cx="1857900" cy="71400"/>
          </a:xfrm>
          <a:prstGeom prst="rect">
            <a:avLst/>
          </a:prstGeom>
          <a:solidFill>
            <a:srgbClr val="13AE8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2" name="Google Shape;472;p25"/>
          <p:cNvSpPr txBox="1"/>
          <p:nvPr>
            <p:ph idx="1" type="subTitle"/>
          </p:nvPr>
        </p:nvSpPr>
        <p:spPr>
          <a:xfrm>
            <a:off x="409575" y="447125"/>
            <a:ext cx="8125500" cy="12702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2800"/>
              <a:buNone/>
            </a:pPr>
            <a:r>
              <a:rPr b="1" lang="en" sz="3500">
                <a:solidFill>
                  <a:schemeClr val="dk1"/>
                </a:solidFill>
                <a:latin typeface="Roboto"/>
                <a:ea typeface="Roboto"/>
                <a:cs typeface="Roboto"/>
                <a:sym typeface="Roboto"/>
              </a:rPr>
              <a:t>Activity 3: Group Exit Ticket</a:t>
            </a:r>
            <a:endParaRPr i="1" sz="3500">
              <a:solidFill>
                <a:schemeClr val="dk1"/>
              </a:solidFill>
              <a:latin typeface="Roboto"/>
              <a:ea typeface="Roboto"/>
              <a:cs typeface="Roboto"/>
              <a:sym typeface="Roboto"/>
            </a:endParaRPr>
          </a:p>
        </p:txBody>
      </p:sp>
      <p:grpSp>
        <p:nvGrpSpPr>
          <p:cNvPr id="473" name="Google Shape;473;p25"/>
          <p:cNvGrpSpPr/>
          <p:nvPr/>
        </p:nvGrpSpPr>
        <p:grpSpPr>
          <a:xfrm>
            <a:off x="8625" y="0"/>
            <a:ext cx="9144000" cy="267600"/>
            <a:chOff x="8625" y="0"/>
            <a:chExt cx="9144000" cy="267600"/>
          </a:xfrm>
        </p:grpSpPr>
        <p:sp>
          <p:nvSpPr>
            <p:cNvPr id="474" name="Google Shape;474;p25"/>
            <p:cNvSpPr/>
            <p:nvPr/>
          </p:nvSpPr>
          <p:spPr>
            <a:xfrm>
              <a:off x="8625" y="0"/>
              <a:ext cx="9144000" cy="2676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475" name="Google Shape;475;p25" title="Logo Header.png"/>
            <p:cNvPicPr preferRelativeResize="0"/>
            <p:nvPr/>
          </p:nvPicPr>
          <p:blipFill rotWithShape="1">
            <a:blip r:embed="rId3">
              <a:alphaModFix/>
            </a:blip>
            <a:srcRect b="0" l="0" r="0" t="0"/>
            <a:stretch/>
          </p:blipFill>
          <p:spPr>
            <a:xfrm>
              <a:off x="8348195" y="15790"/>
              <a:ext cx="634775" cy="199625"/>
            </a:xfrm>
            <a:prstGeom prst="rect">
              <a:avLst/>
            </a:prstGeom>
            <a:noFill/>
            <a:ln>
              <a:noFill/>
            </a:ln>
          </p:spPr>
        </p:pic>
      </p:grpSp>
      <p:pic>
        <p:nvPicPr>
          <p:cNvPr id="476" name="Google Shape;476;p25" title="Logo Main.png"/>
          <p:cNvPicPr preferRelativeResize="0"/>
          <p:nvPr/>
        </p:nvPicPr>
        <p:blipFill rotWithShape="1">
          <a:blip r:embed="rId4">
            <a:alphaModFix/>
          </a:blip>
          <a:srcRect b="0" l="0" r="0" t="0"/>
          <a:stretch/>
        </p:blipFill>
        <p:spPr>
          <a:xfrm>
            <a:off x="452725" y="4090625"/>
            <a:ext cx="1529475" cy="434512"/>
          </a:xfrm>
          <a:prstGeom prst="rect">
            <a:avLst/>
          </a:prstGeom>
          <a:noFill/>
          <a:ln>
            <a:noFill/>
          </a:ln>
        </p:spPr>
      </p:pic>
      <p:sp>
        <p:nvSpPr>
          <p:cNvPr id="477" name="Google Shape;477;p25"/>
          <p:cNvSpPr txBox="1"/>
          <p:nvPr/>
        </p:nvSpPr>
        <p:spPr>
          <a:xfrm>
            <a:off x="383767" y="1341850"/>
            <a:ext cx="7998900" cy="2761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dk1"/>
              </a:buClr>
              <a:buSzPts val="1100"/>
              <a:buFont typeface="Arial"/>
              <a:buNone/>
            </a:pPr>
            <a:r>
              <a:rPr lang="en" sz="1700">
                <a:solidFill>
                  <a:schemeClr val="dk1"/>
                </a:solidFill>
                <a:latin typeface="Inter"/>
                <a:ea typeface="Inter"/>
                <a:cs typeface="Inter"/>
                <a:sym typeface="Inter"/>
              </a:rPr>
              <a:t>Research and select an ML model (such as XGBoost, SVM, Random Forest, Logistic Regression or k-NN)</a:t>
            </a:r>
            <a:endParaRPr sz="1700">
              <a:solidFill>
                <a:schemeClr val="dk1"/>
              </a:solidFill>
              <a:latin typeface="Inter"/>
              <a:ea typeface="Inter"/>
              <a:cs typeface="Inter"/>
              <a:sym typeface="Inter"/>
            </a:endParaRPr>
          </a:p>
          <a:p>
            <a:pPr indent="-336550" lvl="0" marL="457200" marR="0" rtl="0" algn="l">
              <a:lnSpc>
                <a:spcPct val="100000"/>
              </a:lnSpc>
              <a:spcBef>
                <a:spcPts val="0"/>
              </a:spcBef>
              <a:spcAft>
                <a:spcPts val="0"/>
              </a:spcAft>
              <a:buClr>
                <a:schemeClr val="dk1"/>
              </a:buClr>
              <a:buSzPts val="1700"/>
              <a:buFont typeface="Inter"/>
              <a:buChar char="●"/>
            </a:pPr>
            <a:r>
              <a:rPr lang="en" sz="1700">
                <a:solidFill>
                  <a:schemeClr val="dk1"/>
                </a:solidFill>
                <a:latin typeface="Inter"/>
                <a:ea typeface="Inter"/>
                <a:cs typeface="Inter"/>
                <a:sym typeface="Inter"/>
              </a:rPr>
              <a:t>Create a model card. </a:t>
            </a:r>
            <a:endParaRPr sz="1700">
              <a:solidFill>
                <a:schemeClr val="dk1"/>
              </a:solidFill>
              <a:latin typeface="Inter"/>
              <a:ea typeface="Inter"/>
              <a:cs typeface="Inter"/>
              <a:sym typeface="Inter"/>
            </a:endParaRPr>
          </a:p>
          <a:p>
            <a:pPr indent="-336550" lvl="1" marL="914400" marR="0" rtl="0" algn="l">
              <a:lnSpc>
                <a:spcPct val="100000"/>
              </a:lnSpc>
              <a:spcBef>
                <a:spcPts val="0"/>
              </a:spcBef>
              <a:spcAft>
                <a:spcPts val="0"/>
              </a:spcAft>
              <a:buClr>
                <a:schemeClr val="dk1"/>
              </a:buClr>
              <a:buSzPts val="1700"/>
              <a:buFont typeface="Inter"/>
              <a:buChar char="○"/>
            </a:pPr>
            <a:r>
              <a:rPr lang="en" sz="1700">
                <a:solidFill>
                  <a:schemeClr val="dk1"/>
                </a:solidFill>
                <a:latin typeface="Inter"/>
                <a:ea typeface="Inter"/>
                <a:cs typeface="Inter"/>
                <a:sym typeface="Inter"/>
              </a:rPr>
              <a:t>What is this model used for? What types of data does it require?</a:t>
            </a:r>
            <a:endParaRPr sz="1700">
              <a:solidFill>
                <a:schemeClr val="dk1"/>
              </a:solidFill>
              <a:latin typeface="Inter"/>
              <a:ea typeface="Inter"/>
              <a:cs typeface="Inter"/>
              <a:sym typeface="Inter"/>
            </a:endParaRPr>
          </a:p>
          <a:p>
            <a:pPr indent="-336550" lvl="0" marL="457200" marR="0" rtl="0" algn="l">
              <a:lnSpc>
                <a:spcPct val="100000"/>
              </a:lnSpc>
              <a:spcBef>
                <a:spcPts val="0"/>
              </a:spcBef>
              <a:spcAft>
                <a:spcPts val="0"/>
              </a:spcAft>
              <a:buClr>
                <a:schemeClr val="dk1"/>
              </a:buClr>
              <a:buSzPts val="1700"/>
              <a:buFont typeface="Inter"/>
              <a:buChar char="●"/>
            </a:pPr>
            <a:r>
              <a:rPr lang="en" sz="1700">
                <a:solidFill>
                  <a:schemeClr val="dk1"/>
                </a:solidFill>
                <a:latin typeface="Inter"/>
                <a:ea typeface="Inter"/>
                <a:cs typeface="Inter"/>
                <a:sym typeface="Inter"/>
              </a:rPr>
              <a:t>Give an example of data this model could be used for. </a:t>
            </a:r>
            <a:endParaRPr sz="1700">
              <a:solidFill>
                <a:schemeClr val="dk1"/>
              </a:solidFill>
              <a:latin typeface="Inter"/>
              <a:ea typeface="Inter"/>
              <a:cs typeface="Inter"/>
              <a:sym typeface="Inter"/>
            </a:endParaRPr>
          </a:p>
          <a:p>
            <a:pPr indent="-336550" lvl="1" marL="914400" marR="0" rtl="0" algn="l">
              <a:lnSpc>
                <a:spcPct val="100000"/>
              </a:lnSpc>
              <a:spcBef>
                <a:spcPts val="0"/>
              </a:spcBef>
              <a:spcAft>
                <a:spcPts val="0"/>
              </a:spcAft>
              <a:buClr>
                <a:schemeClr val="dk1"/>
              </a:buClr>
              <a:buSzPts val="1700"/>
              <a:buFont typeface="Inter"/>
              <a:buChar char="○"/>
            </a:pPr>
            <a:r>
              <a:rPr lang="en" sz="1700">
                <a:solidFill>
                  <a:schemeClr val="dk1"/>
                </a:solidFill>
                <a:latin typeface="Inter"/>
                <a:ea typeface="Inter"/>
                <a:cs typeface="Inter"/>
                <a:sym typeface="Inter"/>
              </a:rPr>
              <a:t>What feature or target variable would you predict? How would you assess the model’s performance?</a:t>
            </a:r>
            <a:endParaRPr sz="1700">
              <a:solidFill>
                <a:schemeClr val="dk1"/>
              </a:solidFill>
              <a:latin typeface="Inter"/>
              <a:ea typeface="Inter"/>
              <a:cs typeface="Inter"/>
              <a:sym typeface="Inter"/>
            </a:endParaRPr>
          </a:p>
          <a:p>
            <a:pPr indent="-336550" lvl="0" marL="457200" marR="0" rtl="0" algn="l">
              <a:lnSpc>
                <a:spcPct val="100000"/>
              </a:lnSpc>
              <a:spcBef>
                <a:spcPts val="0"/>
              </a:spcBef>
              <a:spcAft>
                <a:spcPts val="0"/>
              </a:spcAft>
              <a:buClr>
                <a:schemeClr val="dk1"/>
              </a:buClr>
              <a:buSzPts val="1700"/>
              <a:buFont typeface="Inter"/>
              <a:buChar char="●"/>
            </a:pPr>
            <a:r>
              <a:rPr lang="en" sz="1700">
                <a:solidFill>
                  <a:schemeClr val="dk1"/>
                </a:solidFill>
                <a:highlight>
                  <a:srgbClr val="FFFFFF"/>
                </a:highlight>
                <a:latin typeface="Inter"/>
                <a:ea typeface="Inter"/>
                <a:cs typeface="Inter"/>
                <a:sym typeface="Inter"/>
              </a:rPr>
              <a:t>What documentation and subgroup evaluation would be required before deployment?</a:t>
            </a:r>
            <a:endParaRPr sz="1700">
              <a:solidFill>
                <a:schemeClr val="dk1"/>
              </a:solidFill>
              <a:latin typeface="Inter"/>
              <a:ea typeface="Inter"/>
              <a:cs typeface="Inter"/>
              <a:sym typeface="Inte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1" name="Shape 481"/>
        <p:cNvGrpSpPr/>
        <p:nvPr/>
      </p:nvGrpSpPr>
      <p:grpSpPr>
        <a:xfrm>
          <a:off x="0" y="0"/>
          <a:ext cx="0" cy="0"/>
          <a:chOff x="0" y="0"/>
          <a:chExt cx="0" cy="0"/>
        </a:xfrm>
      </p:grpSpPr>
      <p:sp>
        <p:nvSpPr>
          <p:cNvPr id="482" name="Google Shape;482;p26"/>
          <p:cNvSpPr/>
          <p:nvPr/>
        </p:nvSpPr>
        <p:spPr>
          <a:xfrm>
            <a:off x="503800" y="996885"/>
            <a:ext cx="4639800" cy="64500"/>
          </a:xfrm>
          <a:prstGeom prst="rect">
            <a:avLst/>
          </a:prstGeom>
          <a:solidFill>
            <a:srgbClr val="13AE8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3" name="Google Shape;483;p26"/>
          <p:cNvSpPr txBox="1"/>
          <p:nvPr>
            <p:ph idx="1" type="subTitle"/>
          </p:nvPr>
        </p:nvSpPr>
        <p:spPr>
          <a:xfrm>
            <a:off x="409575" y="1245848"/>
            <a:ext cx="8125500" cy="3538200"/>
          </a:xfrm>
          <a:prstGeom prst="rect">
            <a:avLst/>
          </a:prstGeom>
          <a:noFill/>
          <a:ln>
            <a:noFill/>
          </a:ln>
        </p:spPr>
        <p:txBody>
          <a:bodyPr anchorCtr="0" anchor="ctr" bIns="91425" lIns="91425" spcFirstLastPara="1" rIns="91425" wrap="square" tIns="91425">
            <a:noAutofit/>
          </a:bodyPr>
          <a:lstStyle/>
          <a:p>
            <a:pPr indent="-298450" lvl="0" marL="457200" rtl="0" algn="l">
              <a:lnSpc>
                <a:spcPct val="150000"/>
              </a:lnSpc>
              <a:spcBef>
                <a:spcPts val="0"/>
              </a:spcBef>
              <a:spcAft>
                <a:spcPts val="0"/>
              </a:spcAft>
              <a:buSzPts val="1100"/>
              <a:buFont typeface="Roboto"/>
              <a:buAutoNum type="arabicPeriod"/>
            </a:pPr>
            <a:r>
              <a:rPr lang="en" sz="1100">
                <a:solidFill>
                  <a:schemeClr val="accent2"/>
                </a:solidFill>
                <a:highlight>
                  <a:srgbClr val="FFFFFF"/>
                </a:highlight>
                <a:latin typeface="Roboto"/>
                <a:ea typeface="Roboto"/>
                <a:cs typeface="Roboto"/>
                <a:sym typeface="Roboto"/>
              </a:rPr>
              <a:t>Obermeyer, Z., Powers, B., Vogeli, C., &amp; Mullainathan, S. (2019). Dissecting racial bias in an algorithm used to manage the health of populations. </a:t>
            </a:r>
            <a:r>
              <a:rPr i="1" lang="en" sz="1100">
                <a:solidFill>
                  <a:schemeClr val="accent2"/>
                </a:solidFill>
                <a:highlight>
                  <a:srgbClr val="FFFFFF"/>
                </a:highlight>
                <a:latin typeface="Roboto"/>
                <a:ea typeface="Roboto"/>
                <a:cs typeface="Roboto"/>
                <a:sym typeface="Roboto"/>
              </a:rPr>
              <a:t>Science (New York, N.Y.)</a:t>
            </a:r>
            <a:r>
              <a:rPr lang="en" sz="1100">
                <a:solidFill>
                  <a:schemeClr val="accent2"/>
                </a:solidFill>
                <a:highlight>
                  <a:srgbClr val="FFFFFF"/>
                </a:highlight>
                <a:latin typeface="Roboto"/>
                <a:ea typeface="Roboto"/>
                <a:cs typeface="Roboto"/>
                <a:sym typeface="Roboto"/>
              </a:rPr>
              <a:t>, </a:t>
            </a:r>
            <a:r>
              <a:rPr i="1" lang="en" sz="1100">
                <a:solidFill>
                  <a:schemeClr val="accent2"/>
                </a:solidFill>
                <a:highlight>
                  <a:srgbClr val="FFFFFF"/>
                </a:highlight>
                <a:latin typeface="Roboto"/>
                <a:ea typeface="Roboto"/>
                <a:cs typeface="Roboto"/>
                <a:sym typeface="Roboto"/>
              </a:rPr>
              <a:t>366</a:t>
            </a:r>
            <a:r>
              <a:rPr lang="en" sz="1100">
                <a:solidFill>
                  <a:schemeClr val="accent2"/>
                </a:solidFill>
                <a:highlight>
                  <a:srgbClr val="FFFFFF"/>
                </a:highlight>
                <a:latin typeface="Roboto"/>
                <a:ea typeface="Roboto"/>
                <a:cs typeface="Roboto"/>
                <a:sym typeface="Roboto"/>
              </a:rPr>
              <a:t>(6464), 447–453. </a:t>
            </a:r>
            <a:r>
              <a:rPr lang="en" sz="1100" u="sng">
                <a:solidFill>
                  <a:schemeClr val="hlink"/>
                </a:solidFill>
                <a:highlight>
                  <a:srgbClr val="FFFFFF"/>
                </a:highlight>
                <a:latin typeface="Roboto"/>
                <a:ea typeface="Roboto"/>
                <a:cs typeface="Roboto"/>
                <a:sym typeface="Roboto"/>
                <a:hlinkClick r:id="rId3"/>
              </a:rPr>
              <a:t>https://doi.org/10.1126/science.aax2342</a:t>
            </a:r>
            <a:r>
              <a:rPr lang="en" sz="1100">
                <a:solidFill>
                  <a:schemeClr val="accent2"/>
                </a:solidFill>
                <a:highlight>
                  <a:srgbClr val="FFFFFF"/>
                </a:highlight>
                <a:latin typeface="Roboto"/>
                <a:ea typeface="Roboto"/>
                <a:cs typeface="Roboto"/>
                <a:sym typeface="Roboto"/>
              </a:rPr>
              <a:t> </a:t>
            </a:r>
            <a:endParaRPr sz="1100">
              <a:solidFill>
                <a:schemeClr val="dk1"/>
              </a:solidFill>
              <a:latin typeface="Inter"/>
              <a:ea typeface="Inter"/>
              <a:cs typeface="Inter"/>
              <a:sym typeface="Inter"/>
            </a:endParaRPr>
          </a:p>
          <a:p>
            <a:pPr indent="-298450" lvl="0" marL="457200" rtl="0" algn="l">
              <a:lnSpc>
                <a:spcPct val="150000"/>
              </a:lnSpc>
              <a:spcBef>
                <a:spcPts val="0"/>
              </a:spcBef>
              <a:spcAft>
                <a:spcPts val="0"/>
              </a:spcAft>
              <a:buSzPts val="1100"/>
              <a:buFont typeface="Roboto"/>
              <a:buAutoNum type="arabicPeriod"/>
            </a:pPr>
            <a:r>
              <a:rPr lang="en" sz="1100">
                <a:solidFill>
                  <a:schemeClr val="dk1"/>
                </a:solidFill>
                <a:latin typeface="Inter"/>
                <a:ea typeface="Inter"/>
                <a:cs typeface="Inter"/>
                <a:sym typeface="Inter"/>
              </a:rPr>
              <a:t>Buolamwini, J. &amp; Gebru, T. (2018). Gender Shades: Intersectional Accuracy Disparities in Commercial Gender Classification. </a:t>
            </a:r>
            <a:r>
              <a:rPr i="1" lang="en" sz="1100">
                <a:solidFill>
                  <a:schemeClr val="dk1"/>
                </a:solidFill>
                <a:latin typeface="Inter"/>
                <a:ea typeface="Inter"/>
                <a:cs typeface="Inter"/>
                <a:sym typeface="Inter"/>
              </a:rPr>
              <a:t>Proceedings of the 1st Conference on Fairness, Accountability and Transparency</a:t>
            </a:r>
            <a:r>
              <a:rPr lang="en" sz="1100">
                <a:solidFill>
                  <a:schemeClr val="dk1"/>
                </a:solidFill>
                <a:latin typeface="Inter"/>
                <a:ea typeface="Inter"/>
                <a:cs typeface="Inter"/>
                <a:sym typeface="Inter"/>
              </a:rPr>
              <a:t>, in </a:t>
            </a:r>
            <a:r>
              <a:rPr i="1" lang="en" sz="1100">
                <a:solidFill>
                  <a:schemeClr val="dk1"/>
                </a:solidFill>
                <a:latin typeface="Inter"/>
                <a:ea typeface="Inter"/>
                <a:cs typeface="Inter"/>
                <a:sym typeface="Inter"/>
              </a:rPr>
              <a:t>Proceedings of Machine Learning Research</a:t>
            </a:r>
            <a:r>
              <a:rPr lang="en" sz="1100">
                <a:solidFill>
                  <a:schemeClr val="dk1"/>
                </a:solidFill>
                <a:latin typeface="Inter"/>
                <a:ea typeface="Inter"/>
                <a:cs typeface="Inter"/>
                <a:sym typeface="Inter"/>
              </a:rPr>
              <a:t> 81:77-91 Available from </a:t>
            </a:r>
            <a:r>
              <a:rPr lang="en" sz="1100" u="sng">
                <a:solidFill>
                  <a:schemeClr val="hlink"/>
                </a:solidFill>
                <a:latin typeface="Inter"/>
                <a:ea typeface="Inter"/>
                <a:cs typeface="Inter"/>
                <a:sym typeface="Inter"/>
                <a:hlinkClick r:id="rId4"/>
              </a:rPr>
              <a:t>https://proceedings.mlr.press/v81/buolamwini18a.html</a:t>
            </a:r>
            <a:r>
              <a:rPr lang="en" sz="1100">
                <a:solidFill>
                  <a:schemeClr val="dk1"/>
                </a:solidFill>
                <a:latin typeface="Inter"/>
                <a:ea typeface="Inter"/>
                <a:cs typeface="Inter"/>
                <a:sym typeface="Inter"/>
              </a:rPr>
              <a:t> </a:t>
            </a:r>
            <a:endParaRPr sz="1100">
              <a:solidFill>
                <a:schemeClr val="dk1"/>
              </a:solidFill>
              <a:latin typeface="Inter"/>
              <a:ea typeface="Inter"/>
              <a:cs typeface="Inter"/>
              <a:sym typeface="Inter"/>
            </a:endParaRPr>
          </a:p>
          <a:p>
            <a:pPr indent="-298450" lvl="0" marL="457200" rtl="0" algn="l">
              <a:lnSpc>
                <a:spcPct val="150000"/>
              </a:lnSpc>
              <a:spcBef>
                <a:spcPts val="0"/>
              </a:spcBef>
              <a:spcAft>
                <a:spcPts val="0"/>
              </a:spcAft>
              <a:buSzPts val="1100"/>
              <a:buFont typeface="Roboto"/>
              <a:buAutoNum type="arabicPeriod"/>
            </a:pPr>
            <a:r>
              <a:rPr lang="en" sz="1100">
                <a:solidFill>
                  <a:schemeClr val="dk1"/>
                </a:solidFill>
                <a:latin typeface="Inter"/>
                <a:ea typeface="Inter"/>
                <a:cs typeface="Inter"/>
                <a:sym typeface="Inter"/>
              </a:rPr>
              <a:t>Moon, E. S.-Y., Saxena, D., Maharaj, T., &amp; Guha, S. (2024). Beyond Predictive Algorithms in Child Welfare. </a:t>
            </a:r>
            <a:r>
              <a:rPr i="1" lang="en" sz="1100">
                <a:solidFill>
                  <a:schemeClr val="dk1"/>
                </a:solidFill>
                <a:latin typeface="Inter"/>
                <a:ea typeface="Inter"/>
                <a:cs typeface="Inter"/>
                <a:sym typeface="Inter"/>
              </a:rPr>
              <a:t>Proceedings of the 50th Graphics Interface Conference</a:t>
            </a:r>
            <a:r>
              <a:rPr lang="en" sz="1100">
                <a:solidFill>
                  <a:schemeClr val="dk1"/>
                </a:solidFill>
                <a:latin typeface="Inter"/>
                <a:ea typeface="Inter"/>
                <a:cs typeface="Inter"/>
                <a:sym typeface="Inter"/>
              </a:rPr>
              <a:t>. Presented at Halifax, NS, Canada. </a:t>
            </a:r>
            <a:r>
              <a:rPr lang="en" sz="1100" u="sng">
                <a:solidFill>
                  <a:schemeClr val="hlink"/>
                </a:solidFill>
                <a:latin typeface="Inter"/>
                <a:ea typeface="Inter"/>
                <a:cs typeface="Inter"/>
                <a:sym typeface="Inter"/>
                <a:hlinkClick r:id="rId5"/>
              </a:rPr>
              <a:t>https://doi.org/10.1145/3670947.3670976</a:t>
            </a:r>
            <a:r>
              <a:rPr lang="en" sz="1100">
                <a:solidFill>
                  <a:schemeClr val="dk1"/>
                </a:solidFill>
                <a:latin typeface="Inter"/>
                <a:ea typeface="Inter"/>
                <a:cs typeface="Inter"/>
                <a:sym typeface="Inter"/>
              </a:rPr>
              <a:t>  </a:t>
            </a:r>
            <a:endParaRPr sz="1100">
              <a:solidFill>
                <a:schemeClr val="dk1"/>
              </a:solidFill>
              <a:latin typeface="Inter"/>
              <a:ea typeface="Inter"/>
              <a:cs typeface="Inter"/>
              <a:sym typeface="Inter"/>
            </a:endParaRPr>
          </a:p>
          <a:p>
            <a:pPr indent="-298450" lvl="0" marL="457200" rtl="0" algn="l">
              <a:lnSpc>
                <a:spcPct val="150000"/>
              </a:lnSpc>
              <a:spcBef>
                <a:spcPts val="0"/>
              </a:spcBef>
              <a:spcAft>
                <a:spcPts val="0"/>
              </a:spcAft>
              <a:buClr>
                <a:schemeClr val="dk1"/>
              </a:buClr>
              <a:buSzPts val="1100"/>
              <a:buFont typeface="Inter"/>
              <a:buAutoNum type="arabicPeriod"/>
            </a:pPr>
            <a:r>
              <a:rPr lang="en" sz="1100">
                <a:solidFill>
                  <a:schemeClr val="dk1"/>
                </a:solidFill>
                <a:latin typeface="Inter"/>
                <a:ea typeface="Inter"/>
                <a:cs typeface="Inter"/>
                <a:sym typeface="Inter"/>
              </a:rPr>
              <a:t>Mandala, S. K. (n.d.). Simple loan classification dataset [Data set]. Kaggle. </a:t>
            </a:r>
            <a:r>
              <a:rPr lang="en" sz="1100" u="sng">
                <a:solidFill>
                  <a:schemeClr val="hlink"/>
                </a:solidFill>
                <a:latin typeface="Inter"/>
                <a:ea typeface="Inter"/>
                <a:cs typeface="Inter"/>
                <a:sym typeface="Inter"/>
                <a:hlinkClick r:id="rId6"/>
              </a:rPr>
              <a:t>https://www.kaggle.com/datasets/sujithmandala/simple-loan-classification-dataset</a:t>
            </a:r>
            <a:endParaRPr sz="1100">
              <a:solidFill>
                <a:schemeClr val="dk1"/>
              </a:solidFill>
              <a:latin typeface="Inter"/>
              <a:ea typeface="Inter"/>
              <a:cs typeface="Inter"/>
              <a:sym typeface="Inter"/>
            </a:endParaRPr>
          </a:p>
          <a:p>
            <a:pPr indent="-298450" lvl="0" marL="457200" rtl="0" algn="l">
              <a:lnSpc>
                <a:spcPct val="150000"/>
              </a:lnSpc>
              <a:spcBef>
                <a:spcPts val="0"/>
              </a:spcBef>
              <a:spcAft>
                <a:spcPts val="0"/>
              </a:spcAft>
              <a:buClr>
                <a:schemeClr val="dk1"/>
              </a:buClr>
              <a:buSzPts val="1100"/>
              <a:buFont typeface="Inter"/>
              <a:buAutoNum type="arabicPeriod"/>
            </a:pPr>
            <a:r>
              <a:rPr lang="en" sz="1100">
                <a:solidFill>
                  <a:schemeClr val="dk1"/>
                </a:solidFill>
                <a:latin typeface="Inter"/>
                <a:ea typeface="Inter"/>
                <a:cs typeface="Inter"/>
                <a:sym typeface="Inter"/>
              </a:rPr>
              <a:t>Nugent, C. (n.d.). California housing prices [Data set]. Kaggle. </a:t>
            </a:r>
            <a:r>
              <a:rPr lang="en" sz="1100" u="sng">
                <a:solidFill>
                  <a:schemeClr val="hlink"/>
                </a:solidFill>
                <a:latin typeface="Inter"/>
                <a:ea typeface="Inter"/>
                <a:cs typeface="Inter"/>
                <a:sym typeface="Inter"/>
                <a:hlinkClick r:id="rId7"/>
              </a:rPr>
              <a:t>https://www.kaggle.com/datasets/camnugent/california-housing-prices</a:t>
            </a:r>
            <a:endParaRPr sz="1100">
              <a:solidFill>
                <a:schemeClr val="dk1"/>
              </a:solidFill>
              <a:latin typeface="Inter"/>
              <a:ea typeface="Inter"/>
              <a:cs typeface="Inter"/>
              <a:sym typeface="Inter"/>
            </a:endParaRPr>
          </a:p>
          <a:p>
            <a:pPr indent="-304800" lvl="0" marL="457200" rtl="0" algn="l">
              <a:lnSpc>
                <a:spcPct val="150000"/>
              </a:lnSpc>
              <a:spcBef>
                <a:spcPts val="0"/>
              </a:spcBef>
              <a:spcAft>
                <a:spcPts val="0"/>
              </a:spcAft>
              <a:buClr>
                <a:schemeClr val="dk1"/>
              </a:buClr>
              <a:buSzPts val="1200"/>
              <a:buFont typeface="Inter"/>
              <a:buAutoNum type="arabicPeriod"/>
            </a:pPr>
            <a:r>
              <a:t/>
            </a:r>
            <a:endParaRPr sz="1200">
              <a:solidFill>
                <a:schemeClr val="dk1"/>
              </a:solidFill>
              <a:latin typeface="Inter"/>
              <a:ea typeface="Inter"/>
              <a:cs typeface="Inter"/>
              <a:sym typeface="Inter"/>
            </a:endParaRPr>
          </a:p>
          <a:p>
            <a:pPr indent="0" lvl="0" marL="0" rtl="0" algn="l">
              <a:lnSpc>
                <a:spcPct val="115000"/>
              </a:lnSpc>
              <a:spcBef>
                <a:spcPts val="0"/>
              </a:spcBef>
              <a:spcAft>
                <a:spcPts val="0"/>
              </a:spcAft>
              <a:buNone/>
            </a:pPr>
            <a:r>
              <a:t/>
            </a:r>
            <a:endParaRPr sz="1200">
              <a:solidFill>
                <a:schemeClr val="dk1"/>
              </a:solidFill>
              <a:latin typeface="Inter"/>
              <a:ea typeface="Inter"/>
              <a:cs typeface="Inter"/>
              <a:sym typeface="Inter"/>
            </a:endParaRPr>
          </a:p>
        </p:txBody>
      </p:sp>
      <p:sp>
        <p:nvSpPr>
          <p:cNvPr id="484" name="Google Shape;484;p26"/>
          <p:cNvSpPr txBox="1"/>
          <p:nvPr>
            <p:ph idx="1" type="subTitle"/>
          </p:nvPr>
        </p:nvSpPr>
        <p:spPr>
          <a:xfrm>
            <a:off x="409575" y="447125"/>
            <a:ext cx="8125500" cy="8559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2800"/>
              <a:buNone/>
            </a:pPr>
            <a:r>
              <a:rPr b="1" lang="en" sz="3500">
                <a:solidFill>
                  <a:schemeClr val="dk1"/>
                </a:solidFill>
                <a:latin typeface="Roboto"/>
                <a:ea typeface="Roboto"/>
                <a:cs typeface="Roboto"/>
                <a:sym typeface="Roboto"/>
              </a:rPr>
              <a:t>Credits and References</a:t>
            </a:r>
            <a:endParaRPr i="1" sz="3500">
              <a:solidFill>
                <a:schemeClr val="dk1"/>
              </a:solidFill>
              <a:latin typeface="Roboto"/>
              <a:ea typeface="Roboto"/>
              <a:cs typeface="Roboto"/>
              <a:sym typeface="Roboto"/>
            </a:endParaRPr>
          </a:p>
        </p:txBody>
      </p:sp>
      <p:grpSp>
        <p:nvGrpSpPr>
          <p:cNvPr id="485" name="Google Shape;485;p26"/>
          <p:cNvGrpSpPr/>
          <p:nvPr/>
        </p:nvGrpSpPr>
        <p:grpSpPr>
          <a:xfrm>
            <a:off x="8625" y="0"/>
            <a:ext cx="9144000" cy="267600"/>
            <a:chOff x="8625" y="0"/>
            <a:chExt cx="9144000" cy="267600"/>
          </a:xfrm>
        </p:grpSpPr>
        <p:sp>
          <p:nvSpPr>
            <p:cNvPr id="486" name="Google Shape;486;p26"/>
            <p:cNvSpPr/>
            <p:nvPr/>
          </p:nvSpPr>
          <p:spPr>
            <a:xfrm>
              <a:off x="8625" y="0"/>
              <a:ext cx="9144000" cy="2676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487" name="Google Shape;487;p26" title="Logo Header.png"/>
            <p:cNvPicPr preferRelativeResize="0"/>
            <p:nvPr/>
          </p:nvPicPr>
          <p:blipFill rotWithShape="1">
            <a:blip r:embed="rId8">
              <a:alphaModFix/>
            </a:blip>
            <a:srcRect b="0" l="0" r="0" t="0"/>
            <a:stretch/>
          </p:blipFill>
          <p:spPr>
            <a:xfrm>
              <a:off x="8348195" y="15790"/>
              <a:ext cx="634775" cy="199625"/>
            </a:xfrm>
            <a:prstGeom prst="rect">
              <a:avLst/>
            </a:prstGeom>
            <a:noFill/>
            <a:ln>
              <a:noFill/>
            </a:ln>
          </p:spPr>
        </p:pic>
      </p:grpSp>
      <p:pic>
        <p:nvPicPr>
          <p:cNvPr id="488" name="Google Shape;488;p26" title="Logo Main.png"/>
          <p:cNvPicPr preferRelativeResize="0"/>
          <p:nvPr/>
        </p:nvPicPr>
        <p:blipFill rotWithShape="1">
          <a:blip r:embed="rId9">
            <a:alphaModFix/>
          </a:blip>
          <a:srcRect b="0" l="0" r="0" t="0"/>
          <a:stretch/>
        </p:blipFill>
        <p:spPr>
          <a:xfrm>
            <a:off x="452725" y="4321701"/>
            <a:ext cx="1529475" cy="434512"/>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