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5143500" cx="9144000"/>
  <p:notesSz cx="6858000" cy="9144000"/>
  <p:embeddedFontLst>
    <p:embeddedFont>
      <p:font typeface="Roboto"/>
      <p:regular r:id="rId36"/>
      <p:bold r:id="rId37"/>
      <p:italic r:id="rId38"/>
      <p:boldItalic r:id="rId39"/>
    </p:embeddedFont>
    <p:embeddedFont>
      <p:font typeface="Inter"/>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S G"/>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11A223-8252-4700-B3AE-095232456EF6}">
  <a:tblStyle styleId="{8C11A223-8252-4700-B3AE-095232456EF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regular.fntdata"/><Relationship Id="rId20" Type="http://schemas.openxmlformats.org/officeDocument/2006/relationships/slide" Target="slides/slide13.xml"/><Relationship Id="rId42" Type="http://schemas.openxmlformats.org/officeDocument/2006/relationships/font" Target="fonts/Inter-italic.fntdata"/><Relationship Id="rId41" Type="http://schemas.openxmlformats.org/officeDocument/2006/relationships/font" Target="fonts/Inter-bold.fntdata"/><Relationship Id="rId22" Type="http://schemas.openxmlformats.org/officeDocument/2006/relationships/slide" Target="slides/slide15.xml"/><Relationship Id="rId21" Type="http://schemas.openxmlformats.org/officeDocument/2006/relationships/slide" Target="slides/slide14.xml"/><Relationship Id="rId43" Type="http://schemas.openxmlformats.org/officeDocument/2006/relationships/font" Target="fonts/Inter-bold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bold.fntdata"/><Relationship Id="rId14" Type="http://schemas.openxmlformats.org/officeDocument/2006/relationships/slide" Target="slides/slide7.xml"/><Relationship Id="rId36" Type="http://schemas.openxmlformats.org/officeDocument/2006/relationships/font" Target="fonts/Roboto-regular.fntdata"/><Relationship Id="rId17" Type="http://schemas.openxmlformats.org/officeDocument/2006/relationships/slide" Target="slides/slide10.xml"/><Relationship Id="rId39" Type="http://schemas.openxmlformats.org/officeDocument/2006/relationships/font" Target="fonts/Roboto-boldItalic.fntdata"/><Relationship Id="rId16" Type="http://schemas.openxmlformats.org/officeDocument/2006/relationships/slide" Target="slides/slide9.xml"/><Relationship Id="rId38" Type="http://schemas.openxmlformats.org/officeDocument/2006/relationships/font" Target="fonts/Roboto-italic.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9T17:07:04.678">
    <p:pos x="258" y="281"/>
    <p:text>These learning outcomes are ambitious, but the rest of the deck does not yet teach all of them with equal clarity. In particular, abstraction traps and harm beyond accuracy need dedicated slides or explicit instructional moments later in the deck. Right now they appear in the outcomes, but not as concepts students are clearly taught how to identify or explain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09T17:07:28.725">
    <p:pos x="2692" y="229"/>
    <p:text>The lifecycle structure is useful, but several stages still blur together conceptually. Please sharpen the distinction between data analysis/training and model selection/evaluation, and also between representation of results, distribution, and interpretation/communication. At the moment, some stages overlap enough that students may leave with a fuzzy process model rather than a clear one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09T17:11:58.164">
    <p:pos x="5" y="0"/>
    <p:text>The example data tables are useful, but please make sure the instructional framing is visually present enough that students do not read them as simple data-cleaning puzzles. A short prompt or annotation on the slide itself would help keep the focus on consequences of cleaning choices, not just correctness.</p:text>
  </p:cm>
  <p:cm authorId="0" idx="4" dt="2026-04-09T17:11:58.164">
    <p:pos x="5" y="0"/>
    <p:text>this also carries over onto slide 17</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23T11:46:11.019">
    <p:pos x="258" y="298"/>
    <p:text>This slide is still conceptually misassigned by stage. Overfitting and missing data should not sit under Data Collection. ‘Letting the data lead the question’ and ‘path of least resistance’ are question-formulation problems, not training problems. ‘Abstraction trap’ also needs a more precise home, likely feature engineering, representation, or a cross-cutting category. Please either remap these risks to the correct stages or retitle this slide so it no longer claims to review risks ‘per stage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23T11:46:38.021">
    <p:pos x="285" y="714"/>
    <p:text>The transition is much better now, but one more sentence would help. Please make explicit that this is not a second separate lifecycle. It is a critical reframing of the earlier lifecycle to foreground where human choices, abstractions, and value judgments enter the process.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9b8295e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9b8295e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abstraction traps + harm beyond accuracy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cac71d4d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cac71d4d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Leave comment.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8460c46d8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8460c46d8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8460c46d8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8460c46d8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8460c46d8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8460c46d8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8460c46d8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8460c46d8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8460c46d8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8460c46d8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Prior output: </a:t>
            </a:r>
            <a:r>
              <a:rPr lang="en" sz="1200">
                <a:solidFill>
                  <a:schemeClr val="dk1"/>
                </a:solidFill>
                <a:latin typeface="Inter"/>
                <a:ea typeface="Inter"/>
                <a:cs typeface="Inter"/>
                <a:sym typeface="Inter"/>
              </a:rPr>
              <a:t>Clean data that can be used to run different models</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200">
                <a:solidFill>
                  <a:schemeClr val="dk1"/>
                </a:solidFill>
                <a:latin typeface="Inter"/>
                <a:ea typeface="Inter"/>
                <a:cs typeface="Inter"/>
                <a:sym typeface="Inter"/>
              </a:rPr>
              <a:t>Gaining a strong understanding of your data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c8460c46d8_1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c8460c46d8_1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3d8b8d2aa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3d8b8d2aa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8705622f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c8705622f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Move bottom of slide 10 to new slide 12</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c8460c46d8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c8460c46d8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8460c46d8_1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c8460c46d8_1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c8460c46d8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c8460c46d8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3d8b8d2aa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a3d8b8d2aa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ABSTRACTION TRAP</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c7a6c9ef75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c7a6c9ef75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c8705622f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c8705622f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c5ee2a599c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c5ee2a599c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a subheading: “applying a human centered lens to the data science lifecycle”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ed2fdf59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ed2fdf59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Change colours + logos/symbols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050">
                <a:solidFill>
                  <a:srgbClr val="444746"/>
                </a:solidFill>
                <a:highlight>
                  <a:srgbClr val="FFFFFF"/>
                </a:highlight>
                <a:latin typeface="Roboto"/>
                <a:ea typeface="Roboto"/>
                <a:cs typeface="Roboto"/>
                <a:sym typeface="Roboto"/>
              </a:rPr>
              <a:t>The workflow is useful, but students will likely need clearer guidance on how these categories relate to the earlier lifecycle stages. It may help to visually map discovery/capture/curation/design/creation onto question formulation, collection, cleaning, feature engineering, modeling, and communication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a3d8b8d2aa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a3d8b8d2aa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c5ee2a599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c5ee2a599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c5ee2a599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c5ee2a599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c5ee2a599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c5ee2a599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c5ee2a599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c5ee2a599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444746"/>
                </a:solidFill>
                <a:highlight>
                  <a:srgbClr val="FFFFFF"/>
                </a:highlight>
                <a:latin typeface="Roboto"/>
                <a:ea typeface="Roboto"/>
                <a:cs typeface="Roboto"/>
                <a:sym typeface="Roboto"/>
              </a:rPr>
              <a:t>abstraction traps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d855a5197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d855a5197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a3d8b8d2aa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a3d8b8d2aa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Time budget (20+ minutes), on the way ‘out the door’.</a:t>
            </a:r>
            <a:endParaRPr sz="1050">
              <a:solidFill>
                <a:srgbClr val="44474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Debrief with students the following class by providing 2-3 examples.</a:t>
            </a:r>
            <a:endParaRPr sz="1050">
              <a:solidFill>
                <a:srgbClr val="44474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sz="1050">
                <a:solidFill>
                  <a:srgbClr val="444746"/>
                </a:solidFill>
                <a:latin typeface="Roboto"/>
                <a:ea typeface="Roboto"/>
                <a:cs typeface="Roboto"/>
                <a:sym typeface="Roboto"/>
              </a:rPr>
              <a:t>Suggest collecting and sharing anonymized diagrams back to the class after each lecture for peer-to-peer learning. Instructor can assemble all group exit tickets at the conclusion of the semester as a student-generated debrief of the entire course.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e004c84c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e004c84c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highlight>
                <a:schemeClr val="lt1"/>
              </a:highlight>
              <a:latin typeface="Inter"/>
              <a:ea typeface="Inter"/>
              <a:cs typeface="Inter"/>
              <a:sym typeface="Inte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d385958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ad385958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4.png"/></Relationships>
</file>

<file path=ppt/slides/_rels/slide2.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2.png"/><Relationship Id="rId13" Type="http://schemas.openxmlformats.org/officeDocument/2006/relationships/image" Target="../media/image3.png"/><Relationship Id="rId12"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24.png"/><Relationship Id="rId9" Type="http://schemas.openxmlformats.org/officeDocument/2006/relationships/image" Target="../media/image7.jpg"/><Relationship Id="rId1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1.jpg"/><Relationship Id="rId7" Type="http://schemas.openxmlformats.org/officeDocument/2006/relationships/image" Target="../media/image12.jpg"/><Relationship Id="rId8" Type="http://schemas.openxmlformats.org/officeDocument/2006/relationships/image" Target="../media/image16.jpg"/></Relationships>
</file>

<file path=ppt/slides/_rels/slide3.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18.png"/><Relationship Id="rId13" Type="http://schemas.openxmlformats.org/officeDocument/2006/relationships/image" Target="../media/image25.png"/><Relationship Id="rId12"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15.png"/><Relationship Id="rId9"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0.png"/><Relationship Id="rId8"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4.png"/><Relationship Id="rId5"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3.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omments" Target="../comments/comment4.xml"/><Relationship Id="rId4" Type="http://schemas.openxmlformats.org/officeDocument/2006/relationships/image" Target="../media/image24.png"/><Relationship Id="rId5"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4.png"/><Relationship Id="rId5"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omments" Target="../comments/comment5.xml"/><Relationship Id="rId4" Type="http://schemas.openxmlformats.org/officeDocument/2006/relationships/image" Target="../media/image24.png"/><Relationship Id="rId9" Type="http://schemas.openxmlformats.org/officeDocument/2006/relationships/image" Target="../media/image14.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1.png"/><Relationship Id="rId13" Type="http://schemas.openxmlformats.org/officeDocument/2006/relationships/image" Target="../media/image26.png"/><Relationship Id="rId12" Type="http://schemas.openxmlformats.org/officeDocument/2006/relationships/image" Target="../media/image19.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4.png"/><Relationship Id="rId9" Type="http://schemas.openxmlformats.org/officeDocument/2006/relationships/image" Target="../media/image23.png"/><Relationship Id="rId14" Type="http://schemas.openxmlformats.org/officeDocument/2006/relationships/image" Target="../media/image25.png"/><Relationship Id="rId5" Type="http://schemas.openxmlformats.org/officeDocument/2006/relationships/image" Target="../media/image15.png"/><Relationship Id="rId6" Type="http://schemas.openxmlformats.org/officeDocument/2006/relationships/image" Target="../media/image22.png"/><Relationship Id="rId7" Type="http://schemas.openxmlformats.org/officeDocument/2006/relationships/image" Target="../media/image17.png"/><Relationship Id="rId8"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doi.org/10.1145/3360646" TargetMode="External"/><Relationship Id="rId4" Type="http://schemas.openxmlformats.org/officeDocument/2006/relationships/hyperlink" Target="https://doi.org/10.1145/3411764.3445526" TargetMode="External"/><Relationship Id="rId5" Type="http://schemas.openxmlformats.org/officeDocument/2006/relationships/image" Target="../media/image24.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452725" y="1134000"/>
            <a:ext cx="5493300" cy="2412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sz="4800">
                <a:solidFill>
                  <a:schemeClr val="dk1"/>
                </a:solidFill>
                <a:latin typeface="Inter"/>
                <a:ea typeface="Inter"/>
                <a:cs typeface="Inter"/>
                <a:sym typeface="Inter"/>
              </a:rPr>
              <a:t>Foundations of</a:t>
            </a:r>
            <a:r>
              <a:rPr b="1" lang="en" sz="4800">
                <a:solidFill>
                  <a:schemeClr val="dk1"/>
                </a:solidFill>
                <a:latin typeface="Inter"/>
                <a:ea typeface="Inter"/>
                <a:cs typeface="Inter"/>
                <a:sym typeface="Inter"/>
              </a:rPr>
              <a:t> </a:t>
            </a:r>
            <a:endParaRPr b="1" sz="4800">
              <a:solidFill>
                <a:schemeClr val="dk1"/>
              </a:solidFill>
              <a:latin typeface="Inter"/>
              <a:ea typeface="Inter"/>
              <a:cs typeface="Inter"/>
              <a:sym typeface="Inter"/>
            </a:endParaRPr>
          </a:p>
          <a:p>
            <a:pPr indent="0" lvl="0" marL="0" rtl="0" algn="l">
              <a:spcBef>
                <a:spcPts val="0"/>
              </a:spcBef>
              <a:spcAft>
                <a:spcPts val="0"/>
              </a:spcAft>
              <a:buNone/>
            </a:pPr>
            <a:r>
              <a:rPr b="1" lang="en" sz="4800">
                <a:solidFill>
                  <a:schemeClr val="dk1"/>
                </a:solidFill>
                <a:latin typeface="Inter"/>
                <a:ea typeface="Inter"/>
                <a:cs typeface="Inter"/>
                <a:sym typeface="Inter"/>
              </a:rPr>
              <a:t>Human</a:t>
            </a:r>
            <a:r>
              <a:rPr b="1" lang="en" sz="4800">
                <a:solidFill>
                  <a:schemeClr val="dk1"/>
                </a:solidFill>
                <a:latin typeface="Inter"/>
                <a:ea typeface="Inter"/>
                <a:cs typeface="Inter"/>
                <a:sym typeface="Inter"/>
              </a:rPr>
              <a:t>    Centered </a:t>
            </a:r>
            <a:endParaRPr b="1" sz="4800">
              <a:solidFill>
                <a:schemeClr val="dk1"/>
              </a:solidFill>
              <a:latin typeface="Inter"/>
              <a:ea typeface="Inter"/>
              <a:cs typeface="Inter"/>
              <a:sym typeface="Inter"/>
            </a:endParaRPr>
          </a:p>
          <a:p>
            <a:pPr indent="0" lvl="0" marL="0" rtl="0" algn="l">
              <a:spcBef>
                <a:spcPts val="0"/>
              </a:spcBef>
              <a:spcAft>
                <a:spcPts val="0"/>
              </a:spcAft>
              <a:buNone/>
            </a:pPr>
            <a:r>
              <a:rPr b="1" lang="en" sz="4800">
                <a:solidFill>
                  <a:schemeClr val="dk1"/>
                </a:solidFill>
                <a:latin typeface="Inter"/>
                <a:ea typeface="Inter"/>
                <a:cs typeface="Inter"/>
                <a:sym typeface="Inter"/>
              </a:rPr>
              <a:t>Data Science </a:t>
            </a:r>
            <a:endParaRPr b="1" sz="4800">
              <a:solidFill>
                <a:schemeClr val="dk1"/>
              </a:solidFill>
              <a:latin typeface="Inter"/>
              <a:ea typeface="Inter"/>
              <a:cs typeface="Inter"/>
              <a:sym typeface="Inter"/>
            </a:endParaRPr>
          </a:p>
        </p:txBody>
      </p:sp>
      <p:grpSp>
        <p:nvGrpSpPr>
          <p:cNvPr id="55" name="Google Shape;55;p13"/>
          <p:cNvGrpSpPr/>
          <p:nvPr/>
        </p:nvGrpSpPr>
        <p:grpSpPr>
          <a:xfrm>
            <a:off x="8625" y="0"/>
            <a:ext cx="9144000" cy="267600"/>
            <a:chOff x="8625" y="0"/>
            <a:chExt cx="9144000" cy="267600"/>
          </a:xfrm>
        </p:grpSpPr>
        <p:sp>
          <p:nvSpPr>
            <p:cNvPr id="56" name="Google Shape;56;p1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 name="Google Shape;57;p13"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pic>
        <p:nvPicPr>
          <p:cNvPr id="58" name="Google Shape;58;p13" title="diamond.png"/>
          <p:cNvPicPr preferRelativeResize="0"/>
          <p:nvPr/>
        </p:nvPicPr>
        <p:blipFill>
          <a:blip r:embed="rId4">
            <a:alphaModFix/>
          </a:blip>
          <a:stretch>
            <a:fillRect/>
          </a:stretch>
        </p:blipFill>
        <p:spPr>
          <a:xfrm>
            <a:off x="2531992" y="2106283"/>
            <a:ext cx="488350" cy="325567"/>
          </a:xfrm>
          <a:prstGeom prst="rect">
            <a:avLst/>
          </a:prstGeom>
          <a:noFill/>
          <a:ln>
            <a:noFill/>
          </a:ln>
        </p:spPr>
      </p:pic>
      <p:pic>
        <p:nvPicPr>
          <p:cNvPr id="59" name="Google Shape;59;p13" title="Logo Main.png"/>
          <p:cNvPicPr preferRelativeResize="0"/>
          <p:nvPr/>
        </p:nvPicPr>
        <p:blipFill>
          <a:blip r:embed="rId5">
            <a:alphaModFix/>
          </a:blip>
          <a:stretch>
            <a:fillRect/>
          </a:stretch>
        </p:blipFill>
        <p:spPr>
          <a:xfrm>
            <a:off x="452725" y="4090625"/>
            <a:ext cx="1529475" cy="434512"/>
          </a:xfrm>
          <a:prstGeom prst="rect">
            <a:avLst/>
          </a:prstGeom>
          <a:noFill/>
          <a:ln>
            <a:noFill/>
          </a:ln>
        </p:spPr>
      </p:pic>
      <p:pic>
        <p:nvPicPr>
          <p:cNvPr id="60" name="Google Shape;60;p13" title="Cone_01 7.png"/>
          <p:cNvPicPr preferRelativeResize="0"/>
          <p:nvPr/>
        </p:nvPicPr>
        <p:blipFill>
          <a:blip r:embed="rId6">
            <a:alphaModFix/>
          </a:blip>
          <a:stretch>
            <a:fillRect/>
          </a:stretch>
        </p:blipFill>
        <p:spPr>
          <a:xfrm>
            <a:off x="6705750" y="2039325"/>
            <a:ext cx="882725" cy="882725"/>
          </a:xfrm>
          <a:prstGeom prst="rect">
            <a:avLst/>
          </a:prstGeom>
          <a:noFill/>
          <a:ln>
            <a:noFill/>
          </a:ln>
        </p:spPr>
      </p:pic>
      <p:pic>
        <p:nvPicPr>
          <p:cNvPr id="61" name="Google Shape;61;p13" title="Cone_01 8.png"/>
          <p:cNvPicPr preferRelativeResize="0"/>
          <p:nvPr/>
        </p:nvPicPr>
        <p:blipFill>
          <a:blip r:embed="rId7">
            <a:alphaModFix/>
          </a:blip>
          <a:stretch>
            <a:fillRect/>
          </a:stretch>
        </p:blipFill>
        <p:spPr>
          <a:xfrm>
            <a:off x="6524825" y="2768275"/>
            <a:ext cx="434480" cy="434500"/>
          </a:xfrm>
          <a:prstGeom prst="rect">
            <a:avLst/>
          </a:prstGeom>
          <a:noFill/>
          <a:ln>
            <a:noFill/>
          </a:ln>
        </p:spPr>
      </p:pic>
      <p:pic>
        <p:nvPicPr>
          <p:cNvPr id="62" name="Google Shape;62;p13" title="Cone_01 4.png"/>
          <p:cNvPicPr preferRelativeResize="0"/>
          <p:nvPr/>
        </p:nvPicPr>
        <p:blipFill>
          <a:blip r:embed="rId8">
            <a:alphaModFix/>
          </a:blip>
          <a:stretch>
            <a:fillRect/>
          </a:stretch>
        </p:blipFill>
        <p:spPr>
          <a:xfrm>
            <a:off x="5416220" y="1271225"/>
            <a:ext cx="3736401" cy="38722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idx="1" type="subTitle"/>
          </p:nvPr>
        </p:nvSpPr>
        <p:spPr>
          <a:xfrm>
            <a:off x="529200" y="1451625"/>
            <a:ext cx="4569000" cy="34434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rPr lang="en" sz="1800">
                <a:solidFill>
                  <a:schemeClr val="dk1"/>
                </a:solidFill>
                <a:latin typeface="Inter"/>
                <a:ea typeface="Inter"/>
                <a:cs typeface="Inter"/>
                <a:sym typeface="Inter"/>
              </a:rPr>
              <a:t>Describing Data Science Lifecycle</a:t>
            </a:r>
            <a:endParaRPr sz="18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800">
              <a:solidFill>
                <a:schemeClr val="dk1"/>
              </a:solidFill>
              <a:latin typeface="Inter"/>
              <a:ea typeface="Inter"/>
              <a:cs typeface="Inter"/>
              <a:sym typeface="Inter"/>
            </a:endParaRPr>
          </a:p>
          <a:p>
            <a:pPr indent="0" lvl="0" marL="457200" rtl="0" algn="l">
              <a:lnSpc>
                <a:spcPct val="115000"/>
              </a:lnSpc>
              <a:spcBef>
                <a:spcPts val="0"/>
              </a:spcBef>
              <a:spcAft>
                <a:spcPts val="0"/>
              </a:spcAft>
              <a:buNone/>
            </a:pPr>
            <a:r>
              <a:rPr lang="en" sz="1800">
                <a:solidFill>
                  <a:schemeClr val="dk1"/>
                </a:solidFill>
                <a:latin typeface="Inter"/>
                <a:ea typeface="Inter"/>
                <a:cs typeface="Inter"/>
                <a:sym typeface="Inter"/>
              </a:rPr>
              <a:t>Locate Human TouchPoints</a:t>
            </a:r>
            <a:endParaRPr sz="18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800">
              <a:solidFill>
                <a:schemeClr val="dk1"/>
              </a:solidFill>
              <a:latin typeface="Inter"/>
              <a:ea typeface="Inter"/>
              <a:cs typeface="Inter"/>
              <a:sym typeface="Inter"/>
            </a:endParaRPr>
          </a:p>
          <a:p>
            <a:pPr indent="0" lvl="0" marL="457200" rtl="0" algn="l">
              <a:lnSpc>
                <a:spcPct val="115000"/>
              </a:lnSpc>
              <a:spcBef>
                <a:spcPts val="0"/>
              </a:spcBef>
              <a:spcAft>
                <a:spcPts val="0"/>
              </a:spcAft>
              <a:buNone/>
            </a:pPr>
            <a:r>
              <a:rPr lang="en" sz="1800">
                <a:solidFill>
                  <a:schemeClr val="dk1"/>
                </a:solidFill>
                <a:latin typeface="Inter"/>
                <a:ea typeface="Inter"/>
                <a:cs typeface="Inter"/>
                <a:sym typeface="Inter"/>
              </a:rPr>
              <a:t>Explain Abstraction Traps</a:t>
            </a:r>
            <a:endParaRPr sz="1800">
              <a:solidFill>
                <a:schemeClr val="dk1"/>
              </a:solidFill>
              <a:latin typeface="Inter"/>
              <a:ea typeface="Inter"/>
              <a:cs typeface="Inter"/>
              <a:sym typeface="Inter"/>
            </a:endParaRPr>
          </a:p>
          <a:p>
            <a:pPr indent="0" lvl="0" marL="457200" rtl="0" algn="l">
              <a:lnSpc>
                <a:spcPct val="115000"/>
              </a:lnSpc>
              <a:spcBef>
                <a:spcPts val="0"/>
              </a:spcBef>
              <a:spcAft>
                <a:spcPts val="0"/>
              </a:spcAft>
              <a:buNone/>
            </a:pPr>
            <a:r>
              <a:t/>
            </a:r>
            <a:endParaRPr sz="1800">
              <a:solidFill>
                <a:schemeClr val="dk1"/>
              </a:solidFill>
              <a:latin typeface="Inter"/>
              <a:ea typeface="Inter"/>
              <a:cs typeface="Inter"/>
              <a:sym typeface="Inter"/>
            </a:endParaRPr>
          </a:p>
          <a:p>
            <a:pPr indent="0" lvl="0" marL="457200" rtl="0" algn="l">
              <a:lnSpc>
                <a:spcPct val="115000"/>
              </a:lnSpc>
              <a:spcBef>
                <a:spcPts val="0"/>
              </a:spcBef>
              <a:spcAft>
                <a:spcPts val="0"/>
              </a:spcAft>
              <a:buNone/>
            </a:pPr>
            <a:r>
              <a:rPr lang="en" sz="1800">
                <a:solidFill>
                  <a:schemeClr val="dk1"/>
                </a:solidFill>
                <a:latin typeface="Inter"/>
                <a:ea typeface="Inter"/>
                <a:cs typeface="Inter"/>
                <a:sym typeface="Inter"/>
              </a:rPr>
              <a:t>Describe </a:t>
            </a:r>
            <a:r>
              <a:rPr i="1" lang="en" sz="1800">
                <a:solidFill>
                  <a:schemeClr val="dk1"/>
                </a:solidFill>
                <a:latin typeface="Inter"/>
                <a:ea typeface="Inter"/>
                <a:cs typeface="Inter"/>
                <a:sym typeface="Inter"/>
              </a:rPr>
              <a:t>Harm Beyond Accuracy</a:t>
            </a:r>
            <a:endParaRPr i="1" sz="1800">
              <a:solidFill>
                <a:schemeClr val="dk1"/>
              </a:solidFill>
              <a:latin typeface="Inter"/>
              <a:ea typeface="Inter"/>
              <a:cs typeface="Inter"/>
              <a:sym typeface="Inter"/>
            </a:endParaRPr>
          </a:p>
        </p:txBody>
      </p:sp>
      <p:sp>
        <p:nvSpPr>
          <p:cNvPr id="68" name="Google Shape;68;p14"/>
          <p:cNvSpPr txBox="1"/>
          <p:nvPr>
            <p:ph idx="1" type="subTitle"/>
          </p:nvPr>
        </p:nvSpPr>
        <p:spPr>
          <a:xfrm>
            <a:off x="409575" y="447125"/>
            <a:ext cx="4453200" cy="75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500">
                <a:solidFill>
                  <a:schemeClr val="dk1"/>
                </a:solidFill>
                <a:latin typeface="Inter"/>
                <a:ea typeface="Inter"/>
                <a:cs typeface="Inter"/>
                <a:sym typeface="Inter"/>
              </a:rPr>
              <a:t>Learning Outcomes</a:t>
            </a:r>
            <a:endParaRPr b="1" sz="3500">
              <a:solidFill>
                <a:schemeClr val="dk1"/>
              </a:solidFill>
              <a:latin typeface="Inter"/>
              <a:ea typeface="Inter"/>
              <a:cs typeface="Inter"/>
              <a:sym typeface="Inter"/>
            </a:endParaRPr>
          </a:p>
        </p:txBody>
      </p:sp>
      <p:grpSp>
        <p:nvGrpSpPr>
          <p:cNvPr id="69" name="Google Shape;69;p14"/>
          <p:cNvGrpSpPr/>
          <p:nvPr/>
        </p:nvGrpSpPr>
        <p:grpSpPr>
          <a:xfrm>
            <a:off x="8625" y="0"/>
            <a:ext cx="9144000" cy="267600"/>
            <a:chOff x="8625" y="0"/>
            <a:chExt cx="9144000" cy="267600"/>
          </a:xfrm>
        </p:grpSpPr>
        <p:sp>
          <p:nvSpPr>
            <p:cNvPr id="70" name="Google Shape;70;p1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1" name="Google Shape;71;p14" title="Logo Header.png"/>
            <p:cNvPicPr preferRelativeResize="0"/>
            <p:nvPr/>
          </p:nvPicPr>
          <p:blipFill>
            <a:blip r:embed="rId4">
              <a:alphaModFix/>
            </a:blip>
            <a:stretch>
              <a:fillRect/>
            </a:stretch>
          </p:blipFill>
          <p:spPr>
            <a:xfrm>
              <a:off x="8348195" y="15790"/>
              <a:ext cx="634775" cy="199625"/>
            </a:xfrm>
            <a:prstGeom prst="rect">
              <a:avLst/>
            </a:prstGeom>
            <a:noFill/>
            <a:ln>
              <a:noFill/>
            </a:ln>
          </p:spPr>
        </p:pic>
      </p:grpSp>
      <p:pic>
        <p:nvPicPr>
          <p:cNvPr id="72" name="Google Shape;72;p14" title="cone.png"/>
          <p:cNvPicPr preferRelativeResize="0"/>
          <p:nvPr/>
        </p:nvPicPr>
        <p:blipFill>
          <a:blip r:embed="rId5">
            <a:alphaModFix/>
          </a:blip>
          <a:stretch>
            <a:fillRect/>
          </a:stretch>
        </p:blipFill>
        <p:spPr>
          <a:xfrm>
            <a:off x="449064" y="2079443"/>
            <a:ext cx="467000" cy="457025"/>
          </a:xfrm>
          <a:prstGeom prst="rect">
            <a:avLst/>
          </a:prstGeom>
          <a:noFill/>
          <a:ln>
            <a:noFill/>
          </a:ln>
        </p:spPr>
      </p:pic>
      <p:pic>
        <p:nvPicPr>
          <p:cNvPr id="73" name="Google Shape;73;p14"/>
          <p:cNvPicPr preferRelativeResize="0"/>
          <p:nvPr/>
        </p:nvPicPr>
        <p:blipFill rotWithShape="1">
          <a:blip r:embed="rId6">
            <a:alphaModFix/>
          </a:blip>
          <a:srcRect b="0" l="0" r="0" t="0"/>
          <a:stretch/>
        </p:blipFill>
        <p:spPr>
          <a:xfrm rot="5400000">
            <a:off x="6604186" y="2323162"/>
            <a:ext cx="440081" cy="440081"/>
          </a:xfrm>
          <a:prstGeom prst="rect">
            <a:avLst/>
          </a:prstGeom>
          <a:noFill/>
          <a:ln>
            <a:noFill/>
          </a:ln>
        </p:spPr>
      </p:pic>
      <p:pic>
        <p:nvPicPr>
          <p:cNvPr id="74" name="Google Shape;74;p14"/>
          <p:cNvPicPr preferRelativeResize="0"/>
          <p:nvPr/>
        </p:nvPicPr>
        <p:blipFill rotWithShape="1">
          <a:blip r:embed="rId7">
            <a:alphaModFix/>
          </a:blip>
          <a:srcRect b="0" l="0" r="0" t="0"/>
          <a:stretch/>
        </p:blipFill>
        <p:spPr>
          <a:xfrm rot="2346365">
            <a:off x="6059736" y="2323162"/>
            <a:ext cx="440081" cy="440081"/>
          </a:xfrm>
          <a:prstGeom prst="rect">
            <a:avLst/>
          </a:prstGeom>
          <a:noFill/>
          <a:ln>
            <a:noFill/>
          </a:ln>
        </p:spPr>
      </p:pic>
      <p:pic>
        <p:nvPicPr>
          <p:cNvPr id="75" name="Google Shape;75;p14"/>
          <p:cNvPicPr preferRelativeResize="0"/>
          <p:nvPr/>
        </p:nvPicPr>
        <p:blipFill rotWithShape="1">
          <a:blip r:embed="rId8">
            <a:alphaModFix/>
          </a:blip>
          <a:srcRect b="0" l="0" r="0" t="0"/>
          <a:stretch/>
        </p:blipFill>
        <p:spPr>
          <a:xfrm rot="4279573">
            <a:off x="6444785" y="2800887"/>
            <a:ext cx="440081" cy="440081"/>
          </a:xfrm>
          <a:prstGeom prst="rect">
            <a:avLst/>
          </a:prstGeom>
          <a:noFill/>
          <a:ln>
            <a:noFill/>
          </a:ln>
        </p:spPr>
      </p:pic>
      <p:pic>
        <p:nvPicPr>
          <p:cNvPr id="76" name="Google Shape;76;p14"/>
          <p:cNvPicPr preferRelativeResize="0"/>
          <p:nvPr/>
        </p:nvPicPr>
        <p:blipFill rotWithShape="1">
          <a:blip r:embed="rId9">
            <a:alphaModFix/>
          </a:blip>
          <a:srcRect b="0" l="0" r="0" t="0"/>
          <a:stretch/>
        </p:blipFill>
        <p:spPr>
          <a:xfrm rot="6410528">
            <a:off x="5923911" y="3012837"/>
            <a:ext cx="440081" cy="440081"/>
          </a:xfrm>
          <a:prstGeom prst="rect">
            <a:avLst/>
          </a:prstGeom>
          <a:noFill/>
          <a:ln>
            <a:noFill/>
          </a:ln>
        </p:spPr>
      </p:pic>
      <p:pic>
        <p:nvPicPr>
          <p:cNvPr id="77" name="Google Shape;77;p14" title="cube 1.png"/>
          <p:cNvPicPr preferRelativeResize="0"/>
          <p:nvPr/>
        </p:nvPicPr>
        <p:blipFill>
          <a:blip r:embed="rId10">
            <a:alphaModFix/>
          </a:blip>
          <a:stretch>
            <a:fillRect/>
          </a:stretch>
        </p:blipFill>
        <p:spPr>
          <a:xfrm>
            <a:off x="580450" y="2814029"/>
            <a:ext cx="311425" cy="351200"/>
          </a:xfrm>
          <a:prstGeom prst="rect">
            <a:avLst/>
          </a:prstGeom>
          <a:noFill/>
          <a:ln>
            <a:noFill/>
          </a:ln>
        </p:spPr>
      </p:pic>
      <p:pic>
        <p:nvPicPr>
          <p:cNvPr id="78" name="Google Shape;78;p14" title="cube 2.png"/>
          <p:cNvPicPr preferRelativeResize="0"/>
          <p:nvPr/>
        </p:nvPicPr>
        <p:blipFill>
          <a:blip r:embed="rId11">
            <a:alphaModFix/>
          </a:blip>
          <a:stretch>
            <a:fillRect/>
          </a:stretch>
        </p:blipFill>
        <p:spPr>
          <a:xfrm>
            <a:off x="580440" y="1531146"/>
            <a:ext cx="311425" cy="416786"/>
          </a:xfrm>
          <a:prstGeom prst="rect">
            <a:avLst/>
          </a:prstGeom>
          <a:noFill/>
          <a:ln>
            <a:noFill/>
          </a:ln>
        </p:spPr>
      </p:pic>
      <p:pic>
        <p:nvPicPr>
          <p:cNvPr id="79" name="Google Shape;79;p14" title="Cone_01 3.png"/>
          <p:cNvPicPr preferRelativeResize="0"/>
          <p:nvPr/>
        </p:nvPicPr>
        <p:blipFill>
          <a:blip r:embed="rId12">
            <a:alphaModFix/>
          </a:blip>
          <a:stretch>
            <a:fillRect/>
          </a:stretch>
        </p:blipFill>
        <p:spPr>
          <a:xfrm rot="5400000">
            <a:off x="7705035" y="1002612"/>
            <a:ext cx="440081" cy="440081"/>
          </a:xfrm>
          <a:prstGeom prst="rect">
            <a:avLst/>
          </a:prstGeom>
          <a:noFill/>
          <a:ln>
            <a:noFill/>
          </a:ln>
        </p:spPr>
      </p:pic>
      <p:pic>
        <p:nvPicPr>
          <p:cNvPr id="80" name="Google Shape;80;p14" title="Cone_01 7.png"/>
          <p:cNvPicPr preferRelativeResize="0"/>
          <p:nvPr/>
        </p:nvPicPr>
        <p:blipFill>
          <a:blip r:embed="rId13">
            <a:alphaModFix/>
          </a:blip>
          <a:stretch>
            <a:fillRect/>
          </a:stretch>
        </p:blipFill>
        <p:spPr>
          <a:xfrm>
            <a:off x="6205901" y="926400"/>
            <a:ext cx="2078950" cy="2078950"/>
          </a:xfrm>
          <a:prstGeom prst="rect">
            <a:avLst/>
          </a:prstGeom>
          <a:noFill/>
          <a:ln>
            <a:noFill/>
          </a:ln>
        </p:spPr>
      </p:pic>
      <p:pic>
        <p:nvPicPr>
          <p:cNvPr id="81" name="Google Shape;81;p14" title="asterisk.png"/>
          <p:cNvPicPr preferRelativeResize="0"/>
          <p:nvPr/>
        </p:nvPicPr>
        <p:blipFill>
          <a:blip r:embed="rId14">
            <a:alphaModFix/>
          </a:blip>
          <a:stretch>
            <a:fillRect/>
          </a:stretch>
        </p:blipFill>
        <p:spPr>
          <a:xfrm>
            <a:off x="580440" y="3459657"/>
            <a:ext cx="311425" cy="311425"/>
          </a:xfrm>
          <a:prstGeom prst="rect">
            <a:avLst/>
          </a:prstGeom>
          <a:noFill/>
          <a:ln>
            <a:noFill/>
          </a:ln>
        </p:spPr>
      </p:pic>
      <p:pic>
        <p:nvPicPr>
          <p:cNvPr id="82" name="Google Shape;82;p14" title="Cone_01 3.png"/>
          <p:cNvPicPr preferRelativeResize="0"/>
          <p:nvPr/>
        </p:nvPicPr>
        <p:blipFill>
          <a:blip r:embed="rId12">
            <a:alphaModFix/>
          </a:blip>
          <a:stretch>
            <a:fillRect/>
          </a:stretch>
        </p:blipFill>
        <p:spPr>
          <a:xfrm rot="5400000">
            <a:off x="7552635" y="1155012"/>
            <a:ext cx="440081" cy="440081"/>
          </a:xfrm>
          <a:prstGeom prst="rect">
            <a:avLst/>
          </a:prstGeom>
          <a:noFill/>
          <a:ln>
            <a:noFill/>
          </a:ln>
        </p:spPr>
      </p:pic>
      <p:pic>
        <p:nvPicPr>
          <p:cNvPr id="83" name="Google Shape;83;p14" title="Cone_01 3.png"/>
          <p:cNvPicPr preferRelativeResize="0"/>
          <p:nvPr/>
        </p:nvPicPr>
        <p:blipFill>
          <a:blip r:embed="rId12">
            <a:alphaModFix/>
          </a:blip>
          <a:stretch>
            <a:fillRect/>
          </a:stretch>
        </p:blipFill>
        <p:spPr>
          <a:xfrm rot="5400000">
            <a:off x="7400235" y="1307412"/>
            <a:ext cx="440081" cy="440081"/>
          </a:xfrm>
          <a:prstGeom prst="rect">
            <a:avLst/>
          </a:prstGeom>
          <a:noFill/>
          <a:ln>
            <a:noFill/>
          </a:ln>
        </p:spPr>
      </p:pic>
      <p:pic>
        <p:nvPicPr>
          <p:cNvPr id="84" name="Google Shape;84;p14" title="Cone_01 3.png"/>
          <p:cNvPicPr preferRelativeResize="0"/>
          <p:nvPr/>
        </p:nvPicPr>
        <p:blipFill>
          <a:blip r:embed="rId12">
            <a:alphaModFix/>
          </a:blip>
          <a:stretch>
            <a:fillRect/>
          </a:stretch>
        </p:blipFill>
        <p:spPr>
          <a:xfrm rot="5400000">
            <a:off x="7247835" y="1459812"/>
            <a:ext cx="440081" cy="440081"/>
          </a:xfrm>
          <a:prstGeom prst="rect">
            <a:avLst/>
          </a:prstGeom>
          <a:noFill/>
          <a:ln>
            <a:noFill/>
          </a:ln>
        </p:spPr>
      </p:pic>
      <p:pic>
        <p:nvPicPr>
          <p:cNvPr id="85" name="Google Shape;85;p14" title="Cone_01 3.png"/>
          <p:cNvPicPr preferRelativeResize="0"/>
          <p:nvPr/>
        </p:nvPicPr>
        <p:blipFill>
          <a:blip r:embed="rId12">
            <a:alphaModFix/>
          </a:blip>
          <a:stretch>
            <a:fillRect/>
          </a:stretch>
        </p:blipFill>
        <p:spPr>
          <a:xfrm rot="5400000">
            <a:off x="7095435" y="1612212"/>
            <a:ext cx="440081" cy="4400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5" title="administrator-65406.png"/>
          <p:cNvPicPr preferRelativeResize="0"/>
          <p:nvPr/>
        </p:nvPicPr>
        <p:blipFill>
          <a:blip r:embed="rId4">
            <a:alphaModFix/>
          </a:blip>
          <a:stretch>
            <a:fillRect/>
          </a:stretch>
        </p:blipFill>
        <p:spPr>
          <a:xfrm>
            <a:off x="4274063" y="363938"/>
            <a:ext cx="773870" cy="745115"/>
          </a:xfrm>
          <a:prstGeom prst="rect">
            <a:avLst/>
          </a:prstGeom>
          <a:noFill/>
          <a:ln>
            <a:noFill/>
          </a:ln>
        </p:spPr>
      </p:pic>
      <p:pic>
        <p:nvPicPr>
          <p:cNvPr id="91" name="Google Shape;91;p15" title="binoculars-65410.png"/>
          <p:cNvPicPr preferRelativeResize="0"/>
          <p:nvPr/>
        </p:nvPicPr>
        <p:blipFill>
          <a:blip r:embed="rId5">
            <a:alphaModFix/>
          </a:blip>
          <a:stretch>
            <a:fillRect/>
          </a:stretch>
        </p:blipFill>
        <p:spPr>
          <a:xfrm>
            <a:off x="3728654" y="4005691"/>
            <a:ext cx="773870" cy="773870"/>
          </a:xfrm>
          <a:prstGeom prst="rect">
            <a:avLst/>
          </a:prstGeom>
          <a:noFill/>
          <a:ln>
            <a:noFill/>
          </a:ln>
        </p:spPr>
      </p:pic>
      <p:pic>
        <p:nvPicPr>
          <p:cNvPr id="92" name="Google Shape;92;p15" title="connect_to_database-65415.png"/>
          <p:cNvPicPr preferRelativeResize="0"/>
          <p:nvPr/>
        </p:nvPicPr>
        <p:blipFill>
          <a:blip r:embed="rId6">
            <a:alphaModFix/>
          </a:blip>
          <a:stretch>
            <a:fillRect/>
          </a:stretch>
        </p:blipFill>
        <p:spPr>
          <a:xfrm>
            <a:off x="6628431" y="2918447"/>
            <a:ext cx="773870" cy="773870"/>
          </a:xfrm>
          <a:prstGeom prst="rect">
            <a:avLst/>
          </a:prstGeom>
          <a:noFill/>
          <a:ln>
            <a:noFill/>
          </a:ln>
        </p:spPr>
      </p:pic>
      <p:pic>
        <p:nvPicPr>
          <p:cNvPr id="93" name="Google Shape;93;p15" title="database_export-65420.png"/>
          <p:cNvPicPr preferRelativeResize="0"/>
          <p:nvPr/>
        </p:nvPicPr>
        <p:blipFill>
          <a:blip r:embed="rId7">
            <a:alphaModFix/>
          </a:blip>
          <a:stretch>
            <a:fillRect/>
          </a:stretch>
        </p:blipFill>
        <p:spPr>
          <a:xfrm>
            <a:off x="1821977" y="1903347"/>
            <a:ext cx="773870" cy="762574"/>
          </a:xfrm>
          <a:prstGeom prst="rect">
            <a:avLst/>
          </a:prstGeom>
          <a:noFill/>
          <a:ln>
            <a:noFill/>
          </a:ln>
        </p:spPr>
      </p:pic>
      <p:pic>
        <p:nvPicPr>
          <p:cNvPr id="94" name="Google Shape;94;p15" title="database_import-65422.png"/>
          <p:cNvPicPr preferRelativeResize="0"/>
          <p:nvPr/>
        </p:nvPicPr>
        <p:blipFill>
          <a:blip r:embed="rId8">
            <a:alphaModFix/>
          </a:blip>
          <a:stretch>
            <a:fillRect/>
          </a:stretch>
        </p:blipFill>
        <p:spPr>
          <a:xfrm>
            <a:off x="6628428" y="1129457"/>
            <a:ext cx="773870" cy="773885"/>
          </a:xfrm>
          <a:prstGeom prst="rect">
            <a:avLst/>
          </a:prstGeom>
          <a:noFill/>
          <a:ln>
            <a:noFill/>
          </a:ln>
        </p:spPr>
      </p:pic>
      <p:pic>
        <p:nvPicPr>
          <p:cNvPr id="95" name="Google Shape;95;p15" title="database_monitoring-65424.png"/>
          <p:cNvPicPr preferRelativeResize="0"/>
          <p:nvPr/>
        </p:nvPicPr>
        <p:blipFill>
          <a:blip r:embed="rId9">
            <a:alphaModFix/>
          </a:blip>
          <a:stretch>
            <a:fillRect/>
          </a:stretch>
        </p:blipFill>
        <p:spPr>
          <a:xfrm>
            <a:off x="1821976" y="2827173"/>
            <a:ext cx="773870" cy="773885"/>
          </a:xfrm>
          <a:prstGeom prst="rect">
            <a:avLst/>
          </a:prstGeom>
          <a:noFill/>
          <a:ln>
            <a:noFill/>
          </a:ln>
        </p:spPr>
      </p:pic>
      <p:pic>
        <p:nvPicPr>
          <p:cNvPr id="96" name="Google Shape;96;p15" title="database_users-65427.png"/>
          <p:cNvPicPr preferRelativeResize="0"/>
          <p:nvPr/>
        </p:nvPicPr>
        <p:blipFill>
          <a:blip r:embed="rId10">
            <a:alphaModFix/>
          </a:blip>
          <a:stretch>
            <a:fillRect/>
          </a:stretch>
        </p:blipFill>
        <p:spPr>
          <a:xfrm>
            <a:off x="1821980" y="1076432"/>
            <a:ext cx="773870" cy="745134"/>
          </a:xfrm>
          <a:prstGeom prst="rect">
            <a:avLst/>
          </a:prstGeom>
          <a:noFill/>
          <a:ln>
            <a:noFill/>
          </a:ln>
        </p:spPr>
      </p:pic>
      <p:pic>
        <p:nvPicPr>
          <p:cNvPr id="97" name="Google Shape;97;p15" title="entity_relationship-65431.png"/>
          <p:cNvPicPr preferRelativeResize="0"/>
          <p:nvPr/>
        </p:nvPicPr>
        <p:blipFill>
          <a:blip r:embed="rId11">
            <a:alphaModFix/>
          </a:blip>
          <a:stretch>
            <a:fillRect/>
          </a:stretch>
        </p:blipFill>
        <p:spPr>
          <a:xfrm>
            <a:off x="4910596" y="3970848"/>
            <a:ext cx="773870" cy="773885"/>
          </a:xfrm>
          <a:prstGeom prst="rect">
            <a:avLst/>
          </a:prstGeom>
          <a:noFill/>
          <a:ln>
            <a:noFill/>
          </a:ln>
        </p:spPr>
      </p:pic>
      <p:pic>
        <p:nvPicPr>
          <p:cNvPr id="98" name="Google Shape;98;p15" title="erase_database-65432.png"/>
          <p:cNvPicPr preferRelativeResize="0"/>
          <p:nvPr/>
        </p:nvPicPr>
        <p:blipFill>
          <a:blip r:embed="rId12">
            <a:alphaModFix/>
          </a:blip>
          <a:stretch>
            <a:fillRect/>
          </a:stretch>
        </p:blipFill>
        <p:spPr>
          <a:xfrm>
            <a:off x="6530729" y="2019719"/>
            <a:ext cx="773870" cy="760366"/>
          </a:xfrm>
          <a:prstGeom prst="rect">
            <a:avLst/>
          </a:prstGeom>
          <a:noFill/>
          <a:ln>
            <a:noFill/>
          </a:ln>
        </p:spPr>
      </p:pic>
      <p:pic>
        <p:nvPicPr>
          <p:cNvPr id="99" name="Google Shape;99;p15" title="Screenshot 2026-01-27 at 7.58.27 AM 1.png"/>
          <p:cNvPicPr preferRelativeResize="0"/>
          <p:nvPr/>
        </p:nvPicPr>
        <p:blipFill>
          <a:blip r:embed="rId13">
            <a:alphaModFix/>
          </a:blip>
          <a:stretch>
            <a:fillRect/>
          </a:stretch>
        </p:blipFill>
        <p:spPr>
          <a:xfrm>
            <a:off x="2748379" y="1255089"/>
            <a:ext cx="3825239" cy="27157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p:nvPr/>
        </p:nvSpPr>
        <p:spPr>
          <a:xfrm>
            <a:off x="714375" y="3581500"/>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6"/>
          <p:cNvSpPr/>
          <p:nvPr/>
        </p:nvSpPr>
        <p:spPr>
          <a:xfrm>
            <a:off x="6217900" y="1463075"/>
            <a:ext cx="2443800" cy="187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6"/>
          <p:cNvSpPr/>
          <p:nvPr/>
        </p:nvSpPr>
        <p:spPr>
          <a:xfrm>
            <a:off x="3499900" y="1463075"/>
            <a:ext cx="2443800" cy="18531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6"/>
          <p:cNvSpPr/>
          <p:nvPr/>
        </p:nvSpPr>
        <p:spPr>
          <a:xfrm>
            <a:off x="756700" y="1469375"/>
            <a:ext cx="2443800" cy="18531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6"/>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109" name="Google Shape;109;p16"/>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10" name="Google Shape;110;p16"/>
          <p:cNvSpPr/>
          <p:nvPr/>
        </p:nvSpPr>
        <p:spPr>
          <a:xfrm>
            <a:off x="1005900" y="1959711"/>
            <a:ext cx="1920300" cy="752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R</a:t>
            </a:r>
            <a:r>
              <a:rPr lang="en" sz="1200">
                <a:solidFill>
                  <a:schemeClr val="dk1"/>
                </a:solidFill>
                <a:latin typeface="Inter"/>
                <a:ea typeface="Inter"/>
                <a:cs typeface="Inter"/>
                <a:sym typeface="Inter"/>
              </a:rPr>
              <a:t>esearch a problem or real-world question</a:t>
            </a:r>
            <a:endParaRPr i="0" sz="1200" u="none" cap="none" strike="noStrike">
              <a:solidFill>
                <a:srgbClr val="000000"/>
              </a:solidFill>
              <a:latin typeface="Inter"/>
              <a:ea typeface="Inter"/>
              <a:cs typeface="Inter"/>
              <a:sym typeface="Inter"/>
            </a:endParaRPr>
          </a:p>
        </p:txBody>
      </p:sp>
      <p:sp>
        <p:nvSpPr>
          <p:cNvPr id="111" name="Google Shape;111;p16"/>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112" name="Google Shape;112;p16"/>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13" name="Google Shape;113;p16"/>
          <p:cNvSpPr/>
          <p:nvPr/>
        </p:nvSpPr>
        <p:spPr>
          <a:xfrm>
            <a:off x="3749050" y="1923001"/>
            <a:ext cx="1920300" cy="1288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Formulate a meaningful and specific question that you will use the data science process to answer</a:t>
            </a:r>
            <a:endParaRPr i="0" sz="1200" u="none" cap="none" strike="noStrike">
              <a:solidFill>
                <a:srgbClr val="000000"/>
              </a:solidFill>
              <a:latin typeface="Inter"/>
              <a:ea typeface="Inter"/>
              <a:cs typeface="Inter"/>
              <a:sym typeface="Inter"/>
            </a:endParaRPr>
          </a:p>
        </p:txBody>
      </p:sp>
      <p:sp>
        <p:nvSpPr>
          <p:cNvPr id="114" name="Google Shape;114;p16"/>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115" name="Google Shape;115;p16"/>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16" name="Google Shape;116;p16"/>
          <p:cNvSpPr/>
          <p:nvPr/>
        </p:nvSpPr>
        <p:spPr>
          <a:xfrm>
            <a:off x="6492250" y="2042503"/>
            <a:ext cx="1920300" cy="809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W</a:t>
            </a:r>
            <a:r>
              <a:rPr lang="en" sz="1200">
                <a:solidFill>
                  <a:schemeClr val="dk1"/>
                </a:solidFill>
                <a:latin typeface="Inter"/>
                <a:ea typeface="Inter"/>
                <a:cs typeface="Inter"/>
                <a:sym typeface="Inter"/>
              </a:rPr>
              <a:t>ell-scoped question that will guide the data science life cycle</a:t>
            </a:r>
            <a:endParaRPr i="0" sz="1200" u="none" cap="none" strike="noStrike">
              <a:solidFill>
                <a:srgbClr val="000000"/>
              </a:solidFill>
              <a:latin typeface="Inter"/>
              <a:ea typeface="Inter"/>
              <a:cs typeface="Inter"/>
              <a:sym typeface="Inter"/>
            </a:endParaRPr>
          </a:p>
        </p:txBody>
      </p:sp>
      <p:grpSp>
        <p:nvGrpSpPr>
          <p:cNvPr id="117" name="Google Shape;117;p16"/>
          <p:cNvGrpSpPr/>
          <p:nvPr/>
        </p:nvGrpSpPr>
        <p:grpSpPr>
          <a:xfrm>
            <a:off x="8625" y="0"/>
            <a:ext cx="9144000" cy="267600"/>
            <a:chOff x="8625" y="0"/>
            <a:chExt cx="9144000" cy="267600"/>
          </a:xfrm>
        </p:grpSpPr>
        <p:sp>
          <p:nvSpPr>
            <p:cNvPr id="118" name="Google Shape;118;p16"/>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9" name="Google Shape;119;p16"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120" name="Google Shape;120;p16"/>
          <p:cNvSpPr txBox="1"/>
          <p:nvPr>
            <p:ph idx="1" type="subTitle"/>
          </p:nvPr>
        </p:nvSpPr>
        <p:spPr>
          <a:xfrm>
            <a:off x="1323975" y="447125"/>
            <a:ext cx="5545500" cy="8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500">
                <a:solidFill>
                  <a:schemeClr val="dk1"/>
                </a:solidFill>
                <a:latin typeface="Inter"/>
                <a:ea typeface="Inter"/>
                <a:cs typeface="Inter"/>
                <a:sym typeface="Inter"/>
              </a:rPr>
              <a:t>Formulating a Question:</a:t>
            </a:r>
            <a:endParaRPr b="1" sz="3500">
              <a:solidFill>
                <a:schemeClr val="dk1"/>
              </a:solidFill>
              <a:latin typeface="Inter"/>
              <a:ea typeface="Inter"/>
              <a:cs typeface="Inter"/>
              <a:sym typeface="Inter"/>
            </a:endParaRPr>
          </a:p>
        </p:txBody>
      </p:sp>
      <p:pic>
        <p:nvPicPr>
          <p:cNvPr id="121" name="Google Shape;121;p16" title="administrator-65406.png"/>
          <p:cNvPicPr preferRelativeResize="0"/>
          <p:nvPr/>
        </p:nvPicPr>
        <p:blipFill>
          <a:blip r:embed="rId4">
            <a:alphaModFix/>
          </a:blip>
          <a:stretch>
            <a:fillRect/>
          </a:stretch>
        </p:blipFill>
        <p:spPr>
          <a:xfrm>
            <a:off x="714377" y="499148"/>
            <a:ext cx="603525" cy="581100"/>
          </a:xfrm>
          <a:prstGeom prst="rect">
            <a:avLst/>
          </a:prstGeom>
          <a:noFill/>
          <a:ln>
            <a:noFill/>
          </a:ln>
        </p:spPr>
      </p:pic>
      <p:sp>
        <p:nvSpPr>
          <p:cNvPr id="122" name="Google Shape;122;p16"/>
          <p:cNvSpPr/>
          <p:nvPr/>
        </p:nvSpPr>
        <p:spPr>
          <a:xfrm>
            <a:off x="896940" y="36647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123" name="Google Shape;123;p16"/>
          <p:cNvSpPr/>
          <p:nvPr/>
        </p:nvSpPr>
        <p:spPr>
          <a:xfrm>
            <a:off x="896950" y="3923825"/>
            <a:ext cx="4575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24" name="Google Shape;124;p16"/>
          <p:cNvSpPr/>
          <p:nvPr/>
        </p:nvSpPr>
        <p:spPr>
          <a:xfrm>
            <a:off x="896950" y="4018975"/>
            <a:ext cx="7616400" cy="7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latin typeface="Inter"/>
                <a:ea typeface="Inter"/>
                <a:cs typeface="Inter"/>
                <a:sym typeface="Inter"/>
              </a:rPr>
              <a:t>Le</a:t>
            </a:r>
            <a:r>
              <a:rPr lang="en" sz="1200">
                <a:solidFill>
                  <a:schemeClr val="dk1"/>
                </a:solidFill>
                <a:latin typeface="Inter"/>
                <a:ea typeface="Inter"/>
                <a:cs typeface="Inter"/>
                <a:sym typeface="Inter"/>
              </a:rPr>
              <a:t>tting the data lead the question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Path of least resistance, rely on easily available data</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Bias or skewed conclusions from limitations of current data</a:t>
            </a:r>
            <a:endParaRPr sz="1200">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p:nvPr/>
        </p:nvSpPr>
        <p:spPr>
          <a:xfrm>
            <a:off x="714375" y="37444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30" name="Google Shape;130;p17"/>
          <p:cNvSpPr/>
          <p:nvPr/>
        </p:nvSpPr>
        <p:spPr>
          <a:xfrm>
            <a:off x="6217900" y="1463075"/>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31" name="Google Shape;131;p17"/>
          <p:cNvSpPr/>
          <p:nvPr/>
        </p:nvSpPr>
        <p:spPr>
          <a:xfrm>
            <a:off x="3499900" y="14630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32" name="Google Shape;132;p17"/>
          <p:cNvSpPr/>
          <p:nvPr/>
        </p:nvSpPr>
        <p:spPr>
          <a:xfrm>
            <a:off x="756700" y="1469375"/>
            <a:ext cx="2443800" cy="18531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33" name="Google Shape;133;p17"/>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134" name="Google Shape;134;p17"/>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5" name="Google Shape;135;p17"/>
          <p:cNvSpPr/>
          <p:nvPr/>
        </p:nvSpPr>
        <p:spPr>
          <a:xfrm>
            <a:off x="901720" y="2042503"/>
            <a:ext cx="1920300" cy="7527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180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R</a:t>
            </a:r>
            <a:r>
              <a:rPr lang="en" sz="1200">
                <a:solidFill>
                  <a:schemeClr val="dk1"/>
                </a:solidFill>
                <a:latin typeface="Inter"/>
                <a:ea typeface="Inter"/>
                <a:cs typeface="Inter"/>
                <a:sym typeface="Inter"/>
              </a:rPr>
              <a:t>esearch Question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Candidate datasets and their metadata</a:t>
            </a:r>
            <a:endParaRPr sz="1200">
              <a:solidFill>
                <a:schemeClr val="dk1"/>
              </a:solidFill>
              <a:latin typeface="Inter"/>
              <a:ea typeface="Inter"/>
              <a:cs typeface="Inter"/>
              <a:sym typeface="Inter"/>
            </a:endParaRPr>
          </a:p>
        </p:txBody>
      </p:sp>
      <p:sp>
        <p:nvSpPr>
          <p:cNvPr id="136" name="Google Shape;136;p17"/>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137" name="Google Shape;137;p17"/>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8" name="Google Shape;138;p17"/>
          <p:cNvSpPr/>
          <p:nvPr/>
        </p:nvSpPr>
        <p:spPr>
          <a:xfrm>
            <a:off x="3749050" y="2064991"/>
            <a:ext cx="1920300" cy="1616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Determine the most appropriate data set to answer the research question, how that data will be collected, understand strengths and weaknesses of this data.</a:t>
            </a:r>
            <a:endParaRPr sz="1200">
              <a:solidFill>
                <a:schemeClr val="dk1"/>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p:txBody>
      </p:sp>
      <p:sp>
        <p:nvSpPr>
          <p:cNvPr id="139" name="Google Shape;139;p17"/>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140" name="Google Shape;140;p17"/>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1" name="Google Shape;141;p17"/>
          <p:cNvSpPr/>
          <p:nvPr/>
        </p:nvSpPr>
        <p:spPr>
          <a:xfrm>
            <a:off x="6492250" y="2031491"/>
            <a:ext cx="1920300" cy="1783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800"/>
              </a:spcBef>
              <a:spcAft>
                <a:spcPts val="0"/>
              </a:spcAft>
              <a:buNone/>
            </a:pPr>
            <a:r>
              <a:rPr lang="en" sz="1200">
                <a:solidFill>
                  <a:schemeClr val="dk1"/>
                </a:solidFill>
                <a:latin typeface="Inter"/>
                <a:ea typeface="Inter"/>
                <a:cs typeface="Inter"/>
                <a:sym typeface="Inter"/>
              </a:rPr>
              <a:t>S</a:t>
            </a:r>
            <a:r>
              <a:rPr lang="en" sz="1200">
                <a:solidFill>
                  <a:schemeClr val="dk1"/>
                </a:solidFill>
                <a:latin typeface="Inter"/>
                <a:ea typeface="Inter"/>
                <a:cs typeface="Inter"/>
                <a:sym typeface="Inter"/>
              </a:rPr>
              <a:t>elected dataset or data collection plan.</a:t>
            </a:r>
            <a:endParaRPr sz="1200">
              <a:solidFill>
                <a:schemeClr val="dk1"/>
              </a:solidFill>
              <a:latin typeface="Inter"/>
              <a:ea typeface="Inter"/>
              <a:cs typeface="Inter"/>
              <a:sym typeface="Inter"/>
            </a:endParaRPr>
          </a:p>
          <a:p>
            <a:pPr indent="0" lvl="0" marL="0" rtl="0" algn="l">
              <a:lnSpc>
                <a:spcPct val="115000"/>
              </a:lnSpc>
              <a:spcBef>
                <a:spcPts val="1800"/>
              </a:spcBef>
              <a:spcAft>
                <a:spcPts val="0"/>
              </a:spcAft>
              <a:buNone/>
            </a:pPr>
            <a:r>
              <a:rPr lang="en" sz="1200">
                <a:solidFill>
                  <a:schemeClr val="dk1"/>
                </a:solidFill>
                <a:latin typeface="Inter"/>
                <a:ea typeface="Inter"/>
                <a:cs typeface="Inter"/>
                <a:sym typeface="Inter"/>
              </a:rPr>
              <a:t>Clear reasoning for why this data, what is, will be collected and how, who is represented in the data.</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grpSp>
        <p:nvGrpSpPr>
          <p:cNvPr id="142" name="Google Shape;142;p17"/>
          <p:cNvGrpSpPr/>
          <p:nvPr/>
        </p:nvGrpSpPr>
        <p:grpSpPr>
          <a:xfrm>
            <a:off x="8625" y="0"/>
            <a:ext cx="9144000" cy="267600"/>
            <a:chOff x="8625" y="0"/>
            <a:chExt cx="9144000" cy="267600"/>
          </a:xfrm>
        </p:grpSpPr>
        <p:sp>
          <p:nvSpPr>
            <p:cNvPr id="143" name="Google Shape;143;p17"/>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4" name="Google Shape;144;p17"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145" name="Google Shape;145;p17"/>
          <p:cNvSpPr/>
          <p:nvPr/>
        </p:nvSpPr>
        <p:spPr>
          <a:xfrm>
            <a:off x="896940" y="3907766"/>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146" name="Google Shape;146;p17"/>
          <p:cNvSpPr/>
          <p:nvPr/>
        </p:nvSpPr>
        <p:spPr>
          <a:xfrm>
            <a:off x="896950" y="4166844"/>
            <a:ext cx="4515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17"/>
          <p:cNvSpPr/>
          <p:nvPr/>
        </p:nvSpPr>
        <p:spPr>
          <a:xfrm>
            <a:off x="809925" y="4224592"/>
            <a:ext cx="2315400" cy="623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180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B</a:t>
            </a:r>
            <a:r>
              <a:rPr lang="en" sz="1200">
                <a:solidFill>
                  <a:schemeClr val="dk1"/>
                </a:solidFill>
                <a:latin typeface="Inter"/>
                <a:ea typeface="Inter"/>
                <a:cs typeface="Inter"/>
                <a:sym typeface="Inter"/>
              </a:rPr>
              <a:t>iased data or collection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Misuse of existing data</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Ethical concerns</a:t>
            </a:r>
            <a:endParaRPr sz="1200">
              <a:solidFill>
                <a:schemeClr val="dk1"/>
              </a:solidFill>
              <a:latin typeface="Inter"/>
              <a:ea typeface="Inter"/>
              <a:cs typeface="Inter"/>
              <a:sym typeface="Inter"/>
            </a:endParaRPr>
          </a:p>
        </p:txBody>
      </p:sp>
      <p:sp>
        <p:nvSpPr>
          <p:cNvPr id="148" name="Google Shape;148;p17"/>
          <p:cNvSpPr txBox="1"/>
          <p:nvPr>
            <p:ph idx="1" type="subTitle"/>
          </p:nvPr>
        </p:nvSpPr>
        <p:spPr>
          <a:xfrm>
            <a:off x="1323975" y="447125"/>
            <a:ext cx="5545500" cy="8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500">
                <a:solidFill>
                  <a:schemeClr val="dk1"/>
                </a:solidFill>
                <a:latin typeface="Inter"/>
                <a:ea typeface="Inter"/>
                <a:cs typeface="Inter"/>
                <a:sym typeface="Inter"/>
              </a:rPr>
              <a:t>Data Collection:</a:t>
            </a:r>
            <a:endParaRPr b="1" sz="3500">
              <a:solidFill>
                <a:schemeClr val="dk1"/>
              </a:solidFill>
              <a:latin typeface="Inter"/>
              <a:ea typeface="Inter"/>
              <a:cs typeface="Inter"/>
              <a:sym typeface="Inter"/>
            </a:endParaRPr>
          </a:p>
        </p:txBody>
      </p:sp>
      <p:pic>
        <p:nvPicPr>
          <p:cNvPr id="149" name="Google Shape;149;p17" title="database_import-65422.png"/>
          <p:cNvPicPr preferRelativeResize="0"/>
          <p:nvPr/>
        </p:nvPicPr>
        <p:blipFill>
          <a:blip r:embed="rId4">
            <a:alphaModFix/>
          </a:blip>
          <a:stretch>
            <a:fillRect/>
          </a:stretch>
        </p:blipFill>
        <p:spPr>
          <a:xfrm>
            <a:off x="720447" y="495875"/>
            <a:ext cx="603525" cy="6035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p:nvPr/>
        </p:nvSpPr>
        <p:spPr>
          <a:xfrm>
            <a:off x="714375" y="37444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55" name="Google Shape;155;p18"/>
          <p:cNvSpPr/>
          <p:nvPr/>
        </p:nvSpPr>
        <p:spPr>
          <a:xfrm>
            <a:off x="6217900" y="1463075"/>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56" name="Google Shape;156;p18"/>
          <p:cNvSpPr/>
          <p:nvPr/>
        </p:nvSpPr>
        <p:spPr>
          <a:xfrm>
            <a:off x="3499900" y="14630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57" name="Google Shape;157;p18"/>
          <p:cNvSpPr/>
          <p:nvPr/>
        </p:nvSpPr>
        <p:spPr>
          <a:xfrm>
            <a:off x="756700" y="1469375"/>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58" name="Google Shape;158;p18"/>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159" name="Google Shape;159;p18"/>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60" name="Google Shape;160;p18"/>
          <p:cNvSpPr/>
          <p:nvPr/>
        </p:nvSpPr>
        <p:spPr>
          <a:xfrm>
            <a:off x="1000245" y="2042503"/>
            <a:ext cx="1920300" cy="752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Raw data set selected to answer the research question</a:t>
            </a:r>
            <a:endParaRPr sz="1200">
              <a:solidFill>
                <a:schemeClr val="dk1"/>
              </a:solidFill>
              <a:latin typeface="Inter"/>
              <a:ea typeface="Inter"/>
              <a:cs typeface="Inter"/>
              <a:sym typeface="Inter"/>
            </a:endParaRPr>
          </a:p>
        </p:txBody>
      </p:sp>
      <p:sp>
        <p:nvSpPr>
          <p:cNvPr id="161" name="Google Shape;161;p18"/>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162" name="Google Shape;162;p18"/>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63" name="Google Shape;163;p18"/>
          <p:cNvSpPr/>
          <p:nvPr/>
        </p:nvSpPr>
        <p:spPr>
          <a:xfrm>
            <a:off x="3749050" y="2050117"/>
            <a:ext cx="1920300" cy="85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Prepare data for analysis and getting to know your data</a:t>
            </a:r>
            <a:endParaRPr sz="1200">
              <a:solidFill>
                <a:schemeClr val="dk1"/>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p:txBody>
      </p:sp>
      <p:sp>
        <p:nvSpPr>
          <p:cNvPr id="164" name="Google Shape;164;p18"/>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165" name="Google Shape;165;p18"/>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grpSp>
        <p:nvGrpSpPr>
          <p:cNvPr id="166" name="Google Shape;166;p18"/>
          <p:cNvGrpSpPr/>
          <p:nvPr/>
        </p:nvGrpSpPr>
        <p:grpSpPr>
          <a:xfrm>
            <a:off x="8625" y="0"/>
            <a:ext cx="9144000" cy="267600"/>
            <a:chOff x="8625" y="0"/>
            <a:chExt cx="9144000" cy="267600"/>
          </a:xfrm>
        </p:grpSpPr>
        <p:sp>
          <p:nvSpPr>
            <p:cNvPr id="167" name="Google Shape;167;p18"/>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8" name="Google Shape;168;p18"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169" name="Google Shape;169;p18"/>
          <p:cNvSpPr/>
          <p:nvPr/>
        </p:nvSpPr>
        <p:spPr>
          <a:xfrm>
            <a:off x="896940" y="3880599"/>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170" name="Google Shape;170;p18"/>
          <p:cNvSpPr/>
          <p:nvPr/>
        </p:nvSpPr>
        <p:spPr>
          <a:xfrm>
            <a:off x="896950" y="4139679"/>
            <a:ext cx="4515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71" name="Google Shape;171;p18"/>
          <p:cNvSpPr txBox="1"/>
          <p:nvPr>
            <p:ph idx="1" type="subTitle"/>
          </p:nvPr>
        </p:nvSpPr>
        <p:spPr>
          <a:xfrm>
            <a:off x="1323975" y="447125"/>
            <a:ext cx="6496800" cy="8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500">
                <a:solidFill>
                  <a:schemeClr val="dk1"/>
                </a:solidFill>
                <a:latin typeface="Inter"/>
                <a:ea typeface="Inter"/>
                <a:cs typeface="Inter"/>
                <a:sym typeface="Inter"/>
              </a:rPr>
              <a:t>Cleaning &amp; Wrangling Data</a:t>
            </a:r>
            <a:endParaRPr b="1" sz="3500">
              <a:solidFill>
                <a:schemeClr val="dk1"/>
              </a:solidFill>
              <a:latin typeface="Inter"/>
              <a:ea typeface="Inter"/>
              <a:cs typeface="Inter"/>
              <a:sym typeface="Inter"/>
            </a:endParaRPr>
          </a:p>
        </p:txBody>
      </p:sp>
      <p:pic>
        <p:nvPicPr>
          <p:cNvPr id="172" name="Google Shape;172;p18" title="erase_database-65432.png"/>
          <p:cNvPicPr preferRelativeResize="0"/>
          <p:nvPr/>
        </p:nvPicPr>
        <p:blipFill>
          <a:blip r:embed="rId4">
            <a:alphaModFix/>
          </a:blip>
          <a:stretch>
            <a:fillRect/>
          </a:stretch>
        </p:blipFill>
        <p:spPr>
          <a:xfrm>
            <a:off x="720454" y="555481"/>
            <a:ext cx="603525" cy="592993"/>
          </a:xfrm>
          <a:prstGeom prst="rect">
            <a:avLst/>
          </a:prstGeom>
          <a:noFill/>
          <a:ln>
            <a:noFill/>
          </a:ln>
        </p:spPr>
      </p:pic>
      <p:sp>
        <p:nvSpPr>
          <p:cNvPr id="173" name="Google Shape;173;p18"/>
          <p:cNvSpPr/>
          <p:nvPr/>
        </p:nvSpPr>
        <p:spPr>
          <a:xfrm>
            <a:off x="820750" y="3970156"/>
            <a:ext cx="3219900" cy="10923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latin typeface="Inter"/>
                <a:ea typeface="Inter"/>
                <a:cs typeface="Inter"/>
                <a:sym typeface="Inter"/>
              </a:rPr>
              <a:t>Loss of important information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Bias introduction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Over-cleaning</a:t>
            </a:r>
            <a:endParaRPr sz="1200">
              <a:solidFill>
                <a:schemeClr val="dk1"/>
              </a:solidFill>
              <a:latin typeface="Inter"/>
              <a:ea typeface="Inter"/>
              <a:cs typeface="Inter"/>
              <a:sym typeface="Inter"/>
            </a:endParaRPr>
          </a:p>
        </p:txBody>
      </p:sp>
      <p:sp>
        <p:nvSpPr>
          <p:cNvPr id="174" name="Google Shape;174;p18"/>
          <p:cNvSpPr txBox="1"/>
          <p:nvPr/>
        </p:nvSpPr>
        <p:spPr>
          <a:xfrm>
            <a:off x="6308293" y="2007384"/>
            <a:ext cx="2260500" cy="1644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C</a:t>
            </a:r>
            <a:r>
              <a:rPr lang="en" sz="1200">
                <a:solidFill>
                  <a:schemeClr val="dk1"/>
                </a:solidFill>
                <a:latin typeface="Inter"/>
                <a:ea typeface="Inter"/>
                <a:cs typeface="Inter"/>
                <a:sym typeface="Inter"/>
              </a:rPr>
              <a:t>leaned and documented data set</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Understanding of missing values and outliers</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Who/what is in the data</a:t>
            </a:r>
            <a:endParaRPr sz="1200">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p:nvPr/>
        </p:nvSpPr>
        <p:spPr>
          <a:xfrm>
            <a:off x="714375" y="37444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80" name="Google Shape;180;p19"/>
          <p:cNvSpPr/>
          <p:nvPr/>
        </p:nvSpPr>
        <p:spPr>
          <a:xfrm>
            <a:off x="6217900" y="1463075"/>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81" name="Google Shape;181;p19"/>
          <p:cNvSpPr/>
          <p:nvPr/>
        </p:nvSpPr>
        <p:spPr>
          <a:xfrm>
            <a:off x="3499900" y="14630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82" name="Google Shape;182;p19"/>
          <p:cNvSpPr/>
          <p:nvPr/>
        </p:nvSpPr>
        <p:spPr>
          <a:xfrm>
            <a:off x="756700" y="1469375"/>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183" name="Google Shape;183;p19"/>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184" name="Google Shape;184;p19"/>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85" name="Google Shape;185;p19"/>
          <p:cNvSpPr/>
          <p:nvPr/>
        </p:nvSpPr>
        <p:spPr>
          <a:xfrm>
            <a:off x="977920" y="1965534"/>
            <a:ext cx="1920300" cy="752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0"/>
              </a:spcAft>
              <a:buNone/>
            </a:pPr>
            <a:r>
              <a:rPr lang="en" sz="1200">
                <a:solidFill>
                  <a:schemeClr val="dk1"/>
                </a:solidFill>
                <a:latin typeface="Inter"/>
                <a:ea typeface="Inter"/>
                <a:cs typeface="Inter"/>
                <a:sym typeface="Inter"/>
              </a:rPr>
              <a:t>Cleaned data set</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sp>
        <p:nvSpPr>
          <p:cNvPr id="186" name="Google Shape;186;p19"/>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187" name="Google Shape;187;p19"/>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88" name="Google Shape;188;p19"/>
          <p:cNvSpPr/>
          <p:nvPr/>
        </p:nvSpPr>
        <p:spPr>
          <a:xfrm>
            <a:off x="3749050" y="2191514"/>
            <a:ext cx="1920300" cy="1092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Selecting variables in the dataset to include in the model, as well as producing combined features to capture additional aspects of the dataset.</a:t>
            </a:r>
            <a:endParaRPr sz="1200">
              <a:solidFill>
                <a:schemeClr val="dk1"/>
              </a:solidFill>
              <a:latin typeface="Inter"/>
              <a:ea typeface="Inter"/>
              <a:cs typeface="Inter"/>
              <a:sym typeface="Inter"/>
            </a:endParaRPr>
          </a:p>
        </p:txBody>
      </p:sp>
      <p:sp>
        <p:nvSpPr>
          <p:cNvPr id="189" name="Google Shape;189;p19"/>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190" name="Google Shape;190;p19"/>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grpSp>
        <p:nvGrpSpPr>
          <p:cNvPr id="191" name="Google Shape;191;p19"/>
          <p:cNvGrpSpPr/>
          <p:nvPr/>
        </p:nvGrpSpPr>
        <p:grpSpPr>
          <a:xfrm>
            <a:off x="8625" y="0"/>
            <a:ext cx="9144000" cy="267600"/>
            <a:chOff x="8625" y="0"/>
            <a:chExt cx="9144000" cy="267600"/>
          </a:xfrm>
        </p:grpSpPr>
        <p:sp>
          <p:nvSpPr>
            <p:cNvPr id="192" name="Google Shape;192;p19"/>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3" name="Google Shape;193;p19"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194" name="Google Shape;194;p19"/>
          <p:cNvSpPr/>
          <p:nvPr/>
        </p:nvSpPr>
        <p:spPr>
          <a:xfrm>
            <a:off x="896940" y="3962099"/>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195" name="Google Shape;195;p19"/>
          <p:cNvSpPr/>
          <p:nvPr/>
        </p:nvSpPr>
        <p:spPr>
          <a:xfrm>
            <a:off x="896950" y="4221177"/>
            <a:ext cx="4443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96" name="Google Shape;196;p19"/>
          <p:cNvSpPr/>
          <p:nvPr/>
        </p:nvSpPr>
        <p:spPr>
          <a:xfrm>
            <a:off x="820750" y="4051650"/>
            <a:ext cx="6323100" cy="10923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120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Some information is easier to represent as variables than others</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Important to think about what information is left out</a:t>
            </a:r>
            <a:endParaRPr sz="1200">
              <a:solidFill>
                <a:schemeClr val="dk1"/>
              </a:solidFill>
              <a:latin typeface="Inter"/>
              <a:ea typeface="Inter"/>
              <a:cs typeface="Inter"/>
              <a:sym typeface="Inter"/>
            </a:endParaRPr>
          </a:p>
        </p:txBody>
      </p:sp>
      <p:sp>
        <p:nvSpPr>
          <p:cNvPr id="197" name="Google Shape;197;p19"/>
          <p:cNvSpPr txBox="1"/>
          <p:nvPr/>
        </p:nvSpPr>
        <p:spPr>
          <a:xfrm>
            <a:off x="6390148" y="2007384"/>
            <a:ext cx="22605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Transformed feature space and a set of representational choices (through abstraction).</a:t>
            </a:r>
            <a:endParaRPr sz="1200">
              <a:solidFill>
                <a:schemeClr val="dk1"/>
              </a:solidFill>
              <a:latin typeface="Inter"/>
              <a:ea typeface="Inter"/>
              <a:cs typeface="Inter"/>
              <a:sym typeface="Inter"/>
            </a:endParaRPr>
          </a:p>
        </p:txBody>
      </p:sp>
      <p:sp>
        <p:nvSpPr>
          <p:cNvPr id="198" name="Google Shape;198;p19"/>
          <p:cNvSpPr txBox="1"/>
          <p:nvPr>
            <p:ph idx="1" type="subTitle"/>
          </p:nvPr>
        </p:nvSpPr>
        <p:spPr>
          <a:xfrm>
            <a:off x="1247775" y="447125"/>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Inter"/>
                <a:ea typeface="Inter"/>
                <a:cs typeface="Inter"/>
                <a:sym typeface="Inter"/>
              </a:rPr>
              <a:t>Feature Engineering</a:t>
            </a:r>
            <a:endParaRPr b="1" i="1" sz="3500">
              <a:solidFill>
                <a:schemeClr val="dk1"/>
              </a:solidFill>
              <a:latin typeface="Inter"/>
              <a:ea typeface="Inter"/>
              <a:cs typeface="Inter"/>
              <a:sym typeface="Inter"/>
            </a:endParaRPr>
          </a:p>
        </p:txBody>
      </p:sp>
      <p:pic>
        <p:nvPicPr>
          <p:cNvPr id="199" name="Google Shape;199;p19" title="connect_to_database-65415.png"/>
          <p:cNvPicPr preferRelativeResize="0"/>
          <p:nvPr/>
        </p:nvPicPr>
        <p:blipFill>
          <a:blip r:embed="rId4">
            <a:alphaModFix/>
          </a:blip>
          <a:stretch>
            <a:fillRect/>
          </a:stretch>
        </p:blipFill>
        <p:spPr>
          <a:xfrm>
            <a:off x="732608" y="473729"/>
            <a:ext cx="603525" cy="603525"/>
          </a:xfrm>
          <a:prstGeom prst="rect">
            <a:avLst/>
          </a:prstGeom>
          <a:noFill/>
          <a:ln>
            <a:noFill/>
          </a:ln>
        </p:spPr>
      </p:pic>
      <p:sp>
        <p:nvSpPr>
          <p:cNvPr id="200" name="Google Shape;200;p19"/>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201" name="Google Shape;201;p19"/>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02" name="Google Shape;202;p19"/>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0"/>
          <p:cNvSpPr/>
          <p:nvPr/>
        </p:nvSpPr>
        <p:spPr>
          <a:xfrm>
            <a:off x="714375" y="37444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08" name="Google Shape;208;p20"/>
          <p:cNvSpPr/>
          <p:nvPr/>
        </p:nvSpPr>
        <p:spPr>
          <a:xfrm>
            <a:off x="6217900" y="1463075"/>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09" name="Google Shape;209;p20"/>
          <p:cNvSpPr/>
          <p:nvPr/>
        </p:nvSpPr>
        <p:spPr>
          <a:xfrm>
            <a:off x="3499900" y="14630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10" name="Google Shape;210;p20"/>
          <p:cNvSpPr/>
          <p:nvPr/>
        </p:nvSpPr>
        <p:spPr>
          <a:xfrm>
            <a:off x="756700" y="1469375"/>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11" name="Google Shape;211;p20"/>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212" name="Google Shape;212;p20"/>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13" name="Google Shape;213;p20"/>
          <p:cNvSpPr/>
          <p:nvPr/>
        </p:nvSpPr>
        <p:spPr>
          <a:xfrm>
            <a:off x="977925" y="2066713"/>
            <a:ext cx="1920300" cy="3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 sz="1200">
                <a:solidFill>
                  <a:schemeClr val="dk1"/>
                </a:solidFill>
                <a:latin typeface="Inter"/>
                <a:ea typeface="Inter"/>
                <a:cs typeface="Inter"/>
                <a:sym typeface="Inter"/>
              </a:rPr>
              <a:t>P</a:t>
            </a:r>
            <a:r>
              <a:rPr lang="en" sz="1200">
                <a:solidFill>
                  <a:schemeClr val="dk1"/>
                </a:solidFill>
                <a:latin typeface="Inter"/>
                <a:ea typeface="Inter"/>
                <a:cs typeface="Inter"/>
                <a:sym typeface="Inter"/>
              </a:rPr>
              <a:t>repared data set</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sp>
        <p:nvSpPr>
          <p:cNvPr id="214" name="Google Shape;214;p20"/>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215" name="Google Shape;215;p20"/>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16" name="Google Shape;216;p20"/>
          <p:cNvSpPr/>
          <p:nvPr/>
        </p:nvSpPr>
        <p:spPr>
          <a:xfrm>
            <a:off x="3749050" y="2126938"/>
            <a:ext cx="1920300" cy="109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Determine which data will be used for training your model, recognizing if the training data is labeled or not.</a:t>
            </a:r>
            <a:endParaRPr sz="1200">
              <a:solidFill>
                <a:schemeClr val="dk1"/>
              </a:solidFill>
              <a:latin typeface="Inter"/>
              <a:ea typeface="Inter"/>
              <a:cs typeface="Inter"/>
              <a:sym typeface="Inter"/>
            </a:endParaRPr>
          </a:p>
        </p:txBody>
      </p:sp>
      <p:sp>
        <p:nvSpPr>
          <p:cNvPr id="217" name="Google Shape;217;p20"/>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218" name="Google Shape;218;p20"/>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grpSp>
        <p:nvGrpSpPr>
          <p:cNvPr id="219" name="Google Shape;219;p20"/>
          <p:cNvGrpSpPr/>
          <p:nvPr/>
        </p:nvGrpSpPr>
        <p:grpSpPr>
          <a:xfrm>
            <a:off x="8625" y="0"/>
            <a:ext cx="9144000" cy="267600"/>
            <a:chOff x="8625" y="0"/>
            <a:chExt cx="9144000" cy="267600"/>
          </a:xfrm>
        </p:grpSpPr>
        <p:sp>
          <p:nvSpPr>
            <p:cNvPr id="220" name="Google Shape;220;p2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1" name="Google Shape;221;p20"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222" name="Google Shape;222;p20"/>
          <p:cNvSpPr/>
          <p:nvPr/>
        </p:nvSpPr>
        <p:spPr>
          <a:xfrm>
            <a:off x="896940" y="3962099"/>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223" name="Google Shape;223;p20"/>
          <p:cNvSpPr/>
          <p:nvPr/>
        </p:nvSpPr>
        <p:spPr>
          <a:xfrm>
            <a:off x="896950" y="4221177"/>
            <a:ext cx="4443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24" name="Google Shape;224;p20"/>
          <p:cNvSpPr/>
          <p:nvPr/>
        </p:nvSpPr>
        <p:spPr>
          <a:xfrm>
            <a:off x="820750" y="4284770"/>
            <a:ext cx="6323100" cy="7029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latin typeface="Inter"/>
                <a:ea typeface="Inter"/>
                <a:cs typeface="Inter"/>
                <a:sym typeface="Inter"/>
              </a:rPr>
              <a:t>I</a:t>
            </a:r>
            <a:r>
              <a:rPr lang="en" sz="1200">
                <a:solidFill>
                  <a:schemeClr val="dk1"/>
                </a:solidFill>
                <a:latin typeface="Inter"/>
                <a:ea typeface="Inter"/>
                <a:cs typeface="Inter"/>
                <a:sym typeface="Inter"/>
              </a:rPr>
              <a:t>ncorrect or unlabeled data</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Bias in training data</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Insufficient training data</a:t>
            </a:r>
            <a:endParaRPr sz="1200">
              <a:solidFill>
                <a:schemeClr val="dk1"/>
              </a:solidFill>
              <a:latin typeface="Inter"/>
              <a:ea typeface="Inter"/>
              <a:cs typeface="Inter"/>
              <a:sym typeface="Inter"/>
            </a:endParaRPr>
          </a:p>
        </p:txBody>
      </p:sp>
      <p:sp>
        <p:nvSpPr>
          <p:cNvPr id="225" name="Google Shape;225;p20"/>
          <p:cNvSpPr txBox="1"/>
          <p:nvPr/>
        </p:nvSpPr>
        <p:spPr>
          <a:xfrm>
            <a:off x="6390150" y="2007365"/>
            <a:ext cx="2260500" cy="125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F</a:t>
            </a:r>
            <a:r>
              <a:rPr lang="en" sz="1200">
                <a:solidFill>
                  <a:schemeClr val="dk1"/>
                </a:solidFill>
                <a:latin typeface="Inter"/>
                <a:ea typeface="Inter"/>
                <a:cs typeface="Inter"/>
                <a:sym typeface="Inter"/>
              </a:rPr>
              <a:t>itted model parameters, candidate models, and/or learned decision boundaries</a:t>
            </a:r>
            <a:endParaRPr sz="1200">
              <a:solidFill>
                <a:schemeClr val="dk1"/>
              </a:solidFill>
              <a:latin typeface="Inter"/>
              <a:ea typeface="Inter"/>
              <a:cs typeface="Inter"/>
              <a:sym typeface="Inter"/>
            </a:endParaRPr>
          </a:p>
        </p:txBody>
      </p:sp>
      <p:sp>
        <p:nvSpPr>
          <p:cNvPr id="226" name="Google Shape;226;p20"/>
          <p:cNvSpPr txBox="1"/>
          <p:nvPr>
            <p:ph idx="1" type="subTitle"/>
          </p:nvPr>
        </p:nvSpPr>
        <p:spPr>
          <a:xfrm>
            <a:off x="1292451" y="447125"/>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Inter"/>
                <a:ea typeface="Inter"/>
                <a:cs typeface="Inter"/>
                <a:sym typeface="Inter"/>
              </a:rPr>
              <a:t>Data Analysis &amp; Training</a:t>
            </a:r>
            <a:endParaRPr b="1" i="1" sz="3500">
              <a:solidFill>
                <a:schemeClr val="dk1"/>
              </a:solidFill>
              <a:latin typeface="Inter"/>
              <a:ea typeface="Inter"/>
              <a:cs typeface="Inter"/>
              <a:sym typeface="Inter"/>
            </a:endParaRPr>
          </a:p>
        </p:txBody>
      </p:sp>
      <p:pic>
        <p:nvPicPr>
          <p:cNvPr id="227" name="Google Shape;227;p20" title="entity_relationship-65431.png"/>
          <p:cNvPicPr preferRelativeResize="0"/>
          <p:nvPr/>
        </p:nvPicPr>
        <p:blipFill>
          <a:blip r:embed="rId4">
            <a:alphaModFix/>
          </a:blip>
          <a:stretch>
            <a:fillRect/>
          </a:stretch>
        </p:blipFill>
        <p:spPr>
          <a:xfrm>
            <a:off x="732504" y="459367"/>
            <a:ext cx="603525" cy="6035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p:nvPr/>
        </p:nvSpPr>
        <p:spPr>
          <a:xfrm>
            <a:off x="714375" y="37444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33" name="Google Shape;233;p21"/>
          <p:cNvSpPr/>
          <p:nvPr/>
        </p:nvSpPr>
        <p:spPr>
          <a:xfrm>
            <a:off x="6217900" y="1463075"/>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34" name="Google Shape;234;p21"/>
          <p:cNvSpPr/>
          <p:nvPr/>
        </p:nvSpPr>
        <p:spPr>
          <a:xfrm>
            <a:off x="3499900" y="14630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35" name="Google Shape;235;p21"/>
          <p:cNvSpPr/>
          <p:nvPr/>
        </p:nvSpPr>
        <p:spPr>
          <a:xfrm>
            <a:off x="756700" y="1469375"/>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36" name="Google Shape;236;p21"/>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237" name="Google Shape;237;p21"/>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38" name="Google Shape;238;p21"/>
          <p:cNvSpPr/>
          <p:nvPr/>
        </p:nvSpPr>
        <p:spPr>
          <a:xfrm>
            <a:off x="977925" y="2066713"/>
            <a:ext cx="1920300" cy="314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120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P</a:t>
            </a:r>
            <a:r>
              <a:rPr lang="en" sz="1200">
                <a:solidFill>
                  <a:schemeClr val="dk1"/>
                </a:solidFill>
                <a:latin typeface="Inter"/>
                <a:ea typeface="Inter"/>
                <a:cs typeface="Inter"/>
                <a:sym typeface="Inter"/>
              </a:rPr>
              <a:t>repared data set.</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Training/test data.</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sp>
        <p:nvSpPr>
          <p:cNvPr id="239" name="Google Shape;239;p21"/>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240" name="Google Shape;240;p21"/>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41" name="Google Shape;241;p21"/>
          <p:cNvSpPr/>
          <p:nvPr/>
        </p:nvSpPr>
        <p:spPr>
          <a:xfrm>
            <a:off x="3749050" y="2126938"/>
            <a:ext cx="1920300" cy="109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Selecting the best model to analyze the data and produces accurate and reliable predictions.</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p:txBody>
      </p:sp>
      <p:sp>
        <p:nvSpPr>
          <p:cNvPr id="242" name="Google Shape;242;p21"/>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243" name="Google Shape;243;p21"/>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grpSp>
        <p:nvGrpSpPr>
          <p:cNvPr id="244" name="Google Shape;244;p21"/>
          <p:cNvGrpSpPr/>
          <p:nvPr/>
        </p:nvGrpSpPr>
        <p:grpSpPr>
          <a:xfrm>
            <a:off x="8625" y="0"/>
            <a:ext cx="9144000" cy="267600"/>
            <a:chOff x="8625" y="0"/>
            <a:chExt cx="9144000" cy="267600"/>
          </a:xfrm>
        </p:grpSpPr>
        <p:sp>
          <p:nvSpPr>
            <p:cNvPr id="245" name="Google Shape;245;p2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6" name="Google Shape;246;p21"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247" name="Google Shape;247;p21"/>
          <p:cNvSpPr/>
          <p:nvPr/>
        </p:nvSpPr>
        <p:spPr>
          <a:xfrm>
            <a:off x="896940" y="3962099"/>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248" name="Google Shape;248;p21"/>
          <p:cNvSpPr/>
          <p:nvPr/>
        </p:nvSpPr>
        <p:spPr>
          <a:xfrm>
            <a:off x="896950" y="4221177"/>
            <a:ext cx="4443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49" name="Google Shape;249;p21"/>
          <p:cNvSpPr/>
          <p:nvPr/>
        </p:nvSpPr>
        <p:spPr>
          <a:xfrm>
            <a:off x="820750" y="4284770"/>
            <a:ext cx="6323100" cy="7029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latin typeface="Inter"/>
                <a:ea typeface="Inter"/>
                <a:cs typeface="Inter"/>
                <a:sym typeface="Inter"/>
              </a:rPr>
              <a:t>Overfitting</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Missing data</a:t>
            </a:r>
            <a:endParaRPr sz="1200">
              <a:solidFill>
                <a:schemeClr val="dk1"/>
              </a:solidFill>
              <a:latin typeface="Inter"/>
              <a:ea typeface="Inter"/>
              <a:cs typeface="Inter"/>
              <a:sym typeface="Inter"/>
            </a:endParaRPr>
          </a:p>
        </p:txBody>
      </p:sp>
      <p:sp>
        <p:nvSpPr>
          <p:cNvPr id="250" name="Google Shape;250;p21"/>
          <p:cNvSpPr txBox="1"/>
          <p:nvPr/>
        </p:nvSpPr>
        <p:spPr>
          <a:xfrm>
            <a:off x="6390150" y="2007365"/>
            <a:ext cx="2260500" cy="125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Inter"/>
                <a:ea typeface="Inter"/>
                <a:cs typeface="Inter"/>
                <a:sym typeface="Inter"/>
              </a:rPr>
              <a:t>Trained model.</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Quantitative measures of model performance.</a:t>
            </a:r>
            <a:endParaRPr sz="1200">
              <a:solidFill>
                <a:schemeClr val="dk1"/>
              </a:solidFill>
              <a:latin typeface="Inter"/>
              <a:ea typeface="Inter"/>
              <a:cs typeface="Inter"/>
              <a:sym typeface="Inter"/>
            </a:endParaRPr>
          </a:p>
        </p:txBody>
      </p:sp>
      <p:sp>
        <p:nvSpPr>
          <p:cNvPr id="251" name="Google Shape;251;p21"/>
          <p:cNvSpPr txBox="1"/>
          <p:nvPr>
            <p:ph idx="1" type="subTitle"/>
          </p:nvPr>
        </p:nvSpPr>
        <p:spPr>
          <a:xfrm>
            <a:off x="1271008" y="447125"/>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Inter"/>
                <a:ea typeface="Inter"/>
                <a:cs typeface="Inter"/>
                <a:sym typeface="Inter"/>
              </a:rPr>
              <a:t>Selecting &amp; Evaluating Model</a:t>
            </a:r>
            <a:endParaRPr b="1" i="1" sz="3500">
              <a:solidFill>
                <a:schemeClr val="dk1"/>
              </a:solidFill>
              <a:latin typeface="Inter"/>
              <a:ea typeface="Inter"/>
              <a:cs typeface="Inter"/>
              <a:sym typeface="Inter"/>
            </a:endParaRPr>
          </a:p>
        </p:txBody>
      </p:sp>
      <p:pic>
        <p:nvPicPr>
          <p:cNvPr id="252" name="Google Shape;252;p21" title="binoculars-65410.png"/>
          <p:cNvPicPr preferRelativeResize="0"/>
          <p:nvPr/>
        </p:nvPicPr>
        <p:blipFill>
          <a:blip r:embed="rId4">
            <a:alphaModFix/>
          </a:blip>
          <a:stretch>
            <a:fillRect/>
          </a:stretch>
        </p:blipFill>
        <p:spPr>
          <a:xfrm>
            <a:off x="736374" y="487095"/>
            <a:ext cx="603525" cy="603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2"/>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22"/>
          <p:cNvSpPr txBox="1"/>
          <p:nvPr>
            <p:ph idx="1" type="subTitle"/>
          </p:nvPr>
        </p:nvSpPr>
        <p:spPr>
          <a:xfrm>
            <a:off x="409575" y="447125"/>
            <a:ext cx="2207400" cy="1270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Activity 1</a:t>
            </a:r>
            <a:endParaRPr i="1" sz="3500">
              <a:solidFill>
                <a:schemeClr val="dk1"/>
              </a:solidFill>
              <a:latin typeface="Roboto"/>
              <a:ea typeface="Roboto"/>
              <a:cs typeface="Roboto"/>
              <a:sym typeface="Roboto"/>
            </a:endParaRPr>
          </a:p>
        </p:txBody>
      </p:sp>
      <p:grpSp>
        <p:nvGrpSpPr>
          <p:cNvPr id="259" name="Google Shape;259;p22"/>
          <p:cNvGrpSpPr/>
          <p:nvPr/>
        </p:nvGrpSpPr>
        <p:grpSpPr>
          <a:xfrm>
            <a:off x="8625" y="0"/>
            <a:ext cx="9144000" cy="267600"/>
            <a:chOff x="8625" y="0"/>
            <a:chExt cx="9144000" cy="267600"/>
          </a:xfrm>
        </p:grpSpPr>
        <p:sp>
          <p:nvSpPr>
            <p:cNvPr id="260" name="Google Shape;260;p22"/>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1" name="Google Shape;261;p22"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pic>
        <p:nvPicPr>
          <p:cNvPr id="262" name="Google Shape;262;p22" title="Logo Main.png"/>
          <p:cNvPicPr preferRelativeResize="0"/>
          <p:nvPr/>
        </p:nvPicPr>
        <p:blipFill>
          <a:blip r:embed="rId4">
            <a:alphaModFix/>
          </a:blip>
          <a:stretch>
            <a:fillRect/>
          </a:stretch>
        </p:blipFill>
        <p:spPr>
          <a:xfrm>
            <a:off x="503800" y="4440950"/>
            <a:ext cx="1529475" cy="434512"/>
          </a:xfrm>
          <a:prstGeom prst="rect">
            <a:avLst/>
          </a:prstGeom>
          <a:noFill/>
          <a:ln>
            <a:noFill/>
          </a:ln>
        </p:spPr>
      </p:pic>
      <p:sp>
        <p:nvSpPr>
          <p:cNvPr id="263" name="Google Shape;263;p22"/>
          <p:cNvSpPr txBox="1"/>
          <p:nvPr/>
        </p:nvSpPr>
        <p:spPr>
          <a:xfrm>
            <a:off x="409575" y="1342450"/>
            <a:ext cx="5234700" cy="27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Inter"/>
                <a:ea typeface="Inter"/>
                <a:cs typeface="Inter"/>
                <a:sym typeface="Inter"/>
              </a:rPr>
              <a:t>Take a look at the data on the next slide:</a:t>
            </a:r>
            <a:endParaRPr sz="1700">
              <a:solidFill>
                <a:schemeClr val="dk1"/>
              </a:solidFill>
              <a:latin typeface="Inter"/>
              <a:ea typeface="Inter"/>
              <a:cs typeface="Inter"/>
              <a:sym typeface="Inter"/>
            </a:endParaRPr>
          </a:p>
          <a:p>
            <a:pPr indent="-336550" lvl="0" marL="457200" rtl="0" algn="l">
              <a:lnSpc>
                <a:spcPct val="115000"/>
              </a:lnSpc>
              <a:spcBef>
                <a:spcPts val="1200"/>
              </a:spcBef>
              <a:spcAft>
                <a:spcPts val="0"/>
              </a:spcAft>
              <a:buClr>
                <a:schemeClr val="dk1"/>
              </a:buClr>
              <a:buSzPts val="1700"/>
              <a:buFont typeface="Inter"/>
              <a:buChar char="●"/>
            </a:pPr>
            <a:r>
              <a:rPr lang="en" sz="1700">
                <a:solidFill>
                  <a:schemeClr val="dk1"/>
                </a:solidFill>
                <a:latin typeface="Inter"/>
                <a:ea typeface="Inter"/>
                <a:cs typeface="Inter"/>
                <a:sym typeface="Inter"/>
              </a:rPr>
              <a:t>Clean the messy data how you see fit</a:t>
            </a:r>
            <a:endParaRPr sz="1700">
              <a:solidFill>
                <a:schemeClr val="dk1"/>
              </a:solidFill>
              <a:latin typeface="Inter"/>
              <a:ea typeface="Inter"/>
              <a:cs typeface="Inter"/>
              <a:sym typeface="Inter"/>
            </a:endParaRPr>
          </a:p>
          <a:p>
            <a:pPr indent="-336550" lvl="0" marL="457200" rtl="0" algn="l">
              <a:lnSpc>
                <a:spcPct val="115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Discuss how you cleaned it and why you made those choices</a:t>
            </a:r>
            <a:endParaRPr sz="1700">
              <a:solidFill>
                <a:schemeClr val="dk1"/>
              </a:solidFill>
              <a:latin typeface="Inter"/>
              <a:ea typeface="Inter"/>
              <a:cs typeface="Inter"/>
              <a:sym typeface="Inter"/>
            </a:endParaRPr>
          </a:p>
          <a:p>
            <a:pPr indent="-336550" lvl="0" marL="457200" rtl="0" algn="l">
              <a:lnSpc>
                <a:spcPct val="115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Through this cleaning process:</a:t>
            </a:r>
            <a:endParaRPr sz="1700">
              <a:solidFill>
                <a:schemeClr val="dk1"/>
              </a:solidFill>
              <a:latin typeface="Inter"/>
              <a:ea typeface="Inter"/>
              <a:cs typeface="Inter"/>
              <a:sym typeface="Inter"/>
            </a:endParaRPr>
          </a:p>
          <a:p>
            <a:pPr indent="-336550" lvl="1" marL="914400" rtl="0" algn="l">
              <a:lnSpc>
                <a:spcPct val="115000"/>
              </a:lnSpc>
              <a:spcBef>
                <a:spcPts val="0"/>
              </a:spcBef>
              <a:spcAft>
                <a:spcPts val="0"/>
              </a:spcAft>
              <a:buClr>
                <a:schemeClr val="dk1"/>
              </a:buClr>
              <a:buSzPts val="1700"/>
              <a:buFont typeface="Inter"/>
              <a:buAutoNum type="alphaLcPeriod"/>
            </a:pPr>
            <a:r>
              <a:rPr lang="en" sz="1700">
                <a:solidFill>
                  <a:schemeClr val="dk1"/>
                </a:solidFill>
                <a:latin typeface="Inter"/>
                <a:ea typeface="Inter"/>
                <a:cs typeface="Inter"/>
                <a:sym typeface="Inter"/>
              </a:rPr>
              <a:t>What information was lost?</a:t>
            </a:r>
            <a:endParaRPr sz="1700">
              <a:solidFill>
                <a:schemeClr val="dk1"/>
              </a:solidFill>
              <a:latin typeface="Inter"/>
              <a:ea typeface="Inter"/>
              <a:cs typeface="Inter"/>
              <a:sym typeface="Inter"/>
            </a:endParaRPr>
          </a:p>
          <a:p>
            <a:pPr indent="-336550" lvl="1" marL="914400" rtl="0" algn="l">
              <a:lnSpc>
                <a:spcPct val="115000"/>
              </a:lnSpc>
              <a:spcBef>
                <a:spcPts val="0"/>
              </a:spcBef>
              <a:spcAft>
                <a:spcPts val="0"/>
              </a:spcAft>
              <a:buClr>
                <a:schemeClr val="dk1"/>
              </a:buClr>
              <a:buSzPts val="1700"/>
              <a:buFont typeface="Inter"/>
              <a:buAutoNum type="alphaLcPeriod"/>
            </a:pPr>
            <a:r>
              <a:rPr lang="en" sz="1700">
                <a:solidFill>
                  <a:schemeClr val="dk1"/>
                </a:solidFill>
                <a:latin typeface="Inter"/>
                <a:ea typeface="Inter"/>
                <a:cs typeface="Inter"/>
                <a:sym typeface="Inter"/>
              </a:rPr>
              <a:t>What information was </a:t>
            </a:r>
            <a:r>
              <a:rPr lang="en" sz="1700">
                <a:solidFill>
                  <a:schemeClr val="dk1"/>
                </a:solidFill>
                <a:latin typeface="Inter"/>
                <a:ea typeface="Inter"/>
                <a:cs typeface="Inter"/>
                <a:sym typeface="Inter"/>
              </a:rPr>
              <a:t>standardized</a:t>
            </a:r>
            <a:r>
              <a:rPr lang="en" sz="1700">
                <a:solidFill>
                  <a:schemeClr val="dk1"/>
                </a:solidFill>
                <a:latin typeface="Inter"/>
                <a:ea typeface="Inter"/>
                <a:cs typeface="Inter"/>
                <a:sym typeface="Inter"/>
              </a:rPr>
              <a:t>?</a:t>
            </a:r>
            <a:endParaRPr sz="1700">
              <a:solidFill>
                <a:schemeClr val="dk1"/>
              </a:solidFill>
              <a:latin typeface="Inter"/>
              <a:ea typeface="Inter"/>
              <a:cs typeface="Inter"/>
              <a:sym typeface="Inter"/>
            </a:endParaRPr>
          </a:p>
          <a:p>
            <a:pPr indent="-336550" lvl="1" marL="914400" rtl="0" algn="l">
              <a:lnSpc>
                <a:spcPct val="115000"/>
              </a:lnSpc>
              <a:spcBef>
                <a:spcPts val="0"/>
              </a:spcBef>
              <a:spcAft>
                <a:spcPts val="0"/>
              </a:spcAft>
              <a:buClr>
                <a:schemeClr val="dk1"/>
              </a:buClr>
              <a:buSzPts val="1700"/>
              <a:buFont typeface="Inter"/>
              <a:buAutoNum type="alphaLcPeriod"/>
            </a:pPr>
            <a:r>
              <a:rPr lang="en" sz="1700">
                <a:solidFill>
                  <a:schemeClr val="dk1"/>
                </a:solidFill>
                <a:latin typeface="Inter"/>
                <a:ea typeface="Inter"/>
                <a:cs typeface="Inter"/>
                <a:sym typeface="Inter"/>
              </a:rPr>
              <a:t>What information was made invisible through cleaning choices?</a:t>
            </a:r>
            <a:endParaRPr sz="1700">
              <a:solidFill>
                <a:schemeClr val="dk1"/>
              </a:solidFill>
              <a:latin typeface="Inter"/>
              <a:ea typeface="Inter"/>
              <a:cs typeface="Inter"/>
              <a:sym typeface="Inter"/>
            </a:endParaRPr>
          </a:p>
          <a:p>
            <a:pPr indent="0" lvl="0" marL="0" rtl="0" algn="l">
              <a:spcBef>
                <a:spcPts val="1200"/>
              </a:spcBef>
              <a:spcAft>
                <a:spcPts val="0"/>
              </a:spcAft>
              <a:buNone/>
            </a:pPr>
            <a:r>
              <a:t/>
            </a:r>
            <a:endParaRPr sz="1800">
              <a:solidFill>
                <a:schemeClr val="dk1"/>
              </a:solidFill>
              <a:latin typeface="Inter"/>
              <a:ea typeface="Inter"/>
              <a:cs typeface="Inter"/>
              <a:sym typeface="Inter"/>
            </a:endParaRPr>
          </a:p>
        </p:txBody>
      </p:sp>
      <p:pic>
        <p:nvPicPr>
          <p:cNvPr id="264" name="Google Shape;264;p22"/>
          <p:cNvPicPr preferRelativeResize="0"/>
          <p:nvPr/>
        </p:nvPicPr>
        <p:blipFill rotWithShape="1">
          <a:blip r:embed="rId5">
            <a:alphaModFix/>
          </a:blip>
          <a:srcRect b="0" l="0" r="0" t="0"/>
          <a:stretch/>
        </p:blipFill>
        <p:spPr>
          <a:xfrm>
            <a:off x="5040975" y="447125"/>
            <a:ext cx="3798225" cy="3798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grpSp>
        <p:nvGrpSpPr>
          <p:cNvPr id="269" name="Google Shape;269;p23"/>
          <p:cNvGrpSpPr/>
          <p:nvPr/>
        </p:nvGrpSpPr>
        <p:grpSpPr>
          <a:xfrm>
            <a:off x="8625" y="0"/>
            <a:ext cx="9144000" cy="267600"/>
            <a:chOff x="8625" y="0"/>
            <a:chExt cx="9144000" cy="267600"/>
          </a:xfrm>
        </p:grpSpPr>
        <p:sp>
          <p:nvSpPr>
            <p:cNvPr id="270" name="Google Shape;270;p2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1" name="Google Shape;271;p23" title="Logo Header.png"/>
            <p:cNvPicPr preferRelativeResize="0"/>
            <p:nvPr/>
          </p:nvPicPr>
          <p:blipFill>
            <a:blip r:embed="rId4">
              <a:alphaModFix/>
            </a:blip>
            <a:stretch>
              <a:fillRect/>
            </a:stretch>
          </p:blipFill>
          <p:spPr>
            <a:xfrm>
              <a:off x="8348195" y="15790"/>
              <a:ext cx="634775" cy="199625"/>
            </a:xfrm>
            <a:prstGeom prst="rect">
              <a:avLst/>
            </a:prstGeom>
            <a:noFill/>
            <a:ln>
              <a:noFill/>
            </a:ln>
          </p:spPr>
        </p:pic>
      </p:grpSp>
      <p:graphicFrame>
        <p:nvGraphicFramePr>
          <p:cNvPr id="272" name="Google Shape;272;p23"/>
          <p:cNvGraphicFramePr/>
          <p:nvPr/>
        </p:nvGraphicFramePr>
        <p:xfrm>
          <a:off x="414875" y="229885"/>
          <a:ext cx="3000000" cy="3000000"/>
        </p:xfrm>
        <a:graphic>
          <a:graphicData uri="http://schemas.openxmlformats.org/drawingml/2006/table">
            <a:tbl>
              <a:tblPr>
                <a:noFill/>
                <a:tableStyleId>{8C11A223-8252-4700-B3AE-095232456EF6}</a:tableStyleId>
              </a:tblPr>
              <a:tblGrid>
                <a:gridCol w="1681150"/>
                <a:gridCol w="1681150"/>
                <a:gridCol w="1681150"/>
                <a:gridCol w="1681150"/>
                <a:gridCol w="1681150"/>
              </a:tblGrid>
              <a:tr h="266675">
                <a:tc>
                  <a:txBody>
                    <a:bodyPr/>
                    <a:lstStyle/>
                    <a:p>
                      <a:pPr indent="0" lvl="0" marL="0" rtl="0" algn="ctr">
                        <a:spcBef>
                          <a:spcPts val="0"/>
                        </a:spcBef>
                        <a:spcAft>
                          <a:spcPts val="0"/>
                        </a:spcAft>
                        <a:buNone/>
                      </a:pPr>
                      <a:r>
                        <a:rPr b="1" lang="en" sz="800">
                          <a:latin typeface="Inter"/>
                          <a:ea typeface="Inter"/>
                          <a:cs typeface="Inter"/>
                          <a:sym typeface="Inter"/>
                        </a:rPr>
                        <a:t> </a:t>
                      </a:r>
                      <a:r>
                        <a:rPr b="1" lang="en" sz="800">
                          <a:latin typeface="Inter"/>
                          <a:ea typeface="Inter"/>
                          <a:cs typeface="Inter"/>
                          <a:sym typeface="Inter"/>
                        </a:rPr>
                        <a:t>Student_ID</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Name</a:t>
                      </a:r>
                      <a:r>
                        <a:rPr b="1" lang="en" sz="800">
                          <a:latin typeface="Inter"/>
                          <a:ea typeface="Inter"/>
                          <a:cs typeface="Inter"/>
                          <a:sym typeface="Inter"/>
                        </a:rPr>
                        <a:t> </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Age</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Score</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Enrollment_Date</a:t>
                      </a:r>
                      <a:endParaRPr b="1" sz="800">
                        <a:latin typeface="Inter"/>
                        <a:ea typeface="Inter"/>
                        <a:cs typeface="Inter"/>
                        <a:sym typeface="Inter"/>
                      </a:endParaRPr>
                    </a:p>
                  </a:txBody>
                  <a:tcPr marT="91425" marB="91425" marR="91425" marL="91425" anchor="ctr">
                    <a:solidFill>
                      <a:srgbClr val="D4E4D1"/>
                    </a:solidFill>
                  </a:tcPr>
                </a:tc>
              </a:tr>
              <a:tr h="306675">
                <a:tc>
                  <a:txBody>
                    <a:bodyPr/>
                    <a:lstStyle/>
                    <a:p>
                      <a:pPr indent="0" lvl="0" marL="0" rtl="0" algn="l">
                        <a:spcBef>
                          <a:spcPts val="0"/>
                        </a:spcBef>
                        <a:spcAft>
                          <a:spcPts val="0"/>
                        </a:spcAft>
                        <a:buNone/>
                      </a:pPr>
                      <a:r>
                        <a:rPr lang="en" sz="1100">
                          <a:latin typeface="Inter"/>
                          <a:ea typeface="Inter"/>
                          <a:cs typeface="Inter"/>
                          <a:sym typeface="Inter"/>
                        </a:rPr>
                        <a:t>101</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John Smith</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88</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2023-09-01</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102</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Maria Lopez</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19</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92%</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09/02/2023</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103</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Ahmed Khan</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twenty</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76</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2023-13-01</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104</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Li Wei</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21</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2023/09/03</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106</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Sarah O’Neil</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85</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2023-08-05</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106</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David Kim</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22 yrs</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ninety</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2023-09-06</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108</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Emiliy Davis</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101</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Sept 8,2023</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109</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Michael Brown</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200</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67</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2023-09-09</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Jessica Wilson</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19</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73</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2023-09-10</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111</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Chris Johnson</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18</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45</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2023-09-31</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306675">
                <a:tc>
                  <a:txBody>
                    <a:bodyPr/>
                    <a:lstStyle/>
                    <a:p>
                      <a:pPr indent="0" lvl="0" marL="0" rtl="0" algn="l">
                        <a:spcBef>
                          <a:spcPts val="0"/>
                        </a:spcBef>
                        <a:spcAft>
                          <a:spcPts val="0"/>
                        </a:spcAft>
                        <a:buNone/>
                      </a:pPr>
                      <a:r>
                        <a:rPr lang="en" sz="1100">
                          <a:latin typeface="Inter"/>
                          <a:ea typeface="Inter"/>
                          <a:cs typeface="Inter"/>
                          <a:sym typeface="Inter"/>
                        </a:rPr>
                        <a:t>113</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Tom Lee</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20</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78</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12-09-2023</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6675">
                <a:tc>
                  <a:txBody>
                    <a:bodyPr/>
                    <a:lstStyle/>
                    <a:p>
                      <a:pPr indent="0" lvl="0" marL="0" rtl="0" algn="l">
                        <a:spcBef>
                          <a:spcPts val="0"/>
                        </a:spcBef>
                        <a:spcAft>
                          <a:spcPts val="0"/>
                        </a:spcAft>
                        <a:buNone/>
                      </a:pPr>
                      <a:r>
                        <a:rPr lang="en" sz="1100">
                          <a:latin typeface="Inter"/>
                          <a:ea typeface="Inter"/>
                          <a:cs typeface="Inter"/>
                          <a:sym typeface="Inter"/>
                        </a:rPr>
                        <a:t>114</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Fatima Ali</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19</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88.5</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2023-08-14</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6675">
                <a:tc>
                  <a:txBody>
                    <a:bodyPr/>
                    <a:lstStyle/>
                    <a:p>
                      <a:pPr indent="0" lvl="0" marL="0" rtl="0" algn="l">
                        <a:spcBef>
                          <a:spcPts val="0"/>
                        </a:spcBef>
                        <a:spcAft>
                          <a:spcPts val="0"/>
                        </a:spcAft>
                        <a:buNone/>
                      </a:pPr>
                      <a:r>
                        <a:rPr lang="en" sz="1100">
                          <a:latin typeface="Inter"/>
                          <a:ea typeface="Inter"/>
                          <a:cs typeface="Inter"/>
                          <a:sym typeface="Inter"/>
                        </a:rPr>
                        <a:t>115</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George Clark</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N/A</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84</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p:nvPr/>
        </p:nvSpPr>
        <p:spPr>
          <a:xfrm>
            <a:off x="714375" y="37444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78" name="Google Shape;278;p24"/>
          <p:cNvSpPr/>
          <p:nvPr/>
        </p:nvSpPr>
        <p:spPr>
          <a:xfrm>
            <a:off x="6217900" y="1463075"/>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79" name="Google Shape;279;p24"/>
          <p:cNvSpPr/>
          <p:nvPr/>
        </p:nvSpPr>
        <p:spPr>
          <a:xfrm>
            <a:off x="3499900" y="14630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80" name="Google Shape;280;p24"/>
          <p:cNvSpPr/>
          <p:nvPr/>
        </p:nvSpPr>
        <p:spPr>
          <a:xfrm>
            <a:off x="756700" y="1469375"/>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281" name="Google Shape;281;p24"/>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282" name="Google Shape;282;p24"/>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83" name="Google Shape;283;p24"/>
          <p:cNvSpPr/>
          <p:nvPr/>
        </p:nvSpPr>
        <p:spPr>
          <a:xfrm>
            <a:off x="977925" y="2066751"/>
            <a:ext cx="1920300" cy="50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chemeClr val="dk1"/>
                </a:solidFill>
              </a:rPr>
              <a:t>Results from prior stages of the data science life cycle</a:t>
            </a:r>
            <a:endParaRPr sz="1200">
              <a:solidFill>
                <a:schemeClr val="dk1"/>
              </a:solidFill>
              <a:latin typeface="Inter"/>
              <a:ea typeface="Inter"/>
              <a:cs typeface="Inter"/>
              <a:sym typeface="Inter"/>
            </a:endParaRPr>
          </a:p>
        </p:txBody>
      </p:sp>
      <p:sp>
        <p:nvSpPr>
          <p:cNvPr id="284" name="Google Shape;284;p24"/>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285" name="Google Shape;285;p24"/>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86" name="Google Shape;286;p24"/>
          <p:cNvSpPr/>
          <p:nvPr/>
        </p:nvSpPr>
        <p:spPr>
          <a:xfrm>
            <a:off x="3749050" y="2126938"/>
            <a:ext cx="1920300" cy="109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E</a:t>
            </a:r>
            <a:r>
              <a:rPr lang="en" sz="1200">
                <a:solidFill>
                  <a:schemeClr val="dk1"/>
                </a:solidFill>
                <a:latin typeface="Inter"/>
                <a:ea typeface="Inter"/>
                <a:cs typeface="Inter"/>
                <a:sym typeface="Inter"/>
              </a:rPr>
              <a:t>ffectively communicate results of data analysis done</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p:txBody>
      </p:sp>
      <p:sp>
        <p:nvSpPr>
          <p:cNvPr id="287" name="Google Shape;287;p24"/>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288" name="Google Shape;288;p24"/>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grpSp>
        <p:nvGrpSpPr>
          <p:cNvPr id="289" name="Google Shape;289;p24"/>
          <p:cNvGrpSpPr/>
          <p:nvPr/>
        </p:nvGrpSpPr>
        <p:grpSpPr>
          <a:xfrm>
            <a:off x="8625" y="0"/>
            <a:ext cx="9144000" cy="267600"/>
            <a:chOff x="8625" y="0"/>
            <a:chExt cx="9144000" cy="267600"/>
          </a:xfrm>
        </p:grpSpPr>
        <p:sp>
          <p:nvSpPr>
            <p:cNvPr id="290" name="Google Shape;290;p2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1" name="Google Shape;291;p24"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292" name="Google Shape;292;p24"/>
          <p:cNvSpPr/>
          <p:nvPr/>
        </p:nvSpPr>
        <p:spPr>
          <a:xfrm>
            <a:off x="896940" y="3962099"/>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293" name="Google Shape;293;p24"/>
          <p:cNvSpPr/>
          <p:nvPr/>
        </p:nvSpPr>
        <p:spPr>
          <a:xfrm>
            <a:off x="896950" y="4221177"/>
            <a:ext cx="4443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294" name="Google Shape;294;p24"/>
          <p:cNvSpPr/>
          <p:nvPr/>
        </p:nvSpPr>
        <p:spPr>
          <a:xfrm>
            <a:off x="820750" y="4284770"/>
            <a:ext cx="6323100" cy="7029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latin typeface="Inter"/>
                <a:ea typeface="Inter"/>
                <a:cs typeface="Inter"/>
                <a:sym typeface="Inter"/>
              </a:rPr>
              <a:t>Over-simplification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Confirmation Bias</a:t>
            </a:r>
            <a:endParaRPr sz="1200">
              <a:solidFill>
                <a:schemeClr val="dk1"/>
              </a:solidFill>
              <a:latin typeface="Inter"/>
              <a:ea typeface="Inter"/>
              <a:cs typeface="Inter"/>
              <a:sym typeface="Inter"/>
            </a:endParaRPr>
          </a:p>
        </p:txBody>
      </p:sp>
      <p:sp>
        <p:nvSpPr>
          <p:cNvPr id="295" name="Google Shape;295;p24"/>
          <p:cNvSpPr txBox="1"/>
          <p:nvPr/>
        </p:nvSpPr>
        <p:spPr>
          <a:xfrm>
            <a:off x="6390150" y="2007365"/>
            <a:ext cx="2260500" cy="125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I</a:t>
            </a:r>
            <a:r>
              <a:rPr lang="en" sz="1200">
                <a:solidFill>
                  <a:schemeClr val="dk1"/>
                </a:solidFill>
                <a:latin typeface="Inter"/>
                <a:ea typeface="Inter"/>
                <a:cs typeface="Inter"/>
                <a:sym typeface="Inter"/>
              </a:rPr>
              <a:t>nterpretable information about the data and analysis done</a:t>
            </a:r>
            <a:endParaRPr sz="1200">
              <a:solidFill>
                <a:schemeClr val="dk1"/>
              </a:solidFill>
              <a:latin typeface="Inter"/>
              <a:ea typeface="Inter"/>
              <a:cs typeface="Inter"/>
              <a:sym typeface="Inter"/>
            </a:endParaRPr>
          </a:p>
          <a:p>
            <a:pPr indent="-304800" lvl="0" marL="457200" rtl="0" algn="l">
              <a:lnSpc>
                <a:spcPct val="115000"/>
              </a:lnSpc>
              <a:spcBef>
                <a:spcPts val="1200"/>
              </a:spcBef>
              <a:spcAft>
                <a:spcPts val="0"/>
              </a:spcAft>
              <a:buClr>
                <a:schemeClr val="dk1"/>
              </a:buClr>
              <a:buSzPts val="1200"/>
              <a:buFont typeface="Inter"/>
              <a:buChar char="●"/>
            </a:pPr>
            <a:r>
              <a:rPr lang="en" sz="1200">
                <a:solidFill>
                  <a:schemeClr val="dk1"/>
                </a:solidFill>
                <a:latin typeface="Inter"/>
                <a:ea typeface="Inter"/>
                <a:cs typeface="Inter"/>
                <a:sym typeface="Inter"/>
              </a:rPr>
              <a:t>Data visualization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Summary of key findings</a:t>
            </a:r>
            <a:endParaRPr sz="1200">
              <a:solidFill>
                <a:schemeClr val="dk1"/>
              </a:solidFill>
              <a:latin typeface="Inter"/>
              <a:ea typeface="Inter"/>
              <a:cs typeface="Inter"/>
              <a:sym typeface="Inter"/>
            </a:endParaRPr>
          </a:p>
        </p:txBody>
      </p:sp>
      <p:sp>
        <p:nvSpPr>
          <p:cNvPr id="296" name="Google Shape;296;p24"/>
          <p:cNvSpPr txBox="1"/>
          <p:nvPr>
            <p:ph idx="1" type="subTitle"/>
          </p:nvPr>
        </p:nvSpPr>
        <p:spPr>
          <a:xfrm>
            <a:off x="1303296" y="447125"/>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Inter"/>
                <a:ea typeface="Inter"/>
                <a:cs typeface="Inter"/>
                <a:sym typeface="Inter"/>
              </a:rPr>
              <a:t>Representation of Results</a:t>
            </a:r>
            <a:endParaRPr b="1" i="1" sz="3500">
              <a:solidFill>
                <a:schemeClr val="dk1"/>
              </a:solidFill>
              <a:latin typeface="Inter"/>
              <a:ea typeface="Inter"/>
              <a:cs typeface="Inter"/>
              <a:sym typeface="Inter"/>
            </a:endParaRPr>
          </a:p>
        </p:txBody>
      </p:sp>
      <p:pic>
        <p:nvPicPr>
          <p:cNvPr id="297" name="Google Shape;297;p24" title="database_monitoring-65424.png"/>
          <p:cNvPicPr preferRelativeResize="0"/>
          <p:nvPr/>
        </p:nvPicPr>
        <p:blipFill>
          <a:blip r:embed="rId4">
            <a:alphaModFix/>
          </a:blip>
          <a:stretch>
            <a:fillRect/>
          </a:stretch>
        </p:blipFill>
        <p:spPr>
          <a:xfrm>
            <a:off x="699773" y="522755"/>
            <a:ext cx="603525" cy="6035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5"/>
          <p:cNvSpPr/>
          <p:nvPr/>
        </p:nvSpPr>
        <p:spPr>
          <a:xfrm>
            <a:off x="714375" y="37444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303" name="Google Shape;303;p25"/>
          <p:cNvSpPr/>
          <p:nvPr/>
        </p:nvSpPr>
        <p:spPr>
          <a:xfrm>
            <a:off x="6217900" y="1463075"/>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304" name="Google Shape;304;p25"/>
          <p:cNvSpPr/>
          <p:nvPr/>
        </p:nvSpPr>
        <p:spPr>
          <a:xfrm>
            <a:off x="3499900" y="14630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305" name="Google Shape;305;p25"/>
          <p:cNvSpPr/>
          <p:nvPr/>
        </p:nvSpPr>
        <p:spPr>
          <a:xfrm>
            <a:off x="756700" y="1469375"/>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306" name="Google Shape;306;p25"/>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307" name="Google Shape;307;p25"/>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08" name="Google Shape;308;p25"/>
          <p:cNvSpPr/>
          <p:nvPr/>
        </p:nvSpPr>
        <p:spPr>
          <a:xfrm>
            <a:off x="977925" y="2066751"/>
            <a:ext cx="1920300" cy="50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E</a:t>
            </a:r>
            <a:r>
              <a:rPr lang="en" sz="1200">
                <a:solidFill>
                  <a:schemeClr val="dk1"/>
                </a:solidFill>
                <a:latin typeface="Inter"/>
                <a:ea typeface="Inter"/>
                <a:cs typeface="Inter"/>
                <a:sym typeface="Inter"/>
              </a:rPr>
              <a:t>verything done to analyze your data</a:t>
            </a:r>
            <a:endParaRPr sz="1200">
              <a:solidFill>
                <a:schemeClr val="dk1"/>
              </a:solidFill>
              <a:latin typeface="Inter"/>
              <a:ea typeface="Inter"/>
              <a:cs typeface="Inter"/>
              <a:sym typeface="Inter"/>
            </a:endParaRPr>
          </a:p>
        </p:txBody>
      </p:sp>
      <p:sp>
        <p:nvSpPr>
          <p:cNvPr id="309" name="Google Shape;309;p25"/>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310" name="Google Shape;310;p25"/>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11" name="Google Shape;311;p25"/>
          <p:cNvSpPr/>
          <p:nvPr/>
        </p:nvSpPr>
        <p:spPr>
          <a:xfrm>
            <a:off x="3749050" y="2126950"/>
            <a:ext cx="2065500" cy="109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Communicate the full data science process</a:t>
            </a:r>
            <a:endParaRPr sz="1200">
              <a:solidFill>
                <a:schemeClr val="dk1"/>
              </a:solidFill>
              <a:latin typeface="Inter"/>
              <a:ea typeface="Inter"/>
              <a:cs typeface="Inter"/>
              <a:sym typeface="Inter"/>
            </a:endParaRPr>
          </a:p>
          <a:p>
            <a:pPr indent="-298450" lvl="0" marL="457200" rtl="0" algn="l">
              <a:lnSpc>
                <a:spcPct val="115000"/>
              </a:lnSpc>
              <a:spcBef>
                <a:spcPts val="1200"/>
              </a:spcBef>
              <a:spcAft>
                <a:spcPts val="0"/>
              </a:spcAft>
              <a:buClr>
                <a:schemeClr val="dk1"/>
              </a:buClr>
              <a:buSzPts val="1100"/>
              <a:buFont typeface="Inter"/>
              <a:buChar char="●"/>
            </a:pPr>
            <a:r>
              <a:rPr lang="en" sz="1200">
                <a:solidFill>
                  <a:schemeClr val="dk1"/>
                </a:solidFill>
                <a:latin typeface="Inter"/>
                <a:ea typeface="Inter"/>
                <a:cs typeface="Inter"/>
                <a:sym typeface="Inter"/>
              </a:rPr>
              <a:t>The data used</a:t>
            </a:r>
            <a:endParaRPr sz="1200">
              <a:solidFill>
                <a:schemeClr val="dk1"/>
              </a:solidFill>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Font typeface="Inter"/>
              <a:buChar char="●"/>
            </a:pPr>
            <a:r>
              <a:rPr lang="en" sz="1200">
                <a:solidFill>
                  <a:schemeClr val="dk1"/>
                </a:solidFill>
                <a:latin typeface="Inter"/>
                <a:ea typeface="Inter"/>
                <a:cs typeface="Inter"/>
                <a:sym typeface="Inter"/>
              </a:rPr>
              <a:t>Methods used to prepare the data</a:t>
            </a:r>
            <a:endParaRPr sz="1200">
              <a:solidFill>
                <a:schemeClr val="dk1"/>
              </a:solidFill>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Font typeface="Inter"/>
              <a:buChar char="●"/>
            </a:pPr>
            <a:r>
              <a:rPr lang="en" sz="1200">
                <a:solidFill>
                  <a:schemeClr val="dk1"/>
                </a:solidFill>
                <a:latin typeface="Inter"/>
                <a:ea typeface="Inter"/>
                <a:cs typeface="Inter"/>
                <a:sym typeface="Inter"/>
              </a:rPr>
              <a:t>The analysis &amp; results</a:t>
            </a:r>
            <a:endParaRPr sz="1200">
              <a:solidFill>
                <a:schemeClr val="dk1"/>
              </a:solidFill>
              <a:latin typeface="Inter"/>
              <a:ea typeface="Inter"/>
              <a:cs typeface="Inter"/>
              <a:sym typeface="Inter"/>
            </a:endParaRPr>
          </a:p>
        </p:txBody>
      </p:sp>
      <p:sp>
        <p:nvSpPr>
          <p:cNvPr id="312" name="Google Shape;312;p25"/>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313" name="Google Shape;313;p25"/>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grpSp>
        <p:nvGrpSpPr>
          <p:cNvPr id="314" name="Google Shape;314;p25"/>
          <p:cNvGrpSpPr/>
          <p:nvPr/>
        </p:nvGrpSpPr>
        <p:grpSpPr>
          <a:xfrm>
            <a:off x="8625" y="0"/>
            <a:ext cx="9144000" cy="267600"/>
            <a:chOff x="8625" y="0"/>
            <a:chExt cx="9144000" cy="267600"/>
          </a:xfrm>
        </p:grpSpPr>
        <p:sp>
          <p:nvSpPr>
            <p:cNvPr id="315" name="Google Shape;315;p2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6" name="Google Shape;316;p25"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317" name="Google Shape;317;p25"/>
          <p:cNvSpPr/>
          <p:nvPr/>
        </p:nvSpPr>
        <p:spPr>
          <a:xfrm>
            <a:off x="896940" y="3962099"/>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318" name="Google Shape;318;p25"/>
          <p:cNvSpPr/>
          <p:nvPr/>
        </p:nvSpPr>
        <p:spPr>
          <a:xfrm>
            <a:off x="896950" y="4221177"/>
            <a:ext cx="4443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19" name="Google Shape;319;p25"/>
          <p:cNvSpPr/>
          <p:nvPr/>
        </p:nvSpPr>
        <p:spPr>
          <a:xfrm>
            <a:off x="820750" y="4284770"/>
            <a:ext cx="6323100" cy="7029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latin typeface="Inter"/>
                <a:ea typeface="Inter"/>
                <a:cs typeface="Inter"/>
                <a:sym typeface="Inter"/>
              </a:rPr>
              <a:t>Lack of transparency</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Misinterpretation</a:t>
            </a:r>
            <a:endParaRPr sz="1200">
              <a:solidFill>
                <a:schemeClr val="dk1"/>
              </a:solidFill>
              <a:latin typeface="Inter"/>
              <a:ea typeface="Inter"/>
              <a:cs typeface="Inter"/>
              <a:sym typeface="Inter"/>
            </a:endParaRPr>
          </a:p>
        </p:txBody>
      </p:sp>
      <p:sp>
        <p:nvSpPr>
          <p:cNvPr id="320" name="Google Shape;320;p25"/>
          <p:cNvSpPr txBox="1"/>
          <p:nvPr/>
        </p:nvSpPr>
        <p:spPr>
          <a:xfrm>
            <a:off x="6390150" y="2007365"/>
            <a:ext cx="2260500" cy="125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Inter"/>
                <a:ea typeface="Inter"/>
                <a:cs typeface="Inter"/>
                <a:sym typeface="Inter"/>
              </a:rPr>
              <a:t>C</a:t>
            </a:r>
            <a:r>
              <a:rPr lang="en" sz="1200">
                <a:solidFill>
                  <a:schemeClr val="dk1"/>
                </a:solidFill>
                <a:latin typeface="Inter"/>
                <a:ea typeface="Inter"/>
                <a:cs typeface="Inter"/>
                <a:sym typeface="Inter"/>
              </a:rPr>
              <a:t>omprehensive and reproducible documentation</a:t>
            </a:r>
            <a:endParaRPr sz="1200">
              <a:solidFill>
                <a:schemeClr val="dk1"/>
              </a:solidFill>
              <a:latin typeface="Inter"/>
              <a:ea typeface="Inter"/>
              <a:cs typeface="Inter"/>
              <a:sym typeface="Inter"/>
            </a:endParaRPr>
          </a:p>
          <a:p>
            <a:pPr indent="0" lvl="0" marL="45720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sp>
        <p:nvSpPr>
          <p:cNvPr id="321" name="Google Shape;321;p25"/>
          <p:cNvSpPr txBox="1"/>
          <p:nvPr>
            <p:ph idx="1" type="subTitle"/>
          </p:nvPr>
        </p:nvSpPr>
        <p:spPr>
          <a:xfrm>
            <a:off x="1335584" y="447125"/>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Inter"/>
                <a:ea typeface="Inter"/>
                <a:cs typeface="Inter"/>
                <a:sym typeface="Inter"/>
              </a:rPr>
              <a:t>Distribution</a:t>
            </a:r>
            <a:endParaRPr b="1" i="1" sz="3500">
              <a:solidFill>
                <a:schemeClr val="dk1"/>
              </a:solidFill>
              <a:latin typeface="Inter"/>
              <a:ea typeface="Inter"/>
              <a:cs typeface="Inter"/>
              <a:sym typeface="Inter"/>
            </a:endParaRPr>
          </a:p>
        </p:txBody>
      </p:sp>
      <p:pic>
        <p:nvPicPr>
          <p:cNvPr id="322" name="Google Shape;322;p25" title="database_export-65420.png"/>
          <p:cNvPicPr preferRelativeResize="0"/>
          <p:nvPr/>
        </p:nvPicPr>
        <p:blipFill>
          <a:blip r:embed="rId4">
            <a:alphaModFix/>
          </a:blip>
          <a:stretch>
            <a:fillRect/>
          </a:stretch>
        </p:blipFill>
        <p:spPr>
          <a:xfrm>
            <a:off x="732062" y="527160"/>
            <a:ext cx="603525" cy="59471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6"/>
          <p:cNvSpPr/>
          <p:nvPr/>
        </p:nvSpPr>
        <p:spPr>
          <a:xfrm>
            <a:off x="714375" y="37444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328" name="Google Shape;328;p26"/>
          <p:cNvSpPr/>
          <p:nvPr/>
        </p:nvSpPr>
        <p:spPr>
          <a:xfrm>
            <a:off x="6217900" y="1463075"/>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329" name="Google Shape;329;p26"/>
          <p:cNvSpPr/>
          <p:nvPr/>
        </p:nvSpPr>
        <p:spPr>
          <a:xfrm>
            <a:off x="3499900" y="14630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330" name="Google Shape;330;p26"/>
          <p:cNvSpPr/>
          <p:nvPr/>
        </p:nvSpPr>
        <p:spPr>
          <a:xfrm>
            <a:off x="756700" y="1469375"/>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331" name="Google Shape;331;p26"/>
          <p:cNvSpPr/>
          <p:nvPr/>
        </p:nvSpPr>
        <p:spPr>
          <a:xfrm>
            <a:off x="10058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Input</a:t>
            </a:r>
            <a:endParaRPr b="1" i="0" sz="1400" u="none" cap="none" strike="noStrike">
              <a:solidFill>
                <a:srgbClr val="000000"/>
              </a:solidFill>
              <a:latin typeface="Inter"/>
              <a:ea typeface="Inter"/>
              <a:cs typeface="Inter"/>
              <a:sym typeface="Inter"/>
            </a:endParaRPr>
          </a:p>
        </p:txBody>
      </p:sp>
      <p:sp>
        <p:nvSpPr>
          <p:cNvPr id="332" name="Google Shape;332;p26"/>
          <p:cNvSpPr/>
          <p:nvPr/>
        </p:nvSpPr>
        <p:spPr>
          <a:xfrm>
            <a:off x="1005845"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33" name="Google Shape;333;p26"/>
          <p:cNvSpPr/>
          <p:nvPr/>
        </p:nvSpPr>
        <p:spPr>
          <a:xfrm>
            <a:off x="977925" y="2066751"/>
            <a:ext cx="1920300" cy="50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C</a:t>
            </a:r>
            <a:r>
              <a:rPr lang="en" sz="1200">
                <a:solidFill>
                  <a:schemeClr val="dk1"/>
                </a:solidFill>
                <a:latin typeface="Inter"/>
                <a:ea typeface="Inter"/>
                <a:cs typeface="Inter"/>
                <a:sym typeface="Inter"/>
              </a:rPr>
              <a:t>ompleted data science life cycle.</a:t>
            </a:r>
            <a:endParaRPr sz="1200">
              <a:solidFill>
                <a:schemeClr val="dk1"/>
              </a:solidFill>
              <a:latin typeface="Inter"/>
              <a:ea typeface="Inter"/>
              <a:cs typeface="Inter"/>
              <a:sym typeface="Inter"/>
            </a:endParaRPr>
          </a:p>
        </p:txBody>
      </p:sp>
      <p:sp>
        <p:nvSpPr>
          <p:cNvPr id="334" name="Google Shape;334;p26"/>
          <p:cNvSpPr/>
          <p:nvPr/>
        </p:nvSpPr>
        <p:spPr>
          <a:xfrm>
            <a:off x="37490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335" name="Google Shape;335;p26"/>
          <p:cNvSpPr/>
          <p:nvPr/>
        </p:nvSpPr>
        <p:spPr>
          <a:xfrm>
            <a:off x="3749045" y="1950729"/>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36" name="Google Shape;336;p26"/>
          <p:cNvSpPr/>
          <p:nvPr/>
        </p:nvSpPr>
        <p:spPr>
          <a:xfrm>
            <a:off x="3749050" y="2126950"/>
            <a:ext cx="2065500" cy="109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Interpret and communicate results clearly so other can understand, interpret, and reproduce the analysis.</a:t>
            </a:r>
            <a:endParaRPr sz="1200">
              <a:solidFill>
                <a:schemeClr val="dk1"/>
              </a:solidFill>
              <a:latin typeface="Inter"/>
              <a:ea typeface="Inter"/>
              <a:cs typeface="Inter"/>
              <a:sym typeface="Inter"/>
            </a:endParaRPr>
          </a:p>
        </p:txBody>
      </p:sp>
      <p:sp>
        <p:nvSpPr>
          <p:cNvPr id="337" name="Google Shape;337;p26"/>
          <p:cNvSpPr/>
          <p:nvPr/>
        </p:nvSpPr>
        <p:spPr>
          <a:xfrm>
            <a:off x="6492240" y="1691640"/>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338" name="Google Shape;338;p26"/>
          <p:cNvSpPr/>
          <p:nvPr/>
        </p:nvSpPr>
        <p:spPr>
          <a:xfrm>
            <a:off x="6492247" y="1950727"/>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grpSp>
        <p:nvGrpSpPr>
          <p:cNvPr id="339" name="Google Shape;339;p26"/>
          <p:cNvGrpSpPr/>
          <p:nvPr/>
        </p:nvGrpSpPr>
        <p:grpSpPr>
          <a:xfrm>
            <a:off x="8625" y="0"/>
            <a:ext cx="9144000" cy="267600"/>
            <a:chOff x="8625" y="0"/>
            <a:chExt cx="9144000" cy="267600"/>
          </a:xfrm>
        </p:grpSpPr>
        <p:sp>
          <p:nvSpPr>
            <p:cNvPr id="340" name="Google Shape;340;p26"/>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1" name="Google Shape;341;p26"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342" name="Google Shape;342;p26"/>
          <p:cNvSpPr/>
          <p:nvPr/>
        </p:nvSpPr>
        <p:spPr>
          <a:xfrm>
            <a:off x="896940" y="3962099"/>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Risks</a:t>
            </a:r>
            <a:endParaRPr b="1" i="0" sz="1400" u="none" cap="none" strike="noStrike">
              <a:solidFill>
                <a:srgbClr val="000000"/>
              </a:solidFill>
              <a:latin typeface="Inter"/>
              <a:ea typeface="Inter"/>
              <a:cs typeface="Inter"/>
              <a:sym typeface="Inter"/>
            </a:endParaRPr>
          </a:p>
        </p:txBody>
      </p:sp>
      <p:sp>
        <p:nvSpPr>
          <p:cNvPr id="343" name="Google Shape;343;p26"/>
          <p:cNvSpPr/>
          <p:nvPr/>
        </p:nvSpPr>
        <p:spPr>
          <a:xfrm>
            <a:off x="896950" y="4221177"/>
            <a:ext cx="4443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44" name="Google Shape;344;p26"/>
          <p:cNvSpPr/>
          <p:nvPr/>
        </p:nvSpPr>
        <p:spPr>
          <a:xfrm>
            <a:off x="863559" y="4284770"/>
            <a:ext cx="6323100" cy="702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Unintended downstream harms</a:t>
            </a:r>
            <a:endParaRPr sz="1200">
              <a:solidFill>
                <a:schemeClr val="dk1"/>
              </a:solidFill>
              <a:latin typeface="Inter"/>
              <a:ea typeface="Inter"/>
              <a:cs typeface="Inter"/>
              <a:sym typeface="Inter"/>
            </a:endParaRPr>
          </a:p>
        </p:txBody>
      </p:sp>
      <p:sp>
        <p:nvSpPr>
          <p:cNvPr id="345" name="Google Shape;345;p26"/>
          <p:cNvSpPr txBox="1"/>
          <p:nvPr/>
        </p:nvSpPr>
        <p:spPr>
          <a:xfrm>
            <a:off x="6390150" y="2007365"/>
            <a:ext cx="2260500" cy="125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C</a:t>
            </a:r>
            <a:r>
              <a:rPr lang="en" sz="1200">
                <a:solidFill>
                  <a:schemeClr val="dk1"/>
                </a:solidFill>
                <a:latin typeface="Inter"/>
                <a:ea typeface="Inter"/>
                <a:cs typeface="Inter"/>
                <a:sym typeface="Inter"/>
              </a:rPr>
              <a:t>lear communication of results and findings.</a:t>
            </a:r>
            <a:endParaRPr sz="1200">
              <a:solidFill>
                <a:schemeClr val="dk1"/>
              </a:solidFill>
              <a:latin typeface="Inter"/>
              <a:ea typeface="Inter"/>
              <a:cs typeface="Inter"/>
              <a:sym typeface="Inter"/>
            </a:endParaRPr>
          </a:p>
        </p:txBody>
      </p:sp>
      <p:sp>
        <p:nvSpPr>
          <p:cNvPr id="346" name="Google Shape;346;p26"/>
          <p:cNvSpPr txBox="1"/>
          <p:nvPr>
            <p:ph idx="1" type="subTitle"/>
          </p:nvPr>
        </p:nvSpPr>
        <p:spPr>
          <a:xfrm>
            <a:off x="1238720" y="447125"/>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Inter"/>
                <a:ea typeface="Inter"/>
                <a:cs typeface="Inter"/>
                <a:sym typeface="Inter"/>
              </a:rPr>
              <a:t>Interpretation &amp; Communication</a:t>
            </a:r>
            <a:endParaRPr b="1" i="1" sz="3500">
              <a:solidFill>
                <a:schemeClr val="dk1"/>
              </a:solidFill>
              <a:latin typeface="Inter"/>
              <a:ea typeface="Inter"/>
              <a:cs typeface="Inter"/>
              <a:sym typeface="Inter"/>
            </a:endParaRPr>
          </a:p>
        </p:txBody>
      </p:sp>
      <p:pic>
        <p:nvPicPr>
          <p:cNvPr id="347" name="Google Shape;347;p26" title="database_users-65427.png"/>
          <p:cNvPicPr preferRelativeResize="0"/>
          <p:nvPr/>
        </p:nvPicPr>
        <p:blipFill>
          <a:blip r:embed="rId4">
            <a:alphaModFix/>
          </a:blip>
          <a:stretch>
            <a:fillRect/>
          </a:stretch>
        </p:blipFill>
        <p:spPr>
          <a:xfrm>
            <a:off x="635200" y="533968"/>
            <a:ext cx="603525" cy="5811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7"/>
          <p:cNvSpPr/>
          <p:nvPr/>
        </p:nvSpPr>
        <p:spPr>
          <a:xfrm>
            <a:off x="3473475" y="1635150"/>
            <a:ext cx="2694000" cy="24261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27"/>
          <p:cNvSpPr/>
          <p:nvPr/>
        </p:nvSpPr>
        <p:spPr>
          <a:xfrm>
            <a:off x="494625" y="1296025"/>
            <a:ext cx="2694000" cy="16074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27"/>
          <p:cNvSpPr/>
          <p:nvPr/>
        </p:nvSpPr>
        <p:spPr>
          <a:xfrm>
            <a:off x="712450" y="1366363"/>
            <a:ext cx="2362200" cy="134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200">
                <a:solidFill>
                  <a:schemeClr val="dk1"/>
                </a:solidFill>
                <a:latin typeface="Inter"/>
                <a:ea typeface="Inter"/>
                <a:cs typeface="Inter"/>
                <a:sym typeface="Inter"/>
              </a:rPr>
              <a:t>Analysis Risks</a:t>
            </a:r>
            <a:r>
              <a:rPr b="1" lang="en" sz="1200">
                <a:solidFill>
                  <a:schemeClr val="dk1"/>
                </a:solidFill>
                <a:latin typeface="Inter"/>
                <a:ea typeface="Inter"/>
                <a:cs typeface="Inter"/>
                <a:sym typeface="Inter"/>
              </a:rPr>
              <a:t>:</a:t>
            </a:r>
            <a:endParaRPr b="1" sz="1200">
              <a:solidFill>
                <a:schemeClr val="dk1"/>
              </a:solidFill>
              <a:latin typeface="Inter"/>
              <a:ea typeface="Inter"/>
              <a:cs typeface="Inter"/>
              <a:sym typeface="Inter"/>
            </a:endParaRPr>
          </a:p>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latin typeface="Inter"/>
                <a:ea typeface="Inter"/>
                <a:cs typeface="Inter"/>
                <a:sym typeface="Inter"/>
              </a:rPr>
              <a:t>Overfitting</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Missing data</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Biased data or collection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Misuse of existing data</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Abstraction Traps</a:t>
            </a:r>
            <a:endParaRPr sz="1200">
              <a:solidFill>
                <a:schemeClr val="dk1"/>
              </a:solidFill>
              <a:latin typeface="Inter"/>
              <a:ea typeface="Inter"/>
              <a:cs typeface="Inter"/>
              <a:sym typeface="Inter"/>
            </a:endParaRPr>
          </a:p>
        </p:txBody>
      </p:sp>
      <p:grpSp>
        <p:nvGrpSpPr>
          <p:cNvPr id="355" name="Google Shape;355;p27"/>
          <p:cNvGrpSpPr/>
          <p:nvPr/>
        </p:nvGrpSpPr>
        <p:grpSpPr>
          <a:xfrm>
            <a:off x="8625" y="0"/>
            <a:ext cx="9144000" cy="267600"/>
            <a:chOff x="8625" y="0"/>
            <a:chExt cx="9144000" cy="267600"/>
          </a:xfrm>
        </p:grpSpPr>
        <p:sp>
          <p:nvSpPr>
            <p:cNvPr id="356" name="Google Shape;356;p27"/>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7" name="Google Shape;357;p27" title="Logo Header.png"/>
            <p:cNvPicPr preferRelativeResize="0"/>
            <p:nvPr/>
          </p:nvPicPr>
          <p:blipFill>
            <a:blip r:embed="rId4">
              <a:alphaModFix/>
            </a:blip>
            <a:stretch>
              <a:fillRect/>
            </a:stretch>
          </p:blipFill>
          <p:spPr>
            <a:xfrm>
              <a:off x="8348195" y="15790"/>
              <a:ext cx="634775" cy="199625"/>
            </a:xfrm>
            <a:prstGeom prst="rect">
              <a:avLst/>
            </a:prstGeom>
            <a:noFill/>
            <a:ln>
              <a:noFill/>
            </a:ln>
          </p:spPr>
        </p:pic>
      </p:grpSp>
      <p:sp>
        <p:nvSpPr>
          <p:cNvPr id="358" name="Google Shape;358;p27"/>
          <p:cNvSpPr/>
          <p:nvPr/>
        </p:nvSpPr>
        <p:spPr>
          <a:xfrm>
            <a:off x="503800" y="1011675"/>
            <a:ext cx="2779500" cy="71400"/>
          </a:xfrm>
          <a:prstGeom prst="rect">
            <a:avLst/>
          </a:prstGeom>
          <a:solidFill>
            <a:srgbClr val="13AE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27"/>
          <p:cNvSpPr txBox="1"/>
          <p:nvPr>
            <p:ph idx="1" type="subTitle"/>
          </p:nvPr>
        </p:nvSpPr>
        <p:spPr>
          <a:xfrm>
            <a:off x="409575" y="474149"/>
            <a:ext cx="8125500" cy="505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Risks Review:</a:t>
            </a:r>
            <a:endParaRPr i="1" sz="3500">
              <a:solidFill>
                <a:schemeClr val="dk1"/>
              </a:solidFill>
              <a:latin typeface="Roboto"/>
              <a:ea typeface="Roboto"/>
              <a:cs typeface="Roboto"/>
              <a:sym typeface="Roboto"/>
            </a:endParaRPr>
          </a:p>
        </p:txBody>
      </p:sp>
      <p:pic>
        <p:nvPicPr>
          <p:cNvPr descr="a 3d icon of risk in the similar color palette" id="360" name="Google Shape;360;p27"/>
          <p:cNvPicPr preferRelativeResize="0"/>
          <p:nvPr/>
        </p:nvPicPr>
        <p:blipFill rotWithShape="1">
          <a:blip r:embed="rId5">
            <a:alphaModFix/>
          </a:blip>
          <a:srcRect b="0" l="20381" r="22626" t="0"/>
          <a:stretch/>
        </p:blipFill>
        <p:spPr>
          <a:xfrm>
            <a:off x="6167475" y="1436800"/>
            <a:ext cx="2779500" cy="2714625"/>
          </a:xfrm>
          <a:prstGeom prst="rect">
            <a:avLst/>
          </a:prstGeom>
          <a:noFill/>
          <a:ln>
            <a:noFill/>
          </a:ln>
        </p:spPr>
      </p:pic>
      <p:sp>
        <p:nvSpPr>
          <p:cNvPr id="361" name="Google Shape;361;p27"/>
          <p:cNvSpPr/>
          <p:nvPr/>
        </p:nvSpPr>
        <p:spPr>
          <a:xfrm>
            <a:off x="3734125" y="1839910"/>
            <a:ext cx="2245800" cy="215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200">
                <a:solidFill>
                  <a:schemeClr val="dk1"/>
                </a:solidFill>
                <a:latin typeface="Inter"/>
                <a:ea typeface="Inter"/>
                <a:cs typeface="Inter"/>
                <a:sym typeface="Inter"/>
              </a:rPr>
              <a:t>Ethical</a:t>
            </a:r>
            <a:r>
              <a:rPr b="1" lang="en" sz="1200">
                <a:solidFill>
                  <a:schemeClr val="dk1"/>
                </a:solidFill>
                <a:latin typeface="Inter"/>
                <a:ea typeface="Inter"/>
                <a:cs typeface="Inter"/>
                <a:sym typeface="Inter"/>
              </a:rPr>
              <a:t> Risks:</a:t>
            </a:r>
            <a:endParaRPr b="1" sz="1200">
              <a:solidFill>
                <a:schemeClr val="dk1"/>
              </a:solidFill>
              <a:latin typeface="Inter"/>
              <a:ea typeface="Inter"/>
              <a:cs typeface="Inter"/>
              <a:sym typeface="Inter"/>
            </a:endParaRPr>
          </a:p>
          <a:p>
            <a:pPr indent="-304800" lvl="0" marL="457200" rtl="0" algn="l">
              <a:lnSpc>
                <a:spcPct val="115000"/>
              </a:lnSpc>
              <a:spcBef>
                <a:spcPts val="180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Ethical concerns</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Lack of transparency</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Misinterpretation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latin typeface="Inter"/>
                <a:ea typeface="Inter"/>
                <a:cs typeface="Inter"/>
                <a:sym typeface="Inter"/>
              </a:rPr>
              <a:t>Bias or skewed conclusions from limitations of current data</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200">
              <a:solidFill>
                <a:schemeClr val="dk1"/>
              </a:solidFill>
              <a:latin typeface="Inter"/>
              <a:ea typeface="Inter"/>
              <a:cs typeface="Inter"/>
              <a:sym typeface="Inter"/>
            </a:endParaRPr>
          </a:p>
        </p:txBody>
      </p:sp>
      <p:sp>
        <p:nvSpPr>
          <p:cNvPr id="362" name="Google Shape;362;p27"/>
          <p:cNvSpPr/>
          <p:nvPr/>
        </p:nvSpPr>
        <p:spPr>
          <a:xfrm>
            <a:off x="3734125" y="2051623"/>
            <a:ext cx="9384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63" name="Google Shape;363;p27"/>
          <p:cNvSpPr/>
          <p:nvPr/>
        </p:nvSpPr>
        <p:spPr>
          <a:xfrm>
            <a:off x="712450" y="1562708"/>
            <a:ext cx="10680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64" name="Google Shape;364;p27"/>
          <p:cNvSpPr/>
          <p:nvPr/>
        </p:nvSpPr>
        <p:spPr>
          <a:xfrm>
            <a:off x="494625" y="2994575"/>
            <a:ext cx="2694000" cy="164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27"/>
          <p:cNvSpPr/>
          <p:nvPr/>
        </p:nvSpPr>
        <p:spPr>
          <a:xfrm>
            <a:off x="712450" y="3135338"/>
            <a:ext cx="2362200" cy="134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200">
                <a:solidFill>
                  <a:schemeClr val="dk1"/>
                </a:solidFill>
                <a:latin typeface="Inter"/>
                <a:ea typeface="Inter"/>
                <a:cs typeface="Inter"/>
                <a:sym typeface="Inter"/>
              </a:rPr>
              <a:t>Investigative Risks</a:t>
            </a:r>
            <a:r>
              <a:rPr lang="en" sz="1200">
                <a:solidFill>
                  <a:schemeClr val="dk1"/>
                </a:solidFill>
                <a:latin typeface="Inter"/>
                <a:ea typeface="Inter"/>
                <a:cs typeface="Inter"/>
                <a:sym typeface="Inter"/>
              </a:rPr>
              <a:t>:</a:t>
            </a:r>
            <a:endParaRPr sz="1200">
              <a:solidFill>
                <a:schemeClr val="dk1"/>
              </a:solidFill>
              <a:latin typeface="Inter"/>
              <a:ea typeface="Inter"/>
              <a:cs typeface="Inter"/>
              <a:sym typeface="Inter"/>
            </a:endParaRPr>
          </a:p>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latin typeface="Inter"/>
                <a:ea typeface="Inter"/>
                <a:cs typeface="Inter"/>
                <a:sym typeface="Inter"/>
              </a:rPr>
              <a:t>Letting the data lead the question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Path of least resistance: relying on easily available data</a:t>
            </a:r>
            <a:endParaRPr sz="1200">
              <a:solidFill>
                <a:schemeClr val="dk1"/>
              </a:solidFill>
              <a:latin typeface="Inter"/>
              <a:ea typeface="Inter"/>
              <a:cs typeface="Inter"/>
              <a:sym typeface="Inter"/>
            </a:endParaRPr>
          </a:p>
        </p:txBody>
      </p:sp>
      <p:sp>
        <p:nvSpPr>
          <p:cNvPr id="366" name="Google Shape;366;p27"/>
          <p:cNvSpPr/>
          <p:nvPr/>
        </p:nvSpPr>
        <p:spPr>
          <a:xfrm>
            <a:off x="712450" y="3333700"/>
            <a:ext cx="620400" cy="183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8"/>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28"/>
          <p:cNvSpPr txBox="1"/>
          <p:nvPr>
            <p:ph idx="1" type="subTitle"/>
          </p:nvPr>
        </p:nvSpPr>
        <p:spPr>
          <a:xfrm>
            <a:off x="409575" y="447125"/>
            <a:ext cx="8125500" cy="1270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Activity 2</a:t>
            </a:r>
            <a:endParaRPr i="1" sz="3500">
              <a:solidFill>
                <a:schemeClr val="dk1"/>
              </a:solidFill>
              <a:latin typeface="Roboto"/>
              <a:ea typeface="Roboto"/>
              <a:cs typeface="Roboto"/>
              <a:sym typeface="Roboto"/>
            </a:endParaRPr>
          </a:p>
        </p:txBody>
      </p:sp>
      <p:grpSp>
        <p:nvGrpSpPr>
          <p:cNvPr id="373" name="Google Shape;373;p28"/>
          <p:cNvGrpSpPr/>
          <p:nvPr/>
        </p:nvGrpSpPr>
        <p:grpSpPr>
          <a:xfrm>
            <a:off x="8625" y="0"/>
            <a:ext cx="9144000" cy="267600"/>
            <a:chOff x="8625" y="0"/>
            <a:chExt cx="9144000" cy="267600"/>
          </a:xfrm>
        </p:grpSpPr>
        <p:sp>
          <p:nvSpPr>
            <p:cNvPr id="374" name="Google Shape;374;p28"/>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5" name="Google Shape;375;p28"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pic>
        <p:nvPicPr>
          <p:cNvPr id="376" name="Google Shape;376;p28" title="Logo Main.png"/>
          <p:cNvPicPr preferRelativeResize="0"/>
          <p:nvPr/>
        </p:nvPicPr>
        <p:blipFill>
          <a:blip r:embed="rId4">
            <a:alphaModFix/>
          </a:blip>
          <a:stretch>
            <a:fillRect/>
          </a:stretch>
        </p:blipFill>
        <p:spPr>
          <a:xfrm>
            <a:off x="409575" y="4186125"/>
            <a:ext cx="1529475" cy="434512"/>
          </a:xfrm>
          <a:prstGeom prst="rect">
            <a:avLst/>
          </a:prstGeom>
          <a:noFill/>
          <a:ln>
            <a:noFill/>
          </a:ln>
        </p:spPr>
      </p:pic>
      <p:sp>
        <p:nvSpPr>
          <p:cNvPr id="377" name="Google Shape;377;p28"/>
          <p:cNvSpPr txBox="1"/>
          <p:nvPr/>
        </p:nvSpPr>
        <p:spPr>
          <a:xfrm>
            <a:off x="503800" y="1454025"/>
            <a:ext cx="4310400" cy="27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Here is a version of cleaned data from activity 1. </a:t>
            </a:r>
            <a:r>
              <a:rPr b="1" lang="en" sz="1800">
                <a:solidFill>
                  <a:schemeClr val="dk1"/>
                </a:solidFill>
                <a:latin typeface="Inter"/>
                <a:ea typeface="Inter"/>
                <a:cs typeface="Inter"/>
                <a:sym typeface="Inter"/>
              </a:rPr>
              <a:t>What</a:t>
            </a:r>
            <a:r>
              <a:rPr b="1" lang="en" sz="1800">
                <a:solidFill>
                  <a:schemeClr val="dk1"/>
                </a:solidFill>
                <a:latin typeface="Inter"/>
                <a:ea typeface="Inter"/>
                <a:cs typeface="Inter"/>
                <a:sym typeface="Inter"/>
              </a:rPr>
              <a:t> do you do now</a:t>
            </a:r>
            <a:r>
              <a:rPr lang="en"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AutoNum type="alphaLcPeriod"/>
            </a:pPr>
            <a:r>
              <a:rPr lang="en" sz="1800">
                <a:solidFill>
                  <a:schemeClr val="dk1"/>
                </a:solidFill>
                <a:latin typeface="Inter"/>
                <a:ea typeface="Inter"/>
                <a:cs typeface="Inter"/>
                <a:sym typeface="Inter"/>
              </a:rPr>
              <a:t>Back to the data source for more data?</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AutoNum type="alphaLcPeriod"/>
            </a:pPr>
            <a:r>
              <a:rPr lang="en" sz="1800">
                <a:solidFill>
                  <a:schemeClr val="dk1"/>
                </a:solidFill>
                <a:latin typeface="Inter"/>
                <a:ea typeface="Inter"/>
                <a:cs typeface="Inter"/>
                <a:sym typeface="Inter"/>
              </a:rPr>
              <a:t>Move forwards with modeling?</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AutoNum type="alphaLcPeriod"/>
            </a:pPr>
            <a:r>
              <a:rPr lang="en" sz="1800">
                <a:solidFill>
                  <a:schemeClr val="dk1"/>
                </a:solidFill>
                <a:latin typeface="Inter"/>
                <a:ea typeface="Inter"/>
                <a:cs typeface="Inter"/>
                <a:sym typeface="Inter"/>
              </a:rPr>
              <a:t>Discuss with stakeholders what you should do next?</a:t>
            </a:r>
            <a:endParaRPr sz="1800">
              <a:solidFill>
                <a:schemeClr val="dk1"/>
              </a:solidFill>
              <a:latin typeface="Inter"/>
              <a:ea typeface="Inter"/>
              <a:cs typeface="Inter"/>
              <a:sym typeface="Inter"/>
            </a:endParaRPr>
          </a:p>
        </p:txBody>
      </p:sp>
      <p:pic>
        <p:nvPicPr>
          <p:cNvPr id="378" name="Google Shape;378;p28"/>
          <p:cNvPicPr preferRelativeResize="0"/>
          <p:nvPr/>
        </p:nvPicPr>
        <p:blipFill rotWithShape="1">
          <a:blip r:embed="rId5">
            <a:alphaModFix/>
          </a:blip>
          <a:srcRect b="0" l="0" r="0" t="0"/>
          <a:stretch/>
        </p:blipFill>
        <p:spPr>
          <a:xfrm>
            <a:off x="4911475" y="672638"/>
            <a:ext cx="3798225" cy="3798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grpSp>
        <p:nvGrpSpPr>
          <p:cNvPr id="383" name="Google Shape;383;p29"/>
          <p:cNvGrpSpPr/>
          <p:nvPr/>
        </p:nvGrpSpPr>
        <p:grpSpPr>
          <a:xfrm>
            <a:off x="8625" y="0"/>
            <a:ext cx="9144000" cy="267600"/>
            <a:chOff x="8625" y="0"/>
            <a:chExt cx="9144000" cy="267600"/>
          </a:xfrm>
        </p:grpSpPr>
        <p:sp>
          <p:nvSpPr>
            <p:cNvPr id="384" name="Google Shape;384;p29"/>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5" name="Google Shape;385;p29"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graphicFrame>
        <p:nvGraphicFramePr>
          <p:cNvPr id="386" name="Google Shape;386;p29"/>
          <p:cNvGraphicFramePr/>
          <p:nvPr/>
        </p:nvGraphicFramePr>
        <p:xfrm>
          <a:off x="414875" y="458485"/>
          <a:ext cx="3000000" cy="3000000"/>
        </p:xfrm>
        <a:graphic>
          <a:graphicData uri="http://schemas.openxmlformats.org/drawingml/2006/table">
            <a:tbl>
              <a:tblPr>
                <a:noFill/>
                <a:tableStyleId>{8C11A223-8252-4700-B3AE-095232456EF6}</a:tableStyleId>
              </a:tblPr>
              <a:tblGrid>
                <a:gridCol w="1400950"/>
                <a:gridCol w="1400950"/>
                <a:gridCol w="1400950"/>
                <a:gridCol w="1400950"/>
                <a:gridCol w="1400950"/>
                <a:gridCol w="1400950"/>
              </a:tblGrid>
              <a:tr h="266675">
                <a:tc>
                  <a:txBody>
                    <a:bodyPr/>
                    <a:lstStyle/>
                    <a:p>
                      <a:pPr indent="0" lvl="0" marL="0" rtl="0" algn="ctr">
                        <a:spcBef>
                          <a:spcPts val="0"/>
                        </a:spcBef>
                        <a:spcAft>
                          <a:spcPts val="0"/>
                        </a:spcAft>
                        <a:buNone/>
                      </a:pPr>
                      <a:r>
                        <a:rPr b="1" lang="en" sz="800">
                          <a:latin typeface="Inter"/>
                          <a:ea typeface="Inter"/>
                          <a:cs typeface="Inter"/>
                          <a:sym typeface="Inter"/>
                        </a:rPr>
                        <a:t> </a:t>
                      </a:r>
                      <a:r>
                        <a:rPr b="1" lang="en" sz="800">
                          <a:latin typeface="Inter"/>
                          <a:ea typeface="Inter"/>
                          <a:cs typeface="Inter"/>
                          <a:sym typeface="Inter"/>
                        </a:rPr>
                        <a:t>Student_ID</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Last Name</a:t>
                      </a:r>
                      <a:r>
                        <a:rPr b="1" lang="en" sz="800">
                          <a:latin typeface="Inter"/>
                          <a:ea typeface="Inter"/>
                          <a:cs typeface="Inter"/>
                          <a:sym typeface="Inter"/>
                        </a:rPr>
                        <a:t> </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First Name</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Age</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Score (%)</a:t>
                      </a:r>
                      <a:endParaRPr b="1" sz="800">
                        <a:latin typeface="Inter"/>
                        <a:ea typeface="Inter"/>
                        <a:cs typeface="Inter"/>
                        <a:sym typeface="Inter"/>
                      </a:endParaRPr>
                    </a:p>
                  </a:txBody>
                  <a:tcPr marT="91425" marB="91425" marR="91425" marL="91425" anchor="ctr">
                    <a:solidFill>
                      <a:srgbClr val="D4E4D1"/>
                    </a:solidFill>
                  </a:tcPr>
                </a:tc>
                <a:tc>
                  <a:txBody>
                    <a:bodyPr/>
                    <a:lstStyle/>
                    <a:p>
                      <a:pPr indent="0" lvl="0" marL="0" rtl="0" algn="ctr">
                        <a:spcBef>
                          <a:spcPts val="0"/>
                        </a:spcBef>
                        <a:spcAft>
                          <a:spcPts val="0"/>
                        </a:spcAft>
                        <a:buNone/>
                      </a:pPr>
                      <a:r>
                        <a:rPr b="1" lang="en" sz="800">
                          <a:latin typeface="Inter"/>
                          <a:ea typeface="Inter"/>
                          <a:cs typeface="Inter"/>
                          <a:sym typeface="Inter"/>
                        </a:rPr>
                        <a:t>Enrollment_Date</a:t>
                      </a:r>
                      <a:endParaRPr b="1" sz="800">
                        <a:latin typeface="Inter"/>
                        <a:ea typeface="Inter"/>
                        <a:cs typeface="Inter"/>
                        <a:sym typeface="Inter"/>
                      </a:endParaRPr>
                    </a:p>
                    <a:p>
                      <a:pPr indent="0" lvl="0" marL="0" rtl="0" algn="ctr">
                        <a:spcBef>
                          <a:spcPts val="0"/>
                        </a:spcBef>
                        <a:spcAft>
                          <a:spcPts val="0"/>
                        </a:spcAft>
                        <a:buNone/>
                      </a:pPr>
                      <a:r>
                        <a:rPr b="1" lang="en" sz="800">
                          <a:latin typeface="Inter"/>
                          <a:ea typeface="Inter"/>
                          <a:cs typeface="Inter"/>
                          <a:sym typeface="Inter"/>
                        </a:rPr>
                        <a:t>(YYYY-MM-DD)</a:t>
                      </a:r>
                      <a:endParaRPr b="1" sz="800">
                        <a:latin typeface="Inter"/>
                        <a:ea typeface="Inter"/>
                        <a:cs typeface="Inter"/>
                        <a:sym typeface="Inter"/>
                      </a:endParaRPr>
                    </a:p>
                  </a:txBody>
                  <a:tcPr marT="91425" marB="91425" marR="91425" marL="91425" anchor="ctr">
                    <a:solidFill>
                      <a:srgbClr val="D4E4D1"/>
                    </a:solidFill>
                  </a:tcPr>
                </a:tc>
              </a:tr>
              <a:tr h="306675">
                <a:tc>
                  <a:txBody>
                    <a:bodyPr/>
                    <a:lstStyle/>
                    <a:p>
                      <a:pPr indent="0" lvl="0" marL="0" rtl="0" algn="l">
                        <a:spcBef>
                          <a:spcPts val="0"/>
                        </a:spcBef>
                        <a:spcAft>
                          <a:spcPts val="0"/>
                        </a:spcAft>
                        <a:buNone/>
                      </a:pPr>
                      <a:r>
                        <a:rPr lang="en" sz="1100">
                          <a:latin typeface="Inter"/>
                          <a:ea typeface="Inter"/>
                          <a:cs typeface="Inter"/>
                          <a:sym typeface="Inter"/>
                        </a:rPr>
                        <a:t>101</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Smith</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100">
                          <a:solidFill>
                            <a:schemeClr val="dk1"/>
                          </a:solidFill>
                          <a:latin typeface="Inter"/>
                          <a:ea typeface="Inter"/>
                          <a:cs typeface="Inter"/>
                          <a:sym typeface="Inter"/>
                        </a:rPr>
                        <a:t>John</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88</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2023-09-01</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102</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Lopez</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100">
                          <a:solidFill>
                            <a:schemeClr val="dk1"/>
                          </a:solidFill>
                          <a:latin typeface="Inter"/>
                          <a:ea typeface="Inter"/>
                          <a:cs typeface="Inter"/>
                          <a:sym typeface="Inter"/>
                        </a:rPr>
                        <a:t>Maria</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19</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92</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2023-09-02</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104</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Wei</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Li</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21</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81.4</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2023-09-03</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106</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Kim</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David</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22</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90</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2023-09-06</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108</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Davis</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Emily</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81.4</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2023-09-08</a:t>
                      </a:r>
                      <a:endParaRPr sz="1100">
                        <a:latin typeface="Inter"/>
                        <a:ea typeface="Inter"/>
                        <a:cs typeface="Inter"/>
                        <a:sym typeface="Inter"/>
                      </a:endParaRPr>
                    </a:p>
                  </a:txBody>
                  <a:tcPr marT="91425" marB="91425" marR="91425" marL="91425"/>
                </a:tc>
              </a:tr>
              <a:tr h="306675">
                <a:tc>
                  <a:txBody>
                    <a:bodyPr/>
                    <a:lstStyle/>
                    <a:p>
                      <a:pPr indent="0" lvl="0" marL="0" rtl="0" algn="l">
                        <a:spcBef>
                          <a:spcPts val="0"/>
                        </a:spcBef>
                        <a:spcAft>
                          <a:spcPts val="0"/>
                        </a:spcAft>
                        <a:buNone/>
                      </a:pPr>
                      <a:r>
                        <a:rPr lang="en" sz="1100">
                          <a:latin typeface="Inter"/>
                          <a:ea typeface="Inter"/>
                          <a:cs typeface="Inter"/>
                          <a:sym typeface="Inter"/>
                        </a:rPr>
                        <a:t>111</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Johnson</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100">
                          <a:solidFill>
                            <a:schemeClr val="dk1"/>
                          </a:solidFill>
                          <a:latin typeface="Inter"/>
                          <a:ea typeface="Inter"/>
                          <a:cs typeface="Inter"/>
                          <a:sym typeface="Inter"/>
                        </a:rPr>
                        <a:t>Chris</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18</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45</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2023-09-31</a:t>
                      </a:r>
                      <a:endParaRPr sz="11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306675">
                <a:tc>
                  <a:txBody>
                    <a:bodyPr/>
                    <a:lstStyle/>
                    <a:p>
                      <a:pPr indent="0" lvl="0" marL="0" rtl="0" algn="l">
                        <a:spcBef>
                          <a:spcPts val="0"/>
                        </a:spcBef>
                        <a:spcAft>
                          <a:spcPts val="0"/>
                        </a:spcAft>
                        <a:buNone/>
                      </a:pPr>
                      <a:r>
                        <a:rPr lang="en" sz="1100">
                          <a:latin typeface="Inter"/>
                          <a:ea typeface="Inter"/>
                          <a:cs typeface="Inter"/>
                          <a:sym typeface="Inter"/>
                        </a:rPr>
                        <a:t>112</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Muller</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100">
                          <a:solidFill>
                            <a:schemeClr val="dk1"/>
                          </a:solidFill>
                          <a:latin typeface="Inter"/>
                          <a:ea typeface="Inter"/>
                          <a:cs typeface="Inter"/>
                          <a:sym typeface="Inter"/>
                        </a:rPr>
                        <a:t>Anna</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21</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82</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2023-09-12</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6675">
                <a:tc>
                  <a:txBody>
                    <a:bodyPr/>
                    <a:lstStyle/>
                    <a:p>
                      <a:pPr indent="0" lvl="0" marL="0" rtl="0" algn="l">
                        <a:spcBef>
                          <a:spcPts val="0"/>
                        </a:spcBef>
                        <a:spcAft>
                          <a:spcPts val="0"/>
                        </a:spcAft>
                        <a:buNone/>
                      </a:pPr>
                      <a:r>
                        <a:rPr lang="en" sz="1100">
                          <a:latin typeface="Inter"/>
                          <a:ea typeface="Inter"/>
                          <a:cs typeface="Inter"/>
                          <a:sym typeface="Inter"/>
                        </a:rPr>
                        <a:t>113</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Lee</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Tom</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20</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78</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2023-09-12</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6675">
                <a:tc>
                  <a:txBody>
                    <a:bodyPr/>
                    <a:lstStyle/>
                    <a:p>
                      <a:pPr indent="0" lvl="0" marL="0" rtl="0" algn="l">
                        <a:spcBef>
                          <a:spcPts val="0"/>
                        </a:spcBef>
                        <a:spcAft>
                          <a:spcPts val="0"/>
                        </a:spcAft>
                        <a:buNone/>
                      </a:pPr>
                      <a:r>
                        <a:rPr lang="en" sz="1100">
                          <a:latin typeface="Inter"/>
                          <a:ea typeface="Inter"/>
                          <a:cs typeface="Inter"/>
                          <a:sym typeface="Inter"/>
                        </a:rPr>
                        <a:t>114</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Ali</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Fatima</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19</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88.5</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Inter"/>
                          <a:ea typeface="Inter"/>
                          <a:cs typeface="Inter"/>
                          <a:sym typeface="Inter"/>
                        </a:rPr>
                        <a:t>2023-09-14</a:t>
                      </a:r>
                      <a:endParaRPr sz="11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387" name="Google Shape;387;p29" title="Logo Main.png"/>
          <p:cNvPicPr preferRelativeResize="0"/>
          <p:nvPr/>
        </p:nvPicPr>
        <p:blipFill>
          <a:blip r:embed="rId4">
            <a:alphaModFix/>
          </a:blip>
          <a:stretch>
            <a:fillRect/>
          </a:stretch>
        </p:blipFill>
        <p:spPr>
          <a:xfrm>
            <a:off x="503800" y="4440950"/>
            <a:ext cx="1529475" cy="4345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0"/>
          <p:cNvSpPr txBox="1"/>
          <p:nvPr>
            <p:ph idx="1" type="subTitle"/>
          </p:nvPr>
        </p:nvSpPr>
        <p:spPr>
          <a:xfrm>
            <a:off x="452725" y="1134000"/>
            <a:ext cx="6159600" cy="295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4800">
                <a:solidFill>
                  <a:schemeClr val="dk1"/>
                </a:solidFill>
                <a:latin typeface="Inter"/>
                <a:ea typeface="Inter"/>
                <a:cs typeface="Inter"/>
                <a:sym typeface="Inter"/>
              </a:rPr>
              <a:t>Human    Centered Data Science a Critical Lens</a:t>
            </a:r>
            <a:endParaRPr b="1" sz="48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641">
                <a:solidFill>
                  <a:schemeClr val="dk1"/>
                </a:solidFill>
                <a:latin typeface="Inter"/>
                <a:ea typeface="Inter"/>
                <a:cs typeface="Inter"/>
                <a:sym typeface="Inter"/>
              </a:rPr>
              <a:t>Reframing the Data Science Lifecycle Through a Human Lens</a:t>
            </a:r>
            <a:endParaRPr b="1" sz="5341">
              <a:solidFill>
                <a:schemeClr val="dk1"/>
              </a:solidFill>
              <a:latin typeface="Inter"/>
              <a:ea typeface="Inter"/>
              <a:cs typeface="Inter"/>
              <a:sym typeface="Inter"/>
            </a:endParaRPr>
          </a:p>
        </p:txBody>
      </p:sp>
      <p:grpSp>
        <p:nvGrpSpPr>
          <p:cNvPr id="393" name="Google Shape;393;p30"/>
          <p:cNvGrpSpPr/>
          <p:nvPr/>
        </p:nvGrpSpPr>
        <p:grpSpPr>
          <a:xfrm>
            <a:off x="8625" y="0"/>
            <a:ext cx="9144000" cy="267600"/>
            <a:chOff x="8625" y="0"/>
            <a:chExt cx="9144000" cy="267600"/>
          </a:xfrm>
        </p:grpSpPr>
        <p:sp>
          <p:nvSpPr>
            <p:cNvPr id="394" name="Google Shape;394;p3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5" name="Google Shape;395;p30" title="Logo Header.png"/>
            <p:cNvPicPr preferRelativeResize="0"/>
            <p:nvPr/>
          </p:nvPicPr>
          <p:blipFill>
            <a:blip r:embed="rId4">
              <a:alphaModFix/>
            </a:blip>
            <a:stretch>
              <a:fillRect/>
            </a:stretch>
          </p:blipFill>
          <p:spPr>
            <a:xfrm>
              <a:off x="8348195" y="15790"/>
              <a:ext cx="634775" cy="199625"/>
            </a:xfrm>
            <a:prstGeom prst="rect">
              <a:avLst/>
            </a:prstGeom>
            <a:noFill/>
            <a:ln>
              <a:noFill/>
            </a:ln>
          </p:spPr>
        </p:pic>
      </p:grpSp>
      <p:pic>
        <p:nvPicPr>
          <p:cNvPr id="396" name="Google Shape;396;p30" title="diamond.png"/>
          <p:cNvPicPr preferRelativeResize="0"/>
          <p:nvPr/>
        </p:nvPicPr>
        <p:blipFill>
          <a:blip r:embed="rId5">
            <a:alphaModFix/>
          </a:blip>
          <a:stretch>
            <a:fillRect/>
          </a:stretch>
        </p:blipFill>
        <p:spPr>
          <a:xfrm>
            <a:off x="2720886" y="1427128"/>
            <a:ext cx="488350" cy="325567"/>
          </a:xfrm>
          <a:prstGeom prst="rect">
            <a:avLst/>
          </a:prstGeom>
          <a:noFill/>
          <a:ln>
            <a:noFill/>
          </a:ln>
        </p:spPr>
      </p:pic>
      <p:pic>
        <p:nvPicPr>
          <p:cNvPr id="397" name="Google Shape;397;p30" title="Logo Main.png"/>
          <p:cNvPicPr preferRelativeResize="0"/>
          <p:nvPr/>
        </p:nvPicPr>
        <p:blipFill>
          <a:blip r:embed="rId6">
            <a:alphaModFix/>
          </a:blip>
          <a:stretch>
            <a:fillRect/>
          </a:stretch>
        </p:blipFill>
        <p:spPr>
          <a:xfrm>
            <a:off x="452725" y="4090625"/>
            <a:ext cx="1529475" cy="434512"/>
          </a:xfrm>
          <a:prstGeom prst="rect">
            <a:avLst/>
          </a:prstGeom>
          <a:noFill/>
          <a:ln>
            <a:noFill/>
          </a:ln>
        </p:spPr>
      </p:pic>
      <p:pic>
        <p:nvPicPr>
          <p:cNvPr id="398" name="Google Shape;398;p30" title="Cone_01 7.png"/>
          <p:cNvPicPr preferRelativeResize="0"/>
          <p:nvPr/>
        </p:nvPicPr>
        <p:blipFill>
          <a:blip r:embed="rId7">
            <a:alphaModFix/>
          </a:blip>
          <a:stretch>
            <a:fillRect/>
          </a:stretch>
        </p:blipFill>
        <p:spPr>
          <a:xfrm>
            <a:off x="6705750" y="2039325"/>
            <a:ext cx="882725" cy="882725"/>
          </a:xfrm>
          <a:prstGeom prst="rect">
            <a:avLst/>
          </a:prstGeom>
          <a:noFill/>
          <a:ln>
            <a:noFill/>
          </a:ln>
        </p:spPr>
      </p:pic>
      <p:pic>
        <p:nvPicPr>
          <p:cNvPr id="399" name="Google Shape;399;p30" title="Cone_01 8.png"/>
          <p:cNvPicPr preferRelativeResize="0"/>
          <p:nvPr/>
        </p:nvPicPr>
        <p:blipFill>
          <a:blip r:embed="rId8">
            <a:alphaModFix/>
          </a:blip>
          <a:stretch>
            <a:fillRect/>
          </a:stretch>
        </p:blipFill>
        <p:spPr>
          <a:xfrm>
            <a:off x="6524825" y="2768275"/>
            <a:ext cx="434480" cy="434500"/>
          </a:xfrm>
          <a:prstGeom prst="rect">
            <a:avLst/>
          </a:prstGeom>
          <a:noFill/>
          <a:ln>
            <a:noFill/>
          </a:ln>
        </p:spPr>
      </p:pic>
      <p:pic>
        <p:nvPicPr>
          <p:cNvPr id="400" name="Google Shape;400;p30" title="Cone_01 4.png"/>
          <p:cNvPicPr preferRelativeResize="0"/>
          <p:nvPr/>
        </p:nvPicPr>
        <p:blipFill>
          <a:blip r:embed="rId9">
            <a:alphaModFix/>
          </a:blip>
          <a:stretch>
            <a:fillRect/>
          </a:stretch>
        </p:blipFill>
        <p:spPr>
          <a:xfrm>
            <a:off x="5416220" y="1271225"/>
            <a:ext cx="3736401" cy="38722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grpSp>
        <p:nvGrpSpPr>
          <p:cNvPr id="405" name="Google Shape;405;p31"/>
          <p:cNvGrpSpPr/>
          <p:nvPr/>
        </p:nvGrpSpPr>
        <p:grpSpPr>
          <a:xfrm>
            <a:off x="190500" y="1857375"/>
            <a:ext cx="8858100" cy="1428900"/>
            <a:chOff x="190500" y="1857375"/>
            <a:chExt cx="8858100" cy="1428900"/>
          </a:xfrm>
        </p:grpSpPr>
        <p:sp>
          <p:nvSpPr>
            <p:cNvPr id="406" name="Google Shape;406;p31"/>
            <p:cNvSpPr/>
            <p:nvPr/>
          </p:nvSpPr>
          <p:spPr>
            <a:xfrm>
              <a:off x="190500" y="1857375"/>
              <a:ext cx="1619100" cy="1428900"/>
            </a:xfrm>
            <a:prstGeom prst="roundRect">
              <a:avLst>
                <a:gd fmla="val 10000" name="adj"/>
              </a:avLst>
            </a:prstGeom>
            <a:solidFill>
              <a:srgbClr val="D9D2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31"/>
            <p:cNvSpPr/>
            <p:nvPr/>
          </p:nvSpPr>
          <p:spPr>
            <a:xfrm>
              <a:off x="2000250" y="1857375"/>
              <a:ext cx="1619100" cy="1428900"/>
            </a:xfrm>
            <a:prstGeom prst="roundRect">
              <a:avLst>
                <a:gd fmla="val 10000" name="adj"/>
              </a:avLst>
            </a:prstGeom>
            <a:solidFill>
              <a:srgbClr val="EAD1D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31"/>
            <p:cNvSpPr/>
            <p:nvPr/>
          </p:nvSpPr>
          <p:spPr>
            <a:xfrm>
              <a:off x="3810000" y="1857375"/>
              <a:ext cx="1619100" cy="1428900"/>
            </a:xfrm>
            <a:prstGeom prst="roundRect">
              <a:avLst>
                <a:gd fmla="val 10000" name="adj"/>
              </a:avLst>
            </a:prstGeom>
            <a:solidFill>
              <a:srgbClr val="FFF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31"/>
            <p:cNvSpPr/>
            <p:nvPr/>
          </p:nvSpPr>
          <p:spPr>
            <a:xfrm>
              <a:off x="5619750" y="1857375"/>
              <a:ext cx="1619100" cy="1428900"/>
            </a:xfrm>
            <a:prstGeom prst="roundRect">
              <a:avLst>
                <a:gd fmla="val 10000" name="adj"/>
              </a:avLst>
            </a:prstGeom>
            <a:solidFill>
              <a:srgbClr val="D0E0E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31"/>
            <p:cNvSpPr/>
            <p:nvPr/>
          </p:nvSpPr>
          <p:spPr>
            <a:xfrm>
              <a:off x="7429500" y="1857375"/>
              <a:ext cx="1619100" cy="1428900"/>
            </a:xfrm>
            <a:prstGeom prst="roundRect">
              <a:avLst>
                <a:gd fmla="val 10000" name="adj"/>
              </a:avLst>
            </a:prstGeom>
            <a:solidFill>
              <a:srgbClr val="F4CC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11" name="Google Shape;411;p31"/>
            <p:cNvPicPr preferRelativeResize="0"/>
            <p:nvPr/>
          </p:nvPicPr>
          <p:blipFill rotWithShape="1">
            <a:blip r:embed="rId3">
              <a:alphaModFix/>
            </a:blip>
            <a:srcRect b="0" l="0" r="0" t="0"/>
            <a:stretch/>
          </p:blipFill>
          <p:spPr>
            <a:xfrm>
              <a:off x="1809750" y="2514600"/>
              <a:ext cx="204900" cy="114300"/>
            </a:xfrm>
            <a:prstGeom prst="rect">
              <a:avLst/>
            </a:prstGeom>
            <a:noFill/>
            <a:ln>
              <a:noFill/>
            </a:ln>
          </p:spPr>
        </p:pic>
        <p:pic>
          <p:nvPicPr>
            <p:cNvPr id="412" name="Google Shape;412;p31"/>
            <p:cNvPicPr preferRelativeResize="0"/>
            <p:nvPr/>
          </p:nvPicPr>
          <p:blipFill rotWithShape="1">
            <a:blip r:embed="rId4">
              <a:alphaModFix/>
            </a:blip>
            <a:srcRect b="0" l="0" r="0" t="0"/>
            <a:stretch/>
          </p:blipFill>
          <p:spPr>
            <a:xfrm>
              <a:off x="3619500" y="2514600"/>
              <a:ext cx="204900" cy="114300"/>
            </a:xfrm>
            <a:prstGeom prst="rect">
              <a:avLst/>
            </a:prstGeom>
            <a:noFill/>
            <a:ln>
              <a:noFill/>
            </a:ln>
          </p:spPr>
        </p:pic>
        <p:pic>
          <p:nvPicPr>
            <p:cNvPr id="413" name="Google Shape;413;p31"/>
            <p:cNvPicPr preferRelativeResize="0"/>
            <p:nvPr/>
          </p:nvPicPr>
          <p:blipFill rotWithShape="1">
            <a:blip r:embed="rId4">
              <a:alphaModFix/>
            </a:blip>
            <a:srcRect b="0" l="0" r="0" t="0"/>
            <a:stretch/>
          </p:blipFill>
          <p:spPr>
            <a:xfrm>
              <a:off x="5429250" y="2514600"/>
              <a:ext cx="204900" cy="114300"/>
            </a:xfrm>
            <a:prstGeom prst="rect">
              <a:avLst/>
            </a:prstGeom>
            <a:noFill/>
            <a:ln>
              <a:noFill/>
            </a:ln>
          </p:spPr>
        </p:pic>
        <p:pic>
          <p:nvPicPr>
            <p:cNvPr id="414" name="Google Shape;414;p31"/>
            <p:cNvPicPr preferRelativeResize="0"/>
            <p:nvPr/>
          </p:nvPicPr>
          <p:blipFill rotWithShape="1">
            <a:blip r:embed="rId4">
              <a:alphaModFix/>
            </a:blip>
            <a:srcRect b="0" l="0" r="0" t="0"/>
            <a:stretch/>
          </p:blipFill>
          <p:spPr>
            <a:xfrm>
              <a:off x="7239000" y="2514600"/>
              <a:ext cx="204900" cy="114300"/>
            </a:xfrm>
            <a:prstGeom prst="rect">
              <a:avLst/>
            </a:prstGeom>
            <a:noFill/>
            <a:ln>
              <a:noFill/>
            </a:ln>
          </p:spPr>
        </p:pic>
      </p:grpSp>
      <p:grpSp>
        <p:nvGrpSpPr>
          <p:cNvPr id="415" name="Google Shape;415;p31"/>
          <p:cNvGrpSpPr/>
          <p:nvPr/>
        </p:nvGrpSpPr>
        <p:grpSpPr>
          <a:xfrm>
            <a:off x="8625" y="0"/>
            <a:ext cx="9144000" cy="267600"/>
            <a:chOff x="8625" y="0"/>
            <a:chExt cx="9144000" cy="267600"/>
          </a:xfrm>
        </p:grpSpPr>
        <p:sp>
          <p:nvSpPr>
            <p:cNvPr id="416" name="Google Shape;416;p3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7" name="Google Shape;417;p31" title="Logo Header.png"/>
            <p:cNvPicPr preferRelativeResize="0"/>
            <p:nvPr/>
          </p:nvPicPr>
          <p:blipFill>
            <a:blip r:embed="rId5">
              <a:alphaModFix/>
            </a:blip>
            <a:stretch>
              <a:fillRect/>
            </a:stretch>
          </p:blipFill>
          <p:spPr>
            <a:xfrm>
              <a:off x="8348195" y="15790"/>
              <a:ext cx="634775" cy="199625"/>
            </a:xfrm>
            <a:prstGeom prst="rect">
              <a:avLst/>
            </a:prstGeom>
            <a:noFill/>
            <a:ln>
              <a:noFill/>
            </a:ln>
          </p:spPr>
        </p:pic>
      </p:grpSp>
      <p:sp>
        <p:nvSpPr>
          <p:cNvPr id="418" name="Google Shape;418;p31"/>
          <p:cNvSpPr/>
          <p:nvPr/>
        </p:nvSpPr>
        <p:spPr>
          <a:xfrm>
            <a:off x="285750" y="1952625"/>
            <a:ext cx="1428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A1A2E"/>
                </a:solidFill>
                <a:latin typeface="Inter"/>
                <a:ea typeface="Inter"/>
                <a:cs typeface="Inter"/>
                <a:sym typeface="Inter"/>
              </a:rPr>
              <a:t>1. Discovery</a:t>
            </a:r>
            <a:endParaRPr b="1" sz="1200">
              <a:solidFill>
                <a:srgbClr val="1A1A2E"/>
              </a:solidFill>
              <a:latin typeface="Inter"/>
              <a:ea typeface="Inter"/>
              <a:cs typeface="Inter"/>
              <a:sym typeface="Inter"/>
            </a:endParaRPr>
          </a:p>
        </p:txBody>
      </p:sp>
      <p:sp>
        <p:nvSpPr>
          <p:cNvPr id="419" name="Google Shape;419;p31"/>
          <p:cNvSpPr/>
          <p:nvPr/>
        </p:nvSpPr>
        <p:spPr>
          <a:xfrm>
            <a:off x="285750" y="2238375"/>
            <a:ext cx="381000" cy="19200"/>
          </a:xfrm>
          <a:prstGeom prst="rect">
            <a:avLst/>
          </a:prstGeom>
          <a:solidFill>
            <a:srgbClr val="8E7CC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0" name="Google Shape;420;p31"/>
          <p:cNvSpPr txBox="1"/>
          <p:nvPr/>
        </p:nvSpPr>
        <p:spPr>
          <a:xfrm>
            <a:off x="285750" y="2286000"/>
            <a:ext cx="1428900" cy="952500"/>
          </a:xfrm>
          <a:prstGeom prst="rect">
            <a:avLst/>
          </a:prstGeom>
          <a:solidFill>
            <a:srgbClr val="000000">
              <a:alpha val="0"/>
            </a:srgbClr>
          </a:solidFill>
          <a:ln>
            <a:noFill/>
          </a:ln>
        </p:spPr>
        <p:txBody>
          <a:bodyPr anchorCtr="0" anchor="t" bIns="47625" lIns="47625" spcFirstLastPara="1" rIns="47625" wrap="square" tIns="47625">
            <a:noAutofit/>
          </a:bodyPr>
          <a:lstStyle/>
          <a:p>
            <a:pPr indent="0" lvl="0" marL="0" rtl="0" algn="l">
              <a:spcBef>
                <a:spcPts val="0"/>
              </a:spcBef>
              <a:spcAft>
                <a:spcPts val="0"/>
              </a:spcAft>
              <a:buNone/>
            </a:pPr>
            <a:r>
              <a:rPr b="0" lang="en" sz="1000">
                <a:solidFill>
                  <a:srgbClr val="000000"/>
                </a:solidFill>
                <a:latin typeface="Inter"/>
                <a:ea typeface="Inter"/>
                <a:cs typeface="Inter"/>
                <a:sym typeface="Inter"/>
              </a:rPr>
              <a:t>Encountering a problem and crafting a question to investigate.</a:t>
            </a:r>
            <a:endParaRPr b="0" sz="1000">
              <a:solidFill>
                <a:srgbClr val="000000"/>
              </a:solidFill>
              <a:latin typeface="Inter"/>
              <a:ea typeface="Inter"/>
              <a:cs typeface="Inter"/>
              <a:sym typeface="Inter"/>
            </a:endParaRPr>
          </a:p>
        </p:txBody>
      </p:sp>
      <p:sp>
        <p:nvSpPr>
          <p:cNvPr id="421" name="Google Shape;421;p31"/>
          <p:cNvSpPr/>
          <p:nvPr/>
        </p:nvSpPr>
        <p:spPr>
          <a:xfrm>
            <a:off x="3905250" y="1952625"/>
            <a:ext cx="1428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A1A2E"/>
                </a:solidFill>
                <a:latin typeface="Inter"/>
                <a:ea typeface="Inter"/>
                <a:cs typeface="Inter"/>
                <a:sym typeface="Inter"/>
              </a:rPr>
              <a:t>3. Curation</a:t>
            </a:r>
            <a:endParaRPr b="1" sz="1200">
              <a:solidFill>
                <a:srgbClr val="1A1A2E"/>
              </a:solidFill>
              <a:latin typeface="Inter"/>
              <a:ea typeface="Inter"/>
              <a:cs typeface="Inter"/>
              <a:sym typeface="Inter"/>
            </a:endParaRPr>
          </a:p>
        </p:txBody>
      </p:sp>
      <p:sp>
        <p:nvSpPr>
          <p:cNvPr id="422" name="Google Shape;422;p31"/>
          <p:cNvSpPr/>
          <p:nvPr/>
        </p:nvSpPr>
        <p:spPr>
          <a:xfrm>
            <a:off x="3905250" y="2238375"/>
            <a:ext cx="381000" cy="19200"/>
          </a:xfrm>
          <a:prstGeom prst="rect">
            <a:avLst/>
          </a:prstGeom>
          <a:solidFill>
            <a:srgbClr val="F1C23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31"/>
          <p:cNvSpPr txBox="1"/>
          <p:nvPr/>
        </p:nvSpPr>
        <p:spPr>
          <a:xfrm>
            <a:off x="3905250" y="2286000"/>
            <a:ext cx="1428900" cy="952500"/>
          </a:xfrm>
          <a:prstGeom prst="rect">
            <a:avLst/>
          </a:prstGeom>
          <a:solidFill>
            <a:srgbClr val="000000">
              <a:alpha val="0"/>
            </a:srgbClr>
          </a:solidFill>
          <a:ln>
            <a:noFill/>
          </a:ln>
        </p:spPr>
        <p:txBody>
          <a:bodyPr anchorCtr="0" anchor="t" bIns="47625" lIns="47625" spcFirstLastPara="1" rIns="47625" wrap="square" tIns="47625">
            <a:noAutofit/>
          </a:bodyPr>
          <a:lstStyle/>
          <a:p>
            <a:pPr indent="0" lvl="0" marL="0" rtl="0" algn="l">
              <a:spcBef>
                <a:spcPts val="0"/>
              </a:spcBef>
              <a:spcAft>
                <a:spcPts val="0"/>
              </a:spcAft>
              <a:buNone/>
            </a:pPr>
            <a:r>
              <a:rPr b="0" lang="en" sz="1000">
                <a:solidFill>
                  <a:srgbClr val="000000"/>
                </a:solidFill>
                <a:latin typeface="Inter"/>
                <a:ea typeface="Inter"/>
                <a:cs typeface="Inter"/>
                <a:sym typeface="Inter"/>
              </a:rPr>
              <a:t>Editing and/or altering data for a certain purpose, or combining data from multiple sources.</a:t>
            </a:r>
            <a:endParaRPr b="0" sz="1000">
              <a:solidFill>
                <a:srgbClr val="000000"/>
              </a:solidFill>
              <a:latin typeface="Inter"/>
              <a:ea typeface="Inter"/>
              <a:cs typeface="Inter"/>
              <a:sym typeface="Inter"/>
            </a:endParaRPr>
          </a:p>
        </p:txBody>
      </p:sp>
      <p:sp>
        <p:nvSpPr>
          <p:cNvPr id="424" name="Google Shape;424;p31"/>
          <p:cNvSpPr/>
          <p:nvPr/>
        </p:nvSpPr>
        <p:spPr>
          <a:xfrm>
            <a:off x="5715000" y="1952625"/>
            <a:ext cx="1428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A1A2E"/>
                </a:solidFill>
                <a:latin typeface="Inter"/>
                <a:ea typeface="Inter"/>
                <a:cs typeface="Inter"/>
                <a:sym typeface="Inter"/>
              </a:rPr>
              <a:t>4. Design</a:t>
            </a:r>
            <a:endParaRPr b="1" sz="1200">
              <a:solidFill>
                <a:srgbClr val="1A1A2E"/>
              </a:solidFill>
              <a:latin typeface="Inter"/>
              <a:ea typeface="Inter"/>
              <a:cs typeface="Inter"/>
              <a:sym typeface="Inter"/>
            </a:endParaRPr>
          </a:p>
        </p:txBody>
      </p:sp>
      <p:sp>
        <p:nvSpPr>
          <p:cNvPr id="425" name="Google Shape;425;p31"/>
          <p:cNvSpPr/>
          <p:nvPr/>
        </p:nvSpPr>
        <p:spPr>
          <a:xfrm>
            <a:off x="5715000" y="2238375"/>
            <a:ext cx="381000" cy="19200"/>
          </a:xfrm>
          <a:prstGeom prst="rect">
            <a:avLst/>
          </a:prstGeom>
          <a:solidFill>
            <a:srgbClr val="45818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31"/>
          <p:cNvSpPr txBox="1"/>
          <p:nvPr/>
        </p:nvSpPr>
        <p:spPr>
          <a:xfrm>
            <a:off x="5715000" y="2286000"/>
            <a:ext cx="1428900" cy="952500"/>
          </a:xfrm>
          <a:prstGeom prst="rect">
            <a:avLst/>
          </a:prstGeom>
          <a:solidFill>
            <a:srgbClr val="000000">
              <a:alpha val="0"/>
            </a:srgbClr>
          </a:solidFill>
          <a:ln>
            <a:noFill/>
          </a:ln>
        </p:spPr>
        <p:txBody>
          <a:bodyPr anchorCtr="0" anchor="t" bIns="47625" lIns="47625" spcFirstLastPara="1" rIns="47625" wrap="square" tIns="47625">
            <a:noAutofit/>
          </a:bodyPr>
          <a:lstStyle/>
          <a:p>
            <a:pPr indent="0" lvl="0" marL="0" rtl="0" algn="l">
              <a:spcBef>
                <a:spcPts val="0"/>
              </a:spcBef>
              <a:spcAft>
                <a:spcPts val="0"/>
              </a:spcAft>
              <a:buNone/>
            </a:pPr>
            <a:r>
              <a:rPr b="0" lang="en" sz="1000">
                <a:solidFill>
                  <a:srgbClr val="000000"/>
                </a:solidFill>
                <a:latin typeface="Inter"/>
                <a:ea typeface="Inter"/>
                <a:cs typeface="Inter"/>
                <a:sym typeface="Inter"/>
              </a:rPr>
              <a:t>Crafting and/or categorizing data through sets of choices.</a:t>
            </a:r>
            <a:endParaRPr b="0" sz="1000">
              <a:solidFill>
                <a:srgbClr val="000000"/>
              </a:solidFill>
              <a:latin typeface="Inter"/>
              <a:ea typeface="Inter"/>
              <a:cs typeface="Inter"/>
              <a:sym typeface="Inter"/>
            </a:endParaRPr>
          </a:p>
        </p:txBody>
      </p:sp>
      <p:sp>
        <p:nvSpPr>
          <p:cNvPr id="427" name="Google Shape;427;p31"/>
          <p:cNvSpPr/>
          <p:nvPr/>
        </p:nvSpPr>
        <p:spPr>
          <a:xfrm>
            <a:off x="7524750" y="1952625"/>
            <a:ext cx="1428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A1A2E"/>
                </a:solidFill>
                <a:latin typeface="Inter"/>
                <a:ea typeface="Inter"/>
                <a:cs typeface="Inter"/>
                <a:sym typeface="Inter"/>
              </a:rPr>
              <a:t>5. Creation</a:t>
            </a:r>
            <a:endParaRPr b="1" sz="1200">
              <a:solidFill>
                <a:srgbClr val="1A1A2E"/>
              </a:solidFill>
              <a:latin typeface="Inter"/>
              <a:ea typeface="Inter"/>
              <a:cs typeface="Inter"/>
              <a:sym typeface="Inter"/>
            </a:endParaRPr>
          </a:p>
        </p:txBody>
      </p:sp>
      <p:sp>
        <p:nvSpPr>
          <p:cNvPr id="428" name="Google Shape;428;p31"/>
          <p:cNvSpPr/>
          <p:nvPr/>
        </p:nvSpPr>
        <p:spPr>
          <a:xfrm>
            <a:off x="7524750" y="2238375"/>
            <a:ext cx="381000" cy="19200"/>
          </a:xfrm>
          <a:prstGeom prst="rect">
            <a:avLst/>
          </a:prstGeom>
          <a:solidFill>
            <a:srgbClr val="E0666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31"/>
          <p:cNvSpPr txBox="1"/>
          <p:nvPr/>
        </p:nvSpPr>
        <p:spPr>
          <a:xfrm>
            <a:off x="7524750" y="2286000"/>
            <a:ext cx="1428900" cy="952500"/>
          </a:xfrm>
          <a:prstGeom prst="rect">
            <a:avLst/>
          </a:prstGeom>
          <a:solidFill>
            <a:srgbClr val="000000">
              <a:alpha val="0"/>
            </a:srgbClr>
          </a:solidFill>
          <a:ln>
            <a:noFill/>
          </a:ln>
        </p:spPr>
        <p:txBody>
          <a:bodyPr anchorCtr="0" anchor="t" bIns="47625" lIns="47625" spcFirstLastPara="1" rIns="47625" wrap="square" tIns="47625">
            <a:noAutofit/>
          </a:bodyPr>
          <a:lstStyle/>
          <a:p>
            <a:pPr indent="0" lvl="0" marL="0" rtl="0" algn="l">
              <a:spcBef>
                <a:spcPts val="0"/>
              </a:spcBef>
              <a:spcAft>
                <a:spcPts val="0"/>
              </a:spcAft>
              <a:buNone/>
            </a:pPr>
            <a:r>
              <a:rPr b="0" lang="en" sz="1000">
                <a:solidFill>
                  <a:srgbClr val="000000"/>
                </a:solidFill>
                <a:latin typeface="Inter"/>
                <a:ea typeface="Inter"/>
                <a:cs typeface="Inter"/>
                <a:sym typeface="Inter"/>
              </a:rPr>
              <a:t>Adding values to the records in a dataset through assigning or labeling those values.</a:t>
            </a:r>
            <a:endParaRPr b="0" sz="1000">
              <a:solidFill>
                <a:srgbClr val="000000"/>
              </a:solidFill>
              <a:latin typeface="Inter"/>
              <a:ea typeface="Inter"/>
              <a:cs typeface="Inter"/>
              <a:sym typeface="Inter"/>
            </a:endParaRPr>
          </a:p>
        </p:txBody>
      </p:sp>
      <p:sp>
        <p:nvSpPr>
          <p:cNvPr id="430" name="Google Shape;430;p31"/>
          <p:cNvSpPr/>
          <p:nvPr/>
        </p:nvSpPr>
        <p:spPr>
          <a:xfrm>
            <a:off x="2095500" y="1952625"/>
            <a:ext cx="1428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A1A2E"/>
                </a:solidFill>
                <a:latin typeface="Inter"/>
                <a:ea typeface="Inter"/>
                <a:cs typeface="Inter"/>
                <a:sym typeface="Inter"/>
              </a:rPr>
              <a:t>2. Capture</a:t>
            </a:r>
            <a:endParaRPr b="1" sz="1200">
              <a:solidFill>
                <a:srgbClr val="1A1A2E"/>
              </a:solidFill>
              <a:latin typeface="Inter"/>
              <a:ea typeface="Inter"/>
              <a:cs typeface="Inter"/>
              <a:sym typeface="Inter"/>
            </a:endParaRPr>
          </a:p>
        </p:txBody>
      </p:sp>
      <p:sp>
        <p:nvSpPr>
          <p:cNvPr id="431" name="Google Shape;431;p31"/>
          <p:cNvSpPr/>
          <p:nvPr/>
        </p:nvSpPr>
        <p:spPr>
          <a:xfrm>
            <a:off x="2095500" y="2238375"/>
            <a:ext cx="381000" cy="19200"/>
          </a:xfrm>
          <a:prstGeom prst="rect">
            <a:avLst/>
          </a:prstGeom>
          <a:solidFill>
            <a:srgbClr val="C27B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31"/>
          <p:cNvSpPr txBox="1"/>
          <p:nvPr/>
        </p:nvSpPr>
        <p:spPr>
          <a:xfrm>
            <a:off x="2095500" y="2286000"/>
            <a:ext cx="1428900" cy="952500"/>
          </a:xfrm>
          <a:prstGeom prst="rect">
            <a:avLst/>
          </a:prstGeom>
          <a:solidFill>
            <a:srgbClr val="000000">
              <a:alpha val="0"/>
            </a:srgbClr>
          </a:solidFill>
          <a:ln>
            <a:noFill/>
          </a:ln>
        </p:spPr>
        <p:txBody>
          <a:bodyPr anchorCtr="0" anchor="t" bIns="47625" lIns="47625" spcFirstLastPara="1" rIns="47625" wrap="square" tIns="47625">
            <a:noAutofit/>
          </a:bodyPr>
          <a:lstStyle/>
          <a:p>
            <a:pPr indent="0" lvl="0" marL="0" rtl="0" algn="l">
              <a:spcBef>
                <a:spcPts val="0"/>
              </a:spcBef>
              <a:spcAft>
                <a:spcPts val="0"/>
              </a:spcAft>
              <a:buNone/>
            </a:pPr>
            <a:r>
              <a:rPr b="0" lang="en" sz="1000">
                <a:solidFill>
                  <a:srgbClr val="000000"/>
                </a:solidFill>
                <a:latin typeface="Inter"/>
                <a:ea typeface="Inter"/>
                <a:cs typeface="Inter"/>
                <a:sym typeface="Inter"/>
              </a:rPr>
              <a:t>Searching for a dataset and acquiring it.</a:t>
            </a:r>
            <a:endParaRPr b="0" sz="1000">
              <a:solidFill>
                <a:srgbClr val="000000"/>
              </a:solidFill>
              <a:latin typeface="Inter"/>
              <a:ea typeface="Inter"/>
              <a:cs typeface="Inter"/>
              <a:sym typeface="Inter"/>
            </a:endParaRPr>
          </a:p>
        </p:txBody>
      </p:sp>
      <p:sp>
        <p:nvSpPr>
          <p:cNvPr id="433" name="Google Shape;433;p31"/>
          <p:cNvSpPr txBox="1"/>
          <p:nvPr/>
        </p:nvSpPr>
        <p:spPr>
          <a:xfrm>
            <a:off x="773793" y="1359027"/>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search</a:t>
            </a:r>
            <a:endParaRPr b="0" sz="2400">
              <a:solidFill>
                <a:srgbClr val="14AD81"/>
              </a:solidFill>
              <a:latin typeface="Material Icons"/>
              <a:ea typeface="Material Icons"/>
              <a:cs typeface="Material Icons"/>
              <a:sym typeface="Material Icons"/>
            </a:endParaRPr>
          </a:p>
        </p:txBody>
      </p:sp>
      <p:sp>
        <p:nvSpPr>
          <p:cNvPr id="434" name="Google Shape;434;p31"/>
          <p:cNvSpPr txBox="1"/>
          <p:nvPr/>
        </p:nvSpPr>
        <p:spPr>
          <a:xfrm>
            <a:off x="2583543" y="1359027"/>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cloud_download</a:t>
            </a:r>
            <a:endParaRPr b="0" sz="2400">
              <a:solidFill>
                <a:srgbClr val="14AD81"/>
              </a:solidFill>
              <a:latin typeface="Material Icons"/>
              <a:ea typeface="Material Icons"/>
              <a:cs typeface="Material Icons"/>
              <a:sym typeface="Material Icons"/>
            </a:endParaRPr>
          </a:p>
        </p:txBody>
      </p:sp>
      <p:sp>
        <p:nvSpPr>
          <p:cNvPr id="435" name="Google Shape;435;p31"/>
          <p:cNvSpPr txBox="1"/>
          <p:nvPr/>
        </p:nvSpPr>
        <p:spPr>
          <a:xfrm>
            <a:off x="4393293" y="1359027"/>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auto_awesome</a:t>
            </a:r>
            <a:endParaRPr b="0" sz="2400">
              <a:solidFill>
                <a:srgbClr val="14AD81"/>
              </a:solidFill>
              <a:latin typeface="Material Icons"/>
              <a:ea typeface="Material Icons"/>
              <a:cs typeface="Material Icons"/>
              <a:sym typeface="Material Icons"/>
            </a:endParaRPr>
          </a:p>
        </p:txBody>
      </p:sp>
      <p:sp>
        <p:nvSpPr>
          <p:cNvPr id="436" name="Google Shape;436;p31"/>
          <p:cNvSpPr txBox="1"/>
          <p:nvPr/>
        </p:nvSpPr>
        <p:spPr>
          <a:xfrm>
            <a:off x="6203043" y="1359027"/>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category</a:t>
            </a:r>
            <a:endParaRPr b="0" sz="2400">
              <a:solidFill>
                <a:srgbClr val="14AD81"/>
              </a:solidFill>
              <a:latin typeface="Material Icons"/>
              <a:ea typeface="Material Icons"/>
              <a:cs typeface="Material Icons"/>
              <a:sym typeface="Material Icons"/>
            </a:endParaRPr>
          </a:p>
        </p:txBody>
      </p:sp>
      <p:sp>
        <p:nvSpPr>
          <p:cNvPr id="437" name="Google Shape;437;p31"/>
          <p:cNvSpPr txBox="1"/>
          <p:nvPr/>
        </p:nvSpPr>
        <p:spPr>
          <a:xfrm>
            <a:off x="8012793" y="1359027"/>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label</a:t>
            </a:r>
            <a:endParaRPr b="0" sz="2400">
              <a:solidFill>
                <a:srgbClr val="14AD81"/>
              </a:solidFill>
              <a:latin typeface="Material Icons"/>
              <a:ea typeface="Material Icons"/>
              <a:cs typeface="Material Icons"/>
              <a:sym typeface="Material Icons"/>
            </a:endParaRPr>
          </a:p>
        </p:txBody>
      </p:sp>
      <p:sp>
        <p:nvSpPr>
          <p:cNvPr id="438" name="Google Shape;438;p31"/>
          <p:cNvSpPr txBox="1"/>
          <p:nvPr>
            <p:ph idx="4294967295" type="subTitle"/>
          </p:nvPr>
        </p:nvSpPr>
        <p:spPr>
          <a:xfrm>
            <a:off x="8624" y="3711525"/>
            <a:ext cx="9041100" cy="754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i="1" lang="en" sz="2600">
                <a:solidFill>
                  <a:schemeClr val="dk1"/>
                </a:solidFill>
                <a:latin typeface="Roboto"/>
                <a:ea typeface="Roboto"/>
                <a:cs typeface="Roboto"/>
                <a:sym typeface="Roboto"/>
              </a:rPr>
              <a:t>Human-Centered Data Science Workflow</a:t>
            </a:r>
            <a:endParaRPr b="1" i="1" sz="2600">
              <a:solidFill>
                <a:schemeClr val="dk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grpSp>
        <p:nvGrpSpPr>
          <p:cNvPr id="443" name="Google Shape;443;p32"/>
          <p:cNvGrpSpPr/>
          <p:nvPr/>
        </p:nvGrpSpPr>
        <p:grpSpPr>
          <a:xfrm>
            <a:off x="8625" y="0"/>
            <a:ext cx="9144000" cy="267600"/>
            <a:chOff x="8625" y="0"/>
            <a:chExt cx="9144000" cy="267600"/>
          </a:xfrm>
        </p:grpSpPr>
        <p:sp>
          <p:nvSpPr>
            <p:cNvPr id="444" name="Google Shape;444;p32"/>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45" name="Google Shape;445;p32"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446" name="Google Shape;446;p32"/>
          <p:cNvSpPr txBox="1"/>
          <p:nvPr>
            <p:ph idx="1" type="subTitle"/>
          </p:nvPr>
        </p:nvSpPr>
        <p:spPr>
          <a:xfrm>
            <a:off x="470870" y="401850"/>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Case Study: </a:t>
            </a:r>
            <a:r>
              <a:rPr i="1" lang="en" sz="2100">
                <a:solidFill>
                  <a:schemeClr val="dk1"/>
                </a:solidFill>
                <a:latin typeface="Roboto"/>
                <a:ea typeface="Roboto"/>
                <a:cs typeface="Roboto"/>
                <a:sym typeface="Roboto"/>
              </a:rPr>
              <a:t>Practicing the data science life cycle</a:t>
            </a:r>
            <a:endParaRPr i="1" sz="2100">
              <a:solidFill>
                <a:schemeClr val="dk1"/>
              </a:solidFill>
              <a:latin typeface="Roboto"/>
              <a:ea typeface="Roboto"/>
              <a:cs typeface="Roboto"/>
              <a:sym typeface="Roboto"/>
            </a:endParaRPr>
          </a:p>
        </p:txBody>
      </p:sp>
      <p:sp>
        <p:nvSpPr>
          <p:cNvPr id="447" name="Google Shape;447;p32"/>
          <p:cNvSpPr txBox="1"/>
          <p:nvPr/>
        </p:nvSpPr>
        <p:spPr>
          <a:xfrm>
            <a:off x="470875" y="1385475"/>
            <a:ext cx="3875700" cy="324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The problem:</a:t>
            </a:r>
            <a:r>
              <a:rPr lang="en" sz="1800">
                <a:solidFill>
                  <a:schemeClr val="dk1"/>
                </a:solidFill>
                <a:latin typeface="Inter"/>
                <a:ea typeface="Inter"/>
                <a:cs typeface="Inter"/>
                <a:sym typeface="Inter"/>
              </a:rPr>
              <a:t> A city is studying their public transportation network. It is plagued by delays and </a:t>
            </a:r>
            <a:r>
              <a:rPr lang="en" sz="1800">
                <a:solidFill>
                  <a:schemeClr val="dk1"/>
                </a:solidFill>
                <a:latin typeface="Inter"/>
                <a:ea typeface="Inter"/>
                <a:cs typeface="Inter"/>
                <a:sym typeface="Inter"/>
              </a:rPr>
              <a:t>overcrowding</a:t>
            </a:r>
            <a:r>
              <a:rPr lang="en" sz="1800">
                <a:solidFill>
                  <a:schemeClr val="dk1"/>
                </a:solidFill>
                <a:latin typeface="Inter"/>
                <a:ea typeface="Inter"/>
                <a:cs typeface="Inter"/>
                <a:sym typeface="Inter"/>
              </a:rPr>
              <a:t> during rush hour. As they look at this problem community members worry that the solutions will not solve underlying issues such as lack of routes in certain communities and issues with </a:t>
            </a:r>
            <a:r>
              <a:rPr lang="en" sz="1800">
                <a:solidFill>
                  <a:schemeClr val="dk1"/>
                </a:solidFill>
                <a:latin typeface="Inter"/>
                <a:ea typeface="Inter"/>
                <a:cs typeface="Inter"/>
                <a:sym typeface="Inter"/>
              </a:rPr>
              <a:t>accessibility</a:t>
            </a:r>
            <a:r>
              <a:rPr lang="en"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p:txBody>
      </p:sp>
      <p:pic>
        <p:nvPicPr>
          <p:cNvPr descr="a 3d icon the represents 'problem' 'question' 'searching'" id="448" name="Google Shape;448;p32"/>
          <p:cNvPicPr preferRelativeResize="0"/>
          <p:nvPr/>
        </p:nvPicPr>
        <p:blipFill rotWithShape="1">
          <a:blip r:embed="rId4">
            <a:alphaModFix/>
          </a:blip>
          <a:srcRect b="34258" l="0" r="37753" t="26392"/>
          <a:stretch/>
        </p:blipFill>
        <p:spPr>
          <a:xfrm>
            <a:off x="5051950" y="1571125"/>
            <a:ext cx="3165900" cy="20012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grpSp>
        <p:nvGrpSpPr>
          <p:cNvPr id="453" name="Google Shape;453;p33"/>
          <p:cNvGrpSpPr/>
          <p:nvPr/>
        </p:nvGrpSpPr>
        <p:grpSpPr>
          <a:xfrm>
            <a:off x="8625" y="0"/>
            <a:ext cx="9144000" cy="267600"/>
            <a:chOff x="8625" y="0"/>
            <a:chExt cx="9144000" cy="267600"/>
          </a:xfrm>
        </p:grpSpPr>
        <p:sp>
          <p:nvSpPr>
            <p:cNvPr id="454" name="Google Shape;454;p3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5" name="Google Shape;455;p33"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456" name="Google Shape;456;p33"/>
          <p:cNvSpPr txBox="1"/>
          <p:nvPr>
            <p:ph idx="1" type="subTitle"/>
          </p:nvPr>
        </p:nvSpPr>
        <p:spPr>
          <a:xfrm>
            <a:off x="775670" y="401850"/>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Discovery: </a:t>
            </a:r>
            <a:r>
              <a:rPr i="1" lang="en" sz="1800">
                <a:solidFill>
                  <a:schemeClr val="dk1"/>
                </a:solidFill>
                <a:latin typeface="Roboto"/>
                <a:ea typeface="Roboto"/>
                <a:cs typeface="Roboto"/>
                <a:sym typeface="Roboto"/>
              </a:rPr>
              <a:t>Crafting the question</a:t>
            </a:r>
            <a:endParaRPr i="1" sz="400">
              <a:solidFill>
                <a:schemeClr val="dk1"/>
              </a:solidFill>
              <a:latin typeface="Roboto"/>
              <a:ea typeface="Roboto"/>
              <a:cs typeface="Roboto"/>
              <a:sym typeface="Roboto"/>
            </a:endParaRPr>
          </a:p>
        </p:txBody>
      </p:sp>
      <p:sp>
        <p:nvSpPr>
          <p:cNvPr id="457" name="Google Shape;457;p33"/>
          <p:cNvSpPr txBox="1"/>
          <p:nvPr/>
        </p:nvSpPr>
        <p:spPr>
          <a:xfrm>
            <a:off x="470875" y="1156650"/>
            <a:ext cx="5661900" cy="3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rPr>
              <a:t>When looking at this problem it is important to think about perspective and the question you want to ask:</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 sz="1800">
                <a:solidFill>
                  <a:schemeClr val="dk1"/>
                </a:solidFill>
              </a:rPr>
              <a:t>Why is transit often delayed?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Who is transit delayed for most often?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Where and when is transit most often delayed?</a:t>
            </a:r>
            <a:endParaRPr sz="1800">
              <a:solidFill>
                <a:schemeClr val="dk1"/>
              </a:solidFill>
            </a:endParaRPr>
          </a:p>
          <a:p>
            <a:pPr indent="0" lvl="0" marL="0" rtl="0" algn="l">
              <a:spcBef>
                <a:spcPts val="1200"/>
              </a:spcBef>
              <a:spcAft>
                <a:spcPts val="0"/>
              </a:spcAft>
              <a:buNone/>
            </a:pPr>
            <a:r>
              <a:rPr lang="en" sz="1800">
                <a:solidFill>
                  <a:schemeClr val="dk1"/>
                </a:solidFill>
              </a:rPr>
              <a:t>It is important to continually consider who is represented in the question and who has been left out. </a:t>
            </a:r>
            <a:r>
              <a:rPr lang="en" sz="1800">
                <a:solidFill>
                  <a:schemeClr val="dk1"/>
                </a:solidFill>
              </a:rPr>
              <a:t>Inherently</a:t>
            </a:r>
            <a:r>
              <a:rPr lang="en" sz="1800">
                <a:solidFill>
                  <a:schemeClr val="dk1"/>
                </a:solidFill>
              </a:rPr>
              <a:t>, </a:t>
            </a:r>
            <a:r>
              <a:rPr b="1" lang="en" sz="1800">
                <a:solidFill>
                  <a:schemeClr val="dk1"/>
                </a:solidFill>
              </a:rPr>
              <a:t>problem formulation is already a value-laden design decision</a:t>
            </a:r>
            <a:r>
              <a:rPr lang="en" sz="1800">
                <a:solidFill>
                  <a:schemeClr val="dk1"/>
                </a:solidFill>
              </a:rPr>
              <a:t> and not a neutral first step.</a:t>
            </a:r>
            <a:endParaRPr sz="1800">
              <a:solidFill>
                <a:schemeClr val="dk1"/>
              </a:solidFill>
            </a:endParaRPr>
          </a:p>
        </p:txBody>
      </p:sp>
      <p:pic>
        <p:nvPicPr>
          <p:cNvPr descr="a 3d icon the represents 'problem' 'question' 'searching'" id="458" name="Google Shape;458;p33"/>
          <p:cNvPicPr preferRelativeResize="0"/>
          <p:nvPr/>
        </p:nvPicPr>
        <p:blipFill rotWithShape="1">
          <a:blip r:embed="rId4">
            <a:alphaModFix/>
          </a:blip>
          <a:srcRect b="33519" l="60772" r="2077" t="26639"/>
          <a:stretch/>
        </p:blipFill>
        <p:spPr>
          <a:xfrm>
            <a:off x="6239000" y="1711500"/>
            <a:ext cx="2109925" cy="2262650"/>
          </a:xfrm>
          <a:prstGeom prst="rect">
            <a:avLst/>
          </a:prstGeom>
          <a:noFill/>
          <a:ln>
            <a:noFill/>
          </a:ln>
        </p:spPr>
      </p:pic>
      <p:sp>
        <p:nvSpPr>
          <p:cNvPr id="459" name="Google Shape;459;p33"/>
          <p:cNvSpPr txBox="1"/>
          <p:nvPr/>
        </p:nvSpPr>
        <p:spPr>
          <a:xfrm>
            <a:off x="468993" y="653723"/>
            <a:ext cx="381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search</a:t>
            </a:r>
            <a:endParaRPr b="0" sz="2400">
              <a:solidFill>
                <a:srgbClr val="14AD81"/>
              </a:solidFill>
              <a:latin typeface="Material Icons"/>
              <a:ea typeface="Material Icons"/>
              <a:cs typeface="Material Icons"/>
              <a:sym typeface="Material Ico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grpSp>
        <p:nvGrpSpPr>
          <p:cNvPr id="464" name="Google Shape;464;p34"/>
          <p:cNvGrpSpPr/>
          <p:nvPr/>
        </p:nvGrpSpPr>
        <p:grpSpPr>
          <a:xfrm>
            <a:off x="8625" y="0"/>
            <a:ext cx="9144000" cy="267600"/>
            <a:chOff x="8625" y="0"/>
            <a:chExt cx="9144000" cy="267600"/>
          </a:xfrm>
        </p:grpSpPr>
        <p:sp>
          <p:nvSpPr>
            <p:cNvPr id="465" name="Google Shape;465;p3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6" name="Google Shape;466;p34"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467" name="Google Shape;467;p34"/>
          <p:cNvSpPr txBox="1"/>
          <p:nvPr>
            <p:ph idx="1" type="subTitle"/>
          </p:nvPr>
        </p:nvSpPr>
        <p:spPr>
          <a:xfrm>
            <a:off x="851870" y="401850"/>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Capture: </a:t>
            </a:r>
            <a:r>
              <a:rPr i="1" lang="en" sz="2200">
                <a:solidFill>
                  <a:schemeClr val="dk1"/>
                </a:solidFill>
                <a:latin typeface="Roboto"/>
                <a:ea typeface="Roboto"/>
                <a:cs typeface="Roboto"/>
                <a:sym typeface="Roboto"/>
              </a:rPr>
              <a:t>Data Collection</a:t>
            </a:r>
            <a:endParaRPr i="1" sz="800">
              <a:solidFill>
                <a:schemeClr val="dk1"/>
              </a:solidFill>
              <a:latin typeface="Roboto"/>
              <a:ea typeface="Roboto"/>
              <a:cs typeface="Roboto"/>
              <a:sym typeface="Roboto"/>
            </a:endParaRPr>
          </a:p>
        </p:txBody>
      </p:sp>
      <p:sp>
        <p:nvSpPr>
          <p:cNvPr id="468" name="Google Shape;468;p34"/>
          <p:cNvSpPr/>
          <p:nvPr/>
        </p:nvSpPr>
        <p:spPr>
          <a:xfrm>
            <a:off x="453975" y="3753318"/>
            <a:ext cx="8356800" cy="8784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 name="Google Shape;469;p34"/>
          <p:cNvSpPr txBox="1"/>
          <p:nvPr/>
        </p:nvSpPr>
        <p:spPr>
          <a:xfrm>
            <a:off x="453975" y="1156650"/>
            <a:ext cx="8356800" cy="3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1"/>
                </a:solidFill>
              </a:rPr>
              <a:t>What data already exists about this problem? How and why was this data collected? Who does this data serve?</a:t>
            </a:r>
            <a:endParaRPr sz="17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 sz="1700">
                <a:solidFill>
                  <a:schemeClr val="dk1"/>
                </a:solidFill>
              </a:rPr>
              <a:t>Previous transit data has been gathered about commuters, looking only at rush hour use</a:t>
            </a:r>
            <a:endParaRPr sz="17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700">
                <a:solidFill>
                  <a:schemeClr val="dk1"/>
                </a:solidFill>
              </a:rPr>
              <a:t>Some studies have been conducted about neighborhood transit use but focused only on the downtown core (mostly high income neighborhoods)</a:t>
            </a:r>
            <a:endParaRPr sz="17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700">
                <a:solidFill>
                  <a:schemeClr val="dk1"/>
                </a:solidFill>
              </a:rPr>
              <a:t>Some data has been collected from social media looking at transit complaints</a:t>
            </a:r>
            <a:endParaRPr sz="900">
              <a:solidFill>
                <a:schemeClr val="dk1"/>
              </a:solidFill>
            </a:endParaRPr>
          </a:p>
          <a:p>
            <a:pPr indent="0" lvl="0" marL="0" rtl="0" algn="l">
              <a:spcBef>
                <a:spcPts val="1200"/>
              </a:spcBef>
              <a:spcAft>
                <a:spcPts val="0"/>
              </a:spcAft>
              <a:buNone/>
            </a:pPr>
            <a:r>
              <a:t/>
            </a:r>
            <a:endParaRPr sz="1700">
              <a:solidFill>
                <a:schemeClr val="dk1"/>
              </a:solidFill>
            </a:endParaRPr>
          </a:p>
          <a:p>
            <a:pPr indent="0" lvl="0" marL="0" rtl="0" algn="l">
              <a:spcBef>
                <a:spcPts val="0"/>
              </a:spcBef>
              <a:spcAft>
                <a:spcPts val="0"/>
              </a:spcAft>
              <a:buNone/>
            </a:pPr>
            <a:r>
              <a:rPr lang="en" sz="1600">
                <a:solidFill>
                  <a:schemeClr val="dk1"/>
                </a:solidFill>
              </a:rPr>
              <a:t>Which</a:t>
            </a:r>
            <a:r>
              <a:rPr lang="en" sz="1600">
                <a:solidFill>
                  <a:schemeClr val="dk1"/>
                </a:solidFill>
              </a:rPr>
              <a:t> populations are systematically missing from complaint-based and commuter-centered data, and how that absence would distort the eventual intervention? </a:t>
            </a:r>
            <a:r>
              <a:rPr lang="en" sz="1600">
                <a:solidFill>
                  <a:schemeClr val="dk1"/>
                </a:solidFill>
              </a:rPr>
              <a:t>What would it look like to collect new data and how might this data be different?</a:t>
            </a:r>
            <a:endParaRPr sz="1600">
              <a:solidFill>
                <a:schemeClr val="dk1"/>
              </a:solidFill>
            </a:endParaRPr>
          </a:p>
          <a:p>
            <a:pPr indent="0" lvl="0" marL="0" rtl="0" algn="l">
              <a:spcBef>
                <a:spcPts val="0"/>
              </a:spcBef>
              <a:spcAft>
                <a:spcPts val="0"/>
              </a:spcAft>
              <a:buNone/>
            </a:pPr>
            <a:r>
              <a:t/>
            </a:r>
            <a:endParaRPr sz="1700">
              <a:solidFill>
                <a:schemeClr val="dk1"/>
              </a:solidFill>
            </a:endParaRPr>
          </a:p>
        </p:txBody>
      </p:sp>
      <p:sp>
        <p:nvSpPr>
          <p:cNvPr id="470" name="Google Shape;470;p34"/>
          <p:cNvSpPr txBox="1"/>
          <p:nvPr/>
        </p:nvSpPr>
        <p:spPr>
          <a:xfrm>
            <a:off x="526143" y="616531"/>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cloud_download</a:t>
            </a:r>
            <a:endParaRPr b="0" sz="2400">
              <a:solidFill>
                <a:srgbClr val="14AD81"/>
              </a:solidFill>
              <a:latin typeface="Material Icons"/>
              <a:ea typeface="Material Icons"/>
              <a:cs typeface="Material Icons"/>
              <a:sym typeface="Material Ico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grpSp>
        <p:nvGrpSpPr>
          <p:cNvPr id="475" name="Google Shape;475;p35"/>
          <p:cNvGrpSpPr/>
          <p:nvPr/>
        </p:nvGrpSpPr>
        <p:grpSpPr>
          <a:xfrm>
            <a:off x="8625" y="0"/>
            <a:ext cx="9144000" cy="267600"/>
            <a:chOff x="8625" y="0"/>
            <a:chExt cx="9144000" cy="267600"/>
          </a:xfrm>
        </p:grpSpPr>
        <p:sp>
          <p:nvSpPr>
            <p:cNvPr id="476" name="Google Shape;476;p3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7" name="Google Shape;477;p35"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478" name="Google Shape;478;p35"/>
          <p:cNvSpPr txBox="1"/>
          <p:nvPr>
            <p:ph idx="1" type="subTitle"/>
          </p:nvPr>
        </p:nvSpPr>
        <p:spPr>
          <a:xfrm>
            <a:off x="1156670" y="447207"/>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Curation &amp; Design: </a:t>
            </a:r>
            <a:r>
              <a:rPr i="1" lang="en" sz="1800">
                <a:solidFill>
                  <a:schemeClr val="dk1"/>
                </a:solidFill>
                <a:latin typeface="Roboto"/>
                <a:ea typeface="Roboto"/>
                <a:cs typeface="Roboto"/>
                <a:sym typeface="Roboto"/>
              </a:rPr>
              <a:t>D</a:t>
            </a:r>
            <a:r>
              <a:rPr i="1" lang="en" sz="1800">
                <a:solidFill>
                  <a:schemeClr val="dk1"/>
                </a:solidFill>
                <a:latin typeface="Roboto"/>
                <a:ea typeface="Roboto"/>
                <a:cs typeface="Roboto"/>
                <a:sym typeface="Roboto"/>
              </a:rPr>
              <a:t>ata Cleaning and Wrangling</a:t>
            </a:r>
            <a:endParaRPr i="1" sz="400">
              <a:solidFill>
                <a:schemeClr val="dk1"/>
              </a:solidFill>
              <a:latin typeface="Roboto"/>
              <a:ea typeface="Roboto"/>
              <a:cs typeface="Roboto"/>
              <a:sym typeface="Roboto"/>
            </a:endParaRPr>
          </a:p>
        </p:txBody>
      </p:sp>
      <p:sp>
        <p:nvSpPr>
          <p:cNvPr id="479" name="Google Shape;479;p35"/>
          <p:cNvSpPr txBox="1"/>
          <p:nvPr/>
        </p:nvSpPr>
        <p:spPr>
          <a:xfrm>
            <a:off x="470875" y="1385475"/>
            <a:ext cx="7688100" cy="324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rPr>
              <a:t>You now have the data set you are going to use but it is large and messy. </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lang="en" sz="1800">
                <a:solidFill>
                  <a:schemeClr val="dk1"/>
                </a:solidFill>
              </a:rPr>
              <a:t>What choices will be made about how to clean the data, how might this change how the data is interpreted? How will we ensure that the community and their needs are represented in the data?</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800">
                <a:solidFill>
                  <a:schemeClr val="dk1"/>
                </a:solidFill>
              </a:rPr>
              <a:t>What choices were made about how to categorize data?</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800">
                <a:solidFill>
                  <a:schemeClr val="dk1"/>
                </a:solidFill>
              </a:rPr>
              <a:t>Whose voices and experiences are prioritized in the design of this dataset?</a:t>
            </a:r>
            <a:endParaRPr sz="1800">
              <a:solidFill>
                <a:schemeClr val="dk1"/>
              </a:solidFill>
            </a:endParaRPr>
          </a:p>
          <a:p>
            <a:pPr indent="0" lvl="0" marL="0" rtl="0" algn="l">
              <a:spcBef>
                <a:spcPts val="1200"/>
              </a:spcBef>
              <a:spcAft>
                <a:spcPts val="0"/>
              </a:spcAft>
              <a:buNone/>
            </a:pPr>
            <a:r>
              <a:t/>
            </a:r>
            <a:endParaRPr sz="1800">
              <a:solidFill>
                <a:schemeClr val="dk1"/>
              </a:solidFill>
            </a:endParaRPr>
          </a:p>
        </p:txBody>
      </p:sp>
      <p:sp>
        <p:nvSpPr>
          <p:cNvPr id="480" name="Google Shape;480;p35"/>
          <p:cNvSpPr txBox="1"/>
          <p:nvPr/>
        </p:nvSpPr>
        <p:spPr>
          <a:xfrm>
            <a:off x="526596" y="673227"/>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auto_awesome</a:t>
            </a:r>
            <a:endParaRPr b="0" sz="2400">
              <a:solidFill>
                <a:srgbClr val="14AD81"/>
              </a:solidFill>
              <a:latin typeface="Material Icons"/>
              <a:ea typeface="Material Icons"/>
              <a:cs typeface="Material Icons"/>
              <a:sym typeface="Material Icons"/>
            </a:endParaRPr>
          </a:p>
        </p:txBody>
      </p:sp>
      <p:sp>
        <p:nvSpPr>
          <p:cNvPr id="481" name="Google Shape;481;p35"/>
          <p:cNvSpPr txBox="1"/>
          <p:nvPr/>
        </p:nvSpPr>
        <p:spPr>
          <a:xfrm>
            <a:off x="897225" y="666890"/>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category</a:t>
            </a:r>
            <a:endParaRPr b="0" sz="2400">
              <a:solidFill>
                <a:srgbClr val="14AD81"/>
              </a:solidFill>
              <a:latin typeface="Material Icons"/>
              <a:ea typeface="Material Icons"/>
              <a:cs typeface="Material Icons"/>
              <a:sym typeface="Material Ico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grpSp>
        <p:nvGrpSpPr>
          <p:cNvPr id="486" name="Google Shape;486;p36"/>
          <p:cNvGrpSpPr/>
          <p:nvPr/>
        </p:nvGrpSpPr>
        <p:grpSpPr>
          <a:xfrm>
            <a:off x="8625" y="0"/>
            <a:ext cx="9144000" cy="267600"/>
            <a:chOff x="8625" y="0"/>
            <a:chExt cx="9144000" cy="267600"/>
          </a:xfrm>
        </p:grpSpPr>
        <p:sp>
          <p:nvSpPr>
            <p:cNvPr id="487" name="Google Shape;487;p36"/>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8" name="Google Shape;488;p36"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489" name="Google Shape;489;p36"/>
          <p:cNvSpPr txBox="1"/>
          <p:nvPr>
            <p:ph idx="1" type="subTitle"/>
          </p:nvPr>
        </p:nvSpPr>
        <p:spPr>
          <a:xfrm>
            <a:off x="851870" y="489389"/>
            <a:ext cx="81255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Creation: </a:t>
            </a:r>
            <a:r>
              <a:rPr i="1" lang="en" sz="2000">
                <a:solidFill>
                  <a:schemeClr val="dk1"/>
                </a:solidFill>
                <a:latin typeface="Roboto"/>
                <a:ea typeface="Roboto"/>
                <a:cs typeface="Roboto"/>
                <a:sym typeface="Roboto"/>
              </a:rPr>
              <a:t>Feature Engineering</a:t>
            </a:r>
            <a:endParaRPr i="1" sz="600">
              <a:solidFill>
                <a:schemeClr val="dk1"/>
              </a:solidFill>
              <a:latin typeface="Roboto"/>
              <a:ea typeface="Roboto"/>
              <a:cs typeface="Roboto"/>
              <a:sym typeface="Roboto"/>
            </a:endParaRPr>
          </a:p>
        </p:txBody>
      </p:sp>
      <p:sp>
        <p:nvSpPr>
          <p:cNvPr id="490" name="Google Shape;490;p36"/>
          <p:cNvSpPr txBox="1"/>
          <p:nvPr/>
        </p:nvSpPr>
        <p:spPr>
          <a:xfrm>
            <a:off x="470875" y="1244200"/>
            <a:ext cx="4947600" cy="28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rPr>
              <a:t>Now you need to determine which features should be in the data:</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800">
                <a:solidFill>
                  <a:schemeClr val="dk1"/>
                </a:solidFill>
              </a:rPr>
              <a:t>Which features in the data are important to the communities impacted?</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800">
                <a:solidFill>
                  <a:schemeClr val="dk1"/>
                </a:solidFill>
              </a:rPr>
              <a:t>What features represent the human experience of using public transit?</a:t>
            </a:r>
            <a:endParaRPr sz="18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800">
                <a:solidFill>
                  <a:schemeClr val="dk1"/>
                </a:solidFill>
              </a:rPr>
              <a:t>How can you represent this in the data?</a:t>
            </a:r>
            <a:endParaRPr sz="1800">
              <a:solidFill>
                <a:schemeClr val="dk1"/>
              </a:solidFill>
            </a:endParaRPr>
          </a:p>
          <a:p>
            <a:pPr indent="0" lvl="0" marL="0" rtl="0" algn="l">
              <a:spcBef>
                <a:spcPts val="1200"/>
              </a:spcBef>
              <a:spcAft>
                <a:spcPts val="0"/>
              </a:spcAft>
              <a:buNone/>
            </a:pPr>
            <a:r>
              <a:t/>
            </a:r>
            <a:endParaRPr sz="1800">
              <a:solidFill>
                <a:schemeClr val="dk1"/>
              </a:solidFill>
            </a:endParaRPr>
          </a:p>
        </p:txBody>
      </p:sp>
      <p:pic>
        <p:nvPicPr>
          <p:cNvPr descr="i like the right corner at the bottom just give that" id="491" name="Google Shape;491;p36"/>
          <p:cNvPicPr preferRelativeResize="0"/>
          <p:nvPr/>
        </p:nvPicPr>
        <p:blipFill>
          <a:blip r:embed="rId4">
            <a:alphaModFix/>
          </a:blip>
          <a:stretch>
            <a:fillRect/>
          </a:stretch>
        </p:blipFill>
        <p:spPr>
          <a:xfrm>
            <a:off x="5020275" y="830663"/>
            <a:ext cx="3482175" cy="3482175"/>
          </a:xfrm>
          <a:prstGeom prst="rect">
            <a:avLst/>
          </a:prstGeom>
          <a:noFill/>
          <a:ln>
            <a:noFill/>
          </a:ln>
        </p:spPr>
      </p:pic>
      <p:sp>
        <p:nvSpPr>
          <p:cNvPr id="492" name="Google Shape;492;p36"/>
          <p:cNvSpPr txBox="1"/>
          <p:nvPr/>
        </p:nvSpPr>
        <p:spPr>
          <a:xfrm>
            <a:off x="545193" y="726748"/>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label</a:t>
            </a:r>
            <a:endParaRPr b="0" sz="2400">
              <a:solidFill>
                <a:srgbClr val="14AD81"/>
              </a:solidFill>
              <a:latin typeface="Material Icons"/>
              <a:ea typeface="Material Icons"/>
              <a:cs typeface="Material Icons"/>
              <a:sym typeface="Material Icons"/>
            </a:endParaRPr>
          </a:p>
        </p:txBody>
      </p:sp>
      <p:sp>
        <p:nvSpPr>
          <p:cNvPr id="493" name="Google Shape;493;p36"/>
          <p:cNvSpPr/>
          <p:nvPr/>
        </p:nvSpPr>
        <p:spPr>
          <a:xfrm>
            <a:off x="152525" y="4074242"/>
            <a:ext cx="8824800" cy="9456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rtl="0" algn="ctr">
              <a:spcBef>
                <a:spcPts val="0"/>
              </a:spcBef>
              <a:spcAft>
                <a:spcPts val="0"/>
              </a:spcAft>
              <a:buNone/>
            </a:pPr>
            <a:r>
              <a:t/>
            </a:r>
            <a:endParaRPr/>
          </a:p>
        </p:txBody>
      </p:sp>
      <p:sp>
        <p:nvSpPr>
          <p:cNvPr id="494" name="Google Shape;494;p36"/>
          <p:cNvSpPr txBox="1"/>
          <p:nvPr/>
        </p:nvSpPr>
        <p:spPr>
          <a:xfrm>
            <a:off x="376825" y="4103062"/>
            <a:ext cx="8506800" cy="75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600">
                <a:solidFill>
                  <a:schemeClr val="dk1"/>
                </a:solidFill>
              </a:rPr>
              <a:t>Feature Engineering can lead to abstraction traps</a:t>
            </a:r>
            <a:r>
              <a:rPr lang="en" sz="1600">
                <a:solidFill>
                  <a:schemeClr val="dk1"/>
                </a:solidFill>
              </a:rPr>
              <a:t>:</a:t>
            </a:r>
            <a:endParaRPr sz="1600">
              <a:solidFill>
                <a:schemeClr val="dk1"/>
              </a:solidFill>
            </a:endParaRPr>
          </a:p>
          <a:p>
            <a:pPr indent="0" lvl="0" marL="0" rtl="0" algn="ctr">
              <a:spcBef>
                <a:spcPts val="0"/>
              </a:spcBef>
              <a:spcAft>
                <a:spcPts val="0"/>
              </a:spcAft>
              <a:buNone/>
            </a:pPr>
            <a:r>
              <a:rPr lang="en" sz="1600">
                <a:solidFill>
                  <a:schemeClr val="dk1"/>
                </a:solidFill>
              </a:rPr>
              <a:t>Not all lived experiences can be easily represented as features in data, forcing this translation into variables can erase context.</a:t>
            </a:r>
            <a:endParaRPr sz="1600">
              <a:solidFill>
                <a:schemeClr val="dk1"/>
              </a:solidFill>
            </a:endParaRPr>
          </a:p>
          <a:p>
            <a:pPr indent="0" lvl="0" marL="0" rtl="0" algn="l">
              <a:spcBef>
                <a:spcPts val="0"/>
              </a:spcBef>
              <a:spcAft>
                <a:spcPts val="0"/>
              </a:spcAft>
              <a:buNone/>
            </a:pPr>
            <a:r>
              <a:t/>
            </a:r>
            <a:endParaRPr sz="9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grpSp>
        <p:nvGrpSpPr>
          <p:cNvPr id="499" name="Google Shape;499;p37"/>
          <p:cNvGrpSpPr/>
          <p:nvPr/>
        </p:nvGrpSpPr>
        <p:grpSpPr>
          <a:xfrm>
            <a:off x="8625" y="0"/>
            <a:ext cx="9144000" cy="267600"/>
            <a:chOff x="8625" y="0"/>
            <a:chExt cx="9144000" cy="267600"/>
          </a:xfrm>
        </p:grpSpPr>
        <p:sp>
          <p:nvSpPr>
            <p:cNvPr id="500" name="Google Shape;500;p37"/>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1" name="Google Shape;501;p37"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sp>
        <p:nvSpPr>
          <p:cNvPr id="502" name="Google Shape;502;p37"/>
          <p:cNvSpPr txBox="1"/>
          <p:nvPr>
            <p:ph idx="1" type="subTitle"/>
          </p:nvPr>
        </p:nvSpPr>
        <p:spPr>
          <a:xfrm>
            <a:off x="470875" y="447200"/>
            <a:ext cx="8430300" cy="75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Model Choice, Evaluation &amp; Downstream Consequences</a:t>
            </a:r>
            <a:r>
              <a:rPr b="1" lang="en" sz="3500">
                <a:solidFill>
                  <a:schemeClr val="dk1"/>
                </a:solidFill>
                <a:latin typeface="Roboto"/>
                <a:ea typeface="Roboto"/>
                <a:cs typeface="Roboto"/>
                <a:sym typeface="Roboto"/>
              </a:rPr>
              <a:t>: </a:t>
            </a:r>
            <a:endParaRPr i="1" sz="400">
              <a:solidFill>
                <a:schemeClr val="dk1"/>
              </a:solidFill>
              <a:latin typeface="Roboto"/>
              <a:ea typeface="Roboto"/>
              <a:cs typeface="Roboto"/>
              <a:sym typeface="Roboto"/>
            </a:endParaRPr>
          </a:p>
        </p:txBody>
      </p:sp>
      <p:sp>
        <p:nvSpPr>
          <p:cNvPr id="503" name="Google Shape;503;p37"/>
          <p:cNvSpPr txBox="1"/>
          <p:nvPr/>
        </p:nvSpPr>
        <p:spPr>
          <a:xfrm>
            <a:off x="470875" y="1693258"/>
            <a:ext cx="7688100" cy="324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rPr>
              <a:t>Now you need to determine which model you will use to analyze the data, how you will evaluate the models performance, and what downstream consequences may result from your choices.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How will you select your model what information in the data leads you to this decision?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Evaluating your model can be done in many ways which measures of accuracy will you use, what trade-offs are you making by optomizing for specific accuracy?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How do these choices impact the individuals being served or not served by transit?</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504" name="Google Shape;504;p37"/>
          <p:cNvSpPr txBox="1"/>
          <p:nvPr/>
        </p:nvSpPr>
        <p:spPr>
          <a:xfrm>
            <a:off x="897225" y="666890"/>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4AD81"/>
                </a:solidFill>
                <a:latin typeface="Material Icons"/>
                <a:ea typeface="Material Icons"/>
                <a:cs typeface="Material Icons"/>
                <a:sym typeface="Material Icons"/>
              </a:rPr>
              <a:t>ctegory</a:t>
            </a:r>
            <a:endParaRPr b="0" sz="2400">
              <a:solidFill>
                <a:srgbClr val="14AD81"/>
              </a:solidFill>
              <a:latin typeface="Material Icons"/>
              <a:ea typeface="Material Icons"/>
              <a:cs typeface="Material Icons"/>
              <a:sym typeface="Material Ico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8"/>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38"/>
          <p:cNvSpPr txBox="1"/>
          <p:nvPr>
            <p:ph idx="1" type="subTitle"/>
          </p:nvPr>
        </p:nvSpPr>
        <p:spPr>
          <a:xfrm>
            <a:off x="409575" y="447125"/>
            <a:ext cx="8125500" cy="1270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Activity 3: Group Exit Ticket</a:t>
            </a:r>
            <a:endParaRPr i="1" sz="3500">
              <a:solidFill>
                <a:schemeClr val="dk1"/>
              </a:solidFill>
              <a:latin typeface="Roboto"/>
              <a:ea typeface="Roboto"/>
              <a:cs typeface="Roboto"/>
              <a:sym typeface="Roboto"/>
            </a:endParaRPr>
          </a:p>
        </p:txBody>
      </p:sp>
      <p:grpSp>
        <p:nvGrpSpPr>
          <p:cNvPr id="511" name="Google Shape;511;p38"/>
          <p:cNvGrpSpPr/>
          <p:nvPr/>
        </p:nvGrpSpPr>
        <p:grpSpPr>
          <a:xfrm>
            <a:off x="8625" y="0"/>
            <a:ext cx="9144000" cy="267600"/>
            <a:chOff x="8625" y="0"/>
            <a:chExt cx="9144000" cy="267600"/>
          </a:xfrm>
        </p:grpSpPr>
        <p:sp>
          <p:nvSpPr>
            <p:cNvPr id="512" name="Google Shape;512;p38"/>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3" name="Google Shape;513;p38"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pic>
        <p:nvPicPr>
          <p:cNvPr id="514" name="Google Shape;514;p38" title="Logo Main.png"/>
          <p:cNvPicPr preferRelativeResize="0"/>
          <p:nvPr/>
        </p:nvPicPr>
        <p:blipFill>
          <a:blip r:embed="rId4">
            <a:alphaModFix/>
          </a:blip>
          <a:stretch>
            <a:fillRect/>
          </a:stretch>
        </p:blipFill>
        <p:spPr>
          <a:xfrm>
            <a:off x="452725" y="4090625"/>
            <a:ext cx="1529475" cy="434512"/>
          </a:xfrm>
          <a:prstGeom prst="rect">
            <a:avLst/>
          </a:prstGeom>
          <a:noFill/>
          <a:ln>
            <a:noFill/>
          </a:ln>
        </p:spPr>
      </p:pic>
      <p:sp>
        <p:nvSpPr>
          <p:cNvPr id="515" name="Google Shape;515;p38"/>
          <p:cNvSpPr txBox="1"/>
          <p:nvPr/>
        </p:nvSpPr>
        <p:spPr>
          <a:xfrm>
            <a:off x="201600" y="1341838"/>
            <a:ext cx="4370400" cy="27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Inter"/>
                <a:ea typeface="Inter"/>
                <a:cs typeface="Inter"/>
                <a:sym typeface="Inter"/>
              </a:rPr>
              <a:t>For each stage of the life cycle, brainstorm a real-life scenario and relevant:</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dk1"/>
              </a:buClr>
              <a:buSzPts val="1600"/>
              <a:buFont typeface="Inter"/>
              <a:buAutoNum type="arabicPeriod"/>
            </a:pPr>
            <a:r>
              <a:rPr lang="en" sz="1600">
                <a:solidFill>
                  <a:schemeClr val="dk1"/>
                </a:solidFill>
                <a:highlight>
                  <a:srgbClr val="FFFFFF"/>
                </a:highlight>
                <a:latin typeface="Inter"/>
                <a:ea typeface="Inter"/>
                <a:cs typeface="Inter"/>
                <a:sym typeface="Inter"/>
              </a:rPr>
              <a:t>Decision</a:t>
            </a:r>
            <a:endParaRPr sz="1600">
              <a:solidFill>
                <a:schemeClr val="dk1"/>
              </a:solidFill>
              <a:highlight>
                <a:srgbClr val="FFFFFF"/>
              </a:highlight>
              <a:latin typeface="Inter"/>
              <a:ea typeface="Inter"/>
              <a:cs typeface="Inter"/>
              <a:sym typeface="Inter"/>
            </a:endParaRPr>
          </a:p>
          <a:p>
            <a:pPr indent="-330200" lvl="0" marL="457200" rtl="0" algn="l">
              <a:spcBef>
                <a:spcPts val="0"/>
              </a:spcBef>
              <a:spcAft>
                <a:spcPts val="0"/>
              </a:spcAft>
              <a:buClr>
                <a:schemeClr val="dk1"/>
              </a:buClr>
              <a:buSzPts val="1600"/>
              <a:buFont typeface="Inter"/>
              <a:buAutoNum type="arabicPeriod"/>
            </a:pPr>
            <a:r>
              <a:rPr lang="en" sz="1600">
                <a:solidFill>
                  <a:schemeClr val="dk1"/>
                </a:solidFill>
                <a:highlight>
                  <a:srgbClr val="FFFFFF"/>
                </a:highlight>
                <a:latin typeface="Inter"/>
                <a:ea typeface="Inter"/>
                <a:cs typeface="Inter"/>
                <a:sym typeface="Inter"/>
              </a:rPr>
              <a:t>Risk</a:t>
            </a:r>
            <a:endParaRPr sz="1600">
              <a:solidFill>
                <a:schemeClr val="dk1"/>
              </a:solidFill>
              <a:highlight>
                <a:srgbClr val="FFFFFF"/>
              </a:highlight>
              <a:latin typeface="Inter"/>
              <a:ea typeface="Inter"/>
              <a:cs typeface="Inter"/>
              <a:sym typeface="Inter"/>
            </a:endParaRPr>
          </a:p>
          <a:p>
            <a:pPr indent="-330200" lvl="0" marL="457200" rtl="0" algn="l">
              <a:spcBef>
                <a:spcPts val="0"/>
              </a:spcBef>
              <a:spcAft>
                <a:spcPts val="0"/>
              </a:spcAft>
              <a:buClr>
                <a:schemeClr val="dk1"/>
              </a:buClr>
              <a:buSzPts val="1600"/>
              <a:buFont typeface="Inter"/>
              <a:buAutoNum type="arabicPeriod"/>
            </a:pPr>
            <a:r>
              <a:rPr lang="en" sz="1600">
                <a:solidFill>
                  <a:schemeClr val="dk1"/>
                </a:solidFill>
                <a:highlight>
                  <a:srgbClr val="FFFFFF"/>
                </a:highlight>
                <a:latin typeface="Inter"/>
                <a:ea typeface="Inter"/>
                <a:cs typeface="Inter"/>
                <a:sym typeface="Inter"/>
              </a:rPr>
              <a:t>Affected stakeholders</a:t>
            </a:r>
            <a:endParaRPr sz="1600">
              <a:solidFill>
                <a:schemeClr val="dk1"/>
              </a:solidFill>
              <a:highlight>
                <a:srgbClr val="FFFFFF"/>
              </a:highlight>
              <a:latin typeface="Inter"/>
              <a:ea typeface="Inter"/>
              <a:cs typeface="Inter"/>
              <a:sym typeface="Inter"/>
            </a:endParaRPr>
          </a:p>
          <a:p>
            <a:pPr indent="-330200" lvl="0" marL="457200" rtl="0" algn="l">
              <a:spcBef>
                <a:spcPts val="0"/>
              </a:spcBef>
              <a:spcAft>
                <a:spcPts val="0"/>
              </a:spcAft>
              <a:buClr>
                <a:schemeClr val="dk1"/>
              </a:buClr>
              <a:buSzPts val="1600"/>
              <a:buFont typeface="Inter"/>
              <a:buAutoNum type="arabicPeriod"/>
            </a:pPr>
            <a:r>
              <a:rPr lang="en" sz="1600">
                <a:solidFill>
                  <a:schemeClr val="dk1"/>
                </a:solidFill>
                <a:highlight>
                  <a:srgbClr val="FFFFFF"/>
                </a:highlight>
                <a:latin typeface="Inter"/>
                <a:ea typeface="Inter"/>
                <a:cs typeface="Inter"/>
                <a:sym typeface="Inter"/>
              </a:rPr>
              <a:t>Human-centered mitigation</a:t>
            </a:r>
            <a:endParaRPr sz="16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6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600">
                <a:solidFill>
                  <a:schemeClr val="dk1"/>
                </a:solidFill>
                <a:latin typeface="Inter"/>
                <a:ea typeface="Inter"/>
                <a:cs typeface="Inter"/>
                <a:sym typeface="Inter"/>
              </a:rPr>
              <a:t>How would a human-centered strategy assist your decision-making at each stage?</a:t>
            </a:r>
            <a:endParaRPr sz="1600">
              <a:solidFill>
                <a:schemeClr val="dk1"/>
              </a:solidFill>
              <a:latin typeface="Inter"/>
              <a:ea typeface="Inter"/>
              <a:cs typeface="Inter"/>
              <a:sym typeface="Inter"/>
            </a:endParaRPr>
          </a:p>
        </p:txBody>
      </p:sp>
      <p:pic>
        <p:nvPicPr>
          <p:cNvPr id="516" name="Google Shape;516;p38" title="administrator-65406.png"/>
          <p:cNvPicPr preferRelativeResize="0"/>
          <p:nvPr/>
        </p:nvPicPr>
        <p:blipFill>
          <a:blip r:embed="rId5">
            <a:alphaModFix/>
          </a:blip>
          <a:stretch>
            <a:fillRect/>
          </a:stretch>
        </p:blipFill>
        <p:spPr>
          <a:xfrm>
            <a:off x="6388527" y="1224823"/>
            <a:ext cx="603525" cy="581100"/>
          </a:xfrm>
          <a:prstGeom prst="rect">
            <a:avLst/>
          </a:prstGeom>
          <a:noFill/>
          <a:ln>
            <a:noFill/>
          </a:ln>
        </p:spPr>
      </p:pic>
      <p:pic>
        <p:nvPicPr>
          <p:cNvPr id="517" name="Google Shape;517;p38" title="binoculars-65410.png"/>
          <p:cNvPicPr preferRelativeResize="0"/>
          <p:nvPr/>
        </p:nvPicPr>
        <p:blipFill>
          <a:blip r:embed="rId6">
            <a:alphaModFix/>
          </a:blip>
          <a:stretch>
            <a:fillRect/>
          </a:stretch>
        </p:blipFill>
        <p:spPr>
          <a:xfrm>
            <a:off x="5963175" y="4064941"/>
            <a:ext cx="603525" cy="603525"/>
          </a:xfrm>
          <a:prstGeom prst="rect">
            <a:avLst/>
          </a:prstGeom>
          <a:noFill/>
          <a:ln>
            <a:noFill/>
          </a:ln>
        </p:spPr>
      </p:pic>
      <p:pic>
        <p:nvPicPr>
          <p:cNvPr id="518" name="Google Shape;518;p38" title="connect_to_database-65415.png"/>
          <p:cNvPicPr preferRelativeResize="0"/>
          <p:nvPr/>
        </p:nvPicPr>
        <p:blipFill>
          <a:blip r:embed="rId7">
            <a:alphaModFix/>
          </a:blip>
          <a:stretch>
            <a:fillRect/>
          </a:stretch>
        </p:blipFill>
        <p:spPr>
          <a:xfrm>
            <a:off x="8167372" y="3217025"/>
            <a:ext cx="603525" cy="603525"/>
          </a:xfrm>
          <a:prstGeom prst="rect">
            <a:avLst/>
          </a:prstGeom>
          <a:noFill/>
          <a:ln>
            <a:noFill/>
          </a:ln>
        </p:spPr>
      </p:pic>
      <p:pic>
        <p:nvPicPr>
          <p:cNvPr id="519" name="Google Shape;519;p38" title="database_export-65420.png"/>
          <p:cNvPicPr preferRelativeResize="0"/>
          <p:nvPr/>
        </p:nvPicPr>
        <p:blipFill>
          <a:blip r:embed="rId8">
            <a:alphaModFix/>
          </a:blip>
          <a:stretch>
            <a:fillRect/>
          </a:stretch>
        </p:blipFill>
        <p:spPr>
          <a:xfrm>
            <a:off x="4533475" y="2425372"/>
            <a:ext cx="603525" cy="594715"/>
          </a:xfrm>
          <a:prstGeom prst="rect">
            <a:avLst/>
          </a:prstGeom>
          <a:noFill/>
          <a:ln>
            <a:noFill/>
          </a:ln>
        </p:spPr>
      </p:pic>
      <p:pic>
        <p:nvPicPr>
          <p:cNvPr id="520" name="Google Shape;520;p38" title="database_import-65422.png"/>
          <p:cNvPicPr preferRelativeResize="0"/>
          <p:nvPr/>
        </p:nvPicPr>
        <p:blipFill>
          <a:blip r:embed="rId9">
            <a:alphaModFix/>
          </a:blip>
          <a:stretch>
            <a:fillRect/>
          </a:stretch>
        </p:blipFill>
        <p:spPr>
          <a:xfrm>
            <a:off x="8167370" y="1821833"/>
            <a:ext cx="603525" cy="603537"/>
          </a:xfrm>
          <a:prstGeom prst="rect">
            <a:avLst/>
          </a:prstGeom>
          <a:noFill/>
          <a:ln>
            <a:noFill/>
          </a:ln>
        </p:spPr>
      </p:pic>
      <p:pic>
        <p:nvPicPr>
          <p:cNvPr id="521" name="Google Shape;521;p38" title="database_monitoring-65424.png"/>
          <p:cNvPicPr preferRelativeResize="0"/>
          <p:nvPr/>
        </p:nvPicPr>
        <p:blipFill>
          <a:blip r:embed="rId10">
            <a:alphaModFix/>
          </a:blip>
          <a:stretch>
            <a:fillRect/>
          </a:stretch>
        </p:blipFill>
        <p:spPr>
          <a:xfrm>
            <a:off x="4533474" y="3145843"/>
            <a:ext cx="603525" cy="603537"/>
          </a:xfrm>
          <a:prstGeom prst="rect">
            <a:avLst/>
          </a:prstGeom>
          <a:noFill/>
          <a:ln>
            <a:noFill/>
          </a:ln>
        </p:spPr>
      </p:pic>
      <p:pic>
        <p:nvPicPr>
          <p:cNvPr id="522" name="Google Shape;522;p38" title="database_users-65427.png"/>
          <p:cNvPicPr preferRelativeResize="0"/>
          <p:nvPr/>
        </p:nvPicPr>
        <p:blipFill>
          <a:blip r:embed="rId11">
            <a:alphaModFix/>
          </a:blip>
          <a:stretch>
            <a:fillRect/>
          </a:stretch>
        </p:blipFill>
        <p:spPr>
          <a:xfrm>
            <a:off x="4533477" y="1780480"/>
            <a:ext cx="603525" cy="581114"/>
          </a:xfrm>
          <a:prstGeom prst="rect">
            <a:avLst/>
          </a:prstGeom>
          <a:noFill/>
          <a:ln>
            <a:noFill/>
          </a:ln>
        </p:spPr>
      </p:pic>
      <p:pic>
        <p:nvPicPr>
          <p:cNvPr id="523" name="Google Shape;523;p38" title="entity_relationship-65431.png"/>
          <p:cNvPicPr preferRelativeResize="0"/>
          <p:nvPr/>
        </p:nvPicPr>
        <p:blipFill>
          <a:blip r:embed="rId12">
            <a:alphaModFix/>
          </a:blip>
          <a:stretch>
            <a:fillRect/>
          </a:stretch>
        </p:blipFill>
        <p:spPr>
          <a:xfrm>
            <a:off x="6884947" y="4037768"/>
            <a:ext cx="603525" cy="603537"/>
          </a:xfrm>
          <a:prstGeom prst="rect">
            <a:avLst/>
          </a:prstGeom>
          <a:noFill/>
          <a:ln>
            <a:noFill/>
          </a:ln>
        </p:spPr>
      </p:pic>
      <p:pic>
        <p:nvPicPr>
          <p:cNvPr id="524" name="Google Shape;524;p38" title="erase_database-65432.png"/>
          <p:cNvPicPr preferRelativeResize="0"/>
          <p:nvPr/>
        </p:nvPicPr>
        <p:blipFill>
          <a:blip r:embed="rId13">
            <a:alphaModFix/>
          </a:blip>
          <a:stretch>
            <a:fillRect/>
          </a:stretch>
        </p:blipFill>
        <p:spPr>
          <a:xfrm>
            <a:off x="8091176" y="2516127"/>
            <a:ext cx="603525" cy="592993"/>
          </a:xfrm>
          <a:prstGeom prst="rect">
            <a:avLst/>
          </a:prstGeom>
          <a:noFill/>
          <a:ln>
            <a:noFill/>
          </a:ln>
        </p:spPr>
      </p:pic>
      <p:pic>
        <p:nvPicPr>
          <p:cNvPr id="525" name="Google Shape;525;p38" title="Screenshot 2026-01-27 at 7.58.27 AM 1.png"/>
          <p:cNvPicPr preferRelativeResize="0"/>
          <p:nvPr/>
        </p:nvPicPr>
        <p:blipFill>
          <a:blip r:embed="rId14">
            <a:alphaModFix/>
          </a:blip>
          <a:stretch>
            <a:fillRect/>
          </a:stretch>
        </p:blipFill>
        <p:spPr>
          <a:xfrm>
            <a:off x="5198679" y="1919810"/>
            <a:ext cx="2983224" cy="211797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9"/>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39"/>
          <p:cNvSpPr txBox="1"/>
          <p:nvPr>
            <p:ph idx="1" type="subTitle"/>
          </p:nvPr>
        </p:nvSpPr>
        <p:spPr>
          <a:xfrm>
            <a:off x="409575" y="447125"/>
            <a:ext cx="8125500" cy="1270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Activity 3: Group Exit Ticket</a:t>
            </a:r>
            <a:endParaRPr i="1" sz="3500">
              <a:solidFill>
                <a:schemeClr val="dk1"/>
              </a:solidFill>
              <a:latin typeface="Roboto"/>
              <a:ea typeface="Roboto"/>
              <a:cs typeface="Roboto"/>
              <a:sym typeface="Roboto"/>
            </a:endParaRPr>
          </a:p>
        </p:txBody>
      </p:sp>
      <p:grpSp>
        <p:nvGrpSpPr>
          <p:cNvPr id="532" name="Google Shape;532;p39"/>
          <p:cNvGrpSpPr/>
          <p:nvPr/>
        </p:nvGrpSpPr>
        <p:grpSpPr>
          <a:xfrm>
            <a:off x="8625" y="0"/>
            <a:ext cx="9144000" cy="267600"/>
            <a:chOff x="8625" y="0"/>
            <a:chExt cx="9144000" cy="267600"/>
          </a:xfrm>
        </p:grpSpPr>
        <p:sp>
          <p:nvSpPr>
            <p:cNvPr id="533" name="Google Shape;533;p39"/>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4" name="Google Shape;534;p39" title="Logo Header.png"/>
            <p:cNvPicPr preferRelativeResize="0"/>
            <p:nvPr/>
          </p:nvPicPr>
          <p:blipFill>
            <a:blip r:embed="rId3">
              <a:alphaModFix/>
            </a:blip>
            <a:stretch>
              <a:fillRect/>
            </a:stretch>
          </p:blipFill>
          <p:spPr>
            <a:xfrm>
              <a:off x="8348195" y="15790"/>
              <a:ext cx="634775" cy="199625"/>
            </a:xfrm>
            <a:prstGeom prst="rect">
              <a:avLst/>
            </a:prstGeom>
            <a:noFill/>
            <a:ln>
              <a:noFill/>
            </a:ln>
          </p:spPr>
        </p:pic>
      </p:grpSp>
      <p:pic>
        <p:nvPicPr>
          <p:cNvPr id="535" name="Google Shape;535;p39" title="Logo Main.png"/>
          <p:cNvPicPr preferRelativeResize="0"/>
          <p:nvPr/>
        </p:nvPicPr>
        <p:blipFill>
          <a:blip r:embed="rId4">
            <a:alphaModFix/>
          </a:blip>
          <a:stretch>
            <a:fillRect/>
          </a:stretch>
        </p:blipFill>
        <p:spPr>
          <a:xfrm>
            <a:off x="409575" y="4411375"/>
            <a:ext cx="1529475" cy="434512"/>
          </a:xfrm>
          <a:prstGeom prst="rect">
            <a:avLst/>
          </a:prstGeom>
          <a:noFill/>
          <a:ln>
            <a:noFill/>
          </a:ln>
        </p:spPr>
      </p:pic>
      <p:graphicFrame>
        <p:nvGraphicFramePr>
          <p:cNvPr id="536" name="Google Shape;536;p39"/>
          <p:cNvGraphicFramePr/>
          <p:nvPr/>
        </p:nvGraphicFramePr>
        <p:xfrm>
          <a:off x="664488" y="1168250"/>
          <a:ext cx="3000000" cy="3000000"/>
        </p:xfrm>
        <a:graphic>
          <a:graphicData uri="http://schemas.openxmlformats.org/drawingml/2006/table">
            <a:tbl>
              <a:tblPr>
                <a:noFill/>
                <a:tableStyleId>{8C11A223-8252-4700-B3AE-095232456EF6}</a:tableStyleId>
              </a:tblPr>
              <a:tblGrid>
                <a:gridCol w="898150"/>
                <a:gridCol w="797975"/>
                <a:gridCol w="923950"/>
                <a:gridCol w="912525"/>
                <a:gridCol w="832375"/>
                <a:gridCol w="855225"/>
                <a:gridCol w="1084325"/>
                <a:gridCol w="889625"/>
                <a:gridCol w="1084350"/>
              </a:tblGrid>
              <a:tr h="785425">
                <a:tc>
                  <a:txBody>
                    <a:bodyPr/>
                    <a:lstStyle/>
                    <a:p>
                      <a:pPr indent="0" lvl="0" marL="0" rtl="0" algn="l">
                        <a:spcBef>
                          <a:spcPts val="0"/>
                        </a:spcBef>
                        <a:spcAft>
                          <a:spcPts val="0"/>
                        </a:spcAft>
                        <a:buNone/>
                      </a:pPr>
                      <a:r>
                        <a:rPr b="1" lang="en" sz="950">
                          <a:solidFill>
                            <a:schemeClr val="dk1"/>
                          </a:solidFill>
                          <a:latin typeface="Inter"/>
                          <a:ea typeface="Inter"/>
                          <a:cs typeface="Inter"/>
                          <a:sym typeface="Inter"/>
                        </a:rPr>
                        <a:t>Formulating Question</a:t>
                      </a:r>
                      <a:endParaRPr b="1" sz="95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950">
                          <a:solidFill>
                            <a:schemeClr val="dk1"/>
                          </a:solidFill>
                          <a:latin typeface="Inter"/>
                          <a:ea typeface="Inter"/>
                          <a:cs typeface="Inter"/>
                          <a:sym typeface="Inter"/>
                        </a:rPr>
                        <a:t>Data Collection</a:t>
                      </a:r>
                      <a:endParaRPr b="1" sz="95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950">
                          <a:solidFill>
                            <a:schemeClr val="dk1"/>
                          </a:solidFill>
                          <a:latin typeface="Inter"/>
                          <a:ea typeface="Inter"/>
                          <a:cs typeface="Inter"/>
                          <a:sym typeface="Inter"/>
                        </a:rPr>
                        <a:t>Cleaning/ Wrangling Data</a:t>
                      </a:r>
                      <a:endParaRPr b="1" sz="95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950">
                          <a:solidFill>
                            <a:schemeClr val="dk1"/>
                          </a:solidFill>
                          <a:latin typeface="Inter"/>
                          <a:ea typeface="Inter"/>
                          <a:cs typeface="Inter"/>
                          <a:sym typeface="Inter"/>
                        </a:rPr>
                        <a:t>Feature Engineering</a:t>
                      </a:r>
                      <a:endParaRPr b="1" sz="95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solidFill>
                            <a:schemeClr val="dk1"/>
                          </a:solidFill>
                          <a:latin typeface="Inter"/>
                          <a:ea typeface="Inter"/>
                          <a:cs typeface="Inter"/>
                          <a:sym typeface="Inter"/>
                        </a:rPr>
                        <a:t>Data Analysis/ Training</a:t>
                      </a:r>
                      <a:endParaRPr b="1" sz="10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solidFill>
                            <a:schemeClr val="dk1"/>
                          </a:solidFill>
                          <a:latin typeface="Inter"/>
                          <a:ea typeface="Inter"/>
                          <a:cs typeface="Inter"/>
                          <a:sym typeface="Inter"/>
                        </a:rPr>
                        <a:t>Selecting/ Evaluating Model</a:t>
                      </a:r>
                      <a:endParaRPr b="1" sz="10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900">
                          <a:solidFill>
                            <a:schemeClr val="dk1"/>
                          </a:solidFill>
                          <a:latin typeface="Inter"/>
                          <a:ea typeface="Inter"/>
                          <a:cs typeface="Inter"/>
                          <a:sym typeface="Inter"/>
                        </a:rPr>
                        <a:t>Representation of Results</a:t>
                      </a:r>
                      <a:endParaRPr b="1" sz="9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950">
                          <a:solidFill>
                            <a:schemeClr val="dk1"/>
                          </a:solidFill>
                          <a:latin typeface="Inter"/>
                          <a:ea typeface="Inter"/>
                          <a:cs typeface="Inter"/>
                          <a:sym typeface="Inter"/>
                        </a:rPr>
                        <a:t>Distribution</a:t>
                      </a:r>
                      <a:endParaRPr b="1" sz="95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900">
                          <a:solidFill>
                            <a:schemeClr val="dk1"/>
                          </a:solidFill>
                          <a:latin typeface="Inter"/>
                          <a:ea typeface="Inter"/>
                          <a:cs typeface="Inter"/>
                          <a:sym typeface="Inter"/>
                        </a:rPr>
                        <a:t>Interpreting/ Communicating</a:t>
                      </a:r>
                      <a:endParaRPr b="1" sz="900">
                        <a:solidFill>
                          <a:schemeClr val="dk1"/>
                        </a:solidFill>
                        <a:latin typeface="Inter"/>
                        <a:ea typeface="Inter"/>
                        <a:cs typeface="Inter"/>
                        <a:sym typeface="Inter"/>
                      </a:endParaRPr>
                    </a:p>
                  </a:txBody>
                  <a:tcPr marT="91425" marB="91425" marR="91425" marL="91425"/>
                </a:tc>
              </a:tr>
              <a:tr h="6180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72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6407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262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537" name="Google Shape;537;p39"/>
          <p:cNvSpPr txBox="1"/>
          <p:nvPr/>
        </p:nvSpPr>
        <p:spPr>
          <a:xfrm>
            <a:off x="-2" y="2096350"/>
            <a:ext cx="664500" cy="4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rPr>
              <a:t>Decision</a:t>
            </a:r>
            <a:endParaRPr b="1" sz="900">
              <a:solidFill>
                <a:schemeClr val="dk1"/>
              </a:solidFill>
            </a:endParaRPr>
          </a:p>
        </p:txBody>
      </p:sp>
      <p:sp>
        <p:nvSpPr>
          <p:cNvPr id="538" name="Google Shape;538;p39"/>
          <p:cNvSpPr txBox="1"/>
          <p:nvPr/>
        </p:nvSpPr>
        <p:spPr>
          <a:xfrm>
            <a:off x="103097" y="2709350"/>
            <a:ext cx="664500" cy="4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rPr>
              <a:t>Risk</a:t>
            </a:r>
            <a:endParaRPr b="1" sz="900">
              <a:solidFill>
                <a:schemeClr val="dk1"/>
              </a:solidFill>
            </a:endParaRPr>
          </a:p>
        </p:txBody>
      </p:sp>
      <p:sp>
        <p:nvSpPr>
          <p:cNvPr id="539" name="Google Shape;539;p39"/>
          <p:cNvSpPr txBox="1"/>
          <p:nvPr/>
        </p:nvSpPr>
        <p:spPr>
          <a:xfrm>
            <a:off x="-51450" y="3253863"/>
            <a:ext cx="950700" cy="4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50">
                <a:solidFill>
                  <a:schemeClr val="dk1"/>
                </a:solidFill>
              </a:rPr>
              <a:t>Stakeholders</a:t>
            </a:r>
            <a:endParaRPr b="1" sz="750">
              <a:solidFill>
                <a:schemeClr val="dk1"/>
              </a:solidFill>
            </a:endParaRPr>
          </a:p>
        </p:txBody>
      </p:sp>
      <p:sp>
        <p:nvSpPr>
          <p:cNvPr id="540" name="Google Shape;540;p39"/>
          <p:cNvSpPr txBox="1"/>
          <p:nvPr/>
        </p:nvSpPr>
        <p:spPr>
          <a:xfrm>
            <a:off x="-22910" y="3832625"/>
            <a:ext cx="756300" cy="4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rPr>
              <a:t>Mitigation</a:t>
            </a:r>
            <a:endParaRPr b="1" sz="900">
              <a:solidFill>
                <a:schemeClr val="dk1"/>
              </a:solidFill>
            </a:endParaRPr>
          </a:p>
        </p:txBody>
      </p:sp>
      <p:sp>
        <p:nvSpPr>
          <p:cNvPr id="541" name="Google Shape;541;p39"/>
          <p:cNvSpPr txBox="1"/>
          <p:nvPr/>
        </p:nvSpPr>
        <p:spPr>
          <a:xfrm>
            <a:off x="2531650" y="4502000"/>
            <a:ext cx="6411300" cy="4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How would a human-centered strategy assist your decision-making at each stage?</a:t>
            </a:r>
            <a:endParaRPr>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0"/>
          <p:cNvSpPr/>
          <p:nvPr/>
        </p:nvSpPr>
        <p:spPr>
          <a:xfrm>
            <a:off x="503800" y="996885"/>
            <a:ext cx="4639800" cy="64500"/>
          </a:xfrm>
          <a:prstGeom prst="rect">
            <a:avLst/>
          </a:prstGeom>
          <a:solidFill>
            <a:srgbClr val="13AE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40"/>
          <p:cNvSpPr txBox="1"/>
          <p:nvPr>
            <p:ph idx="1" type="subTitle"/>
          </p:nvPr>
        </p:nvSpPr>
        <p:spPr>
          <a:xfrm>
            <a:off x="409575" y="1233145"/>
            <a:ext cx="8125500" cy="35382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V. Stodden. 2020. The data science life cycle: a disciplined approach to advancing data science as a science. Communications of the ACM 63, 7 (July 2020), 58–66. </a:t>
            </a:r>
            <a:r>
              <a:rPr lang="en" sz="1200" u="sng">
                <a:solidFill>
                  <a:schemeClr val="dk1"/>
                </a:solidFill>
                <a:latin typeface="Inter"/>
                <a:ea typeface="Inter"/>
                <a:cs typeface="Inter"/>
                <a:sym typeface="Inter"/>
                <a:hlinkClick r:id="rId3">
                  <a:extLst>
                    <a:ext uri="{A12FA001-AC4F-418D-AE19-62706E023703}">
                      <ahyp:hlinkClr val="tx"/>
                    </a:ext>
                  </a:extLst>
                </a:hlinkClick>
              </a:rPr>
              <a:t>https://doi.org/10.1145/3360646</a:t>
            </a:r>
            <a:r>
              <a:rPr lang="en" sz="1200">
                <a:solidFill>
                  <a:schemeClr val="dk1"/>
                </a:solidFill>
                <a:latin typeface="Inter"/>
                <a:ea typeface="Inter"/>
                <a:cs typeface="Inter"/>
                <a:sym typeface="Inter"/>
              </a:rPr>
              <a:t> </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t/>
            </a:r>
            <a:endParaRPr sz="1200">
              <a:solidFill>
                <a:schemeClr val="dk1"/>
              </a:solidFill>
              <a:latin typeface="Inter"/>
              <a:ea typeface="Inter"/>
              <a:cs typeface="Inter"/>
              <a:sym typeface="Inter"/>
            </a:endParaRPr>
          </a:p>
          <a:p>
            <a:pPr indent="-304800" lvl="0" marL="457200" rtl="0" algn="l">
              <a:lnSpc>
                <a:spcPct val="115000"/>
              </a:lnSpc>
              <a:spcBef>
                <a:spcPts val="120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D. Wang, J. Andres, J. D. Weisz, E. Oduor, and C. Dugan. 2021. AutoDS: Towards Human-Centered Automation of Data Science. In Proceedings of the 2021 CHI Conference on Human Factors in Computing Systems (CHI '21). Association for Computing Machinery, New York, NY, USA, Article 79, 1–12. </a:t>
            </a:r>
            <a:r>
              <a:rPr lang="en" sz="1200" u="sng">
                <a:solidFill>
                  <a:schemeClr val="dk1"/>
                </a:solidFill>
                <a:latin typeface="Inter"/>
                <a:ea typeface="Inter"/>
                <a:cs typeface="Inter"/>
                <a:sym typeface="Inter"/>
                <a:hlinkClick r:id="rId4">
                  <a:extLst>
                    <a:ext uri="{A12FA001-AC4F-418D-AE19-62706E023703}">
                      <ahyp:hlinkClr val="tx"/>
                    </a:ext>
                  </a:extLst>
                </a:hlinkClick>
              </a:rPr>
              <a:t>https://doi.org/10.1145/3411764.3445526</a:t>
            </a:r>
            <a:r>
              <a:rPr lang="en" sz="1200">
                <a:solidFill>
                  <a:schemeClr val="dk1"/>
                </a:solidFill>
                <a:latin typeface="Inter"/>
                <a:ea typeface="Inter"/>
                <a:cs typeface="Inter"/>
                <a:sym typeface="Inter"/>
              </a:rPr>
              <a:t> </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t/>
            </a:r>
            <a:endParaRPr sz="1200">
              <a:solidFill>
                <a:schemeClr val="dk1"/>
              </a:solidFill>
              <a:latin typeface="Inter"/>
              <a:ea typeface="Inter"/>
              <a:cs typeface="Inter"/>
              <a:sym typeface="Inter"/>
            </a:endParaRPr>
          </a:p>
          <a:p>
            <a:pPr indent="-304800" lvl="0" marL="457200" rtl="0" algn="l">
              <a:lnSpc>
                <a:spcPct val="115000"/>
              </a:lnSpc>
              <a:spcBef>
                <a:spcPts val="1200"/>
              </a:spcBef>
              <a:spcAft>
                <a:spcPts val="0"/>
              </a:spcAft>
              <a:buClr>
                <a:schemeClr val="dk1"/>
              </a:buClr>
              <a:buSzPts val="1200"/>
              <a:buFont typeface="Inter"/>
              <a:buAutoNum type="arabicPeriod"/>
            </a:pPr>
            <a:r>
              <a:rPr lang="en" sz="1200">
                <a:solidFill>
                  <a:schemeClr val="dk1"/>
                </a:solidFill>
                <a:latin typeface="Inter"/>
                <a:ea typeface="Inter"/>
                <a:cs typeface="Inter"/>
                <a:sym typeface="Inter"/>
              </a:rPr>
              <a:t>M. Boenig-Liptsin, A. Tanweer, and A. Edmundson. 2022. Data Science Ethos Lifecycle: Interplay of Ethical Thinking and Data Science Practice. Journal of Statistics and Data Science Education 30, 3 (2022), 228–240. https://doi.org/10.1080/26939169.2022.2089411</a:t>
            </a:r>
            <a:endParaRPr sz="1200">
              <a:solidFill>
                <a:schemeClr val="dk1"/>
              </a:solidFill>
              <a:latin typeface="Inter"/>
              <a:ea typeface="Inter"/>
              <a:cs typeface="Inter"/>
              <a:sym typeface="Inter"/>
            </a:endParaRPr>
          </a:p>
          <a:p>
            <a:pPr indent="0" lvl="0" marL="0" rtl="0" algn="ctr">
              <a:lnSpc>
                <a:spcPct val="115000"/>
              </a:lnSpc>
              <a:spcBef>
                <a:spcPts val="1200"/>
              </a:spcBef>
              <a:spcAft>
                <a:spcPts val="0"/>
              </a:spcAft>
              <a:buNone/>
            </a:pPr>
            <a:r>
              <a:t/>
            </a:r>
            <a:endParaRPr sz="1200">
              <a:solidFill>
                <a:schemeClr val="dk1"/>
              </a:solidFill>
              <a:latin typeface="Inter"/>
              <a:ea typeface="Inter"/>
              <a:cs typeface="Inter"/>
              <a:sym typeface="Inter"/>
            </a:endParaRPr>
          </a:p>
          <a:p>
            <a:pPr indent="0" lvl="0" marL="0" rtl="0" algn="ctr">
              <a:lnSpc>
                <a:spcPct val="115000"/>
              </a:lnSpc>
              <a:spcBef>
                <a:spcPts val="0"/>
              </a:spcBef>
              <a:spcAft>
                <a:spcPts val="0"/>
              </a:spcAft>
              <a:buNone/>
            </a:pPr>
            <a:r>
              <a:t/>
            </a:r>
            <a:endParaRPr sz="1200">
              <a:solidFill>
                <a:schemeClr val="dk1"/>
              </a:solidFill>
              <a:latin typeface="Inter"/>
              <a:ea typeface="Inter"/>
              <a:cs typeface="Inter"/>
              <a:sym typeface="Inter"/>
            </a:endParaRPr>
          </a:p>
        </p:txBody>
      </p:sp>
      <p:sp>
        <p:nvSpPr>
          <p:cNvPr id="548" name="Google Shape;548;p40"/>
          <p:cNvSpPr txBox="1"/>
          <p:nvPr>
            <p:ph idx="1" type="subTitle"/>
          </p:nvPr>
        </p:nvSpPr>
        <p:spPr>
          <a:xfrm>
            <a:off x="409575" y="447125"/>
            <a:ext cx="8125500" cy="855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3500">
                <a:solidFill>
                  <a:schemeClr val="dk1"/>
                </a:solidFill>
                <a:latin typeface="Roboto"/>
                <a:ea typeface="Roboto"/>
                <a:cs typeface="Roboto"/>
                <a:sym typeface="Roboto"/>
              </a:rPr>
              <a:t>Credits and References</a:t>
            </a:r>
            <a:endParaRPr i="1" sz="3500">
              <a:solidFill>
                <a:schemeClr val="dk1"/>
              </a:solidFill>
              <a:latin typeface="Roboto"/>
              <a:ea typeface="Roboto"/>
              <a:cs typeface="Roboto"/>
              <a:sym typeface="Roboto"/>
            </a:endParaRPr>
          </a:p>
        </p:txBody>
      </p:sp>
      <p:grpSp>
        <p:nvGrpSpPr>
          <p:cNvPr id="549" name="Google Shape;549;p40"/>
          <p:cNvGrpSpPr/>
          <p:nvPr/>
        </p:nvGrpSpPr>
        <p:grpSpPr>
          <a:xfrm>
            <a:off x="8625" y="0"/>
            <a:ext cx="9144000" cy="267600"/>
            <a:chOff x="8625" y="0"/>
            <a:chExt cx="9144000" cy="267600"/>
          </a:xfrm>
        </p:grpSpPr>
        <p:sp>
          <p:nvSpPr>
            <p:cNvPr id="550" name="Google Shape;550;p4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1" name="Google Shape;551;p40" title="Logo Header.png"/>
            <p:cNvPicPr preferRelativeResize="0"/>
            <p:nvPr/>
          </p:nvPicPr>
          <p:blipFill>
            <a:blip r:embed="rId5">
              <a:alphaModFix/>
            </a:blip>
            <a:stretch>
              <a:fillRect/>
            </a:stretch>
          </p:blipFill>
          <p:spPr>
            <a:xfrm>
              <a:off x="8348195" y="15790"/>
              <a:ext cx="634775" cy="199625"/>
            </a:xfrm>
            <a:prstGeom prst="rect">
              <a:avLst/>
            </a:prstGeom>
            <a:noFill/>
            <a:ln>
              <a:noFill/>
            </a:ln>
          </p:spPr>
        </p:pic>
      </p:grpSp>
      <p:pic>
        <p:nvPicPr>
          <p:cNvPr id="552" name="Google Shape;552;p40" title="Logo Main.png"/>
          <p:cNvPicPr preferRelativeResize="0"/>
          <p:nvPr/>
        </p:nvPicPr>
        <p:blipFill>
          <a:blip r:embed="rId6">
            <a:alphaModFix/>
          </a:blip>
          <a:stretch>
            <a:fillRect/>
          </a:stretch>
        </p:blipFill>
        <p:spPr>
          <a:xfrm>
            <a:off x="452725" y="4321701"/>
            <a:ext cx="1529475" cy="4345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