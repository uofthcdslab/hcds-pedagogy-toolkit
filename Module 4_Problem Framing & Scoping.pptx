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Lst>
  <p:sldSz cy="5143500" cx="9144000"/>
  <p:notesSz cx="6858000" cy="9144000"/>
  <p:embeddedFontLst>
    <p:embeddedFont>
      <p:font typeface="Roboto"/>
      <p:regular r:id="rId38"/>
      <p:bold r:id="rId39"/>
      <p:italic r:id="rId40"/>
      <p:boldItalic r:id="rId41"/>
    </p:embeddedFont>
    <p:embeddedFont>
      <p:font typeface="Inter"/>
      <p:regular r:id="rId42"/>
      <p:bold r:id="rId43"/>
      <p:italic r:id="rId44"/>
      <p:boldItalic r:id="rId4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46" roundtripDataSignature="AMtx7mhahV90ZDJ8mn5K8CBoi107cYju7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D242995-2E1B-4E11-8BAC-C2370DC31B60}">
  <a:tblStyle styleId="{BD242995-2E1B-4E11-8BAC-C2370DC31B60}"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italic.fntdata"/><Relationship Id="rId20" Type="http://schemas.openxmlformats.org/officeDocument/2006/relationships/slide" Target="slides/slide14.xml"/><Relationship Id="rId42" Type="http://schemas.openxmlformats.org/officeDocument/2006/relationships/font" Target="fonts/Inter-regular.fntdata"/><Relationship Id="rId41" Type="http://schemas.openxmlformats.org/officeDocument/2006/relationships/font" Target="fonts/Roboto-boldItalic.fntdata"/><Relationship Id="rId22" Type="http://schemas.openxmlformats.org/officeDocument/2006/relationships/slide" Target="slides/slide16.xml"/><Relationship Id="rId44" Type="http://schemas.openxmlformats.org/officeDocument/2006/relationships/font" Target="fonts/Inter-italic.fntdata"/><Relationship Id="rId21" Type="http://schemas.openxmlformats.org/officeDocument/2006/relationships/slide" Target="slides/slide15.xml"/><Relationship Id="rId43" Type="http://schemas.openxmlformats.org/officeDocument/2006/relationships/font" Target="fonts/Inter-bold.fntdata"/><Relationship Id="rId24" Type="http://schemas.openxmlformats.org/officeDocument/2006/relationships/slide" Target="slides/slide18.xml"/><Relationship Id="rId46" Type="http://customschemas.google.com/relationships/presentationmetadata" Target="metadata"/><Relationship Id="rId23" Type="http://schemas.openxmlformats.org/officeDocument/2006/relationships/slide" Target="slides/slide17.xml"/><Relationship Id="rId45" Type="http://schemas.openxmlformats.org/officeDocument/2006/relationships/font" Target="fonts/Inter-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font" Target="fonts/Roboto-bold.fntdata"/><Relationship Id="rId16" Type="http://schemas.openxmlformats.org/officeDocument/2006/relationships/slide" Target="slides/slide10.xml"/><Relationship Id="rId38" Type="http://schemas.openxmlformats.org/officeDocument/2006/relationships/font" Target="fonts/Roboto-regular.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2" name="Google Shape;62;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4" name="Google Shape;74;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e45df3a92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4" name="Google Shape;84;g3e45df3a92f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d9c53c21c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4" name="Google Shape;94;g3d9c53c21cc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d5f0fe9fd8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5" name="Google Shape;105;g3d5f0fe9fd8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a:t>
            </a:r>
            <a:r>
              <a:rPr lang="en" sz="1050">
                <a:solidFill>
                  <a:srgbClr val="444746"/>
                </a:solidFill>
                <a:latin typeface="Roboto"/>
                <a:ea typeface="Roboto"/>
                <a:cs typeface="Roboto"/>
                <a:sym typeface="Roboto"/>
              </a:rPr>
              <a:t>How do commercial gender classification systems vary in error rate across intersectional groups?” is empirical because it can be tested with system outputs; falsifiable because the error rates may or may not differ; focused because it specifies a task and comparison; and important because the results affect accountability, representation, and downstream use of facial analysis systems.</a:t>
            </a:r>
            <a:r>
              <a:rPr lang="en"/>
              <a:t>”</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d5f0fe9fd8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4" name="Google Shape;134;g3d5f0fe9fd8_0_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d5f0fe9fd8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4" name="Google Shape;144;g3d5f0fe9fd8_0_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d80d24d5dc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7" name="Google Shape;157;g3d80d24d5dc_0_8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d5f0fe9fd8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8" name="Google Shape;178;g3d5f0fe9fd8_0_9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e2494f9b6f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0" name="Google Shape;190;g3e2494f9b6f_0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d5f0fe9fd8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3" name="Google Shape;203;g3d5f0fe9fd8_0_7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7" name="Google Shape;227;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d5f0fe9fd8_0_3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2" name="Google Shape;252;g3d5f0fe9fd8_0_3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d5f0fe9fd8_0_4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5" name="Google Shape;275;g3d5f0fe9fd8_0_4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3d5f0fe9fd8_0_3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2" name="Google Shape;292;g3d5f0fe9fd8_0_3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3d5f0fe9fd8_0_3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7" name="Google Shape;317;g3d5f0fe9fd8_0_39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3d5f0fe9fd8_0_4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5" name="Google Shape;335;g3d5f0fe9fd8_0_4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3d66280ef2d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6" name="Google Shape;346;g3d66280ef2d_0_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3c5d521f515_0_2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7" name="Google Shape;367;g3c5d521f515_0_2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3d5f0fe9fd8_0_4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0" name="Google Shape;380;g3d5f0fe9fd8_0_4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3e45df3a92f_0_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9" name="Google Shape;399;g3e45df3a92f_0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3d5f0fe9fd8_0_4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9" name="Google Shape;409;g3d5f0fe9fd8_0_4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g3e45df3a92f_0_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6" name="Google Shape;426;g3e45df3a92f_0_1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3d5f0fe9fd8_0_4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6" name="Google Shape;436;g3d5f0fe9fd8_0_49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g3e45df3a92f_0_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1" name="Google Shape;451;g3e45df3a92f_0_18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g3d5f0fe9fd8_0_5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1" name="Google Shape;461;g3d5f0fe9fd8_0_5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g3e45df3a92f_0_2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6" name="Google Shape;476;g3e45df3a92f_0_20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6" name="Google Shape;486;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g3d972e05592_3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7" name="Google Shape;497;g3d972e05592_3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6" name="Google Shape;516;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8"/>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28"/>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3" name="Shape 13"/>
        <p:cNvGrpSpPr/>
        <p:nvPr/>
      </p:nvGrpSpPr>
      <p:grpSpPr>
        <a:xfrm>
          <a:off x="0" y="0"/>
          <a:ext cx="0" cy="0"/>
          <a:chOff x="0" y="0"/>
          <a:chExt cx="0" cy="0"/>
        </a:xfrm>
      </p:grpSpPr>
      <p:sp>
        <p:nvSpPr>
          <p:cNvPr id="14" name="Google Shape;14;p2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0"/>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7" name="Google Shape;17;p3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3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0" name="Google Shape;20;p3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1" name="Google Shape;21;p3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 name="Shape 22"/>
        <p:cNvGrpSpPr/>
        <p:nvPr/>
      </p:nvGrpSpPr>
      <p:grpSpPr>
        <a:xfrm>
          <a:off x="0" y="0"/>
          <a:ext cx="0" cy="0"/>
          <a:chOff x="0" y="0"/>
          <a:chExt cx="0" cy="0"/>
        </a:xfrm>
      </p:grpSpPr>
      <p:sp>
        <p:nvSpPr>
          <p:cNvPr id="23" name="Google Shape;23;p3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4" name="Google Shape;24;p32"/>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5" name="Google Shape;25;p32"/>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6" name="Google Shape;26;p3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3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9" name="Google Shape;29;p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0" name="Shape 30"/>
        <p:cNvGrpSpPr/>
        <p:nvPr/>
      </p:nvGrpSpPr>
      <p:grpSpPr>
        <a:xfrm>
          <a:off x="0" y="0"/>
          <a:ext cx="0" cy="0"/>
          <a:chOff x="0" y="0"/>
          <a:chExt cx="0" cy="0"/>
        </a:xfrm>
      </p:grpSpPr>
      <p:sp>
        <p:nvSpPr>
          <p:cNvPr id="31" name="Google Shape;31;p34"/>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2" name="Google Shape;32;p34"/>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3" name="Google Shape;33;p3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4" name="Shape 34"/>
        <p:cNvGrpSpPr/>
        <p:nvPr/>
      </p:nvGrpSpPr>
      <p:grpSpPr>
        <a:xfrm>
          <a:off x="0" y="0"/>
          <a:ext cx="0" cy="0"/>
          <a:chOff x="0" y="0"/>
          <a:chExt cx="0" cy="0"/>
        </a:xfrm>
      </p:grpSpPr>
      <p:sp>
        <p:nvSpPr>
          <p:cNvPr id="35" name="Google Shape;35;p35"/>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6" name="Google Shape;36;p3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7" name="Shape 37"/>
        <p:cNvGrpSpPr/>
        <p:nvPr/>
      </p:nvGrpSpPr>
      <p:grpSpPr>
        <a:xfrm>
          <a:off x="0" y="0"/>
          <a:ext cx="0" cy="0"/>
          <a:chOff x="0" y="0"/>
          <a:chExt cx="0" cy="0"/>
        </a:xfrm>
      </p:grpSpPr>
      <p:sp>
        <p:nvSpPr>
          <p:cNvPr id="38" name="Google Shape;38;p36"/>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36"/>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0" name="Google Shape;40;p36"/>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1" name="Google Shape;41;p36"/>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2" name="Google Shape;42;p3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37"/>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5" name="Google Shape;45;p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38"/>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8" name="Google Shape;48;p38"/>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9" name="Google Shape;49;p3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2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2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 Id="rId4" Type="http://schemas.openxmlformats.org/officeDocument/2006/relationships/image" Target="../media/image1.png"/><Relationship Id="rId5"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2.png"/><Relationship Id="rId5" Type="http://schemas.openxmlformats.org/officeDocument/2006/relationships/image" Target="../media/image9.png"/><Relationship Id="rId6"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1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15.png"/><Relationship Id="rId5" Type="http://schemas.openxmlformats.org/officeDocument/2006/relationships/image" Target="../media/image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5.png"/><Relationship Id="rId4" Type="http://schemas.openxmlformats.org/officeDocument/2006/relationships/image" Target="../media/image6.png"/><Relationship Id="rId9" Type="http://schemas.openxmlformats.org/officeDocument/2006/relationships/image" Target="../media/image10.png"/><Relationship Id="rId5" Type="http://schemas.openxmlformats.org/officeDocument/2006/relationships/image" Target="../media/image12.png"/><Relationship Id="rId6" Type="http://schemas.openxmlformats.org/officeDocument/2006/relationships/image" Target="../media/image7.png"/><Relationship Id="rId7" Type="http://schemas.openxmlformats.org/officeDocument/2006/relationships/image" Target="../media/image11.png"/><Relationship Id="rId8"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6.png"/><Relationship Id="rId4" Type="http://schemas.openxmlformats.org/officeDocument/2006/relationships/image" Target="../media/image8.png"/><Relationship Id="rId5" Type="http://schemas.openxmlformats.org/officeDocument/2006/relationships/hyperlink" Target="https://mlr3fairness.mlr-org.com/reference/compas.html" TargetMode="External"/><Relationship Id="rId6" Type="http://schemas.openxmlformats.org/officeDocument/2006/relationships/image" Target="../media/image1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6.png"/><Relationship Id="rId4" Type="http://schemas.openxmlformats.org/officeDocument/2006/relationships/image" Target="../media/image8.png"/><Relationship Id="rId5" Type="http://schemas.openxmlformats.org/officeDocument/2006/relationships/hyperlink" Target="https://mlr3fairness.mlr-org.com/reference/compas.html" TargetMode="External"/><Relationship Id="rId6" Type="http://schemas.openxmlformats.org/officeDocument/2006/relationships/image" Target="../media/image1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6.png"/><Relationship Id="rId4" Type="http://schemas.openxmlformats.org/officeDocument/2006/relationships/image" Target="../media/image14.png"/><Relationship Id="rId5" Type="http://schemas.openxmlformats.org/officeDocument/2006/relationships/image" Target="../media/image16.png"/><Relationship Id="rId6" Type="http://schemas.openxmlformats.org/officeDocument/2006/relationships/image" Target="../media/image1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6.png"/><Relationship Id="rId4" Type="http://schemas.openxmlformats.org/officeDocument/2006/relationships/image" Target="../media/image14.png"/><Relationship Id="rId5" Type="http://schemas.openxmlformats.org/officeDocument/2006/relationships/image" Target="../media/image16.png"/><Relationship Id="rId6"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6.png"/><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6.png"/><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6.png"/><Relationship Id="rId4" Type="http://schemas.openxmlformats.org/officeDocument/2006/relationships/image" Target="../media/image8.png"/><Relationship Id="rId5" Type="http://schemas.openxmlformats.org/officeDocument/2006/relationships/image" Target="../media/image20.png"/><Relationship Id="rId6" Type="http://schemas.openxmlformats.org/officeDocument/2006/relationships/hyperlink" Target="https://huggingface.co/datasets/HuggingFaceM4/FairFace"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6.png"/><Relationship Id="rId4"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6.png"/><Relationship Id="rId4" Type="http://schemas.openxmlformats.org/officeDocument/2006/relationships/image" Target="../media/image1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6.png"/><Relationship Id="rId4" Type="http://schemas.openxmlformats.org/officeDocument/2006/relationships/image" Target="../media/image2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6.png"/><Relationship Id="rId4" Type="http://schemas.openxmlformats.org/officeDocument/2006/relationships/image" Target="../media/image2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6.png"/><Relationship Id="rId4" Type="http://schemas.openxmlformats.org/officeDocument/2006/relationships/image" Target="../media/image24.png"/><Relationship Id="rId5" Type="http://schemas.openxmlformats.org/officeDocument/2006/relationships/hyperlink" Target="https://www.aoda.ca/implementing-federal-standards-for-accessibility-in-information-and-technology/" TargetMode="External"/><Relationship Id="rId6" Type="http://schemas.openxmlformats.org/officeDocument/2006/relationships/hyperlink" Target="https://www.aoda.ca/implementing-federal-standards-for-accessibility-in-information-and-technology/"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6.png"/><Relationship Id="rId4" Type="http://schemas.openxmlformats.org/officeDocument/2006/relationships/image" Target="../media/image2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6.png"/><Relationship Id="rId4" Type="http://schemas.openxmlformats.org/officeDocument/2006/relationships/image" Target="../media/image2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6.png"/><Relationship Id="rId4" Type="http://schemas.openxmlformats.org/officeDocument/2006/relationships/image" Target="../media/image2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6.png"/><Relationship Id="rId4" Type="http://schemas.openxmlformats.org/officeDocument/2006/relationships/image" Target="../media/image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6.png"/><Relationship Id="rId4" Type="http://schemas.openxmlformats.org/officeDocument/2006/relationships/hyperlink" Target="https://doresearch.stanford.edu/who-we-are/responsible-and-ethical-conduct-research-education" TargetMode="External"/><Relationship Id="rId11" Type="http://schemas.openxmlformats.org/officeDocument/2006/relationships/hyperlink" Target="https://about.citiprogram.org/get-to-know-citi-program/" TargetMode="External"/><Relationship Id="rId10" Type="http://schemas.openxmlformats.org/officeDocument/2006/relationships/hyperlink" Target="https://tcps2core.ca/welcome" TargetMode="External"/><Relationship Id="rId9" Type="http://schemas.openxmlformats.org/officeDocument/2006/relationships/hyperlink" Target="https://www.nsf.gov/funding/research-involving-human-subjects" TargetMode="External"/><Relationship Id="rId5" Type="http://schemas.openxmlformats.org/officeDocument/2006/relationships/hyperlink" Target="https://jhura.jhu.edu/compliance-2/human-subjects/" TargetMode="External"/><Relationship Id="rId6" Type="http://schemas.openxmlformats.org/officeDocument/2006/relationships/hyperlink" Target="https://www.hhs.gov/ohrp/sites/default/files/educational-resources-for-irb-members.pdf" TargetMode="External"/><Relationship Id="rId7" Type="http://schemas.openxmlformats.org/officeDocument/2006/relationships/hyperlink" Target="https://www.hhs.gov/ohrp/sites/default/files/educational-resources-for-irb-members.pdf" TargetMode="External"/><Relationship Id="rId8" Type="http://schemas.openxmlformats.org/officeDocument/2006/relationships/hyperlink" Target="https://www.nih.gov/health-information/nih-clinical-research-trials-you/guiding-principles-ethical-research"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hyperlink" Target="https://www.hhs.gov/ohrp/regulations-and-policy/belmont-report/read-the-belmont-report/index.html" TargetMode="External"/><Relationship Id="rId4" Type="http://schemas.openxmlformats.org/officeDocument/2006/relationships/hyperlink" Target="https://doi.org/10.1093/jamia/ocaf183" TargetMode="External"/><Relationship Id="rId11" Type="http://schemas.openxmlformats.org/officeDocument/2006/relationships/image" Target="../media/image8.png"/><Relationship Id="rId10" Type="http://schemas.openxmlformats.org/officeDocument/2006/relationships/image" Target="../media/image6.png"/><Relationship Id="rId9" Type="http://schemas.openxmlformats.org/officeDocument/2006/relationships/hyperlink" Target="https://www.propublica.org/article/how-we-analyzed-the-compas-recidivism-algorithm" TargetMode="External"/><Relationship Id="rId5" Type="http://schemas.openxmlformats.org/officeDocument/2006/relationships/hyperlink" Target="https://proceedings.mlr.press/v81/buolamwini18a.html" TargetMode="External"/><Relationship Id="rId6" Type="http://schemas.openxmlformats.org/officeDocument/2006/relationships/hyperlink" Target="https://huggingface.co/datasets/HuggingFaceM4/FairFace" TargetMode="External"/><Relationship Id="rId7" Type="http://schemas.openxmlformats.org/officeDocument/2006/relationships/hyperlink" Target="https://mlr3fairness.mlr-org.com/reference/compas.html" TargetMode="External"/><Relationship Id="rId8" Type="http://schemas.openxmlformats.org/officeDocument/2006/relationships/hyperlink" Target="https://mlr3fairness.mlr-org.com/reference/compas.html"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
          <p:cNvSpPr txBox="1"/>
          <p:nvPr>
            <p:ph idx="1" type="subTitle"/>
          </p:nvPr>
        </p:nvSpPr>
        <p:spPr>
          <a:xfrm>
            <a:off x="452725" y="1134000"/>
            <a:ext cx="8204400" cy="24129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027"/>
              <a:buNone/>
            </a:pPr>
            <a:r>
              <a:rPr b="1" lang="en" sz="4800">
                <a:solidFill>
                  <a:schemeClr val="dk1"/>
                </a:solidFill>
                <a:latin typeface="Inter"/>
                <a:ea typeface="Inter"/>
                <a:cs typeface="Inter"/>
                <a:sym typeface="Inter"/>
                <a:extLst>
                  <a:ext uri="http://customooxmlschemas.google.com/">
                    <go:slidesCustomData xmlns:go="http://customooxmlschemas.google.com/" textRoundtripDataId="0"/>
                  </a:ext>
                </a:extLst>
              </a:rPr>
              <a:t>Problem Framing</a:t>
            </a:r>
            <a:r>
              <a:rPr b="1" lang="en" sz="4800">
                <a:solidFill>
                  <a:schemeClr val="dk1"/>
                </a:solidFill>
                <a:latin typeface="Inter"/>
                <a:ea typeface="Inter"/>
                <a:cs typeface="Inter"/>
                <a:sym typeface="Inter"/>
                <a:extLst>
                  <a:ext uri="http://customooxmlschemas.google.com/">
                    <go:slidesCustomData xmlns:go="http://customooxmlschemas.google.com/" textRoundtripDataId="1"/>
                  </a:ext>
                </a:extLst>
              </a:rPr>
              <a:t> </a:t>
            </a:r>
            <a:endParaRPr b="1" sz="4800">
              <a:solidFill>
                <a:schemeClr val="dk1"/>
              </a:solidFill>
              <a:latin typeface="Inter"/>
              <a:ea typeface="Inter"/>
              <a:cs typeface="Inter"/>
              <a:sym typeface="Inter"/>
              <a:extLst>
                <a:ext uri="http://customooxmlschemas.google.com/">
                  <go:slidesCustomData xmlns:go="http://customooxmlschemas.google.com/" textRoundtripDataId="2"/>
                </a:ext>
              </a:extLst>
            </a:endParaRPr>
          </a:p>
          <a:p>
            <a:pPr indent="0" lvl="0" marL="0" rtl="0" algn="l">
              <a:lnSpc>
                <a:spcPct val="100000"/>
              </a:lnSpc>
              <a:spcBef>
                <a:spcPts val="0"/>
              </a:spcBef>
              <a:spcAft>
                <a:spcPts val="0"/>
              </a:spcAft>
              <a:buSzPts val="3027"/>
              <a:buNone/>
            </a:pPr>
            <a:r>
              <a:rPr b="1" lang="en" sz="4800">
                <a:solidFill>
                  <a:schemeClr val="dk1"/>
                </a:solidFill>
                <a:latin typeface="Inter"/>
                <a:ea typeface="Inter"/>
                <a:cs typeface="Inter"/>
                <a:sym typeface="Inter"/>
                <a:extLst>
                  <a:ext uri="http://customooxmlschemas.google.com/">
                    <go:slidesCustomData xmlns:go="http://customooxmlschemas.google.com/" textRoundtripDataId="3"/>
                  </a:ext>
                </a:extLst>
              </a:rPr>
              <a:t>Scoping</a:t>
            </a:r>
            <a:endParaRPr b="1" sz="4800">
              <a:solidFill>
                <a:schemeClr val="dk1"/>
              </a:solidFill>
              <a:latin typeface="Inter"/>
              <a:ea typeface="Inter"/>
              <a:cs typeface="Inter"/>
              <a:sym typeface="Inter"/>
            </a:endParaRPr>
          </a:p>
        </p:txBody>
      </p:sp>
      <p:grpSp>
        <p:nvGrpSpPr>
          <p:cNvPr id="55" name="Google Shape;55;p1"/>
          <p:cNvGrpSpPr/>
          <p:nvPr/>
        </p:nvGrpSpPr>
        <p:grpSpPr>
          <a:xfrm>
            <a:off x="8625" y="0"/>
            <a:ext cx="9144000" cy="267600"/>
            <a:chOff x="8625" y="0"/>
            <a:chExt cx="9144000" cy="267600"/>
          </a:xfrm>
        </p:grpSpPr>
        <p:sp>
          <p:nvSpPr>
            <p:cNvPr id="56" name="Google Shape;56;p1"/>
            <p:cNvSpPr/>
            <p:nvPr/>
          </p:nvSpPr>
          <p:spPr>
            <a:xfrm>
              <a:off x="8625" y="0"/>
              <a:ext cx="9144000" cy="2676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7" name="Google Shape;57;p1" title="Logo Header.png"/>
            <p:cNvPicPr preferRelativeResize="0"/>
            <p:nvPr/>
          </p:nvPicPr>
          <p:blipFill rotWithShape="1">
            <a:blip r:embed="rId3">
              <a:alphaModFix/>
            </a:blip>
            <a:srcRect b="0" l="0" r="0" t="0"/>
            <a:stretch/>
          </p:blipFill>
          <p:spPr>
            <a:xfrm>
              <a:off x="8348195" y="15790"/>
              <a:ext cx="634775" cy="199625"/>
            </a:xfrm>
            <a:prstGeom prst="rect">
              <a:avLst/>
            </a:prstGeom>
            <a:noFill/>
            <a:ln>
              <a:noFill/>
            </a:ln>
          </p:spPr>
        </p:pic>
      </p:grpSp>
      <p:pic>
        <p:nvPicPr>
          <p:cNvPr id="58" name="Google Shape;58;p1" title="diamond.png"/>
          <p:cNvPicPr preferRelativeResize="0"/>
          <p:nvPr/>
        </p:nvPicPr>
        <p:blipFill rotWithShape="1">
          <a:blip r:embed="rId4">
            <a:alphaModFix/>
          </a:blip>
          <a:srcRect b="0" l="0" r="0" t="0"/>
          <a:stretch/>
        </p:blipFill>
        <p:spPr>
          <a:xfrm>
            <a:off x="5731144" y="1400711"/>
            <a:ext cx="651733" cy="434500"/>
          </a:xfrm>
          <a:prstGeom prst="rect">
            <a:avLst/>
          </a:prstGeom>
          <a:noFill/>
          <a:ln>
            <a:noFill/>
          </a:ln>
        </p:spPr>
      </p:pic>
      <p:pic>
        <p:nvPicPr>
          <p:cNvPr id="59" name="Google Shape;59;p1" title="Logo Main.png"/>
          <p:cNvPicPr preferRelativeResize="0"/>
          <p:nvPr/>
        </p:nvPicPr>
        <p:blipFill rotWithShape="1">
          <a:blip r:embed="rId5">
            <a:alphaModFix/>
          </a:blip>
          <a:srcRect b="0" l="0" r="0" t="0"/>
          <a:stretch/>
        </p:blipFill>
        <p:spPr>
          <a:xfrm>
            <a:off x="452725" y="4090625"/>
            <a:ext cx="1529475" cy="434512"/>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2"/>
          <p:cNvSpPr txBox="1"/>
          <p:nvPr>
            <p:ph idx="1" type="subTitle"/>
          </p:nvPr>
        </p:nvSpPr>
        <p:spPr>
          <a:xfrm>
            <a:off x="529211" y="1500675"/>
            <a:ext cx="7581300" cy="3184500"/>
          </a:xfrm>
          <a:prstGeom prst="rect">
            <a:avLst/>
          </a:prstGeom>
          <a:noFill/>
          <a:ln>
            <a:noFill/>
          </a:ln>
        </p:spPr>
        <p:txBody>
          <a:bodyPr anchorCtr="0" anchor="t" bIns="91425" lIns="91425" spcFirstLastPara="1" rIns="91425" wrap="square" tIns="91425">
            <a:noAutofit/>
          </a:bodyPr>
          <a:lstStyle/>
          <a:p>
            <a:pPr indent="0" lvl="0" marL="457200" rtl="0" algn="l">
              <a:lnSpc>
                <a:spcPct val="115000"/>
              </a:lnSpc>
              <a:spcBef>
                <a:spcPts val="1200"/>
              </a:spcBef>
              <a:spcAft>
                <a:spcPts val="0"/>
              </a:spcAft>
              <a:buNone/>
            </a:pPr>
            <a:r>
              <a:rPr lang="en" sz="1900">
                <a:solidFill>
                  <a:schemeClr val="dk1"/>
                </a:solidFill>
                <a:latin typeface="Inter"/>
                <a:ea typeface="Inter"/>
                <a:cs typeface="Inter"/>
                <a:sym typeface="Inter"/>
              </a:rPr>
              <a:t>Reframe optimization prompts with human goals</a:t>
            </a:r>
            <a:endParaRPr sz="1900">
              <a:solidFill>
                <a:schemeClr val="dk1"/>
              </a:solidFill>
              <a:latin typeface="Inter"/>
              <a:ea typeface="Inter"/>
              <a:cs typeface="Inter"/>
              <a:sym typeface="Inter"/>
            </a:endParaRPr>
          </a:p>
          <a:p>
            <a:pPr indent="0" lvl="0" marL="457200" rtl="0" algn="l">
              <a:lnSpc>
                <a:spcPct val="115000"/>
              </a:lnSpc>
              <a:spcBef>
                <a:spcPts val="1200"/>
              </a:spcBef>
              <a:spcAft>
                <a:spcPts val="0"/>
              </a:spcAft>
              <a:buNone/>
            </a:pPr>
            <a:r>
              <a:t/>
            </a:r>
            <a:endParaRPr sz="1900">
              <a:solidFill>
                <a:schemeClr val="dk1"/>
              </a:solidFill>
              <a:latin typeface="Inter"/>
              <a:ea typeface="Inter"/>
              <a:cs typeface="Inter"/>
              <a:sym typeface="Inter"/>
            </a:endParaRPr>
          </a:p>
          <a:p>
            <a:pPr indent="457200" lvl="0" marL="0" rtl="0" algn="l">
              <a:lnSpc>
                <a:spcPct val="115000"/>
              </a:lnSpc>
              <a:spcBef>
                <a:spcPts val="1200"/>
              </a:spcBef>
              <a:spcAft>
                <a:spcPts val="0"/>
              </a:spcAft>
              <a:buNone/>
            </a:pPr>
            <a:r>
              <a:rPr lang="en" sz="1900">
                <a:solidFill>
                  <a:schemeClr val="dk1"/>
                </a:solidFill>
                <a:latin typeface="Inter"/>
                <a:ea typeface="Inter"/>
                <a:cs typeface="Inter"/>
                <a:sym typeface="Inter"/>
              </a:rPr>
              <a:t>Define “success” beyond evaluation metrics</a:t>
            </a:r>
            <a:endParaRPr sz="1900">
              <a:solidFill>
                <a:schemeClr val="dk1"/>
              </a:solidFill>
              <a:latin typeface="Inter"/>
              <a:ea typeface="Inter"/>
              <a:cs typeface="Inter"/>
              <a:sym typeface="Inter"/>
            </a:endParaRPr>
          </a:p>
          <a:p>
            <a:pPr indent="0" lvl="0" marL="457200" rtl="0" algn="l">
              <a:lnSpc>
                <a:spcPct val="115000"/>
              </a:lnSpc>
              <a:spcBef>
                <a:spcPts val="1200"/>
              </a:spcBef>
              <a:spcAft>
                <a:spcPts val="0"/>
              </a:spcAft>
              <a:buNone/>
            </a:pPr>
            <a:r>
              <a:t/>
            </a:r>
            <a:endParaRPr sz="1900">
              <a:solidFill>
                <a:schemeClr val="dk1"/>
              </a:solidFill>
              <a:latin typeface="Inter"/>
              <a:ea typeface="Inter"/>
              <a:cs typeface="Inter"/>
              <a:sym typeface="Inter"/>
            </a:endParaRPr>
          </a:p>
          <a:p>
            <a:pPr indent="0" lvl="0" marL="457200" rtl="0" algn="l">
              <a:lnSpc>
                <a:spcPct val="115000"/>
              </a:lnSpc>
              <a:spcBef>
                <a:spcPts val="1200"/>
              </a:spcBef>
              <a:spcAft>
                <a:spcPts val="0"/>
              </a:spcAft>
              <a:buNone/>
            </a:pPr>
            <a:r>
              <a:rPr lang="en" sz="1900">
                <a:solidFill>
                  <a:schemeClr val="dk1"/>
                </a:solidFill>
                <a:latin typeface="Inter"/>
                <a:ea typeface="Inter"/>
                <a:cs typeface="Inter"/>
                <a:sym typeface="Inter"/>
              </a:rPr>
              <a:t>Anticipate human-centered trade-offs</a:t>
            </a:r>
            <a:endParaRPr sz="1900">
              <a:solidFill>
                <a:schemeClr val="dk1"/>
              </a:solidFill>
              <a:latin typeface="Inter"/>
              <a:ea typeface="Inter"/>
              <a:cs typeface="Inter"/>
              <a:sym typeface="Inter"/>
            </a:endParaRPr>
          </a:p>
          <a:p>
            <a:pPr indent="457200" lvl="0" marL="0" rtl="0" algn="l">
              <a:lnSpc>
                <a:spcPct val="150000"/>
              </a:lnSpc>
              <a:spcBef>
                <a:spcPts val="1200"/>
              </a:spcBef>
              <a:spcAft>
                <a:spcPts val="0"/>
              </a:spcAft>
              <a:buSzPts val="2800"/>
              <a:buNone/>
            </a:pPr>
            <a:r>
              <a:t/>
            </a:r>
            <a:endParaRPr sz="1700">
              <a:solidFill>
                <a:schemeClr val="dk1"/>
              </a:solidFill>
              <a:latin typeface="Inter"/>
              <a:ea typeface="Inter"/>
              <a:cs typeface="Inter"/>
              <a:sym typeface="Inter"/>
            </a:endParaRPr>
          </a:p>
          <a:p>
            <a:pPr indent="0" lvl="0" marL="457200" rtl="0" algn="l">
              <a:lnSpc>
                <a:spcPct val="115000"/>
              </a:lnSpc>
              <a:spcBef>
                <a:spcPts val="1200"/>
              </a:spcBef>
              <a:spcAft>
                <a:spcPts val="0"/>
              </a:spcAft>
              <a:buSzPts val="2800"/>
              <a:buNone/>
            </a:pPr>
            <a:r>
              <a:t/>
            </a:r>
            <a:endParaRPr sz="1700">
              <a:solidFill>
                <a:schemeClr val="dk1"/>
              </a:solidFill>
              <a:latin typeface="Inter"/>
              <a:ea typeface="Inter"/>
              <a:cs typeface="Inter"/>
              <a:sym typeface="Inter"/>
            </a:endParaRPr>
          </a:p>
        </p:txBody>
      </p:sp>
      <p:sp>
        <p:nvSpPr>
          <p:cNvPr id="65" name="Google Shape;65;p2"/>
          <p:cNvSpPr txBox="1"/>
          <p:nvPr>
            <p:ph idx="1" type="subTitle"/>
          </p:nvPr>
        </p:nvSpPr>
        <p:spPr>
          <a:xfrm>
            <a:off x="409575" y="447125"/>
            <a:ext cx="4453200" cy="7572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b="1" lang="en" sz="3500">
                <a:solidFill>
                  <a:schemeClr val="dk1"/>
                </a:solidFill>
                <a:latin typeface="Inter"/>
                <a:ea typeface="Inter"/>
                <a:cs typeface="Inter"/>
                <a:sym typeface="Inter"/>
                <a:extLst>
                  <a:ext uri="http://customooxmlschemas.google.com/">
                    <go:slidesCustomData xmlns:go="http://customooxmlschemas.google.com/" textRoundtripDataId="4"/>
                  </a:ext>
                </a:extLst>
              </a:rPr>
              <a:t>Learning Outcomes</a:t>
            </a:r>
            <a:endParaRPr b="1" sz="3500">
              <a:solidFill>
                <a:schemeClr val="dk1"/>
              </a:solidFill>
              <a:latin typeface="Inter"/>
              <a:ea typeface="Inter"/>
              <a:cs typeface="Inter"/>
              <a:sym typeface="Inter"/>
            </a:endParaRPr>
          </a:p>
        </p:txBody>
      </p:sp>
      <p:grpSp>
        <p:nvGrpSpPr>
          <p:cNvPr id="66" name="Google Shape;66;p2"/>
          <p:cNvGrpSpPr/>
          <p:nvPr/>
        </p:nvGrpSpPr>
        <p:grpSpPr>
          <a:xfrm>
            <a:off x="8625" y="0"/>
            <a:ext cx="9144000" cy="267600"/>
            <a:chOff x="8625" y="0"/>
            <a:chExt cx="9144000" cy="267600"/>
          </a:xfrm>
        </p:grpSpPr>
        <p:sp>
          <p:nvSpPr>
            <p:cNvPr id="67" name="Google Shape;67;p2"/>
            <p:cNvSpPr/>
            <p:nvPr/>
          </p:nvSpPr>
          <p:spPr>
            <a:xfrm>
              <a:off x="8625" y="0"/>
              <a:ext cx="9144000" cy="2676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68" name="Google Shape;68;p2" title="Logo Header.png"/>
            <p:cNvPicPr preferRelativeResize="0"/>
            <p:nvPr/>
          </p:nvPicPr>
          <p:blipFill rotWithShape="1">
            <a:blip r:embed="rId3">
              <a:alphaModFix/>
            </a:blip>
            <a:srcRect b="0" l="0" r="0" t="0"/>
            <a:stretch/>
          </p:blipFill>
          <p:spPr>
            <a:xfrm>
              <a:off x="8348195" y="15790"/>
              <a:ext cx="634775" cy="199625"/>
            </a:xfrm>
            <a:prstGeom prst="rect">
              <a:avLst/>
            </a:prstGeom>
            <a:noFill/>
            <a:ln>
              <a:noFill/>
            </a:ln>
          </p:spPr>
        </p:pic>
      </p:grpSp>
      <p:pic>
        <p:nvPicPr>
          <p:cNvPr id="69" name="Google Shape;69;p2" title="cone.png"/>
          <p:cNvPicPr preferRelativeResize="0"/>
          <p:nvPr/>
        </p:nvPicPr>
        <p:blipFill rotWithShape="1">
          <a:blip r:embed="rId4">
            <a:alphaModFix/>
          </a:blip>
          <a:srcRect b="0" l="0" r="0" t="0"/>
          <a:stretch/>
        </p:blipFill>
        <p:spPr>
          <a:xfrm>
            <a:off x="409575" y="2510238"/>
            <a:ext cx="466999" cy="422649"/>
          </a:xfrm>
          <a:prstGeom prst="rect">
            <a:avLst/>
          </a:prstGeom>
          <a:noFill/>
          <a:ln>
            <a:noFill/>
          </a:ln>
        </p:spPr>
      </p:pic>
      <p:pic>
        <p:nvPicPr>
          <p:cNvPr id="70" name="Google Shape;70;p2" title="cube 1.png"/>
          <p:cNvPicPr preferRelativeResize="0"/>
          <p:nvPr/>
        </p:nvPicPr>
        <p:blipFill rotWithShape="1">
          <a:blip r:embed="rId5">
            <a:alphaModFix/>
          </a:blip>
          <a:srcRect b="0" l="0" r="0" t="0"/>
          <a:stretch/>
        </p:blipFill>
        <p:spPr>
          <a:xfrm>
            <a:off x="504261" y="3486958"/>
            <a:ext cx="311425" cy="324784"/>
          </a:xfrm>
          <a:prstGeom prst="rect">
            <a:avLst/>
          </a:prstGeom>
          <a:noFill/>
          <a:ln>
            <a:noFill/>
          </a:ln>
        </p:spPr>
      </p:pic>
      <p:pic>
        <p:nvPicPr>
          <p:cNvPr id="71" name="Google Shape;71;p2" title="cube 2.png"/>
          <p:cNvPicPr preferRelativeResize="0"/>
          <p:nvPr/>
        </p:nvPicPr>
        <p:blipFill rotWithShape="1">
          <a:blip r:embed="rId6">
            <a:alphaModFix/>
          </a:blip>
          <a:srcRect b="0" l="0" r="0" t="0"/>
          <a:stretch/>
        </p:blipFill>
        <p:spPr>
          <a:xfrm>
            <a:off x="504251" y="1570748"/>
            <a:ext cx="311424" cy="385437"/>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grpSp>
        <p:nvGrpSpPr>
          <p:cNvPr id="76" name="Google Shape;76;p4"/>
          <p:cNvGrpSpPr/>
          <p:nvPr/>
        </p:nvGrpSpPr>
        <p:grpSpPr>
          <a:xfrm>
            <a:off x="8625" y="0"/>
            <a:ext cx="9144000" cy="267600"/>
            <a:chOff x="8625" y="0"/>
            <a:chExt cx="9144000" cy="267600"/>
          </a:xfrm>
        </p:grpSpPr>
        <p:sp>
          <p:nvSpPr>
            <p:cNvPr id="77" name="Google Shape;77;p4"/>
            <p:cNvSpPr/>
            <p:nvPr/>
          </p:nvSpPr>
          <p:spPr>
            <a:xfrm>
              <a:off x="8625" y="0"/>
              <a:ext cx="9144000" cy="2676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78" name="Google Shape;78;p4" title="Logo Header.png"/>
            <p:cNvPicPr preferRelativeResize="0"/>
            <p:nvPr/>
          </p:nvPicPr>
          <p:blipFill rotWithShape="1">
            <a:blip r:embed="rId3">
              <a:alphaModFix/>
            </a:blip>
            <a:srcRect b="0" l="0" r="0" t="0"/>
            <a:stretch/>
          </p:blipFill>
          <p:spPr>
            <a:xfrm>
              <a:off x="8348195" y="15790"/>
              <a:ext cx="634775" cy="199625"/>
            </a:xfrm>
            <a:prstGeom prst="rect">
              <a:avLst/>
            </a:prstGeom>
            <a:noFill/>
            <a:ln>
              <a:noFill/>
            </a:ln>
          </p:spPr>
        </p:pic>
      </p:grpSp>
      <p:sp>
        <p:nvSpPr>
          <p:cNvPr id="79" name="Google Shape;79;p4"/>
          <p:cNvSpPr txBox="1"/>
          <p:nvPr>
            <p:ph idx="1" type="subTitle"/>
          </p:nvPr>
        </p:nvSpPr>
        <p:spPr>
          <a:xfrm>
            <a:off x="1088100" y="1762050"/>
            <a:ext cx="6967800" cy="809700"/>
          </a:xfrm>
          <a:prstGeom prst="rect">
            <a:avLst/>
          </a:prstGeom>
          <a:noFill/>
          <a:ln>
            <a:noFill/>
          </a:ln>
        </p:spPr>
        <p:txBody>
          <a:bodyPr anchorCtr="0" anchor="t" bIns="91425" lIns="91425" spcFirstLastPara="1" rIns="91425" wrap="square" tIns="91425">
            <a:normAutofit fontScale="92500"/>
          </a:bodyPr>
          <a:lstStyle/>
          <a:p>
            <a:pPr indent="0" lvl="0" marL="0" rtl="0" algn="l">
              <a:lnSpc>
                <a:spcPct val="100000"/>
              </a:lnSpc>
              <a:spcBef>
                <a:spcPts val="0"/>
              </a:spcBef>
              <a:spcAft>
                <a:spcPts val="0"/>
              </a:spcAft>
              <a:buSzPct val="103704"/>
              <a:buNone/>
            </a:pPr>
            <a:r>
              <a:rPr b="1" lang="en" sz="2700">
                <a:solidFill>
                  <a:schemeClr val="dk1"/>
                </a:solidFill>
                <a:latin typeface="Inter"/>
                <a:ea typeface="Inter"/>
                <a:cs typeface="Inter"/>
                <a:sym typeface="Inter"/>
                <a:extLst>
                  <a:ext uri="http://customooxmlschemas.google.com/">
                    <go:slidesCustomData xmlns:go="http://customooxmlschemas.google.com/" textRoundtripDataId="5"/>
                  </a:ext>
                </a:extLst>
              </a:rPr>
              <a:t>Good Research Starts with a Good Question</a:t>
            </a:r>
            <a:endParaRPr b="1" sz="2700">
              <a:solidFill>
                <a:schemeClr val="dk1"/>
              </a:solidFill>
              <a:latin typeface="Inter"/>
              <a:ea typeface="Inter"/>
              <a:cs typeface="Inter"/>
              <a:sym typeface="Inter"/>
            </a:endParaRPr>
          </a:p>
        </p:txBody>
      </p:sp>
      <p:pic>
        <p:nvPicPr>
          <p:cNvPr descr="please make another circular version" id="80" name="Google Shape;80;p4"/>
          <p:cNvPicPr preferRelativeResize="0"/>
          <p:nvPr/>
        </p:nvPicPr>
        <p:blipFill>
          <a:blip r:embed="rId4">
            <a:alphaModFix/>
          </a:blip>
          <a:stretch>
            <a:fillRect/>
          </a:stretch>
        </p:blipFill>
        <p:spPr>
          <a:xfrm>
            <a:off x="4362675" y="1326184"/>
            <a:ext cx="435875" cy="435875"/>
          </a:xfrm>
          <a:prstGeom prst="rect">
            <a:avLst/>
          </a:prstGeom>
          <a:noFill/>
          <a:ln>
            <a:noFill/>
          </a:ln>
        </p:spPr>
      </p:pic>
      <p:sp>
        <p:nvSpPr>
          <p:cNvPr id="81" name="Google Shape;81;p4"/>
          <p:cNvSpPr txBox="1"/>
          <p:nvPr/>
        </p:nvSpPr>
        <p:spPr>
          <a:xfrm>
            <a:off x="583725" y="2392875"/>
            <a:ext cx="7993800" cy="5682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None/>
            </a:pPr>
            <a:r>
              <a:rPr lang="en">
                <a:solidFill>
                  <a:schemeClr val="dk1"/>
                </a:solidFill>
                <a:latin typeface="Inter"/>
                <a:ea typeface="Inter"/>
                <a:cs typeface="Inter"/>
                <a:sym typeface="Inter"/>
              </a:rPr>
              <a:t>A human-centered approach to data science shifts the focus from 'what' we can calculate to how power and values influence a study—specifically questioning whose interests are prioritized, who might be harmed, and whose voice is used to interpret the final results.</a:t>
            </a:r>
            <a:endParaRPr i="1">
              <a:solidFill>
                <a:schemeClr val="dk1"/>
              </a:solidFill>
              <a:latin typeface="Inter"/>
              <a:ea typeface="Inter"/>
              <a:cs typeface="Inter"/>
              <a:sym typeface="Inte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grpSp>
        <p:nvGrpSpPr>
          <p:cNvPr id="86" name="Google Shape;86;g3e45df3a92f_0_0"/>
          <p:cNvGrpSpPr/>
          <p:nvPr/>
        </p:nvGrpSpPr>
        <p:grpSpPr>
          <a:xfrm>
            <a:off x="8625" y="0"/>
            <a:ext cx="9144000" cy="267600"/>
            <a:chOff x="8625" y="0"/>
            <a:chExt cx="9144000" cy="267600"/>
          </a:xfrm>
        </p:grpSpPr>
        <p:sp>
          <p:nvSpPr>
            <p:cNvPr id="87" name="Google Shape;87;g3e45df3a92f_0_0"/>
            <p:cNvSpPr/>
            <p:nvPr/>
          </p:nvSpPr>
          <p:spPr>
            <a:xfrm>
              <a:off x="8625" y="0"/>
              <a:ext cx="9144000" cy="2676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88" name="Google Shape;88;g3e45df3a92f_0_0" title="Logo Header.png"/>
            <p:cNvPicPr preferRelativeResize="0"/>
            <p:nvPr/>
          </p:nvPicPr>
          <p:blipFill rotWithShape="1">
            <a:blip r:embed="rId3">
              <a:alphaModFix/>
            </a:blip>
            <a:srcRect b="0" l="0" r="0" t="0"/>
            <a:stretch/>
          </p:blipFill>
          <p:spPr>
            <a:xfrm>
              <a:off x="8348195" y="15790"/>
              <a:ext cx="634775" cy="199625"/>
            </a:xfrm>
            <a:prstGeom prst="rect">
              <a:avLst/>
            </a:prstGeom>
            <a:noFill/>
            <a:ln>
              <a:noFill/>
            </a:ln>
          </p:spPr>
        </p:pic>
      </p:grpSp>
      <p:sp>
        <p:nvSpPr>
          <p:cNvPr id="89" name="Google Shape;89;g3e45df3a92f_0_0"/>
          <p:cNvSpPr txBox="1"/>
          <p:nvPr>
            <p:ph idx="1" type="subTitle"/>
          </p:nvPr>
        </p:nvSpPr>
        <p:spPr>
          <a:xfrm>
            <a:off x="902050" y="447125"/>
            <a:ext cx="6967800" cy="809700"/>
          </a:xfrm>
          <a:prstGeom prst="rect">
            <a:avLst/>
          </a:prstGeom>
          <a:noFill/>
          <a:ln>
            <a:noFill/>
          </a:ln>
        </p:spPr>
        <p:txBody>
          <a:bodyPr anchorCtr="0" anchor="t" bIns="91425" lIns="91425" spcFirstLastPara="1" rIns="91425" wrap="square" tIns="91425">
            <a:normAutofit fontScale="92500"/>
          </a:bodyPr>
          <a:lstStyle/>
          <a:p>
            <a:pPr indent="0" lvl="0" marL="0" rtl="0" algn="l">
              <a:lnSpc>
                <a:spcPct val="100000"/>
              </a:lnSpc>
              <a:spcBef>
                <a:spcPts val="0"/>
              </a:spcBef>
              <a:spcAft>
                <a:spcPts val="0"/>
              </a:spcAft>
              <a:buSzPct val="103704"/>
              <a:buNone/>
            </a:pPr>
            <a:r>
              <a:rPr b="1" lang="en" sz="2700">
                <a:solidFill>
                  <a:schemeClr val="dk1"/>
                </a:solidFill>
                <a:latin typeface="Inter"/>
                <a:ea typeface="Inter"/>
                <a:cs typeface="Inter"/>
                <a:sym typeface="Inter"/>
                <a:extLst>
                  <a:ext uri="http://customooxmlschemas.google.com/">
                    <go:slidesCustomData xmlns:go="http://customooxmlschemas.google.com/" textRoundtripDataId="6"/>
                  </a:ext>
                </a:extLst>
              </a:rPr>
              <a:t>Good Research Starts with a Good Question</a:t>
            </a:r>
            <a:endParaRPr b="1" sz="2700">
              <a:solidFill>
                <a:schemeClr val="dk1"/>
              </a:solidFill>
              <a:latin typeface="Inter"/>
              <a:ea typeface="Inter"/>
              <a:cs typeface="Inter"/>
              <a:sym typeface="Inter"/>
            </a:endParaRPr>
          </a:p>
        </p:txBody>
      </p:sp>
      <p:sp>
        <p:nvSpPr>
          <p:cNvPr id="90" name="Google Shape;90;g3e45df3a92f_0_0"/>
          <p:cNvSpPr txBox="1"/>
          <p:nvPr/>
        </p:nvSpPr>
        <p:spPr>
          <a:xfrm>
            <a:off x="409575" y="1342450"/>
            <a:ext cx="7993800" cy="35112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lang="en" sz="1800">
                <a:solidFill>
                  <a:schemeClr val="dk1"/>
                </a:solidFill>
                <a:latin typeface="Inter"/>
                <a:ea typeface="Inter"/>
                <a:cs typeface="Inter"/>
                <a:sym typeface="Inter"/>
              </a:rPr>
              <a:t>What is a Research Question?</a:t>
            </a:r>
            <a:endParaRPr sz="1800">
              <a:solidFill>
                <a:schemeClr val="dk1"/>
              </a:solidFill>
              <a:latin typeface="Inter"/>
              <a:ea typeface="Inter"/>
              <a:cs typeface="Inter"/>
              <a:sym typeface="Inter"/>
            </a:endParaRPr>
          </a:p>
          <a:p>
            <a:pPr indent="-342900" lvl="0" marL="457200" marR="0" rtl="0" algn="l">
              <a:lnSpc>
                <a:spcPct val="115000"/>
              </a:lnSpc>
              <a:spcBef>
                <a:spcPts val="0"/>
              </a:spcBef>
              <a:spcAft>
                <a:spcPts val="0"/>
              </a:spcAft>
              <a:buClr>
                <a:schemeClr val="dk1"/>
              </a:buClr>
              <a:buSzPts val="1800"/>
              <a:buFont typeface="Inter"/>
              <a:buChar char="●"/>
            </a:pPr>
            <a:r>
              <a:rPr lang="en" sz="1800">
                <a:solidFill>
                  <a:schemeClr val="dk1"/>
                </a:solidFill>
                <a:latin typeface="Inter"/>
                <a:ea typeface="Inter"/>
                <a:cs typeface="Inter"/>
                <a:sym typeface="Inter"/>
              </a:rPr>
              <a:t>Data science projects are based on </a:t>
            </a:r>
            <a:r>
              <a:rPr b="1" lang="en" sz="1800">
                <a:solidFill>
                  <a:schemeClr val="dk1"/>
                </a:solidFill>
                <a:latin typeface="Inter"/>
                <a:ea typeface="Inter"/>
                <a:cs typeface="Inter"/>
                <a:sym typeface="Inter"/>
              </a:rPr>
              <a:t>exploration</a:t>
            </a:r>
            <a:endParaRPr b="1" sz="1800">
              <a:solidFill>
                <a:schemeClr val="dk1"/>
              </a:solidFill>
              <a:latin typeface="Inter"/>
              <a:ea typeface="Inter"/>
              <a:cs typeface="Inter"/>
              <a:sym typeface="Inter"/>
            </a:endParaRPr>
          </a:p>
          <a:p>
            <a:pPr indent="-342900" lvl="0" marL="457200" marR="0" rtl="0" algn="l">
              <a:lnSpc>
                <a:spcPct val="115000"/>
              </a:lnSpc>
              <a:spcBef>
                <a:spcPts val="0"/>
              </a:spcBef>
              <a:spcAft>
                <a:spcPts val="0"/>
              </a:spcAft>
              <a:buClr>
                <a:schemeClr val="dk1"/>
              </a:buClr>
              <a:buSzPts val="1800"/>
              <a:buFont typeface="Inter"/>
              <a:buChar char="●"/>
            </a:pPr>
            <a:r>
              <a:rPr lang="en" sz="1800">
                <a:solidFill>
                  <a:schemeClr val="dk1"/>
                </a:solidFill>
                <a:latin typeface="Inter"/>
                <a:ea typeface="Inter"/>
                <a:cs typeface="Inter"/>
                <a:sym typeface="Inter"/>
              </a:rPr>
              <a:t>To define this exploration, we derive a research question</a:t>
            </a:r>
            <a:endParaRPr sz="1800">
              <a:solidFill>
                <a:schemeClr val="dk1"/>
              </a:solidFill>
              <a:latin typeface="Inter"/>
              <a:ea typeface="Inter"/>
              <a:cs typeface="Inter"/>
              <a:sym typeface="Inter"/>
            </a:endParaRPr>
          </a:p>
          <a:p>
            <a:pPr indent="-342900" lvl="1" marL="914400" marR="0" rtl="0" algn="l">
              <a:lnSpc>
                <a:spcPct val="115000"/>
              </a:lnSpc>
              <a:spcBef>
                <a:spcPts val="0"/>
              </a:spcBef>
              <a:spcAft>
                <a:spcPts val="0"/>
              </a:spcAft>
              <a:buClr>
                <a:schemeClr val="dk1"/>
              </a:buClr>
              <a:buSzPts val="1800"/>
              <a:buFont typeface="Inter"/>
              <a:buChar char="○"/>
            </a:pPr>
            <a:r>
              <a:rPr lang="en" sz="1800">
                <a:solidFill>
                  <a:schemeClr val="dk1"/>
                </a:solidFill>
                <a:latin typeface="Inter"/>
                <a:ea typeface="Inter"/>
                <a:cs typeface="Inter"/>
                <a:sym typeface="Inter"/>
              </a:rPr>
              <a:t>Built on prior literature</a:t>
            </a:r>
            <a:endParaRPr sz="1800">
              <a:solidFill>
                <a:schemeClr val="dk1"/>
              </a:solidFill>
              <a:latin typeface="Inter"/>
              <a:ea typeface="Inter"/>
              <a:cs typeface="Inter"/>
              <a:sym typeface="Inter"/>
            </a:endParaRPr>
          </a:p>
          <a:p>
            <a:pPr indent="-342900" lvl="1" marL="914400" marR="0" rtl="0" algn="l">
              <a:lnSpc>
                <a:spcPct val="115000"/>
              </a:lnSpc>
              <a:spcBef>
                <a:spcPts val="0"/>
              </a:spcBef>
              <a:spcAft>
                <a:spcPts val="0"/>
              </a:spcAft>
              <a:buClr>
                <a:schemeClr val="dk1"/>
              </a:buClr>
              <a:buSzPts val="1800"/>
              <a:buFont typeface="Inter"/>
              <a:buChar char="○"/>
            </a:pPr>
            <a:r>
              <a:rPr lang="en" sz="1800">
                <a:solidFill>
                  <a:schemeClr val="dk1"/>
                </a:solidFill>
                <a:latin typeface="Inter"/>
                <a:ea typeface="Inter"/>
                <a:cs typeface="Inter"/>
                <a:sym typeface="Inter"/>
              </a:rPr>
              <a:t>Grounded in current research rationale</a:t>
            </a:r>
            <a:endParaRPr sz="1800">
              <a:solidFill>
                <a:schemeClr val="dk1"/>
              </a:solidFill>
              <a:latin typeface="Inter"/>
              <a:ea typeface="Inter"/>
              <a:cs typeface="Inter"/>
              <a:sym typeface="Inter"/>
            </a:endParaRPr>
          </a:p>
          <a:p>
            <a:pPr indent="-342900" lvl="1" marL="914400" marR="0" rtl="0" algn="l">
              <a:lnSpc>
                <a:spcPct val="115000"/>
              </a:lnSpc>
              <a:spcBef>
                <a:spcPts val="0"/>
              </a:spcBef>
              <a:spcAft>
                <a:spcPts val="0"/>
              </a:spcAft>
              <a:buClr>
                <a:schemeClr val="dk1"/>
              </a:buClr>
              <a:buSzPts val="1800"/>
              <a:buFont typeface="Inter"/>
              <a:buChar char="○"/>
            </a:pPr>
            <a:r>
              <a:rPr lang="en" sz="1800">
                <a:solidFill>
                  <a:schemeClr val="dk1"/>
                </a:solidFill>
                <a:latin typeface="Inter"/>
                <a:ea typeface="Inter"/>
                <a:cs typeface="Inter"/>
                <a:sym typeface="Inter"/>
              </a:rPr>
              <a:t>Achievable in our research setting</a:t>
            </a:r>
            <a:endParaRPr sz="1800">
              <a:solidFill>
                <a:schemeClr val="dk1"/>
              </a:solidFill>
              <a:latin typeface="Inter"/>
              <a:ea typeface="Inter"/>
              <a:cs typeface="Inter"/>
              <a:sym typeface="Inter"/>
            </a:endParaRPr>
          </a:p>
          <a:p>
            <a:pPr indent="-342900" lvl="1" marL="914400" marR="0" rtl="0" algn="l">
              <a:lnSpc>
                <a:spcPct val="115000"/>
              </a:lnSpc>
              <a:spcBef>
                <a:spcPts val="0"/>
              </a:spcBef>
              <a:spcAft>
                <a:spcPts val="0"/>
              </a:spcAft>
              <a:buClr>
                <a:schemeClr val="dk1"/>
              </a:buClr>
              <a:buSzPts val="1800"/>
              <a:buFont typeface="Inter"/>
              <a:buChar char="○"/>
            </a:pPr>
            <a:r>
              <a:rPr lang="en" sz="1800">
                <a:solidFill>
                  <a:schemeClr val="dk1"/>
                </a:solidFill>
                <a:latin typeface="Inter"/>
                <a:ea typeface="Inter"/>
                <a:cs typeface="Inter"/>
                <a:sym typeface="Inter"/>
              </a:rPr>
              <a:t>Derives some “benefit” from the results</a:t>
            </a:r>
            <a:endParaRPr sz="1800">
              <a:solidFill>
                <a:schemeClr val="dk1"/>
              </a:solidFill>
              <a:latin typeface="Inter"/>
              <a:ea typeface="Inter"/>
              <a:cs typeface="Inter"/>
              <a:sym typeface="Inter"/>
            </a:endParaRPr>
          </a:p>
          <a:p>
            <a:pPr indent="-342900" lvl="0" marL="457200" marR="0" rtl="0" algn="l">
              <a:lnSpc>
                <a:spcPct val="115000"/>
              </a:lnSpc>
              <a:spcBef>
                <a:spcPts val="0"/>
              </a:spcBef>
              <a:spcAft>
                <a:spcPts val="0"/>
              </a:spcAft>
              <a:buClr>
                <a:schemeClr val="dk1"/>
              </a:buClr>
              <a:buSzPts val="1800"/>
              <a:buFont typeface="Inter"/>
              <a:buChar char="●"/>
            </a:pPr>
            <a:r>
              <a:rPr lang="en" sz="1800">
                <a:solidFill>
                  <a:schemeClr val="dk1"/>
                </a:solidFill>
                <a:latin typeface="Inter"/>
                <a:ea typeface="Inter"/>
                <a:cs typeface="Inter"/>
                <a:sym typeface="Inter"/>
              </a:rPr>
              <a:t>Providing a defined (potentially flexible) research question(s) makes our work replicable, understandable, and motivated</a:t>
            </a:r>
            <a:endParaRPr sz="1800">
              <a:solidFill>
                <a:schemeClr val="dk1"/>
              </a:solidFill>
              <a:latin typeface="Inter"/>
              <a:ea typeface="Inter"/>
              <a:cs typeface="Inter"/>
              <a:sym typeface="Inter"/>
            </a:endParaRPr>
          </a:p>
          <a:p>
            <a:pPr indent="0" lvl="0" marL="0" marR="0" rtl="0" algn="l">
              <a:lnSpc>
                <a:spcPct val="100000"/>
              </a:lnSpc>
              <a:spcBef>
                <a:spcPts val="0"/>
              </a:spcBef>
              <a:spcAft>
                <a:spcPts val="0"/>
              </a:spcAft>
              <a:buNone/>
            </a:pPr>
            <a:r>
              <a:t/>
            </a:r>
            <a:endParaRPr sz="1800">
              <a:solidFill>
                <a:schemeClr val="dk1"/>
              </a:solidFill>
              <a:latin typeface="Inter"/>
              <a:ea typeface="Inter"/>
              <a:cs typeface="Inter"/>
              <a:sym typeface="Inter"/>
            </a:endParaRPr>
          </a:p>
        </p:txBody>
      </p:sp>
      <p:pic>
        <p:nvPicPr>
          <p:cNvPr descr="please make another circular version" id="91" name="Google Shape;91;g3e45df3a92f_0_0"/>
          <p:cNvPicPr preferRelativeResize="0"/>
          <p:nvPr/>
        </p:nvPicPr>
        <p:blipFill>
          <a:blip r:embed="rId4">
            <a:alphaModFix/>
          </a:blip>
          <a:stretch>
            <a:fillRect/>
          </a:stretch>
        </p:blipFill>
        <p:spPr>
          <a:xfrm>
            <a:off x="409563" y="532834"/>
            <a:ext cx="435875" cy="4358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grpSp>
        <p:nvGrpSpPr>
          <p:cNvPr id="96" name="Google Shape;96;g3d9c53c21cc_0_0"/>
          <p:cNvGrpSpPr/>
          <p:nvPr/>
        </p:nvGrpSpPr>
        <p:grpSpPr>
          <a:xfrm>
            <a:off x="8625" y="0"/>
            <a:ext cx="9144000" cy="267600"/>
            <a:chOff x="8625" y="0"/>
            <a:chExt cx="9144000" cy="267600"/>
          </a:xfrm>
        </p:grpSpPr>
        <p:sp>
          <p:nvSpPr>
            <p:cNvPr id="97" name="Google Shape;97;g3d9c53c21cc_0_0"/>
            <p:cNvSpPr/>
            <p:nvPr/>
          </p:nvSpPr>
          <p:spPr>
            <a:xfrm>
              <a:off x="8625" y="0"/>
              <a:ext cx="9144000" cy="2676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98" name="Google Shape;98;g3d9c53c21cc_0_0" title="Logo Header.png"/>
            <p:cNvPicPr preferRelativeResize="0"/>
            <p:nvPr/>
          </p:nvPicPr>
          <p:blipFill rotWithShape="1">
            <a:blip r:embed="rId3">
              <a:alphaModFix/>
            </a:blip>
            <a:srcRect b="0" l="0" r="0" t="0"/>
            <a:stretch/>
          </p:blipFill>
          <p:spPr>
            <a:xfrm>
              <a:off x="8348195" y="15790"/>
              <a:ext cx="634775" cy="199625"/>
            </a:xfrm>
            <a:prstGeom prst="rect">
              <a:avLst/>
            </a:prstGeom>
            <a:noFill/>
            <a:ln>
              <a:noFill/>
            </a:ln>
          </p:spPr>
        </p:pic>
      </p:grpSp>
      <p:sp>
        <p:nvSpPr>
          <p:cNvPr id="99" name="Google Shape;99;g3d9c53c21cc_0_0"/>
          <p:cNvSpPr txBox="1"/>
          <p:nvPr>
            <p:ph idx="1" type="subTitle"/>
          </p:nvPr>
        </p:nvSpPr>
        <p:spPr>
          <a:xfrm>
            <a:off x="902050" y="447125"/>
            <a:ext cx="5545500" cy="809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b="1" lang="en" sz="2700">
                <a:solidFill>
                  <a:schemeClr val="dk1"/>
                </a:solidFill>
                <a:latin typeface="Inter"/>
                <a:ea typeface="Inter"/>
                <a:cs typeface="Inter"/>
                <a:sym typeface="Inter"/>
              </a:rPr>
              <a:t>Asking a Good Question</a:t>
            </a:r>
            <a:endParaRPr b="1" sz="2700">
              <a:solidFill>
                <a:schemeClr val="dk1"/>
              </a:solidFill>
              <a:latin typeface="Inter"/>
              <a:ea typeface="Inter"/>
              <a:cs typeface="Inter"/>
              <a:sym typeface="Inter"/>
            </a:endParaRPr>
          </a:p>
        </p:txBody>
      </p:sp>
      <p:sp>
        <p:nvSpPr>
          <p:cNvPr id="100" name="Google Shape;100;g3d9c53c21cc_0_0"/>
          <p:cNvSpPr txBox="1"/>
          <p:nvPr/>
        </p:nvSpPr>
        <p:spPr>
          <a:xfrm>
            <a:off x="409575" y="1233925"/>
            <a:ext cx="5195700" cy="2995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1200"/>
              </a:spcBef>
              <a:spcAft>
                <a:spcPts val="0"/>
              </a:spcAft>
              <a:buNone/>
            </a:pPr>
            <a:r>
              <a:rPr lang="en">
                <a:solidFill>
                  <a:schemeClr val="dk1"/>
                </a:solidFill>
                <a:latin typeface="Inter"/>
                <a:ea typeface="Inter"/>
                <a:cs typeface="Inter"/>
                <a:sym typeface="Inter"/>
              </a:rPr>
              <a:t>Same data, different questions</a:t>
            </a:r>
            <a:endParaRPr b="0" i="0" u="none" cap="none" strike="noStrike">
              <a:solidFill>
                <a:schemeClr val="dk1"/>
              </a:solidFill>
              <a:latin typeface="Inter"/>
              <a:ea typeface="Inter"/>
              <a:cs typeface="Inter"/>
              <a:sym typeface="Inter"/>
            </a:endParaRPr>
          </a:p>
          <a:p>
            <a:pPr indent="-317500" lvl="0" marL="457200" rtl="0" algn="l">
              <a:lnSpc>
                <a:spcPct val="115000"/>
              </a:lnSpc>
              <a:spcBef>
                <a:spcPts val="1200"/>
              </a:spcBef>
              <a:spcAft>
                <a:spcPts val="0"/>
              </a:spcAft>
              <a:buClr>
                <a:schemeClr val="dk1"/>
              </a:buClr>
              <a:buSzPts val="1400"/>
              <a:buFont typeface="Inter"/>
              <a:buChar char="●"/>
            </a:pPr>
            <a:r>
              <a:rPr lang="en">
                <a:solidFill>
                  <a:schemeClr val="dk1"/>
                </a:solidFill>
                <a:latin typeface="Inter"/>
                <a:ea typeface="Inter"/>
                <a:cs typeface="Inter"/>
                <a:sym typeface="Inter"/>
              </a:rPr>
              <a:t>Too Vague: </a:t>
            </a:r>
            <a:r>
              <a:rPr i="1" lang="en">
                <a:solidFill>
                  <a:schemeClr val="dk1"/>
                </a:solidFill>
                <a:latin typeface="Inter"/>
                <a:ea typeface="Inter"/>
                <a:cs typeface="Inter"/>
                <a:sym typeface="Inter"/>
              </a:rPr>
              <a:t>Are facial analysis systems biased?</a:t>
            </a:r>
            <a:endParaRPr i="1">
              <a:solidFill>
                <a:schemeClr val="dk1"/>
              </a:solidFill>
              <a:latin typeface="Inter"/>
              <a:ea typeface="Inter"/>
              <a:cs typeface="Inter"/>
              <a:sym typeface="Inter"/>
            </a:endParaRPr>
          </a:p>
          <a:p>
            <a:pPr indent="-317500" lvl="0" marL="457200" rtl="0" algn="l">
              <a:lnSpc>
                <a:spcPct val="115000"/>
              </a:lnSpc>
              <a:spcBef>
                <a:spcPts val="0"/>
              </a:spcBef>
              <a:spcAft>
                <a:spcPts val="0"/>
              </a:spcAft>
              <a:buClr>
                <a:schemeClr val="dk1"/>
              </a:buClr>
              <a:buSzPts val="1400"/>
              <a:buFont typeface="Inter"/>
              <a:buChar char="●"/>
            </a:pPr>
            <a:r>
              <a:rPr lang="en">
                <a:solidFill>
                  <a:schemeClr val="dk1"/>
                </a:solidFill>
                <a:latin typeface="Inter"/>
                <a:ea typeface="Inter"/>
                <a:cs typeface="Inter"/>
                <a:sym typeface="Inter"/>
              </a:rPr>
              <a:t>Too Narrow: </a:t>
            </a:r>
            <a:r>
              <a:rPr i="1" lang="en">
                <a:solidFill>
                  <a:schemeClr val="dk1"/>
                </a:solidFill>
                <a:latin typeface="Inter"/>
                <a:ea typeface="Inter"/>
                <a:cs typeface="Inter"/>
                <a:sym typeface="Inter"/>
              </a:rPr>
              <a:t>Does an image receive one incorrect label from one system?</a:t>
            </a:r>
            <a:endParaRPr i="1">
              <a:solidFill>
                <a:schemeClr val="dk1"/>
              </a:solidFill>
              <a:latin typeface="Inter"/>
              <a:ea typeface="Inter"/>
              <a:cs typeface="Inter"/>
              <a:sym typeface="Inter"/>
            </a:endParaRPr>
          </a:p>
          <a:p>
            <a:pPr indent="-317500" lvl="0" marL="457200" rtl="0" algn="l">
              <a:lnSpc>
                <a:spcPct val="115000"/>
              </a:lnSpc>
              <a:spcBef>
                <a:spcPts val="0"/>
              </a:spcBef>
              <a:spcAft>
                <a:spcPts val="0"/>
              </a:spcAft>
              <a:buClr>
                <a:schemeClr val="dk1"/>
              </a:buClr>
              <a:buSzPts val="1400"/>
              <a:buFont typeface="Inter"/>
              <a:buChar char="●"/>
            </a:pPr>
            <a:r>
              <a:rPr lang="en">
                <a:solidFill>
                  <a:schemeClr val="dk1"/>
                </a:solidFill>
                <a:latin typeface="Inter"/>
                <a:ea typeface="Inter"/>
                <a:cs typeface="Inter"/>
                <a:sym typeface="Inter"/>
              </a:rPr>
              <a:t>Al</a:t>
            </a:r>
            <a:r>
              <a:rPr lang="en">
                <a:solidFill>
                  <a:schemeClr val="dk1"/>
                </a:solidFill>
                <a:latin typeface="Inter"/>
                <a:ea typeface="Inter"/>
                <a:cs typeface="Inter"/>
                <a:sym typeface="Inter"/>
                <a:extLst>
                  <a:ext uri="http://customooxmlschemas.google.com/">
                    <go:slidesCustomData xmlns:go="http://customooxmlschemas.google.com/" textRoundtripDataId="7"/>
                  </a:ext>
                </a:extLst>
              </a:rPr>
              <a:t>t</a:t>
            </a:r>
            <a:r>
              <a:rPr lang="en">
                <a:solidFill>
                  <a:schemeClr val="dk1"/>
                </a:solidFill>
                <a:latin typeface="Inter"/>
                <a:ea typeface="Inter"/>
                <a:cs typeface="Inter"/>
                <a:sym typeface="Inter"/>
              </a:rPr>
              <a:t>ernate options:</a:t>
            </a:r>
            <a:endParaRPr>
              <a:solidFill>
                <a:schemeClr val="dk1"/>
              </a:solidFill>
              <a:latin typeface="Inter"/>
              <a:ea typeface="Inter"/>
              <a:cs typeface="Inter"/>
              <a:sym typeface="Inter"/>
            </a:endParaRPr>
          </a:p>
          <a:p>
            <a:pPr indent="-317500" lvl="1" marL="914400" rtl="0" algn="l">
              <a:lnSpc>
                <a:spcPct val="115000"/>
              </a:lnSpc>
              <a:spcBef>
                <a:spcPts val="0"/>
              </a:spcBef>
              <a:spcAft>
                <a:spcPts val="0"/>
              </a:spcAft>
              <a:buClr>
                <a:schemeClr val="dk1"/>
              </a:buClr>
              <a:buSzPts val="1400"/>
              <a:buFont typeface="Inter"/>
              <a:buChar char="○"/>
            </a:pPr>
            <a:r>
              <a:rPr i="1" lang="en">
                <a:solidFill>
                  <a:schemeClr val="dk1"/>
                </a:solidFill>
                <a:latin typeface="Inter"/>
                <a:ea typeface="Inter"/>
                <a:cs typeface="Inter"/>
                <a:sym typeface="Inter"/>
              </a:rPr>
              <a:t>In what ways do market-leading gender recognition tools exhibit disparate accuracy rates when evaluated at the intersection of skin color and gender expression?</a:t>
            </a:r>
            <a:endParaRPr i="1">
              <a:solidFill>
                <a:schemeClr val="dk1"/>
              </a:solidFill>
              <a:latin typeface="Inter"/>
              <a:ea typeface="Inter"/>
              <a:cs typeface="Inter"/>
              <a:sym typeface="Inter"/>
            </a:endParaRPr>
          </a:p>
          <a:p>
            <a:pPr indent="-317500" lvl="1" marL="914400" rtl="0" algn="l">
              <a:lnSpc>
                <a:spcPct val="115000"/>
              </a:lnSpc>
              <a:spcBef>
                <a:spcPts val="0"/>
              </a:spcBef>
              <a:spcAft>
                <a:spcPts val="0"/>
              </a:spcAft>
              <a:buClr>
                <a:schemeClr val="dk1"/>
              </a:buClr>
              <a:buSzPts val="1400"/>
              <a:buFont typeface="Inter"/>
              <a:buChar char="○"/>
            </a:pPr>
            <a:r>
              <a:rPr i="1" lang="en">
                <a:solidFill>
                  <a:schemeClr val="dk1"/>
                </a:solidFill>
                <a:latin typeface="Inter"/>
                <a:ea typeface="Inter"/>
                <a:cs typeface="Inter"/>
                <a:sym typeface="Inter"/>
              </a:rPr>
              <a:t>How do commercial gender classification systems perform across intersectional groups defined by perceived gender presentation and skin tone?</a:t>
            </a:r>
            <a:endParaRPr i="1">
              <a:solidFill>
                <a:schemeClr val="dk1"/>
              </a:solidFill>
              <a:latin typeface="Inter"/>
              <a:ea typeface="Inter"/>
              <a:cs typeface="Inter"/>
              <a:sym typeface="Inter"/>
            </a:endParaRPr>
          </a:p>
        </p:txBody>
      </p:sp>
      <p:pic>
        <p:nvPicPr>
          <p:cNvPr descr="please make another circular version" id="101" name="Google Shape;101;g3d9c53c21cc_0_0"/>
          <p:cNvPicPr preferRelativeResize="0"/>
          <p:nvPr/>
        </p:nvPicPr>
        <p:blipFill>
          <a:blip r:embed="rId4">
            <a:alphaModFix/>
          </a:blip>
          <a:stretch>
            <a:fillRect/>
          </a:stretch>
        </p:blipFill>
        <p:spPr>
          <a:xfrm>
            <a:off x="409563" y="532834"/>
            <a:ext cx="435875" cy="435875"/>
          </a:xfrm>
          <a:prstGeom prst="rect">
            <a:avLst/>
          </a:prstGeom>
          <a:noFill/>
          <a:ln>
            <a:noFill/>
          </a:ln>
        </p:spPr>
      </p:pic>
      <p:pic>
        <p:nvPicPr>
          <p:cNvPr id="102" name="Google Shape;102;g3d9c53c21cc_0_0"/>
          <p:cNvPicPr preferRelativeResize="0"/>
          <p:nvPr/>
        </p:nvPicPr>
        <p:blipFill>
          <a:blip r:embed="rId5">
            <a:alphaModFix/>
          </a:blip>
          <a:stretch>
            <a:fillRect/>
          </a:stretch>
        </p:blipFill>
        <p:spPr>
          <a:xfrm>
            <a:off x="5605275" y="1256825"/>
            <a:ext cx="3218975" cy="32189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grpSp>
        <p:nvGrpSpPr>
          <p:cNvPr id="107" name="Google Shape;107;g3d5f0fe9fd8_0_5"/>
          <p:cNvGrpSpPr/>
          <p:nvPr/>
        </p:nvGrpSpPr>
        <p:grpSpPr>
          <a:xfrm>
            <a:off x="8625" y="0"/>
            <a:ext cx="9144000" cy="267600"/>
            <a:chOff x="8625" y="0"/>
            <a:chExt cx="9144000" cy="267600"/>
          </a:xfrm>
        </p:grpSpPr>
        <p:sp>
          <p:nvSpPr>
            <p:cNvPr id="108" name="Google Shape;108;g3d5f0fe9fd8_0_5"/>
            <p:cNvSpPr/>
            <p:nvPr/>
          </p:nvSpPr>
          <p:spPr>
            <a:xfrm>
              <a:off x="8625" y="0"/>
              <a:ext cx="9144000" cy="2676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09" name="Google Shape;109;g3d5f0fe9fd8_0_5" title="Logo Header.png"/>
            <p:cNvPicPr preferRelativeResize="0"/>
            <p:nvPr/>
          </p:nvPicPr>
          <p:blipFill rotWithShape="1">
            <a:blip r:embed="rId3">
              <a:alphaModFix/>
            </a:blip>
            <a:srcRect b="0" l="0" r="0" t="0"/>
            <a:stretch/>
          </p:blipFill>
          <p:spPr>
            <a:xfrm>
              <a:off x="8348195" y="15790"/>
              <a:ext cx="634775" cy="199625"/>
            </a:xfrm>
            <a:prstGeom prst="rect">
              <a:avLst/>
            </a:prstGeom>
            <a:noFill/>
            <a:ln>
              <a:noFill/>
            </a:ln>
          </p:spPr>
        </p:pic>
      </p:grpSp>
      <p:sp>
        <p:nvSpPr>
          <p:cNvPr id="110" name="Google Shape;110;g3d5f0fe9fd8_0_5"/>
          <p:cNvSpPr txBox="1"/>
          <p:nvPr>
            <p:ph idx="1" type="subTitle"/>
          </p:nvPr>
        </p:nvSpPr>
        <p:spPr>
          <a:xfrm>
            <a:off x="932973" y="447125"/>
            <a:ext cx="5890800" cy="809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b="1" lang="en" sz="2700">
                <a:solidFill>
                  <a:schemeClr val="dk1"/>
                </a:solidFill>
                <a:latin typeface="Inter"/>
                <a:ea typeface="Inter"/>
                <a:cs typeface="Inter"/>
                <a:sym typeface="Inter"/>
              </a:rPr>
              <a:t>What makes a question ‘</a:t>
            </a:r>
            <a:r>
              <a:rPr b="1" lang="en" sz="2700">
                <a:solidFill>
                  <a:schemeClr val="dk1"/>
                </a:solidFill>
                <a:latin typeface="Inter"/>
                <a:ea typeface="Inter"/>
                <a:cs typeface="Inter"/>
                <a:sym typeface="Inter"/>
                <a:extLst>
                  <a:ext uri="http://customooxmlschemas.google.com/">
                    <go:slidesCustomData xmlns:go="http://customooxmlschemas.google.com/" textRoundtripDataId="8"/>
                  </a:ext>
                </a:extLst>
              </a:rPr>
              <a:t>good</a:t>
            </a:r>
            <a:r>
              <a:rPr b="1" lang="en" sz="2700">
                <a:solidFill>
                  <a:schemeClr val="dk1"/>
                </a:solidFill>
                <a:latin typeface="Inter"/>
                <a:ea typeface="Inter"/>
                <a:cs typeface="Inter"/>
                <a:sym typeface="Inter"/>
              </a:rPr>
              <a:t>’?</a:t>
            </a:r>
            <a:endParaRPr b="1" sz="2700">
              <a:solidFill>
                <a:schemeClr val="dk1"/>
              </a:solidFill>
              <a:latin typeface="Inter"/>
              <a:ea typeface="Inter"/>
              <a:cs typeface="Inter"/>
              <a:sym typeface="Inter"/>
            </a:endParaRPr>
          </a:p>
        </p:txBody>
      </p:sp>
      <p:sp>
        <p:nvSpPr>
          <p:cNvPr id="111" name="Google Shape;111;g3d5f0fe9fd8_0_5"/>
          <p:cNvSpPr/>
          <p:nvPr/>
        </p:nvSpPr>
        <p:spPr>
          <a:xfrm>
            <a:off x="4294811" y="1185200"/>
            <a:ext cx="3244500" cy="1047300"/>
          </a:xfrm>
          <a:prstGeom prst="roundRect">
            <a:avLst>
              <a:gd fmla="val 16667" name="adj"/>
            </a:avLst>
          </a:prstGeom>
          <a:solidFill>
            <a:srgbClr val="D4E4D1"/>
          </a:solidFill>
          <a:ln>
            <a:noFill/>
          </a:ln>
        </p:spPr>
        <p:txBody>
          <a:bodyPr anchorCtr="0" anchor="ctr" bIns="91425" lIns="91425" spcFirstLastPara="1" rIns="91425" wrap="square" tIns="91425">
            <a:noAutofit/>
          </a:bodyPr>
          <a:lstStyle/>
          <a:p>
            <a:pPr indent="0" lvl="0" marL="274320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12" name="Google Shape;112;g3d5f0fe9fd8_0_5"/>
          <p:cNvSpPr/>
          <p:nvPr/>
        </p:nvSpPr>
        <p:spPr>
          <a:xfrm>
            <a:off x="642975" y="1195850"/>
            <a:ext cx="3244500" cy="1047300"/>
          </a:xfrm>
          <a:prstGeom prst="roundRect">
            <a:avLst>
              <a:gd fmla="val 16667" name="adj"/>
            </a:avLst>
          </a:prstGeom>
          <a:solidFill>
            <a:srgbClr val="F5F0E8"/>
          </a:solidFill>
          <a:ln>
            <a:noFill/>
          </a:ln>
        </p:spPr>
        <p:txBody>
          <a:bodyPr anchorCtr="0" anchor="ctr" bIns="91425" lIns="91425" spcFirstLastPara="1" rIns="91425" wrap="square" tIns="91425">
            <a:noAutofit/>
          </a:bodyPr>
          <a:lstStyle/>
          <a:p>
            <a:pPr indent="0" lvl="0" marL="274320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13" name="Google Shape;113;g3d5f0fe9fd8_0_5"/>
          <p:cNvSpPr/>
          <p:nvPr/>
        </p:nvSpPr>
        <p:spPr>
          <a:xfrm>
            <a:off x="950507" y="1418102"/>
            <a:ext cx="19203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E"/>
              </a:buClr>
              <a:buSzPts val="1400"/>
              <a:buFont typeface="Georgia"/>
              <a:buNone/>
            </a:pPr>
            <a:r>
              <a:rPr b="1" lang="en" sz="1300">
                <a:solidFill>
                  <a:srgbClr val="1A1A2E"/>
                </a:solidFill>
                <a:latin typeface="Inter"/>
                <a:ea typeface="Inter"/>
                <a:cs typeface="Inter"/>
                <a:sym typeface="Inter"/>
              </a:rPr>
              <a:t>Empirical</a:t>
            </a:r>
            <a:endParaRPr b="0" i="0" sz="1300" u="none" cap="none" strike="noStrike">
              <a:solidFill>
                <a:srgbClr val="000000"/>
              </a:solidFill>
              <a:latin typeface="Inter"/>
              <a:ea typeface="Inter"/>
              <a:cs typeface="Inter"/>
              <a:sym typeface="Inter"/>
            </a:endParaRPr>
          </a:p>
        </p:txBody>
      </p:sp>
      <p:sp>
        <p:nvSpPr>
          <p:cNvPr id="114" name="Google Shape;114;g3d5f0fe9fd8_0_5"/>
          <p:cNvSpPr/>
          <p:nvPr/>
        </p:nvSpPr>
        <p:spPr>
          <a:xfrm>
            <a:off x="950507" y="1700265"/>
            <a:ext cx="495300" cy="18300"/>
          </a:xfrm>
          <a:prstGeom prst="rect">
            <a:avLst/>
          </a:prstGeom>
          <a:solidFill>
            <a:srgbClr val="B85C3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15" name="Google Shape;115;g3d5f0fe9fd8_0_5"/>
          <p:cNvSpPr/>
          <p:nvPr/>
        </p:nvSpPr>
        <p:spPr>
          <a:xfrm>
            <a:off x="4556382" y="1365176"/>
            <a:ext cx="23694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E"/>
              </a:buClr>
              <a:buSzPts val="1400"/>
              <a:buFont typeface="Georgia"/>
              <a:buNone/>
            </a:pPr>
            <a:r>
              <a:rPr b="1" lang="en" sz="1300">
                <a:solidFill>
                  <a:srgbClr val="1A1A2E"/>
                </a:solidFill>
                <a:latin typeface="Inter"/>
                <a:ea typeface="Inter"/>
                <a:cs typeface="Inter"/>
                <a:sym typeface="Inter"/>
              </a:rPr>
              <a:t>Falsifiable</a:t>
            </a:r>
            <a:endParaRPr b="1" i="0" sz="1300" u="none" cap="none" strike="noStrike">
              <a:solidFill>
                <a:srgbClr val="000000"/>
              </a:solidFill>
              <a:latin typeface="Inter"/>
              <a:ea typeface="Inter"/>
              <a:cs typeface="Inter"/>
              <a:sym typeface="Inter"/>
            </a:endParaRPr>
          </a:p>
        </p:txBody>
      </p:sp>
      <p:sp>
        <p:nvSpPr>
          <p:cNvPr id="116" name="Google Shape;116;g3d5f0fe9fd8_0_5"/>
          <p:cNvSpPr/>
          <p:nvPr/>
        </p:nvSpPr>
        <p:spPr>
          <a:xfrm>
            <a:off x="4556388" y="1639377"/>
            <a:ext cx="526500" cy="18300"/>
          </a:xfrm>
          <a:prstGeom prst="rect">
            <a:avLst/>
          </a:prstGeom>
          <a:solidFill>
            <a:srgbClr val="2C6E6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17" name="Google Shape;117;g3d5f0fe9fd8_0_5"/>
          <p:cNvSpPr/>
          <p:nvPr/>
        </p:nvSpPr>
        <p:spPr>
          <a:xfrm>
            <a:off x="654100" y="2367525"/>
            <a:ext cx="3244500" cy="1111200"/>
          </a:xfrm>
          <a:prstGeom prst="roundRect">
            <a:avLst>
              <a:gd fmla="val 16667" name="adj"/>
            </a:avLst>
          </a:prstGeom>
          <a:solidFill>
            <a:srgbClr val="CFE2F3"/>
          </a:solidFill>
          <a:ln>
            <a:noFill/>
          </a:ln>
        </p:spPr>
        <p:txBody>
          <a:bodyPr anchorCtr="0" anchor="ctr" bIns="91425" lIns="91425" spcFirstLastPara="1" rIns="91425" wrap="square" tIns="91425">
            <a:noAutofit/>
          </a:bodyPr>
          <a:lstStyle/>
          <a:p>
            <a:pPr indent="0" lvl="0" marL="274320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18" name="Google Shape;118;g3d5f0fe9fd8_0_5"/>
          <p:cNvSpPr/>
          <p:nvPr/>
        </p:nvSpPr>
        <p:spPr>
          <a:xfrm>
            <a:off x="965743" y="2529182"/>
            <a:ext cx="23451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E"/>
              </a:buClr>
              <a:buSzPts val="1400"/>
              <a:buFont typeface="Georgia"/>
              <a:buNone/>
            </a:pPr>
            <a:r>
              <a:rPr b="1" lang="en" sz="1300">
                <a:solidFill>
                  <a:srgbClr val="1A1A2E"/>
                </a:solidFill>
                <a:latin typeface="Inter"/>
                <a:ea typeface="Inter"/>
                <a:cs typeface="Inter"/>
                <a:sym typeface="Inter"/>
              </a:rPr>
              <a:t>Focused/Tangible</a:t>
            </a:r>
            <a:endParaRPr b="0" i="0" sz="1300" u="none" cap="none" strike="noStrike">
              <a:solidFill>
                <a:srgbClr val="000000"/>
              </a:solidFill>
              <a:latin typeface="Inter"/>
              <a:ea typeface="Inter"/>
              <a:cs typeface="Inter"/>
              <a:sym typeface="Inter"/>
            </a:endParaRPr>
          </a:p>
        </p:txBody>
      </p:sp>
      <p:sp>
        <p:nvSpPr>
          <p:cNvPr id="119" name="Google Shape;119;g3d5f0fe9fd8_0_5"/>
          <p:cNvSpPr/>
          <p:nvPr/>
        </p:nvSpPr>
        <p:spPr>
          <a:xfrm>
            <a:off x="965743" y="2843875"/>
            <a:ext cx="551400" cy="246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20" name="Google Shape;120;g3d5f0fe9fd8_0_5"/>
          <p:cNvSpPr/>
          <p:nvPr/>
        </p:nvSpPr>
        <p:spPr>
          <a:xfrm>
            <a:off x="4268425" y="2367525"/>
            <a:ext cx="3328200" cy="1111200"/>
          </a:xfrm>
          <a:prstGeom prst="roundRect">
            <a:avLst>
              <a:gd fmla="val 16667" name="adj"/>
            </a:avLst>
          </a:prstGeom>
          <a:solidFill>
            <a:srgbClr val="F4CCCC"/>
          </a:solidFill>
          <a:ln>
            <a:noFill/>
          </a:ln>
        </p:spPr>
        <p:txBody>
          <a:bodyPr anchorCtr="0" anchor="ctr" bIns="108175" lIns="108175" spcFirstLastPara="1" rIns="108175" wrap="square" tIns="108175">
            <a:noAutofit/>
          </a:bodyPr>
          <a:lstStyle/>
          <a:p>
            <a:pPr indent="0" lvl="0" marL="3245509" marR="0" rtl="0" algn="ctr">
              <a:lnSpc>
                <a:spcPct val="100000"/>
              </a:lnSpc>
              <a:spcBef>
                <a:spcPts val="0"/>
              </a:spcBef>
              <a:spcAft>
                <a:spcPts val="0"/>
              </a:spcAft>
              <a:buClr>
                <a:srgbClr val="000000"/>
              </a:buClr>
              <a:buSzPts val="1656"/>
              <a:buFont typeface="Arial"/>
              <a:buNone/>
            </a:pPr>
            <a:r>
              <a:t/>
            </a:r>
            <a:endParaRPr b="0" i="0" sz="1656" u="none" cap="none" strike="noStrike">
              <a:solidFill>
                <a:srgbClr val="000000"/>
              </a:solidFill>
              <a:latin typeface="Inter"/>
              <a:ea typeface="Inter"/>
              <a:cs typeface="Inter"/>
              <a:sym typeface="Inter"/>
            </a:endParaRPr>
          </a:p>
        </p:txBody>
      </p:sp>
      <p:sp>
        <p:nvSpPr>
          <p:cNvPr id="121" name="Google Shape;121;g3d5f0fe9fd8_0_5"/>
          <p:cNvSpPr/>
          <p:nvPr/>
        </p:nvSpPr>
        <p:spPr>
          <a:xfrm>
            <a:off x="4601788" y="2449975"/>
            <a:ext cx="2621100" cy="393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E"/>
              </a:buClr>
              <a:buSzPts val="1656"/>
              <a:buFont typeface="Georgia"/>
              <a:buNone/>
            </a:pPr>
            <a:r>
              <a:rPr b="1" lang="en" sz="1300">
                <a:solidFill>
                  <a:srgbClr val="1A1A2E"/>
                </a:solidFill>
                <a:latin typeface="Inter"/>
                <a:ea typeface="Inter"/>
                <a:cs typeface="Inter"/>
                <a:sym typeface="Inter"/>
              </a:rPr>
              <a:t>Important</a:t>
            </a:r>
            <a:endParaRPr b="0" i="0" sz="1300" u="none" cap="none" strike="noStrike">
              <a:solidFill>
                <a:srgbClr val="000000"/>
              </a:solidFill>
              <a:latin typeface="Inter"/>
              <a:ea typeface="Inter"/>
              <a:cs typeface="Inter"/>
              <a:sym typeface="Inter"/>
            </a:endParaRPr>
          </a:p>
        </p:txBody>
      </p:sp>
      <p:sp>
        <p:nvSpPr>
          <p:cNvPr id="122" name="Google Shape;122;g3d5f0fe9fd8_0_5"/>
          <p:cNvSpPr/>
          <p:nvPr/>
        </p:nvSpPr>
        <p:spPr>
          <a:xfrm>
            <a:off x="4608961" y="2788613"/>
            <a:ext cx="534300" cy="26100"/>
          </a:xfrm>
          <a:prstGeom prst="rect">
            <a:avLst/>
          </a:prstGeom>
          <a:solidFill>
            <a:srgbClr val="E06666"/>
          </a:solidFill>
          <a:ln>
            <a:noFill/>
          </a:ln>
        </p:spPr>
        <p:txBody>
          <a:bodyPr anchorCtr="0" anchor="ctr" bIns="108175" lIns="108175" spcFirstLastPara="1" rIns="108175" wrap="square" tIns="108175">
            <a:noAutofit/>
          </a:bodyPr>
          <a:lstStyle/>
          <a:p>
            <a:pPr indent="0" lvl="0" marL="0" marR="0" rtl="0" algn="l">
              <a:lnSpc>
                <a:spcPct val="100000"/>
              </a:lnSpc>
              <a:spcBef>
                <a:spcPts val="0"/>
              </a:spcBef>
              <a:spcAft>
                <a:spcPts val="0"/>
              </a:spcAft>
              <a:buClr>
                <a:srgbClr val="000000"/>
              </a:buClr>
              <a:buSzPts val="1656"/>
              <a:buFont typeface="Arial"/>
              <a:buNone/>
            </a:pPr>
            <a:r>
              <a:t/>
            </a:r>
            <a:endParaRPr b="0" i="0" sz="1656" u="none" cap="none" strike="noStrike">
              <a:solidFill>
                <a:srgbClr val="000000"/>
              </a:solidFill>
              <a:latin typeface="Inter"/>
              <a:ea typeface="Inter"/>
              <a:cs typeface="Inter"/>
              <a:sym typeface="Inter"/>
            </a:endParaRPr>
          </a:p>
        </p:txBody>
      </p:sp>
      <p:sp>
        <p:nvSpPr>
          <p:cNvPr id="123" name="Google Shape;123;g3d5f0fe9fd8_0_5"/>
          <p:cNvSpPr txBox="1"/>
          <p:nvPr/>
        </p:nvSpPr>
        <p:spPr>
          <a:xfrm>
            <a:off x="890815" y="1726550"/>
            <a:ext cx="2862300" cy="996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lang="en" sz="1300">
                <a:solidFill>
                  <a:schemeClr val="dk1"/>
                </a:solidFill>
                <a:latin typeface="Inter"/>
                <a:ea typeface="Inter"/>
                <a:cs typeface="Inter"/>
                <a:sym typeface="Inter"/>
              </a:rPr>
              <a:t>Ask something about the world</a:t>
            </a:r>
            <a:endParaRPr b="0" i="0" sz="1300" u="none" cap="none" strike="noStrike">
              <a:solidFill>
                <a:schemeClr val="dk1"/>
              </a:solidFill>
              <a:latin typeface="Inter"/>
              <a:ea typeface="Inter"/>
              <a:cs typeface="Inter"/>
              <a:sym typeface="Inter"/>
            </a:endParaRPr>
          </a:p>
        </p:txBody>
      </p:sp>
      <p:sp>
        <p:nvSpPr>
          <p:cNvPr id="124" name="Google Shape;124;g3d5f0fe9fd8_0_5"/>
          <p:cNvSpPr txBox="1"/>
          <p:nvPr/>
        </p:nvSpPr>
        <p:spPr>
          <a:xfrm>
            <a:off x="4459889" y="1702398"/>
            <a:ext cx="2799900" cy="1002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lang="en" sz="1300">
                <a:solidFill>
                  <a:schemeClr val="dk1"/>
                </a:solidFill>
                <a:latin typeface="Inter"/>
                <a:ea typeface="Inter"/>
                <a:cs typeface="Inter"/>
                <a:sym typeface="Inter"/>
              </a:rPr>
              <a:t>Can be answered </a:t>
            </a:r>
            <a:r>
              <a:rPr lang="en" sz="1300">
                <a:solidFill>
                  <a:schemeClr val="dk1"/>
                </a:solidFill>
                <a:latin typeface="Inter"/>
                <a:ea typeface="Inter"/>
                <a:cs typeface="Inter"/>
                <a:sym typeface="Inter"/>
              </a:rPr>
              <a:t>with evidence</a:t>
            </a:r>
            <a:endParaRPr b="0" i="0" sz="1300" u="none" cap="none" strike="noStrike">
              <a:solidFill>
                <a:schemeClr val="dk1"/>
              </a:solidFill>
              <a:latin typeface="Inter"/>
              <a:ea typeface="Inter"/>
              <a:cs typeface="Inter"/>
              <a:sym typeface="Inter"/>
            </a:endParaRPr>
          </a:p>
        </p:txBody>
      </p:sp>
      <p:sp>
        <p:nvSpPr>
          <p:cNvPr id="125" name="Google Shape;125;g3d5f0fe9fd8_0_5"/>
          <p:cNvSpPr txBox="1"/>
          <p:nvPr/>
        </p:nvSpPr>
        <p:spPr>
          <a:xfrm>
            <a:off x="864890" y="2843875"/>
            <a:ext cx="2712900" cy="996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lang="en" sz="1300">
                <a:solidFill>
                  <a:schemeClr val="dk1"/>
                </a:solidFill>
                <a:latin typeface="Inter"/>
                <a:ea typeface="Inter"/>
                <a:cs typeface="Inter"/>
                <a:sym typeface="Inter"/>
              </a:rPr>
              <a:t>Can be answered within our project</a:t>
            </a:r>
            <a:endParaRPr b="0" i="0" sz="1300" u="none" cap="none" strike="noStrike">
              <a:solidFill>
                <a:schemeClr val="dk1"/>
              </a:solidFill>
              <a:latin typeface="Inter"/>
              <a:ea typeface="Inter"/>
              <a:cs typeface="Inter"/>
              <a:sym typeface="Inter"/>
            </a:endParaRPr>
          </a:p>
        </p:txBody>
      </p:sp>
      <p:sp>
        <p:nvSpPr>
          <p:cNvPr id="126" name="Google Shape;126;g3d5f0fe9fd8_0_5"/>
          <p:cNvSpPr txBox="1"/>
          <p:nvPr/>
        </p:nvSpPr>
        <p:spPr>
          <a:xfrm>
            <a:off x="4509987" y="2818525"/>
            <a:ext cx="2945100" cy="1047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lang="en" sz="1300">
                <a:solidFill>
                  <a:schemeClr val="dk1"/>
                </a:solidFill>
                <a:latin typeface="Inter"/>
                <a:ea typeface="Inter"/>
                <a:cs typeface="Inter"/>
                <a:sym typeface="Inter"/>
              </a:rPr>
              <a:t>Answers a problem/challenge of significance</a:t>
            </a:r>
            <a:endParaRPr b="0" i="0" sz="1300" u="none" cap="none" strike="noStrike">
              <a:solidFill>
                <a:schemeClr val="dk1"/>
              </a:solidFill>
              <a:latin typeface="Inter"/>
              <a:ea typeface="Inter"/>
              <a:cs typeface="Inter"/>
              <a:sym typeface="Inter"/>
            </a:endParaRPr>
          </a:p>
        </p:txBody>
      </p:sp>
      <p:pic>
        <p:nvPicPr>
          <p:cNvPr descr="please make another circular version" id="127" name="Google Shape;127;g3d5f0fe9fd8_0_5"/>
          <p:cNvPicPr preferRelativeResize="0"/>
          <p:nvPr/>
        </p:nvPicPr>
        <p:blipFill>
          <a:blip r:embed="rId4">
            <a:alphaModFix/>
          </a:blip>
          <a:stretch>
            <a:fillRect/>
          </a:stretch>
        </p:blipFill>
        <p:spPr>
          <a:xfrm>
            <a:off x="542363" y="544284"/>
            <a:ext cx="435875" cy="435875"/>
          </a:xfrm>
          <a:prstGeom prst="rect">
            <a:avLst/>
          </a:prstGeom>
          <a:noFill/>
          <a:ln>
            <a:noFill/>
          </a:ln>
        </p:spPr>
      </p:pic>
      <p:sp>
        <p:nvSpPr>
          <p:cNvPr id="128" name="Google Shape;128;g3d5f0fe9fd8_0_5"/>
          <p:cNvSpPr/>
          <p:nvPr/>
        </p:nvSpPr>
        <p:spPr>
          <a:xfrm>
            <a:off x="642975" y="3705475"/>
            <a:ext cx="6953700" cy="1111200"/>
          </a:xfrm>
          <a:prstGeom prst="roundRect">
            <a:avLst>
              <a:gd fmla="val 16667" name="adj"/>
            </a:avLst>
          </a:prstGeom>
          <a:solidFill>
            <a:srgbClr val="F9CB9C"/>
          </a:solidFill>
          <a:ln>
            <a:noFill/>
          </a:ln>
        </p:spPr>
        <p:txBody>
          <a:bodyPr anchorCtr="0" anchor="ctr" bIns="91425" lIns="91425" spcFirstLastPara="1" rIns="91425" wrap="square" tIns="91425">
            <a:noAutofit/>
          </a:bodyPr>
          <a:lstStyle/>
          <a:p>
            <a:pPr indent="0" lvl="0" marL="274320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29" name="Google Shape;129;g3d5f0fe9fd8_0_5"/>
          <p:cNvSpPr/>
          <p:nvPr/>
        </p:nvSpPr>
        <p:spPr>
          <a:xfrm>
            <a:off x="890832" y="3865827"/>
            <a:ext cx="19203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E"/>
              </a:buClr>
              <a:buSzPts val="1400"/>
              <a:buFont typeface="Georgia"/>
              <a:buNone/>
            </a:pPr>
            <a:r>
              <a:rPr i="1" lang="en" sz="1300">
                <a:solidFill>
                  <a:srgbClr val="1A1A2E"/>
                </a:solidFill>
                <a:latin typeface="Inter"/>
                <a:ea typeface="Inter"/>
                <a:cs typeface="Inter"/>
                <a:sym typeface="Inter"/>
              </a:rPr>
              <a:t>Sample Question</a:t>
            </a:r>
            <a:endParaRPr i="1" sz="1300" u="none" cap="none" strike="noStrike">
              <a:solidFill>
                <a:srgbClr val="000000"/>
              </a:solidFill>
              <a:latin typeface="Inter"/>
              <a:ea typeface="Inter"/>
              <a:cs typeface="Inter"/>
              <a:sym typeface="Inter"/>
            </a:endParaRPr>
          </a:p>
        </p:txBody>
      </p:sp>
      <p:sp>
        <p:nvSpPr>
          <p:cNvPr id="130" name="Google Shape;130;g3d5f0fe9fd8_0_5"/>
          <p:cNvSpPr/>
          <p:nvPr/>
        </p:nvSpPr>
        <p:spPr>
          <a:xfrm>
            <a:off x="890832" y="4147990"/>
            <a:ext cx="495300" cy="18300"/>
          </a:xfrm>
          <a:prstGeom prst="rect">
            <a:avLst/>
          </a:prstGeom>
          <a:solidFill>
            <a:srgbClr val="B85C3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31" name="Google Shape;131;g3d5f0fe9fd8_0_5"/>
          <p:cNvSpPr txBox="1"/>
          <p:nvPr/>
        </p:nvSpPr>
        <p:spPr>
          <a:xfrm>
            <a:off x="796135" y="4165057"/>
            <a:ext cx="6369000" cy="531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i="1" lang="en" sz="1100">
                <a:solidFill>
                  <a:schemeClr val="dk1"/>
                </a:solidFill>
                <a:latin typeface="Inter"/>
                <a:ea typeface="Inter"/>
                <a:cs typeface="Inter"/>
                <a:sym typeface="Inter"/>
              </a:rPr>
              <a:t>Do the algorithmic risk scores in the COMPAS dataset demonstrate higher false positive rates for Black defendants compared to White defendants?</a:t>
            </a:r>
            <a:endParaRPr b="0" i="1" sz="1100" u="none" cap="none" strike="noStrike">
              <a:solidFill>
                <a:schemeClr val="dk1"/>
              </a:solidFill>
              <a:latin typeface="Inter"/>
              <a:ea typeface="Inter"/>
              <a:cs typeface="Inter"/>
              <a:sym typeface="Inte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grpSp>
        <p:nvGrpSpPr>
          <p:cNvPr id="136" name="Google Shape;136;g3d5f0fe9fd8_0_41"/>
          <p:cNvGrpSpPr/>
          <p:nvPr/>
        </p:nvGrpSpPr>
        <p:grpSpPr>
          <a:xfrm>
            <a:off x="8625" y="0"/>
            <a:ext cx="9144000" cy="267600"/>
            <a:chOff x="8625" y="0"/>
            <a:chExt cx="9144000" cy="267600"/>
          </a:xfrm>
        </p:grpSpPr>
        <p:sp>
          <p:nvSpPr>
            <p:cNvPr id="137" name="Google Shape;137;g3d5f0fe9fd8_0_41"/>
            <p:cNvSpPr/>
            <p:nvPr/>
          </p:nvSpPr>
          <p:spPr>
            <a:xfrm>
              <a:off x="8625" y="0"/>
              <a:ext cx="9144000" cy="2676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38" name="Google Shape;138;g3d5f0fe9fd8_0_41" title="Logo Header.png"/>
            <p:cNvPicPr preferRelativeResize="0"/>
            <p:nvPr/>
          </p:nvPicPr>
          <p:blipFill rotWithShape="1">
            <a:blip r:embed="rId3">
              <a:alphaModFix/>
            </a:blip>
            <a:srcRect b="0" l="0" r="0" t="0"/>
            <a:stretch/>
          </p:blipFill>
          <p:spPr>
            <a:xfrm>
              <a:off x="8348195" y="15790"/>
              <a:ext cx="634775" cy="199625"/>
            </a:xfrm>
            <a:prstGeom prst="rect">
              <a:avLst/>
            </a:prstGeom>
            <a:noFill/>
            <a:ln>
              <a:noFill/>
            </a:ln>
          </p:spPr>
        </p:pic>
      </p:grpSp>
      <p:sp>
        <p:nvSpPr>
          <p:cNvPr id="139" name="Google Shape;139;g3d5f0fe9fd8_0_41"/>
          <p:cNvSpPr txBox="1"/>
          <p:nvPr>
            <p:ph idx="1" type="subTitle"/>
          </p:nvPr>
        </p:nvSpPr>
        <p:spPr>
          <a:xfrm>
            <a:off x="932973" y="447125"/>
            <a:ext cx="5545500" cy="809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b="1" lang="en" sz="2700">
                <a:solidFill>
                  <a:schemeClr val="dk1"/>
                </a:solidFill>
                <a:latin typeface="Inter"/>
                <a:ea typeface="Inter"/>
                <a:cs typeface="Inter"/>
                <a:sym typeface="Inter"/>
              </a:rPr>
              <a:t>Why ask good questions?</a:t>
            </a:r>
            <a:endParaRPr b="1" sz="2700">
              <a:solidFill>
                <a:schemeClr val="dk1"/>
              </a:solidFill>
              <a:latin typeface="Inter"/>
              <a:ea typeface="Inter"/>
              <a:cs typeface="Inter"/>
              <a:sym typeface="Inter"/>
            </a:endParaRPr>
          </a:p>
        </p:txBody>
      </p:sp>
      <p:sp>
        <p:nvSpPr>
          <p:cNvPr id="140" name="Google Shape;140;g3d5f0fe9fd8_0_41"/>
          <p:cNvSpPr txBox="1"/>
          <p:nvPr/>
        </p:nvSpPr>
        <p:spPr>
          <a:xfrm>
            <a:off x="409575" y="1342450"/>
            <a:ext cx="7993800" cy="3511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1200"/>
              </a:spcBef>
              <a:spcAft>
                <a:spcPts val="0"/>
              </a:spcAft>
              <a:buNone/>
            </a:pPr>
            <a:r>
              <a:rPr lang="en" sz="1800">
                <a:solidFill>
                  <a:schemeClr val="dk1"/>
                </a:solidFill>
                <a:latin typeface="Inter"/>
                <a:ea typeface="Inter"/>
                <a:cs typeface="Inter"/>
                <a:sym typeface="Inter"/>
              </a:rPr>
              <a:t>Good questions prompt knowledge </a:t>
            </a:r>
            <a:r>
              <a:rPr lang="en" sz="1800">
                <a:solidFill>
                  <a:schemeClr val="dk1"/>
                </a:solidFill>
                <a:latin typeface="Inter"/>
                <a:ea typeface="Inter"/>
                <a:cs typeface="Inter"/>
                <a:sym typeface="Inter"/>
              </a:rPr>
              <a:t>exploration</a:t>
            </a:r>
            <a:r>
              <a:rPr lang="en" sz="1800">
                <a:solidFill>
                  <a:schemeClr val="dk1"/>
                </a:solidFill>
                <a:latin typeface="Inter"/>
                <a:ea typeface="Inter"/>
                <a:cs typeface="Inter"/>
                <a:sym typeface="Inter"/>
              </a:rPr>
              <a:t> that:</a:t>
            </a:r>
            <a:endParaRPr b="0" i="0" sz="1800" u="none" cap="none" strike="noStrike">
              <a:solidFill>
                <a:schemeClr val="dk1"/>
              </a:solidFill>
              <a:latin typeface="Inter"/>
              <a:ea typeface="Inter"/>
              <a:cs typeface="Inter"/>
              <a:sym typeface="Inter"/>
            </a:endParaRPr>
          </a:p>
          <a:p>
            <a:pPr indent="-342900" lvl="0" marL="457200" rtl="0" algn="l">
              <a:lnSpc>
                <a:spcPct val="115000"/>
              </a:lnSpc>
              <a:spcBef>
                <a:spcPts val="1200"/>
              </a:spcBef>
              <a:spcAft>
                <a:spcPts val="0"/>
              </a:spcAft>
              <a:buClr>
                <a:schemeClr val="dk1"/>
              </a:buClr>
              <a:buSzPts val="1800"/>
              <a:buFont typeface="Inter"/>
              <a:buChar char="●"/>
            </a:pPr>
            <a:r>
              <a:rPr lang="en" sz="1800">
                <a:solidFill>
                  <a:schemeClr val="dk1"/>
                </a:solidFill>
                <a:latin typeface="Inter"/>
                <a:ea typeface="Inter"/>
                <a:cs typeface="Inter"/>
                <a:sym typeface="Inter"/>
              </a:rPr>
              <a:t>Is grounded in prior knowledge</a:t>
            </a:r>
            <a:endParaRPr sz="1800">
              <a:solidFill>
                <a:schemeClr val="dk1"/>
              </a:solidFill>
              <a:latin typeface="Inter"/>
              <a:ea typeface="Inter"/>
              <a:cs typeface="Inter"/>
              <a:sym typeface="Inter"/>
            </a:endParaRPr>
          </a:p>
          <a:p>
            <a:pPr indent="-342900" lvl="0" marL="457200" rtl="0" algn="l">
              <a:lnSpc>
                <a:spcPct val="115000"/>
              </a:lnSpc>
              <a:spcBef>
                <a:spcPts val="0"/>
              </a:spcBef>
              <a:spcAft>
                <a:spcPts val="0"/>
              </a:spcAft>
              <a:buClr>
                <a:schemeClr val="dk1"/>
              </a:buClr>
              <a:buSzPts val="1800"/>
              <a:buFont typeface="Inter"/>
              <a:buChar char="●"/>
            </a:pPr>
            <a:r>
              <a:rPr lang="en" sz="1800">
                <a:solidFill>
                  <a:schemeClr val="dk1"/>
                </a:solidFill>
                <a:latin typeface="Inter"/>
                <a:ea typeface="Inter"/>
                <a:cs typeface="Inter"/>
                <a:sym typeface="Inter"/>
              </a:rPr>
              <a:t>Prevents starting with data alone</a:t>
            </a:r>
            <a:endParaRPr sz="1800">
              <a:solidFill>
                <a:schemeClr val="dk1"/>
              </a:solidFill>
              <a:latin typeface="Inter"/>
              <a:ea typeface="Inter"/>
              <a:cs typeface="Inter"/>
              <a:sym typeface="Inter"/>
            </a:endParaRPr>
          </a:p>
          <a:p>
            <a:pPr indent="-342900" lvl="0" marL="457200" rtl="0" algn="l">
              <a:lnSpc>
                <a:spcPct val="115000"/>
              </a:lnSpc>
              <a:spcBef>
                <a:spcPts val="0"/>
              </a:spcBef>
              <a:spcAft>
                <a:spcPts val="0"/>
              </a:spcAft>
              <a:buClr>
                <a:schemeClr val="dk1"/>
              </a:buClr>
              <a:buSzPts val="1800"/>
              <a:buFont typeface="Inter"/>
              <a:buChar char="●"/>
            </a:pPr>
            <a:r>
              <a:rPr lang="en" sz="1800">
                <a:solidFill>
                  <a:schemeClr val="dk1"/>
                </a:solidFill>
                <a:latin typeface="Inter"/>
                <a:ea typeface="Inter"/>
                <a:cs typeface="Inter"/>
                <a:sym typeface="Inter"/>
              </a:rPr>
              <a:t>Clarifies what we want to know</a:t>
            </a:r>
            <a:endParaRPr sz="1800">
              <a:solidFill>
                <a:schemeClr val="dk1"/>
              </a:solidFill>
              <a:latin typeface="Inter"/>
              <a:ea typeface="Inter"/>
              <a:cs typeface="Inter"/>
              <a:sym typeface="Inter"/>
            </a:endParaRPr>
          </a:p>
          <a:p>
            <a:pPr indent="-342900" lvl="0" marL="457200" rtl="0" algn="l">
              <a:lnSpc>
                <a:spcPct val="115000"/>
              </a:lnSpc>
              <a:spcBef>
                <a:spcPts val="0"/>
              </a:spcBef>
              <a:spcAft>
                <a:spcPts val="0"/>
              </a:spcAft>
              <a:buClr>
                <a:schemeClr val="dk1"/>
              </a:buClr>
              <a:buSzPts val="1800"/>
              <a:buFont typeface="Inter"/>
              <a:buChar char="●"/>
            </a:pPr>
            <a:r>
              <a:rPr lang="en" sz="1800">
                <a:solidFill>
                  <a:schemeClr val="dk1"/>
                </a:solidFill>
                <a:latin typeface="Inter"/>
                <a:ea typeface="Inter"/>
                <a:cs typeface="Inter"/>
                <a:sym typeface="Inter"/>
              </a:rPr>
              <a:t>Helps define and scope the project</a:t>
            </a:r>
            <a:endParaRPr sz="1800">
              <a:solidFill>
                <a:schemeClr val="dk1"/>
              </a:solidFill>
              <a:latin typeface="Inter"/>
              <a:ea typeface="Inter"/>
              <a:cs typeface="Inter"/>
              <a:sym typeface="Inter"/>
            </a:endParaRPr>
          </a:p>
          <a:p>
            <a:pPr indent="-342900" lvl="0" marL="457200" rtl="0" algn="l">
              <a:lnSpc>
                <a:spcPct val="115000"/>
              </a:lnSpc>
              <a:spcBef>
                <a:spcPts val="0"/>
              </a:spcBef>
              <a:spcAft>
                <a:spcPts val="0"/>
              </a:spcAft>
              <a:buClr>
                <a:schemeClr val="dk1"/>
              </a:buClr>
              <a:buSzPts val="1800"/>
              <a:buFont typeface="Inter"/>
              <a:buChar char="●"/>
            </a:pPr>
            <a:r>
              <a:rPr lang="en" sz="1800">
                <a:solidFill>
                  <a:schemeClr val="dk1"/>
                </a:solidFill>
                <a:latin typeface="Inter"/>
                <a:ea typeface="Inter"/>
                <a:cs typeface="Inter"/>
                <a:sym typeface="Inter"/>
              </a:rPr>
              <a:t>Guides what data to collect</a:t>
            </a:r>
            <a:endParaRPr sz="1800">
              <a:solidFill>
                <a:schemeClr val="dk1"/>
              </a:solidFill>
              <a:latin typeface="Inter"/>
              <a:ea typeface="Inter"/>
              <a:cs typeface="Inter"/>
              <a:sym typeface="Inter"/>
            </a:endParaRPr>
          </a:p>
          <a:p>
            <a:pPr indent="-342900" lvl="0" marL="457200" rtl="0" algn="l">
              <a:lnSpc>
                <a:spcPct val="115000"/>
              </a:lnSpc>
              <a:spcBef>
                <a:spcPts val="0"/>
              </a:spcBef>
              <a:spcAft>
                <a:spcPts val="0"/>
              </a:spcAft>
              <a:buClr>
                <a:schemeClr val="dk1"/>
              </a:buClr>
              <a:buSzPts val="1800"/>
              <a:buFont typeface="Inter"/>
              <a:buChar char="●"/>
            </a:pPr>
            <a:r>
              <a:rPr lang="en" sz="1800">
                <a:solidFill>
                  <a:schemeClr val="dk1"/>
                </a:solidFill>
                <a:latin typeface="Inter"/>
                <a:ea typeface="Inter"/>
                <a:cs typeface="Inter"/>
                <a:sym typeface="Inter"/>
              </a:rPr>
              <a:t>Encourages early ethical/critical thinking</a:t>
            </a:r>
            <a:endParaRPr sz="1800">
              <a:solidFill>
                <a:schemeClr val="dk1"/>
              </a:solidFill>
              <a:latin typeface="Inter"/>
              <a:ea typeface="Inter"/>
              <a:cs typeface="Inter"/>
              <a:sym typeface="Inter"/>
            </a:endParaRPr>
          </a:p>
          <a:p>
            <a:pPr indent="0" lvl="0" marL="0" marR="0" rtl="0" algn="l">
              <a:lnSpc>
                <a:spcPct val="100000"/>
              </a:lnSpc>
              <a:spcBef>
                <a:spcPts val="1200"/>
              </a:spcBef>
              <a:spcAft>
                <a:spcPts val="0"/>
              </a:spcAft>
              <a:buNone/>
            </a:pPr>
            <a:r>
              <a:t/>
            </a:r>
            <a:endParaRPr sz="1800">
              <a:solidFill>
                <a:schemeClr val="dk1"/>
              </a:solidFill>
              <a:latin typeface="Inter"/>
              <a:ea typeface="Inter"/>
              <a:cs typeface="Inter"/>
              <a:sym typeface="Inter"/>
            </a:endParaRPr>
          </a:p>
        </p:txBody>
      </p:sp>
      <p:pic>
        <p:nvPicPr>
          <p:cNvPr descr="please make another circular version" id="141" name="Google Shape;141;g3d5f0fe9fd8_0_41"/>
          <p:cNvPicPr preferRelativeResize="0"/>
          <p:nvPr/>
        </p:nvPicPr>
        <p:blipFill>
          <a:blip r:embed="rId4">
            <a:alphaModFix/>
          </a:blip>
          <a:stretch>
            <a:fillRect/>
          </a:stretch>
        </p:blipFill>
        <p:spPr>
          <a:xfrm>
            <a:off x="542363" y="544284"/>
            <a:ext cx="435875" cy="4358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grpSp>
        <p:nvGrpSpPr>
          <p:cNvPr id="146" name="Google Shape;146;g3d5f0fe9fd8_0_50"/>
          <p:cNvGrpSpPr/>
          <p:nvPr/>
        </p:nvGrpSpPr>
        <p:grpSpPr>
          <a:xfrm>
            <a:off x="8625" y="0"/>
            <a:ext cx="9144000" cy="267600"/>
            <a:chOff x="8625" y="0"/>
            <a:chExt cx="9144000" cy="267600"/>
          </a:xfrm>
        </p:grpSpPr>
        <p:sp>
          <p:nvSpPr>
            <p:cNvPr id="147" name="Google Shape;147;g3d5f0fe9fd8_0_50"/>
            <p:cNvSpPr/>
            <p:nvPr/>
          </p:nvSpPr>
          <p:spPr>
            <a:xfrm>
              <a:off x="8625" y="0"/>
              <a:ext cx="9144000" cy="2676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48" name="Google Shape;148;g3d5f0fe9fd8_0_50" title="Logo Header.png"/>
            <p:cNvPicPr preferRelativeResize="0"/>
            <p:nvPr/>
          </p:nvPicPr>
          <p:blipFill rotWithShape="1">
            <a:blip r:embed="rId3">
              <a:alphaModFix/>
            </a:blip>
            <a:srcRect b="0" l="0" r="0" t="0"/>
            <a:stretch/>
          </p:blipFill>
          <p:spPr>
            <a:xfrm>
              <a:off x="8348195" y="15790"/>
              <a:ext cx="634775" cy="199625"/>
            </a:xfrm>
            <a:prstGeom prst="rect">
              <a:avLst/>
            </a:prstGeom>
            <a:noFill/>
            <a:ln>
              <a:noFill/>
            </a:ln>
          </p:spPr>
        </p:pic>
      </p:grpSp>
      <p:sp>
        <p:nvSpPr>
          <p:cNvPr id="149" name="Google Shape;149;g3d5f0fe9fd8_0_50"/>
          <p:cNvSpPr txBox="1"/>
          <p:nvPr>
            <p:ph idx="1" type="subTitle"/>
          </p:nvPr>
        </p:nvSpPr>
        <p:spPr>
          <a:xfrm>
            <a:off x="942438" y="459062"/>
            <a:ext cx="6914100" cy="809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b="1" lang="en" sz="2700">
                <a:solidFill>
                  <a:schemeClr val="dk1"/>
                </a:solidFill>
                <a:latin typeface="Inter"/>
                <a:ea typeface="Inter"/>
                <a:cs typeface="Inter"/>
                <a:sym typeface="Inter"/>
              </a:rPr>
              <a:t>What a good question can look </a:t>
            </a:r>
            <a:r>
              <a:rPr b="1" lang="en" sz="2700">
                <a:solidFill>
                  <a:schemeClr val="dk1"/>
                </a:solidFill>
                <a:latin typeface="Inter"/>
                <a:ea typeface="Inter"/>
                <a:cs typeface="Inter"/>
                <a:sym typeface="Inter"/>
                <a:extLst>
                  <a:ext uri="http://customooxmlschemas.google.com/">
                    <go:slidesCustomData xmlns:go="http://customooxmlschemas.google.com/" textRoundtripDataId="9"/>
                  </a:ext>
                </a:extLst>
              </a:rPr>
              <a:t>like…</a:t>
            </a:r>
            <a:endParaRPr b="1" sz="2700">
              <a:solidFill>
                <a:schemeClr val="dk1"/>
              </a:solidFill>
              <a:latin typeface="Inter"/>
              <a:ea typeface="Inter"/>
              <a:cs typeface="Inter"/>
              <a:sym typeface="Inter"/>
            </a:endParaRPr>
          </a:p>
        </p:txBody>
      </p:sp>
      <p:sp>
        <p:nvSpPr>
          <p:cNvPr id="150" name="Google Shape;150;g3d5f0fe9fd8_0_50"/>
          <p:cNvSpPr/>
          <p:nvPr/>
        </p:nvSpPr>
        <p:spPr>
          <a:xfrm>
            <a:off x="542375" y="1256825"/>
            <a:ext cx="6914100" cy="1247700"/>
          </a:xfrm>
          <a:prstGeom prst="roundRect">
            <a:avLst>
              <a:gd fmla="val 16667" name="adj"/>
            </a:avLst>
          </a:prstGeom>
          <a:solidFill>
            <a:srgbClr val="D4E4D1"/>
          </a:solidFill>
          <a:ln>
            <a:noFill/>
          </a:ln>
        </p:spPr>
        <p:txBody>
          <a:bodyPr anchorCtr="0" anchor="ctr" bIns="91425" lIns="91425" spcFirstLastPara="1" rIns="91425" wrap="square" tIns="91425">
            <a:noAutofit/>
          </a:bodyPr>
          <a:lstStyle/>
          <a:p>
            <a:pPr indent="0" lvl="0" marL="274320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51" name="Google Shape;151;g3d5f0fe9fd8_0_50"/>
          <p:cNvSpPr txBox="1"/>
          <p:nvPr/>
        </p:nvSpPr>
        <p:spPr>
          <a:xfrm>
            <a:off x="752075" y="1531000"/>
            <a:ext cx="6292200" cy="723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n">
                <a:solidFill>
                  <a:schemeClr val="dk1"/>
                </a:solidFill>
                <a:latin typeface="Inter"/>
                <a:ea typeface="Inter"/>
                <a:cs typeface="Inter"/>
                <a:sym typeface="Inter"/>
              </a:rPr>
              <a:t>“We know women often face discrimination, but what happens when coders are anonymous on GitHub: Do women still face discrimination?</a:t>
            </a:r>
            <a:endParaRPr b="0" i="0" u="none" cap="none" strike="noStrike">
              <a:solidFill>
                <a:schemeClr val="dk1"/>
              </a:solidFill>
              <a:latin typeface="Inter"/>
              <a:ea typeface="Inter"/>
              <a:cs typeface="Inter"/>
              <a:sym typeface="Inter"/>
            </a:endParaRPr>
          </a:p>
        </p:txBody>
      </p:sp>
      <p:sp>
        <p:nvSpPr>
          <p:cNvPr id="152" name="Google Shape;152;g3d5f0fe9fd8_0_50"/>
          <p:cNvSpPr/>
          <p:nvPr/>
        </p:nvSpPr>
        <p:spPr>
          <a:xfrm>
            <a:off x="542375" y="2837975"/>
            <a:ext cx="6914100" cy="1247700"/>
          </a:xfrm>
          <a:prstGeom prst="roundRect">
            <a:avLst>
              <a:gd fmla="val 16667" name="adj"/>
            </a:avLst>
          </a:prstGeom>
          <a:solidFill>
            <a:srgbClr val="D4E4D1"/>
          </a:solidFill>
          <a:ln>
            <a:noFill/>
          </a:ln>
        </p:spPr>
        <p:txBody>
          <a:bodyPr anchorCtr="0" anchor="ctr" bIns="91425" lIns="91425" spcFirstLastPara="1" rIns="91425" wrap="square" tIns="91425">
            <a:noAutofit/>
          </a:bodyPr>
          <a:lstStyle/>
          <a:p>
            <a:pPr indent="0" lvl="0" marL="274320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53" name="Google Shape;153;g3d5f0fe9fd8_0_50"/>
          <p:cNvSpPr txBox="1"/>
          <p:nvPr/>
        </p:nvSpPr>
        <p:spPr>
          <a:xfrm>
            <a:off x="775925" y="3038425"/>
            <a:ext cx="6447000" cy="723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n">
                <a:solidFill>
                  <a:schemeClr val="dk1"/>
                </a:solidFill>
                <a:latin typeface="Inter"/>
                <a:ea typeface="Inter"/>
                <a:cs typeface="Inter"/>
                <a:sym typeface="Inter"/>
              </a:rPr>
              <a:t>“We know human judges can be biased: Does the COMPAS algorithm reduce this bias, or does it simply hide existing racial disparities under a 'neutral' score?”</a:t>
            </a:r>
            <a:endParaRPr>
              <a:solidFill>
                <a:schemeClr val="dk1"/>
              </a:solidFill>
              <a:latin typeface="Inter"/>
              <a:ea typeface="Inter"/>
              <a:cs typeface="Inter"/>
              <a:sym typeface="Inter"/>
            </a:endParaRPr>
          </a:p>
        </p:txBody>
      </p:sp>
      <p:pic>
        <p:nvPicPr>
          <p:cNvPr descr="please make another circular version" id="154" name="Google Shape;154;g3d5f0fe9fd8_0_50"/>
          <p:cNvPicPr preferRelativeResize="0"/>
          <p:nvPr/>
        </p:nvPicPr>
        <p:blipFill>
          <a:blip r:embed="rId4">
            <a:alphaModFix/>
          </a:blip>
          <a:stretch>
            <a:fillRect/>
          </a:stretch>
        </p:blipFill>
        <p:spPr>
          <a:xfrm>
            <a:off x="542363" y="544284"/>
            <a:ext cx="435875" cy="4358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8" name="Shape 158"/>
        <p:cNvGrpSpPr/>
        <p:nvPr/>
      </p:nvGrpSpPr>
      <p:grpSpPr>
        <a:xfrm>
          <a:off x="0" y="0"/>
          <a:ext cx="0" cy="0"/>
          <a:chOff x="0" y="0"/>
          <a:chExt cx="0" cy="0"/>
        </a:xfrm>
      </p:grpSpPr>
      <p:grpSp>
        <p:nvGrpSpPr>
          <p:cNvPr id="159" name="Google Shape;159;g3d80d24d5dc_0_89"/>
          <p:cNvGrpSpPr/>
          <p:nvPr/>
        </p:nvGrpSpPr>
        <p:grpSpPr>
          <a:xfrm>
            <a:off x="8625" y="0"/>
            <a:ext cx="9144000" cy="267600"/>
            <a:chOff x="8625" y="0"/>
            <a:chExt cx="9144000" cy="267600"/>
          </a:xfrm>
        </p:grpSpPr>
        <p:sp>
          <p:nvSpPr>
            <p:cNvPr id="160" name="Google Shape;160;g3d80d24d5dc_0_89"/>
            <p:cNvSpPr/>
            <p:nvPr/>
          </p:nvSpPr>
          <p:spPr>
            <a:xfrm>
              <a:off x="8625" y="0"/>
              <a:ext cx="9144000" cy="2676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61" name="Google Shape;161;g3d80d24d5dc_0_89" title="Logo Header.png"/>
            <p:cNvPicPr preferRelativeResize="0"/>
            <p:nvPr/>
          </p:nvPicPr>
          <p:blipFill rotWithShape="1">
            <a:blip r:embed="rId4">
              <a:alphaModFix/>
            </a:blip>
            <a:srcRect b="0" l="0" r="0" t="0"/>
            <a:stretch/>
          </p:blipFill>
          <p:spPr>
            <a:xfrm>
              <a:off x="8348195" y="15790"/>
              <a:ext cx="634775" cy="199625"/>
            </a:xfrm>
            <a:prstGeom prst="rect">
              <a:avLst/>
            </a:prstGeom>
            <a:noFill/>
            <a:ln>
              <a:noFill/>
            </a:ln>
          </p:spPr>
        </p:pic>
      </p:grpSp>
      <p:grpSp>
        <p:nvGrpSpPr>
          <p:cNvPr id="162" name="Google Shape;162;g3d80d24d5dc_0_89"/>
          <p:cNvGrpSpPr/>
          <p:nvPr/>
        </p:nvGrpSpPr>
        <p:grpSpPr>
          <a:xfrm>
            <a:off x="2881313" y="1346781"/>
            <a:ext cx="3381413" cy="3200438"/>
            <a:chOff x="2881313" y="1419225"/>
            <a:chExt cx="3381413" cy="3200438"/>
          </a:xfrm>
        </p:grpSpPr>
        <p:pic>
          <p:nvPicPr>
            <p:cNvPr id="163" name="Google Shape;163;g3d80d24d5dc_0_89"/>
            <p:cNvPicPr preferRelativeResize="0"/>
            <p:nvPr/>
          </p:nvPicPr>
          <p:blipFill rotWithShape="1">
            <a:blip r:embed="rId5">
              <a:alphaModFix/>
            </a:blip>
            <a:srcRect b="0" l="0" r="0" t="0"/>
            <a:stretch/>
          </p:blipFill>
          <p:spPr>
            <a:xfrm>
              <a:off x="4572000" y="1419225"/>
              <a:ext cx="1643100" cy="1104900"/>
            </a:xfrm>
            <a:prstGeom prst="rect">
              <a:avLst/>
            </a:prstGeom>
            <a:noFill/>
            <a:ln>
              <a:noFill/>
            </a:ln>
          </p:spPr>
        </p:pic>
        <p:pic>
          <p:nvPicPr>
            <p:cNvPr id="164" name="Google Shape;164;g3d80d24d5dc_0_89"/>
            <p:cNvPicPr preferRelativeResize="0"/>
            <p:nvPr/>
          </p:nvPicPr>
          <p:blipFill rotWithShape="1">
            <a:blip r:embed="rId6">
              <a:alphaModFix/>
            </a:blip>
            <a:srcRect b="0" l="0" r="0" t="0"/>
            <a:stretch/>
          </p:blipFill>
          <p:spPr>
            <a:xfrm>
              <a:off x="5572125" y="2514600"/>
              <a:ext cx="690600" cy="1776300"/>
            </a:xfrm>
            <a:prstGeom prst="rect">
              <a:avLst/>
            </a:prstGeom>
            <a:noFill/>
            <a:ln>
              <a:noFill/>
            </a:ln>
          </p:spPr>
        </p:pic>
        <p:pic>
          <p:nvPicPr>
            <p:cNvPr id="165" name="Google Shape;165;g3d80d24d5dc_0_89"/>
            <p:cNvPicPr preferRelativeResize="0"/>
            <p:nvPr/>
          </p:nvPicPr>
          <p:blipFill rotWithShape="1">
            <a:blip r:embed="rId7">
              <a:alphaModFix/>
            </a:blip>
            <a:srcRect b="0" l="0" r="0" t="0"/>
            <a:stretch/>
          </p:blipFill>
          <p:spPr>
            <a:xfrm>
              <a:off x="3571875" y="4271963"/>
              <a:ext cx="2014500" cy="347700"/>
            </a:xfrm>
            <a:prstGeom prst="rect">
              <a:avLst/>
            </a:prstGeom>
            <a:noFill/>
            <a:ln>
              <a:noFill/>
            </a:ln>
          </p:spPr>
        </p:pic>
        <p:pic>
          <p:nvPicPr>
            <p:cNvPr id="166" name="Google Shape;166;g3d80d24d5dc_0_89"/>
            <p:cNvPicPr preferRelativeResize="0"/>
            <p:nvPr/>
          </p:nvPicPr>
          <p:blipFill rotWithShape="1">
            <a:blip r:embed="rId8">
              <a:alphaModFix/>
            </a:blip>
            <a:srcRect b="0" l="0" r="0" t="0"/>
            <a:stretch/>
          </p:blipFill>
          <p:spPr>
            <a:xfrm>
              <a:off x="2881313" y="2514600"/>
              <a:ext cx="690600" cy="1776300"/>
            </a:xfrm>
            <a:prstGeom prst="rect">
              <a:avLst/>
            </a:prstGeom>
            <a:noFill/>
            <a:ln>
              <a:noFill/>
            </a:ln>
          </p:spPr>
        </p:pic>
        <p:pic>
          <p:nvPicPr>
            <p:cNvPr id="167" name="Google Shape;167;g3d80d24d5dc_0_89"/>
            <p:cNvPicPr preferRelativeResize="0"/>
            <p:nvPr/>
          </p:nvPicPr>
          <p:blipFill rotWithShape="1">
            <a:blip r:embed="rId9">
              <a:alphaModFix/>
            </a:blip>
            <a:srcRect b="0" l="0" r="0" t="0"/>
            <a:stretch/>
          </p:blipFill>
          <p:spPr>
            <a:xfrm>
              <a:off x="2928938" y="1419225"/>
              <a:ext cx="1643100" cy="1104900"/>
            </a:xfrm>
            <a:prstGeom prst="rect">
              <a:avLst/>
            </a:prstGeom>
            <a:noFill/>
            <a:ln>
              <a:noFill/>
            </a:ln>
          </p:spPr>
        </p:pic>
        <p:sp>
          <p:nvSpPr>
            <p:cNvPr id="168" name="Google Shape;168;g3d80d24d5dc_0_89"/>
            <p:cNvSpPr/>
            <p:nvPr/>
          </p:nvSpPr>
          <p:spPr>
            <a:xfrm>
              <a:off x="3619500" y="2190750"/>
              <a:ext cx="1905000" cy="1905000"/>
            </a:xfrm>
            <a:prstGeom prst="ellipse">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9" name="Google Shape;169;g3d80d24d5dc_0_89"/>
            <p:cNvSpPr txBox="1"/>
            <p:nvPr/>
          </p:nvSpPr>
          <p:spPr>
            <a:xfrm>
              <a:off x="3905250" y="2762250"/>
              <a:ext cx="1333500" cy="762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a:solidFill>
                    <a:srgbClr val="64748B"/>
                  </a:solidFill>
                  <a:latin typeface="Inter"/>
                  <a:ea typeface="Inter"/>
                  <a:cs typeface="Inter"/>
                  <a:sym typeface="Inter"/>
                </a:rPr>
                <a:t>PROBLEM SCOPING CYCLE</a:t>
              </a:r>
              <a:endParaRPr b="1" sz="1400">
                <a:solidFill>
                  <a:srgbClr val="64748B"/>
                </a:solidFill>
                <a:latin typeface="Inter"/>
                <a:ea typeface="Inter"/>
                <a:cs typeface="Inter"/>
                <a:sym typeface="Inter"/>
              </a:endParaRPr>
            </a:p>
          </p:txBody>
        </p:sp>
      </p:grpSp>
      <p:sp>
        <p:nvSpPr>
          <p:cNvPr id="170" name="Google Shape;170;g3d80d24d5dc_0_89"/>
          <p:cNvSpPr txBox="1"/>
          <p:nvPr>
            <p:ph idx="1" type="subTitle"/>
          </p:nvPr>
        </p:nvSpPr>
        <p:spPr>
          <a:xfrm>
            <a:off x="381000" y="290445"/>
            <a:ext cx="8382000" cy="5715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ctr">
              <a:spcBef>
                <a:spcPts val="0"/>
              </a:spcBef>
              <a:spcAft>
                <a:spcPts val="0"/>
              </a:spcAft>
              <a:buNone/>
            </a:pPr>
            <a:r>
              <a:rPr b="1" lang="en" sz="2800">
                <a:solidFill>
                  <a:srgbClr val="1E293B"/>
                </a:solidFill>
                <a:latin typeface="Inter"/>
                <a:ea typeface="Inter"/>
                <a:cs typeface="Inter"/>
                <a:sym typeface="Inter"/>
              </a:rPr>
              <a:t>Reflection, Improvement, and Iteration</a:t>
            </a:r>
            <a:endParaRPr b="1" sz="2800">
              <a:solidFill>
                <a:srgbClr val="1E293B"/>
              </a:solidFill>
              <a:latin typeface="Inter"/>
              <a:ea typeface="Inter"/>
              <a:cs typeface="Inter"/>
              <a:sym typeface="Inter"/>
            </a:endParaRPr>
          </a:p>
        </p:txBody>
      </p:sp>
      <p:sp>
        <p:nvSpPr>
          <p:cNvPr id="171" name="Google Shape;171;g3d80d24d5dc_0_89"/>
          <p:cNvSpPr txBox="1"/>
          <p:nvPr/>
        </p:nvSpPr>
        <p:spPr>
          <a:xfrm>
            <a:off x="3619500" y="899106"/>
            <a:ext cx="1905000" cy="1143000"/>
          </a:xfrm>
          <a:prstGeom prst="rect">
            <a:avLst/>
          </a:prstGeom>
          <a:solidFill>
            <a:srgbClr val="F5F0E8"/>
          </a:solidFill>
          <a:ln cap="flat" cmpd="sng" w="9525">
            <a:solidFill>
              <a:srgbClr val="E2E8F0"/>
            </a:solidFill>
            <a:prstDash val="solid"/>
            <a:round/>
            <a:headEnd len="sm" w="sm" type="none"/>
            <a:tailEnd len="sm" w="sm" type="none"/>
          </a:ln>
        </p:spPr>
        <p:txBody>
          <a:bodyPr anchorCtr="0" anchor="ctr" bIns="95250" lIns="95250" spcFirstLastPara="1" rIns="95250" wrap="square" tIns="95250">
            <a:noAutofit/>
          </a:bodyPr>
          <a:lstStyle/>
          <a:p>
            <a:pPr indent="0" lvl="0" marL="0" rtl="0" algn="ctr">
              <a:spcBef>
                <a:spcPts val="0"/>
              </a:spcBef>
              <a:spcAft>
                <a:spcPts val="0"/>
              </a:spcAft>
              <a:buNone/>
            </a:pPr>
            <a:r>
              <a:rPr b="1" lang="en" sz="1200">
                <a:solidFill>
                  <a:srgbClr val="0F172A"/>
                </a:solidFill>
                <a:latin typeface="Inter"/>
                <a:ea typeface="Inter"/>
                <a:cs typeface="Inter"/>
                <a:sym typeface="Inter"/>
              </a:rPr>
              <a:t>Ask</a:t>
            </a:r>
            <a:endParaRPr b="1" sz="1200">
              <a:solidFill>
                <a:srgbClr val="0F172A"/>
              </a:solidFill>
              <a:latin typeface="Inter"/>
              <a:ea typeface="Inter"/>
              <a:cs typeface="Inter"/>
              <a:sym typeface="Inter"/>
            </a:endParaRPr>
          </a:p>
          <a:p>
            <a:pPr indent="0" lvl="0" marL="0" rtl="0" algn="ctr">
              <a:spcBef>
                <a:spcPts val="300"/>
              </a:spcBef>
              <a:spcAft>
                <a:spcPts val="0"/>
              </a:spcAft>
              <a:buNone/>
            </a:pPr>
            <a:r>
              <a:rPr lang="en" sz="1000">
                <a:solidFill>
                  <a:srgbClr val="334155"/>
                </a:solidFill>
                <a:latin typeface="Inter"/>
                <a:ea typeface="Inter"/>
                <a:cs typeface="Inter"/>
                <a:sym typeface="Inter"/>
              </a:rPr>
              <a:t>Is this the best way to answer the question?</a:t>
            </a:r>
            <a:endParaRPr sz="1000">
              <a:solidFill>
                <a:srgbClr val="334155"/>
              </a:solidFill>
              <a:latin typeface="Inter"/>
              <a:ea typeface="Inter"/>
              <a:cs typeface="Inter"/>
              <a:sym typeface="Inter"/>
            </a:endParaRPr>
          </a:p>
        </p:txBody>
      </p:sp>
      <p:sp>
        <p:nvSpPr>
          <p:cNvPr id="172" name="Google Shape;172;g3d80d24d5dc_0_89"/>
          <p:cNvSpPr txBox="1"/>
          <p:nvPr/>
        </p:nvSpPr>
        <p:spPr>
          <a:xfrm>
            <a:off x="5905500" y="2118306"/>
            <a:ext cx="1905000" cy="1143000"/>
          </a:xfrm>
          <a:prstGeom prst="rect">
            <a:avLst/>
          </a:prstGeom>
          <a:solidFill>
            <a:srgbClr val="F5F0E8"/>
          </a:solidFill>
          <a:ln cap="flat" cmpd="sng" w="9525">
            <a:solidFill>
              <a:srgbClr val="E2E8F0"/>
            </a:solidFill>
            <a:prstDash val="solid"/>
            <a:round/>
            <a:headEnd len="sm" w="sm" type="none"/>
            <a:tailEnd len="sm" w="sm" type="none"/>
          </a:ln>
        </p:spPr>
        <p:txBody>
          <a:bodyPr anchorCtr="0" anchor="ctr" bIns="95250" lIns="95250" spcFirstLastPara="1" rIns="95250" wrap="square" tIns="95250">
            <a:noAutofit/>
          </a:bodyPr>
          <a:lstStyle/>
          <a:p>
            <a:pPr indent="0" lvl="0" marL="0" rtl="0" algn="ctr">
              <a:spcBef>
                <a:spcPts val="0"/>
              </a:spcBef>
              <a:spcAft>
                <a:spcPts val="0"/>
              </a:spcAft>
              <a:buNone/>
            </a:pPr>
            <a:r>
              <a:rPr b="1" lang="en" sz="1200">
                <a:solidFill>
                  <a:srgbClr val="0F172A"/>
                </a:solidFill>
                <a:latin typeface="Inter"/>
                <a:ea typeface="Inter"/>
                <a:cs typeface="Inter"/>
                <a:sym typeface="Inter"/>
              </a:rPr>
              <a:t>Observe</a:t>
            </a:r>
            <a:endParaRPr b="1" sz="1200">
              <a:solidFill>
                <a:srgbClr val="0F172A"/>
              </a:solidFill>
              <a:latin typeface="Inter"/>
              <a:ea typeface="Inter"/>
              <a:cs typeface="Inter"/>
              <a:sym typeface="Inter"/>
            </a:endParaRPr>
          </a:p>
          <a:p>
            <a:pPr indent="0" lvl="0" marL="0" rtl="0" algn="ctr">
              <a:spcBef>
                <a:spcPts val="300"/>
              </a:spcBef>
              <a:spcAft>
                <a:spcPts val="0"/>
              </a:spcAft>
              <a:buNone/>
            </a:pPr>
            <a:r>
              <a:rPr lang="en" sz="1000">
                <a:solidFill>
                  <a:srgbClr val="334155"/>
                </a:solidFill>
                <a:latin typeface="Inter"/>
                <a:ea typeface="Inter"/>
                <a:cs typeface="Inter"/>
                <a:sym typeface="Inter"/>
              </a:rPr>
              <a:t>What is the data telling me?</a:t>
            </a:r>
            <a:endParaRPr sz="1000">
              <a:solidFill>
                <a:srgbClr val="334155"/>
              </a:solidFill>
              <a:latin typeface="Inter"/>
              <a:ea typeface="Inter"/>
              <a:cs typeface="Inter"/>
              <a:sym typeface="Inter"/>
            </a:endParaRPr>
          </a:p>
        </p:txBody>
      </p:sp>
      <p:sp>
        <p:nvSpPr>
          <p:cNvPr id="173" name="Google Shape;173;g3d80d24d5dc_0_89"/>
          <p:cNvSpPr txBox="1"/>
          <p:nvPr/>
        </p:nvSpPr>
        <p:spPr>
          <a:xfrm>
            <a:off x="4953000" y="3832806"/>
            <a:ext cx="1905000" cy="1143000"/>
          </a:xfrm>
          <a:prstGeom prst="rect">
            <a:avLst/>
          </a:prstGeom>
          <a:solidFill>
            <a:srgbClr val="F5F0E8"/>
          </a:solidFill>
          <a:ln cap="flat" cmpd="sng" w="9525">
            <a:solidFill>
              <a:srgbClr val="E2E8F0"/>
            </a:solidFill>
            <a:prstDash val="solid"/>
            <a:round/>
            <a:headEnd len="sm" w="sm" type="none"/>
            <a:tailEnd len="sm" w="sm" type="none"/>
          </a:ln>
        </p:spPr>
        <p:txBody>
          <a:bodyPr anchorCtr="0" anchor="ctr" bIns="95250" lIns="95250" spcFirstLastPara="1" rIns="95250" wrap="square" tIns="95250">
            <a:noAutofit/>
          </a:bodyPr>
          <a:lstStyle/>
          <a:p>
            <a:pPr indent="0" lvl="0" marL="0" rtl="0" algn="ctr">
              <a:spcBef>
                <a:spcPts val="0"/>
              </a:spcBef>
              <a:spcAft>
                <a:spcPts val="0"/>
              </a:spcAft>
              <a:buNone/>
            </a:pPr>
            <a:r>
              <a:rPr b="1" lang="en" sz="1200">
                <a:solidFill>
                  <a:srgbClr val="0F172A"/>
                </a:solidFill>
                <a:latin typeface="Inter"/>
                <a:ea typeface="Inter"/>
                <a:cs typeface="Inter"/>
                <a:sym typeface="Inter"/>
              </a:rPr>
              <a:t>Analyze</a:t>
            </a:r>
            <a:endParaRPr b="1" sz="1200">
              <a:solidFill>
                <a:srgbClr val="0F172A"/>
              </a:solidFill>
              <a:latin typeface="Inter"/>
              <a:ea typeface="Inter"/>
              <a:cs typeface="Inter"/>
              <a:sym typeface="Inter"/>
            </a:endParaRPr>
          </a:p>
          <a:p>
            <a:pPr indent="0" lvl="0" marL="0" rtl="0" algn="ctr">
              <a:spcBef>
                <a:spcPts val="300"/>
              </a:spcBef>
              <a:spcAft>
                <a:spcPts val="0"/>
              </a:spcAft>
              <a:buNone/>
            </a:pPr>
            <a:r>
              <a:rPr lang="en" sz="1000">
                <a:solidFill>
                  <a:srgbClr val="334155"/>
                </a:solidFill>
                <a:latin typeface="Inter"/>
                <a:ea typeface="Inter"/>
                <a:cs typeface="Inter"/>
                <a:sym typeface="Inter"/>
              </a:rPr>
              <a:t>What patterns or insights can we derive?</a:t>
            </a:r>
            <a:endParaRPr sz="1000">
              <a:solidFill>
                <a:srgbClr val="334155"/>
              </a:solidFill>
              <a:latin typeface="Inter"/>
              <a:ea typeface="Inter"/>
              <a:cs typeface="Inter"/>
              <a:sym typeface="Inter"/>
            </a:endParaRPr>
          </a:p>
        </p:txBody>
      </p:sp>
      <p:sp>
        <p:nvSpPr>
          <p:cNvPr id="174" name="Google Shape;174;g3d80d24d5dc_0_89"/>
          <p:cNvSpPr txBox="1"/>
          <p:nvPr/>
        </p:nvSpPr>
        <p:spPr>
          <a:xfrm>
            <a:off x="2286000" y="3832806"/>
            <a:ext cx="1905000" cy="1143000"/>
          </a:xfrm>
          <a:prstGeom prst="rect">
            <a:avLst/>
          </a:prstGeom>
          <a:solidFill>
            <a:srgbClr val="F5F0E8"/>
          </a:solidFill>
          <a:ln cap="flat" cmpd="sng" w="9525">
            <a:solidFill>
              <a:srgbClr val="E2E8F0"/>
            </a:solidFill>
            <a:prstDash val="solid"/>
            <a:round/>
            <a:headEnd len="sm" w="sm" type="none"/>
            <a:tailEnd len="sm" w="sm" type="none"/>
          </a:ln>
        </p:spPr>
        <p:txBody>
          <a:bodyPr anchorCtr="0" anchor="ctr" bIns="95250" lIns="95250" spcFirstLastPara="1" rIns="95250" wrap="square" tIns="95250">
            <a:noAutofit/>
          </a:bodyPr>
          <a:lstStyle/>
          <a:p>
            <a:pPr indent="0" lvl="0" marL="0" rtl="0" algn="ctr">
              <a:spcBef>
                <a:spcPts val="0"/>
              </a:spcBef>
              <a:spcAft>
                <a:spcPts val="0"/>
              </a:spcAft>
              <a:buNone/>
            </a:pPr>
            <a:r>
              <a:rPr b="1" lang="en" sz="1200">
                <a:solidFill>
                  <a:srgbClr val="0F172A"/>
                </a:solidFill>
                <a:latin typeface="Inter"/>
                <a:ea typeface="Inter"/>
                <a:cs typeface="Inter"/>
                <a:sym typeface="Inter"/>
              </a:rPr>
              <a:t>Read</a:t>
            </a:r>
            <a:endParaRPr b="1" sz="1200">
              <a:solidFill>
                <a:srgbClr val="0F172A"/>
              </a:solidFill>
              <a:latin typeface="Inter"/>
              <a:ea typeface="Inter"/>
              <a:cs typeface="Inter"/>
              <a:sym typeface="Inter"/>
            </a:endParaRPr>
          </a:p>
          <a:p>
            <a:pPr indent="0" lvl="0" marL="0" rtl="0" algn="ctr">
              <a:spcBef>
                <a:spcPts val="300"/>
              </a:spcBef>
              <a:spcAft>
                <a:spcPts val="0"/>
              </a:spcAft>
              <a:buNone/>
            </a:pPr>
            <a:r>
              <a:rPr lang="en" sz="1000">
                <a:solidFill>
                  <a:srgbClr val="334155"/>
                </a:solidFill>
                <a:latin typeface="Inter"/>
                <a:ea typeface="Inter"/>
                <a:cs typeface="Inter"/>
                <a:sym typeface="Inter"/>
              </a:rPr>
              <a:t>Reflect on feedback and research to improve</a:t>
            </a:r>
            <a:endParaRPr sz="1000">
              <a:solidFill>
                <a:srgbClr val="334155"/>
              </a:solidFill>
              <a:latin typeface="Inter"/>
              <a:ea typeface="Inter"/>
              <a:cs typeface="Inter"/>
              <a:sym typeface="Inter"/>
            </a:endParaRPr>
          </a:p>
        </p:txBody>
      </p:sp>
      <p:sp>
        <p:nvSpPr>
          <p:cNvPr id="175" name="Google Shape;175;g3d80d24d5dc_0_89"/>
          <p:cNvSpPr txBox="1"/>
          <p:nvPr/>
        </p:nvSpPr>
        <p:spPr>
          <a:xfrm>
            <a:off x="1333500" y="2118306"/>
            <a:ext cx="1905000" cy="1143000"/>
          </a:xfrm>
          <a:prstGeom prst="rect">
            <a:avLst/>
          </a:prstGeom>
          <a:solidFill>
            <a:srgbClr val="F5F0E8"/>
          </a:solidFill>
          <a:ln cap="flat" cmpd="sng" w="9525">
            <a:solidFill>
              <a:srgbClr val="E2E8F0"/>
            </a:solidFill>
            <a:prstDash val="solid"/>
            <a:round/>
            <a:headEnd len="sm" w="sm" type="none"/>
            <a:tailEnd len="sm" w="sm" type="none"/>
          </a:ln>
        </p:spPr>
        <p:txBody>
          <a:bodyPr anchorCtr="0" anchor="ctr" bIns="95250" lIns="95250" spcFirstLastPara="1" rIns="95250" wrap="square" tIns="95250">
            <a:noAutofit/>
          </a:bodyPr>
          <a:lstStyle/>
          <a:p>
            <a:pPr indent="0" lvl="0" marL="0" rtl="0" algn="ctr">
              <a:spcBef>
                <a:spcPts val="0"/>
              </a:spcBef>
              <a:spcAft>
                <a:spcPts val="0"/>
              </a:spcAft>
              <a:buNone/>
            </a:pPr>
            <a:r>
              <a:rPr b="1" lang="en" sz="1200">
                <a:solidFill>
                  <a:srgbClr val="0F172A"/>
                </a:solidFill>
                <a:latin typeface="Inter"/>
                <a:ea typeface="Inter"/>
                <a:cs typeface="Inter"/>
                <a:sym typeface="Inter"/>
              </a:rPr>
              <a:t>Anticipate</a:t>
            </a:r>
            <a:endParaRPr b="1" sz="1200">
              <a:solidFill>
                <a:srgbClr val="0F172A"/>
              </a:solidFill>
              <a:latin typeface="Inter"/>
              <a:ea typeface="Inter"/>
              <a:cs typeface="Inter"/>
              <a:sym typeface="Inter"/>
            </a:endParaRPr>
          </a:p>
          <a:p>
            <a:pPr indent="0" lvl="0" marL="0" rtl="0" algn="ctr">
              <a:spcBef>
                <a:spcPts val="300"/>
              </a:spcBef>
              <a:spcAft>
                <a:spcPts val="0"/>
              </a:spcAft>
              <a:buNone/>
            </a:pPr>
            <a:r>
              <a:rPr lang="en" sz="1000">
                <a:solidFill>
                  <a:srgbClr val="334155"/>
                </a:solidFill>
                <a:latin typeface="Inter"/>
                <a:ea typeface="Inter"/>
                <a:cs typeface="Inter"/>
                <a:sym typeface="Inter"/>
              </a:rPr>
              <a:t>How patterns change and opportunities to iterate</a:t>
            </a:r>
            <a:endParaRPr sz="1000">
              <a:solidFill>
                <a:srgbClr val="334155"/>
              </a:solidFill>
              <a:latin typeface="Inter"/>
              <a:ea typeface="Inter"/>
              <a:cs typeface="Inter"/>
              <a:sym typeface="Inte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grpSp>
        <p:nvGrpSpPr>
          <p:cNvPr id="180" name="Google Shape;180;g3d5f0fe9fd8_0_93"/>
          <p:cNvGrpSpPr/>
          <p:nvPr/>
        </p:nvGrpSpPr>
        <p:grpSpPr>
          <a:xfrm>
            <a:off x="8625" y="0"/>
            <a:ext cx="9144000" cy="267600"/>
            <a:chOff x="8625" y="0"/>
            <a:chExt cx="9144000" cy="267600"/>
          </a:xfrm>
        </p:grpSpPr>
        <p:sp>
          <p:nvSpPr>
            <p:cNvPr id="181" name="Google Shape;181;g3d5f0fe9fd8_0_93"/>
            <p:cNvSpPr/>
            <p:nvPr/>
          </p:nvSpPr>
          <p:spPr>
            <a:xfrm>
              <a:off x="8625" y="0"/>
              <a:ext cx="9144000" cy="2676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82" name="Google Shape;182;g3d5f0fe9fd8_0_93" title="Logo Header.png"/>
            <p:cNvPicPr preferRelativeResize="0"/>
            <p:nvPr/>
          </p:nvPicPr>
          <p:blipFill rotWithShape="1">
            <a:blip r:embed="rId3">
              <a:alphaModFix/>
            </a:blip>
            <a:srcRect b="0" l="0" r="0" t="0"/>
            <a:stretch/>
          </p:blipFill>
          <p:spPr>
            <a:xfrm>
              <a:off x="8348195" y="15790"/>
              <a:ext cx="634775" cy="199625"/>
            </a:xfrm>
            <a:prstGeom prst="rect">
              <a:avLst/>
            </a:prstGeom>
            <a:noFill/>
            <a:ln>
              <a:noFill/>
            </a:ln>
          </p:spPr>
        </p:pic>
      </p:grpSp>
      <p:sp>
        <p:nvSpPr>
          <p:cNvPr id="183" name="Google Shape;183;g3d5f0fe9fd8_0_93"/>
          <p:cNvSpPr txBox="1"/>
          <p:nvPr>
            <p:ph idx="1" type="subTitle"/>
          </p:nvPr>
        </p:nvSpPr>
        <p:spPr>
          <a:xfrm>
            <a:off x="466475" y="453313"/>
            <a:ext cx="5890800" cy="809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b="1" lang="en" sz="2700">
                <a:solidFill>
                  <a:schemeClr val="dk1"/>
                </a:solidFill>
                <a:latin typeface="Inter"/>
                <a:ea typeface="Inter"/>
                <a:cs typeface="Inter"/>
                <a:sym typeface="Inter"/>
                <a:extLst>
                  <a:ext uri="http://customooxmlschemas.google.com/">
                    <go:slidesCustomData xmlns:go="http://customooxmlschemas.google.com/" textRoundtripDataId="10"/>
                  </a:ext>
                </a:extLst>
              </a:rPr>
              <a:t>Activity 1</a:t>
            </a:r>
            <a:endParaRPr b="1" sz="2700">
              <a:solidFill>
                <a:schemeClr val="dk1"/>
              </a:solidFill>
              <a:latin typeface="Inter"/>
              <a:ea typeface="Inter"/>
              <a:cs typeface="Inter"/>
              <a:sym typeface="Inter"/>
            </a:endParaRPr>
          </a:p>
        </p:txBody>
      </p:sp>
      <p:pic>
        <p:nvPicPr>
          <p:cNvPr id="184" name="Google Shape;184;g3d5f0fe9fd8_0_93" title="Logo Main.png"/>
          <p:cNvPicPr preferRelativeResize="0"/>
          <p:nvPr/>
        </p:nvPicPr>
        <p:blipFill rotWithShape="1">
          <a:blip r:embed="rId4">
            <a:alphaModFix/>
          </a:blip>
          <a:srcRect b="0" l="0" r="0" t="0"/>
          <a:stretch/>
        </p:blipFill>
        <p:spPr>
          <a:xfrm>
            <a:off x="503800" y="4440950"/>
            <a:ext cx="1529475" cy="434512"/>
          </a:xfrm>
          <a:prstGeom prst="rect">
            <a:avLst/>
          </a:prstGeom>
          <a:noFill/>
          <a:ln>
            <a:noFill/>
          </a:ln>
        </p:spPr>
      </p:pic>
      <p:sp>
        <p:nvSpPr>
          <p:cNvPr id="185" name="Google Shape;185;g3d5f0fe9fd8_0_93"/>
          <p:cNvSpPr txBox="1"/>
          <p:nvPr/>
        </p:nvSpPr>
        <p:spPr>
          <a:xfrm>
            <a:off x="466475" y="1047825"/>
            <a:ext cx="7448100" cy="2649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sz="1300">
                <a:solidFill>
                  <a:schemeClr val="dk1"/>
                </a:solidFill>
                <a:latin typeface="Inter"/>
                <a:ea typeface="Inter"/>
                <a:cs typeface="Inter"/>
                <a:sym typeface="Inter"/>
              </a:rPr>
              <a:t>In groups, examine the variables in the COMPAS 2013-2014 dataset:</a:t>
            </a:r>
            <a:endParaRPr b="1" sz="1300">
              <a:solidFill>
                <a:schemeClr val="dk1"/>
              </a:solidFill>
              <a:latin typeface="Inter"/>
              <a:ea typeface="Inter"/>
              <a:cs typeface="Inter"/>
              <a:sym typeface="Inter"/>
            </a:endParaRPr>
          </a:p>
          <a:p>
            <a:pPr indent="-311150" lvl="0" marL="457200" rtl="0" algn="l">
              <a:lnSpc>
                <a:spcPct val="115000"/>
              </a:lnSpc>
              <a:spcBef>
                <a:spcPts val="1200"/>
              </a:spcBef>
              <a:spcAft>
                <a:spcPts val="0"/>
              </a:spcAft>
              <a:buClr>
                <a:schemeClr val="dk1"/>
              </a:buClr>
              <a:buSzPts val="1300"/>
              <a:buChar char="●"/>
            </a:pPr>
            <a:r>
              <a:rPr b="1" lang="en" sz="1300">
                <a:solidFill>
                  <a:schemeClr val="dk1"/>
                </a:solidFill>
                <a:latin typeface="Inter"/>
                <a:ea typeface="Inter"/>
                <a:cs typeface="Inter"/>
                <a:sym typeface="Inter"/>
              </a:rPr>
              <a:t>Protected Attributes:</a:t>
            </a:r>
            <a:r>
              <a:rPr lang="en" sz="1300">
                <a:solidFill>
                  <a:schemeClr val="dk1"/>
                </a:solidFill>
                <a:latin typeface="Inter"/>
                <a:ea typeface="Inter"/>
                <a:cs typeface="Inter"/>
                <a:sym typeface="Inter"/>
              </a:rPr>
              <a:t> Identify which columns are "protected attributes" (e.g., </a:t>
            </a:r>
            <a:r>
              <a:rPr lang="en" sz="1300">
                <a:solidFill>
                  <a:srgbClr val="188038"/>
                </a:solidFill>
                <a:latin typeface="Inter"/>
                <a:ea typeface="Inter"/>
                <a:cs typeface="Inter"/>
                <a:sym typeface="Inter"/>
              </a:rPr>
              <a:t>sex</a:t>
            </a:r>
            <a:r>
              <a:rPr lang="en" sz="1300">
                <a:solidFill>
                  <a:schemeClr val="dk1"/>
                </a:solidFill>
                <a:latin typeface="Inter"/>
                <a:ea typeface="Inter"/>
                <a:cs typeface="Inter"/>
                <a:sym typeface="Inter"/>
              </a:rPr>
              <a:t>, </a:t>
            </a:r>
            <a:r>
              <a:rPr lang="en" sz="1300">
                <a:solidFill>
                  <a:srgbClr val="188038"/>
                </a:solidFill>
                <a:latin typeface="Inter"/>
                <a:ea typeface="Inter"/>
                <a:cs typeface="Inter"/>
                <a:sym typeface="Inter"/>
              </a:rPr>
              <a:t>race</a:t>
            </a:r>
            <a:r>
              <a:rPr lang="en" sz="1300">
                <a:solidFill>
                  <a:schemeClr val="dk1"/>
                </a:solidFill>
                <a:latin typeface="Inter"/>
                <a:ea typeface="Inter"/>
                <a:cs typeface="Inter"/>
                <a:sym typeface="Inter"/>
              </a:rPr>
              <a:t>) and why their inclusion is controversial.</a:t>
            </a:r>
            <a:endParaRPr sz="1300">
              <a:solidFill>
                <a:schemeClr val="dk1"/>
              </a:solidFill>
              <a:latin typeface="Inter"/>
              <a:ea typeface="Inter"/>
              <a:cs typeface="Inter"/>
              <a:sym typeface="Inter"/>
            </a:endParaRPr>
          </a:p>
          <a:p>
            <a:pPr indent="-311150" lvl="0" marL="457200" rtl="0" algn="l">
              <a:lnSpc>
                <a:spcPct val="115000"/>
              </a:lnSpc>
              <a:spcBef>
                <a:spcPts val="0"/>
              </a:spcBef>
              <a:spcAft>
                <a:spcPts val="0"/>
              </a:spcAft>
              <a:buClr>
                <a:schemeClr val="dk1"/>
              </a:buClr>
              <a:buSzPts val="1300"/>
              <a:buChar char="●"/>
            </a:pPr>
            <a:r>
              <a:rPr b="1" lang="en" sz="1300">
                <a:solidFill>
                  <a:schemeClr val="dk1"/>
                </a:solidFill>
                <a:latin typeface="Inter"/>
                <a:ea typeface="Inter"/>
                <a:cs typeface="Inter"/>
                <a:sym typeface="Inter"/>
              </a:rPr>
              <a:t>Missing Information:</a:t>
            </a:r>
            <a:r>
              <a:rPr lang="en" sz="1300">
                <a:solidFill>
                  <a:schemeClr val="dk1"/>
                </a:solidFill>
                <a:latin typeface="Inter"/>
                <a:ea typeface="Inter"/>
                <a:cs typeface="Inter"/>
                <a:sym typeface="Inter"/>
              </a:rPr>
              <a:t> What contextual information about a defendant’s life</a:t>
            </a:r>
            <a:r>
              <a:rPr lang="en" sz="1300">
                <a:solidFill>
                  <a:schemeClr val="dk1"/>
                </a:solidFill>
                <a:latin typeface="Inter"/>
                <a:ea typeface="Inter"/>
                <a:cs typeface="Inter"/>
                <a:sym typeface="Inter"/>
              </a:rPr>
              <a:t> (e.g., employment, family support, neighborhood quality)</a:t>
            </a:r>
            <a:r>
              <a:rPr lang="en" sz="1300">
                <a:solidFill>
                  <a:schemeClr val="dk1"/>
                </a:solidFill>
                <a:latin typeface="Inter"/>
                <a:ea typeface="Inter"/>
                <a:cs typeface="Inter"/>
                <a:sym typeface="Inter"/>
              </a:rPr>
              <a:t> is missing from this table?</a:t>
            </a:r>
            <a:endParaRPr sz="1300">
              <a:solidFill>
                <a:schemeClr val="dk1"/>
              </a:solidFill>
              <a:latin typeface="Inter"/>
              <a:ea typeface="Inter"/>
              <a:cs typeface="Inter"/>
              <a:sym typeface="Inter"/>
            </a:endParaRPr>
          </a:p>
          <a:p>
            <a:pPr indent="-311150" lvl="0" marL="457200" rtl="0" algn="l">
              <a:lnSpc>
                <a:spcPct val="115000"/>
              </a:lnSpc>
              <a:spcBef>
                <a:spcPts val="0"/>
              </a:spcBef>
              <a:spcAft>
                <a:spcPts val="0"/>
              </a:spcAft>
              <a:buClr>
                <a:schemeClr val="dk1"/>
              </a:buClr>
              <a:buSzPts val="1300"/>
              <a:buChar char="●"/>
            </a:pPr>
            <a:r>
              <a:rPr b="1" lang="en" sz="1300">
                <a:solidFill>
                  <a:schemeClr val="dk1"/>
                </a:solidFill>
                <a:latin typeface="Inter"/>
                <a:ea typeface="Inter"/>
                <a:cs typeface="Inter"/>
                <a:sym typeface="Inter"/>
              </a:rPr>
              <a:t>Stakeholder Harms:</a:t>
            </a:r>
            <a:r>
              <a:rPr lang="en" sz="1300">
                <a:solidFill>
                  <a:schemeClr val="dk1"/>
                </a:solidFill>
                <a:latin typeface="Inter"/>
                <a:ea typeface="Inter"/>
                <a:cs typeface="Inter"/>
                <a:sym typeface="Inter"/>
              </a:rPr>
              <a:t> How might the </a:t>
            </a:r>
            <a:r>
              <a:rPr lang="en" sz="1300">
                <a:solidFill>
                  <a:srgbClr val="188038"/>
                </a:solidFill>
                <a:latin typeface="Inter"/>
                <a:ea typeface="Inter"/>
                <a:cs typeface="Inter"/>
                <a:sym typeface="Inter"/>
              </a:rPr>
              <a:t>two_year_recid</a:t>
            </a:r>
            <a:r>
              <a:rPr lang="en" sz="1300">
                <a:solidFill>
                  <a:schemeClr val="dk1"/>
                </a:solidFill>
                <a:latin typeface="Inter"/>
                <a:ea typeface="Inter"/>
                <a:cs typeface="Inter"/>
                <a:sym typeface="Inter"/>
              </a:rPr>
              <a:t> prediction influence a judge's decision, and who bears the harm of a "False Positive"?</a:t>
            </a:r>
            <a:endParaRPr sz="1300">
              <a:solidFill>
                <a:schemeClr val="dk1"/>
              </a:solidFill>
              <a:latin typeface="Inter"/>
              <a:ea typeface="Inter"/>
              <a:cs typeface="Inter"/>
              <a:sym typeface="Inter"/>
            </a:endParaRPr>
          </a:p>
          <a:p>
            <a:pPr indent="-311150" lvl="0" marL="457200" rtl="0" algn="l">
              <a:lnSpc>
                <a:spcPct val="115000"/>
              </a:lnSpc>
              <a:spcBef>
                <a:spcPts val="0"/>
              </a:spcBef>
              <a:spcAft>
                <a:spcPts val="0"/>
              </a:spcAft>
              <a:buClr>
                <a:schemeClr val="dk1"/>
              </a:buClr>
              <a:buSzPts val="1300"/>
              <a:buChar char="●"/>
            </a:pPr>
            <a:r>
              <a:rPr b="1" lang="en" sz="1300">
                <a:solidFill>
                  <a:schemeClr val="dk1"/>
                </a:solidFill>
                <a:latin typeface="Inter"/>
                <a:ea typeface="Inter"/>
                <a:cs typeface="Inter"/>
                <a:sym typeface="Inter"/>
              </a:rPr>
              <a:t>Research Limits:</a:t>
            </a:r>
            <a:r>
              <a:rPr lang="en" sz="1300">
                <a:solidFill>
                  <a:schemeClr val="dk1"/>
                </a:solidFill>
                <a:latin typeface="Inter"/>
                <a:ea typeface="Inter"/>
                <a:cs typeface="Inter"/>
                <a:sym typeface="Inter"/>
              </a:rPr>
              <a:t> How do the limitations of this dataset influence the types of questions you </a:t>
            </a:r>
            <a:r>
              <a:rPr i="1" lang="en" sz="1300">
                <a:solidFill>
                  <a:schemeClr val="dk1"/>
                </a:solidFill>
                <a:latin typeface="Inter"/>
                <a:ea typeface="Inter"/>
                <a:cs typeface="Inter"/>
                <a:sym typeface="Inter"/>
              </a:rPr>
              <a:t>cannot</a:t>
            </a:r>
            <a:r>
              <a:rPr lang="en" sz="1300">
                <a:solidFill>
                  <a:schemeClr val="dk1"/>
                </a:solidFill>
                <a:latin typeface="Inter"/>
                <a:ea typeface="Inter"/>
                <a:cs typeface="Inter"/>
                <a:sym typeface="Inter"/>
              </a:rPr>
              <a:t> answer with numbers alone?</a:t>
            </a:r>
            <a:endParaRPr sz="1300">
              <a:solidFill>
                <a:schemeClr val="dk1"/>
              </a:solidFill>
              <a:latin typeface="Inter"/>
              <a:ea typeface="Inter"/>
              <a:cs typeface="Inter"/>
              <a:sym typeface="Inter"/>
            </a:endParaRPr>
          </a:p>
          <a:p>
            <a:pPr indent="0" lvl="0" marL="0" rtl="0" algn="l">
              <a:spcBef>
                <a:spcPts val="1200"/>
              </a:spcBef>
              <a:spcAft>
                <a:spcPts val="0"/>
              </a:spcAft>
              <a:buNone/>
            </a:pPr>
            <a:r>
              <a:t/>
            </a:r>
            <a:endParaRPr sz="1300">
              <a:solidFill>
                <a:schemeClr val="dk2"/>
              </a:solidFill>
              <a:latin typeface="Inter"/>
              <a:ea typeface="Inter"/>
              <a:cs typeface="Inter"/>
              <a:sym typeface="Inter"/>
            </a:endParaRPr>
          </a:p>
          <a:p>
            <a:pPr indent="0" lvl="0" marL="0" rtl="0" algn="l">
              <a:spcBef>
                <a:spcPts val="0"/>
              </a:spcBef>
              <a:spcAft>
                <a:spcPts val="0"/>
              </a:spcAft>
              <a:buNone/>
            </a:pPr>
            <a:r>
              <a:t/>
            </a:r>
            <a:endParaRPr sz="1300">
              <a:solidFill>
                <a:schemeClr val="dk2"/>
              </a:solidFill>
              <a:latin typeface="Inter"/>
              <a:ea typeface="Inter"/>
              <a:cs typeface="Inter"/>
              <a:sym typeface="Inter"/>
            </a:endParaRPr>
          </a:p>
          <a:p>
            <a:pPr indent="0" lvl="0" marL="0" rtl="0" algn="l">
              <a:spcBef>
                <a:spcPts val="0"/>
              </a:spcBef>
              <a:spcAft>
                <a:spcPts val="0"/>
              </a:spcAft>
              <a:buNone/>
            </a:pPr>
            <a:r>
              <a:t/>
            </a:r>
            <a:endParaRPr sz="1300">
              <a:solidFill>
                <a:schemeClr val="dk2"/>
              </a:solidFill>
              <a:latin typeface="Inter"/>
              <a:ea typeface="Inter"/>
              <a:cs typeface="Inter"/>
              <a:sym typeface="Inter"/>
            </a:endParaRPr>
          </a:p>
        </p:txBody>
      </p:sp>
      <p:sp>
        <p:nvSpPr>
          <p:cNvPr id="186" name="Google Shape;186;g3d5f0fe9fd8_0_93"/>
          <p:cNvSpPr txBox="1"/>
          <p:nvPr/>
        </p:nvSpPr>
        <p:spPr>
          <a:xfrm>
            <a:off x="393250" y="3582671"/>
            <a:ext cx="6396600" cy="86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1"/>
                </a:solidFill>
              </a:rPr>
              <a:t>COMPAS Dataset</a:t>
            </a:r>
            <a:endParaRPr b="1" sz="1800">
              <a:solidFill>
                <a:schemeClr val="dk1"/>
              </a:solidFill>
            </a:endParaRPr>
          </a:p>
          <a:p>
            <a:pPr indent="0" lvl="0" marL="0" rtl="0" algn="l">
              <a:spcBef>
                <a:spcPts val="0"/>
              </a:spcBef>
              <a:spcAft>
                <a:spcPts val="0"/>
              </a:spcAft>
              <a:buNone/>
            </a:pPr>
            <a:r>
              <a:rPr lang="en" sz="1300" u="sng">
                <a:solidFill>
                  <a:schemeClr val="hlink"/>
                </a:solidFill>
                <a:hlinkClick r:id="rId5"/>
              </a:rPr>
              <a:t>https://mlr3fairness.mlr-org.com/reference/compas.html</a:t>
            </a:r>
            <a:endParaRPr sz="1300"/>
          </a:p>
          <a:p>
            <a:pPr indent="0" lvl="0" marL="0" rtl="0" algn="l">
              <a:spcBef>
                <a:spcPts val="0"/>
              </a:spcBef>
              <a:spcAft>
                <a:spcPts val="0"/>
              </a:spcAft>
              <a:buNone/>
            </a:pPr>
            <a:r>
              <a:t/>
            </a:r>
            <a:endParaRPr sz="1300"/>
          </a:p>
        </p:txBody>
      </p:sp>
      <p:pic>
        <p:nvPicPr>
          <p:cNvPr descr="create an icon/symbol that means 'data set about law and crime and justice'&#10;&#10;use same colors as here" id="187" name="Google Shape;187;g3d5f0fe9fd8_0_93"/>
          <p:cNvPicPr preferRelativeResize="0"/>
          <p:nvPr/>
        </p:nvPicPr>
        <p:blipFill>
          <a:blip r:embed="rId6">
            <a:alphaModFix/>
          </a:blip>
          <a:stretch>
            <a:fillRect/>
          </a:stretch>
        </p:blipFill>
        <p:spPr>
          <a:xfrm>
            <a:off x="7111475" y="3105632"/>
            <a:ext cx="1529475" cy="1529437"/>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grpSp>
        <p:nvGrpSpPr>
          <p:cNvPr id="192" name="Google Shape;192;g3e2494f9b6f_0_1"/>
          <p:cNvGrpSpPr/>
          <p:nvPr/>
        </p:nvGrpSpPr>
        <p:grpSpPr>
          <a:xfrm>
            <a:off x="8625" y="0"/>
            <a:ext cx="9144000" cy="267600"/>
            <a:chOff x="8625" y="0"/>
            <a:chExt cx="9144000" cy="267600"/>
          </a:xfrm>
        </p:grpSpPr>
        <p:sp>
          <p:nvSpPr>
            <p:cNvPr id="193" name="Google Shape;193;g3e2494f9b6f_0_1"/>
            <p:cNvSpPr/>
            <p:nvPr/>
          </p:nvSpPr>
          <p:spPr>
            <a:xfrm>
              <a:off x="8625" y="0"/>
              <a:ext cx="9144000" cy="2676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94" name="Google Shape;194;g3e2494f9b6f_0_1" title="Logo Header.png"/>
            <p:cNvPicPr preferRelativeResize="0"/>
            <p:nvPr/>
          </p:nvPicPr>
          <p:blipFill rotWithShape="1">
            <a:blip r:embed="rId3">
              <a:alphaModFix/>
            </a:blip>
            <a:srcRect b="0" l="0" r="0" t="0"/>
            <a:stretch/>
          </p:blipFill>
          <p:spPr>
            <a:xfrm>
              <a:off x="8348195" y="15790"/>
              <a:ext cx="634775" cy="199625"/>
            </a:xfrm>
            <a:prstGeom prst="rect">
              <a:avLst/>
            </a:prstGeom>
            <a:noFill/>
            <a:ln>
              <a:noFill/>
            </a:ln>
          </p:spPr>
        </p:pic>
      </p:grpSp>
      <p:pic>
        <p:nvPicPr>
          <p:cNvPr id="195" name="Google Shape;195;g3e2494f9b6f_0_1" title="Logo Main.png"/>
          <p:cNvPicPr preferRelativeResize="0"/>
          <p:nvPr/>
        </p:nvPicPr>
        <p:blipFill rotWithShape="1">
          <a:blip r:embed="rId4">
            <a:alphaModFix/>
          </a:blip>
          <a:srcRect b="0" l="0" r="0" t="0"/>
          <a:stretch/>
        </p:blipFill>
        <p:spPr>
          <a:xfrm>
            <a:off x="8085450" y="4589150"/>
            <a:ext cx="941974" cy="267600"/>
          </a:xfrm>
          <a:prstGeom prst="rect">
            <a:avLst/>
          </a:prstGeom>
          <a:noFill/>
          <a:ln>
            <a:noFill/>
          </a:ln>
        </p:spPr>
      </p:pic>
      <p:graphicFrame>
        <p:nvGraphicFramePr>
          <p:cNvPr id="196" name="Google Shape;196;g3e2494f9b6f_0_1"/>
          <p:cNvGraphicFramePr/>
          <p:nvPr/>
        </p:nvGraphicFramePr>
        <p:xfrm>
          <a:off x="330675" y="1146688"/>
          <a:ext cx="3000000" cy="3000000"/>
        </p:xfrm>
        <a:graphic>
          <a:graphicData uri="http://schemas.openxmlformats.org/drawingml/2006/table">
            <a:tbl>
              <a:tblPr>
                <a:noFill/>
                <a:tableStyleId>{BD242995-2E1B-4E11-8BAC-C2370DC31B60}</a:tableStyleId>
              </a:tblPr>
              <a:tblGrid>
                <a:gridCol w="1353750"/>
                <a:gridCol w="2543125"/>
                <a:gridCol w="3761500"/>
              </a:tblGrid>
              <a:tr h="407425">
                <a:tc>
                  <a:txBody>
                    <a:bodyPr/>
                    <a:lstStyle/>
                    <a:p>
                      <a:pPr indent="0" lvl="0" marL="0" rtl="0" algn="l">
                        <a:lnSpc>
                          <a:spcPct val="115000"/>
                        </a:lnSpc>
                        <a:spcBef>
                          <a:spcPts val="0"/>
                        </a:spcBef>
                        <a:spcAft>
                          <a:spcPts val="0"/>
                        </a:spcAft>
                        <a:buNone/>
                      </a:pPr>
                      <a:r>
                        <a:rPr b="1" lang="en" sz="1100">
                          <a:solidFill>
                            <a:srgbClr val="1F1F1F"/>
                          </a:solidFill>
                        </a:rPr>
                        <a:t>Column Name</a:t>
                      </a:r>
                      <a:endParaRPr b="1" sz="1100">
                        <a:solidFill>
                          <a:srgbClr val="1F1F1F"/>
                        </a:solidFill>
                      </a:endParaRPr>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n" sz="1100">
                          <a:solidFill>
                            <a:srgbClr val="1F1F1F"/>
                          </a:solidFill>
                        </a:rPr>
                        <a:t>Data Dictionary</a:t>
                      </a:r>
                      <a:endParaRPr b="1" sz="1100">
                        <a:solidFill>
                          <a:srgbClr val="1F1F1F"/>
                        </a:solidFill>
                      </a:endParaRPr>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n" sz="1100">
                          <a:solidFill>
                            <a:srgbClr val="1F1F1F"/>
                          </a:solidFill>
                        </a:rPr>
                        <a:t>HCDS Note</a:t>
                      </a:r>
                      <a:endParaRPr b="1" sz="1100">
                        <a:solidFill>
                          <a:srgbClr val="1F1F1F"/>
                        </a:solidFill>
                      </a:endParaRPr>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solidFill>
                      <a:srgbClr val="EFEFEF"/>
                    </a:solidFill>
                  </a:tcPr>
                </a:tc>
              </a:tr>
              <a:tr h="418750">
                <a:tc>
                  <a:txBody>
                    <a:bodyPr/>
                    <a:lstStyle/>
                    <a:p>
                      <a:pPr indent="0" lvl="0" marL="0" rtl="0" algn="l">
                        <a:lnSpc>
                          <a:spcPct val="115000"/>
                        </a:lnSpc>
                        <a:spcBef>
                          <a:spcPts val="0"/>
                        </a:spcBef>
                        <a:spcAft>
                          <a:spcPts val="0"/>
                        </a:spcAft>
                        <a:buNone/>
                      </a:pPr>
                      <a:r>
                        <a:rPr lang="en" sz="1150">
                          <a:solidFill>
                            <a:srgbClr val="188038"/>
                          </a:solidFill>
                          <a:highlight>
                            <a:srgbClr val="F2F0F0"/>
                          </a:highlight>
                        </a:rPr>
                        <a:t>sex</a:t>
                      </a:r>
                      <a:r>
                        <a:rPr lang="en" sz="1100">
                          <a:solidFill>
                            <a:srgbClr val="1F1F1F"/>
                          </a:solidFill>
                        </a:rPr>
                        <a:t> / </a:t>
                      </a:r>
                      <a:r>
                        <a:rPr lang="en" sz="1150">
                          <a:solidFill>
                            <a:srgbClr val="188038"/>
                          </a:solidFill>
                          <a:highlight>
                            <a:srgbClr val="F2F0F0"/>
                          </a:highlight>
                        </a:rPr>
                        <a:t>race</a:t>
                      </a:r>
                      <a:endParaRPr sz="1150">
                        <a:solidFill>
                          <a:srgbClr val="188038"/>
                        </a:solidFill>
                        <a:highlight>
                          <a:srgbClr val="F2F0F0"/>
                        </a:highlight>
                      </a:endParaRPr>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Demographic identifiers.</a:t>
                      </a:r>
                      <a:endParaRPr sz="1100">
                        <a:solidFill>
                          <a:srgbClr val="1F1F1F"/>
                        </a:solidFill>
                      </a:endParaRPr>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Used to check for </a:t>
                      </a:r>
                      <a:r>
                        <a:rPr b="1" lang="en" sz="1100">
                          <a:solidFill>
                            <a:srgbClr val="1F1F1F"/>
                          </a:solidFill>
                        </a:rPr>
                        <a:t>disparate impact</a:t>
                      </a:r>
                      <a:r>
                        <a:rPr lang="en" sz="1100">
                          <a:solidFill>
                            <a:srgbClr val="1F1F1F"/>
                          </a:solidFill>
                        </a:rPr>
                        <a:t>.</a:t>
                      </a:r>
                      <a:endParaRPr sz="1100">
                        <a:solidFill>
                          <a:srgbClr val="1F1F1F"/>
                        </a:solidFill>
                      </a:endParaRPr>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tcPr>
                </a:tc>
              </a:tr>
              <a:tr h="418750">
                <a:tc>
                  <a:txBody>
                    <a:bodyPr/>
                    <a:lstStyle/>
                    <a:p>
                      <a:pPr indent="0" lvl="0" marL="0" rtl="0" algn="l">
                        <a:lnSpc>
                          <a:spcPct val="115000"/>
                        </a:lnSpc>
                        <a:spcBef>
                          <a:spcPts val="0"/>
                        </a:spcBef>
                        <a:spcAft>
                          <a:spcPts val="0"/>
                        </a:spcAft>
                        <a:buNone/>
                      </a:pPr>
                      <a:r>
                        <a:rPr lang="en" sz="1150">
                          <a:solidFill>
                            <a:srgbClr val="188038"/>
                          </a:solidFill>
                          <a:highlight>
                            <a:srgbClr val="F2F0F0"/>
                          </a:highlight>
                        </a:rPr>
                        <a:t>priors_count</a:t>
                      </a:r>
                      <a:endParaRPr sz="1150">
                        <a:solidFill>
                          <a:srgbClr val="188038"/>
                        </a:solidFill>
                        <a:highlight>
                          <a:srgbClr val="F2F0F0"/>
                        </a:highlight>
                      </a:endParaRPr>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Number of previous arrests.</a:t>
                      </a:r>
                      <a:endParaRPr sz="1100">
                        <a:solidFill>
                          <a:srgbClr val="1F1F1F"/>
                        </a:solidFill>
                      </a:endParaRPr>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Does this reflect behavior or </a:t>
                      </a:r>
                      <a:r>
                        <a:rPr b="1" lang="en" sz="1100">
                          <a:solidFill>
                            <a:srgbClr val="1F1F1F"/>
                          </a:solidFill>
                        </a:rPr>
                        <a:t>over-policing</a:t>
                      </a:r>
                      <a:r>
                        <a:rPr lang="en" sz="1100">
                          <a:solidFill>
                            <a:srgbClr val="1F1F1F"/>
                          </a:solidFill>
                        </a:rPr>
                        <a:t>?.</a:t>
                      </a:r>
                      <a:endParaRPr sz="1100">
                        <a:solidFill>
                          <a:srgbClr val="1F1F1F"/>
                        </a:solidFill>
                      </a:endParaRPr>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tcPr>
                </a:tc>
              </a:tr>
              <a:tr h="418750">
                <a:tc>
                  <a:txBody>
                    <a:bodyPr/>
                    <a:lstStyle/>
                    <a:p>
                      <a:pPr indent="0" lvl="0" marL="0" rtl="0" algn="l">
                        <a:lnSpc>
                          <a:spcPct val="115000"/>
                        </a:lnSpc>
                        <a:spcBef>
                          <a:spcPts val="0"/>
                        </a:spcBef>
                        <a:spcAft>
                          <a:spcPts val="0"/>
                        </a:spcAft>
                        <a:buNone/>
                      </a:pPr>
                      <a:r>
                        <a:rPr lang="en" sz="1150">
                          <a:solidFill>
                            <a:srgbClr val="188038"/>
                          </a:solidFill>
                          <a:highlight>
                            <a:srgbClr val="F2F0F0"/>
                          </a:highlight>
                        </a:rPr>
                        <a:t>score_text</a:t>
                      </a:r>
                      <a:endParaRPr sz="1150">
                        <a:solidFill>
                          <a:srgbClr val="188038"/>
                        </a:solidFill>
                        <a:highlight>
                          <a:srgbClr val="F2F0F0"/>
                        </a:highlight>
                      </a:endParaRPr>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100">
                          <a:solidFill>
                            <a:srgbClr val="1F1F1F"/>
                          </a:solidFill>
                        </a:rPr>
                        <a:t>Model Output:</a:t>
                      </a:r>
                      <a:r>
                        <a:rPr lang="en" sz="1100">
                          <a:solidFill>
                            <a:srgbClr val="1F1F1F"/>
                          </a:solidFill>
                        </a:rPr>
                        <a:t> Risk category.</a:t>
                      </a:r>
                      <a:endParaRPr sz="1100">
                        <a:solidFill>
                          <a:srgbClr val="1F1F1F"/>
                        </a:solidFill>
                      </a:endParaRPr>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How does this label change a judge's perception?.</a:t>
                      </a:r>
                      <a:endParaRPr sz="1100">
                        <a:solidFill>
                          <a:srgbClr val="1F1F1F"/>
                        </a:solidFill>
                      </a:endParaRPr>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tcPr>
                </a:tc>
              </a:tr>
            </a:tbl>
          </a:graphicData>
        </a:graphic>
      </p:graphicFrame>
      <p:sp>
        <p:nvSpPr>
          <p:cNvPr id="197" name="Google Shape;197;g3e2494f9b6f_0_1"/>
          <p:cNvSpPr txBox="1"/>
          <p:nvPr/>
        </p:nvSpPr>
        <p:spPr>
          <a:xfrm>
            <a:off x="330675" y="3152950"/>
            <a:ext cx="3000000" cy="615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 sz="1300">
                <a:solidFill>
                  <a:schemeClr val="dk1"/>
                </a:solidFill>
                <a:latin typeface="Inter"/>
                <a:ea typeface="Inter"/>
                <a:cs typeface="Inter"/>
                <a:sym typeface="Inter"/>
              </a:rPr>
              <a:t>This dataset contains </a:t>
            </a:r>
            <a:r>
              <a:rPr b="1" lang="en" sz="1300">
                <a:solidFill>
                  <a:schemeClr val="dk1"/>
                </a:solidFill>
                <a:latin typeface="Inter"/>
                <a:ea typeface="Inter"/>
                <a:cs typeface="Inter"/>
                <a:sym typeface="Inter"/>
              </a:rPr>
              <a:t>6,172 observations</a:t>
            </a:r>
            <a:r>
              <a:rPr lang="en" sz="1300">
                <a:solidFill>
                  <a:schemeClr val="dk1"/>
                </a:solidFill>
                <a:latin typeface="Inter"/>
                <a:ea typeface="Inter"/>
                <a:cs typeface="Inter"/>
                <a:sym typeface="Inter"/>
              </a:rPr>
              <a:t> of defendants.</a:t>
            </a:r>
            <a:endParaRPr sz="1300">
              <a:solidFill>
                <a:schemeClr val="dk1"/>
              </a:solidFill>
              <a:latin typeface="Inter"/>
              <a:ea typeface="Inter"/>
              <a:cs typeface="Inter"/>
              <a:sym typeface="Inter"/>
            </a:endParaRPr>
          </a:p>
        </p:txBody>
      </p:sp>
      <p:sp>
        <p:nvSpPr>
          <p:cNvPr id="198" name="Google Shape;198;g3e2494f9b6f_0_1"/>
          <p:cNvSpPr txBox="1"/>
          <p:nvPr>
            <p:ph idx="1" type="subTitle"/>
          </p:nvPr>
        </p:nvSpPr>
        <p:spPr>
          <a:xfrm>
            <a:off x="288225" y="436338"/>
            <a:ext cx="5890800" cy="809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b="1" lang="en" sz="2700">
                <a:solidFill>
                  <a:schemeClr val="dk1"/>
                </a:solidFill>
                <a:latin typeface="Inter"/>
                <a:ea typeface="Inter"/>
                <a:cs typeface="Inter"/>
                <a:sym typeface="Inter"/>
                <a:extLst>
                  <a:ext uri="http://customooxmlschemas.google.com/">
                    <go:slidesCustomData xmlns:go="http://customooxmlschemas.google.com/" textRoundtripDataId="11"/>
                  </a:ext>
                </a:extLst>
              </a:rPr>
              <a:t>Activity 1</a:t>
            </a:r>
            <a:endParaRPr b="1" sz="2700">
              <a:solidFill>
                <a:schemeClr val="dk1"/>
              </a:solidFill>
              <a:latin typeface="Inter"/>
              <a:ea typeface="Inter"/>
              <a:cs typeface="Inter"/>
              <a:sym typeface="Inter"/>
            </a:endParaRPr>
          </a:p>
        </p:txBody>
      </p:sp>
      <p:sp>
        <p:nvSpPr>
          <p:cNvPr id="199" name="Google Shape;199;g3e2494f9b6f_0_1"/>
          <p:cNvSpPr txBox="1"/>
          <p:nvPr/>
        </p:nvSpPr>
        <p:spPr>
          <a:xfrm>
            <a:off x="330675" y="3727249"/>
            <a:ext cx="6396600" cy="86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1"/>
                </a:solidFill>
              </a:rPr>
              <a:t>COMPAS Dataset</a:t>
            </a:r>
            <a:endParaRPr b="1" sz="1800">
              <a:solidFill>
                <a:schemeClr val="dk1"/>
              </a:solidFill>
            </a:endParaRPr>
          </a:p>
          <a:p>
            <a:pPr indent="0" lvl="0" marL="0" rtl="0" algn="l">
              <a:spcBef>
                <a:spcPts val="0"/>
              </a:spcBef>
              <a:spcAft>
                <a:spcPts val="0"/>
              </a:spcAft>
              <a:buNone/>
            </a:pPr>
            <a:r>
              <a:rPr lang="en" sz="1300" u="sng">
                <a:solidFill>
                  <a:schemeClr val="hlink"/>
                </a:solidFill>
                <a:hlinkClick r:id="rId5"/>
              </a:rPr>
              <a:t>https://mlr3fairness.mlr-org.com/reference/compas.html</a:t>
            </a:r>
            <a:endParaRPr sz="1300"/>
          </a:p>
          <a:p>
            <a:pPr indent="0" lvl="0" marL="0" rtl="0" algn="l">
              <a:spcBef>
                <a:spcPts val="0"/>
              </a:spcBef>
              <a:spcAft>
                <a:spcPts val="0"/>
              </a:spcAft>
              <a:buNone/>
            </a:pPr>
            <a:r>
              <a:t/>
            </a:r>
            <a:endParaRPr sz="1300"/>
          </a:p>
        </p:txBody>
      </p:sp>
      <p:pic>
        <p:nvPicPr>
          <p:cNvPr descr="create an icon/symbol that means 'data set about law and crime and justice'&#10;&#10;use same colors as here" id="200" name="Google Shape;200;g3e2494f9b6f_0_1"/>
          <p:cNvPicPr preferRelativeResize="0"/>
          <p:nvPr/>
        </p:nvPicPr>
        <p:blipFill>
          <a:blip r:embed="rId6">
            <a:alphaModFix/>
          </a:blip>
          <a:stretch>
            <a:fillRect/>
          </a:stretch>
        </p:blipFill>
        <p:spPr>
          <a:xfrm>
            <a:off x="2787725" y="3076754"/>
            <a:ext cx="763000" cy="762988"/>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grpSp>
        <p:nvGrpSpPr>
          <p:cNvPr id="205" name="Google Shape;205;g3d5f0fe9fd8_0_70"/>
          <p:cNvGrpSpPr/>
          <p:nvPr/>
        </p:nvGrpSpPr>
        <p:grpSpPr>
          <a:xfrm>
            <a:off x="8625" y="0"/>
            <a:ext cx="9144000" cy="267600"/>
            <a:chOff x="8625" y="0"/>
            <a:chExt cx="9144000" cy="267600"/>
          </a:xfrm>
        </p:grpSpPr>
        <p:sp>
          <p:nvSpPr>
            <p:cNvPr id="206" name="Google Shape;206;g3d5f0fe9fd8_0_70"/>
            <p:cNvSpPr/>
            <p:nvPr/>
          </p:nvSpPr>
          <p:spPr>
            <a:xfrm>
              <a:off x="8625" y="0"/>
              <a:ext cx="9144000" cy="2676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07" name="Google Shape;207;g3d5f0fe9fd8_0_70" title="Logo Header.png"/>
            <p:cNvPicPr preferRelativeResize="0"/>
            <p:nvPr/>
          </p:nvPicPr>
          <p:blipFill rotWithShape="1">
            <a:blip r:embed="rId3">
              <a:alphaModFix/>
            </a:blip>
            <a:srcRect b="0" l="0" r="0" t="0"/>
            <a:stretch/>
          </p:blipFill>
          <p:spPr>
            <a:xfrm>
              <a:off x="8348195" y="15790"/>
              <a:ext cx="634775" cy="199625"/>
            </a:xfrm>
            <a:prstGeom prst="rect">
              <a:avLst/>
            </a:prstGeom>
            <a:noFill/>
            <a:ln>
              <a:noFill/>
            </a:ln>
          </p:spPr>
        </p:pic>
      </p:grpSp>
      <p:sp>
        <p:nvSpPr>
          <p:cNvPr id="208" name="Google Shape;208;g3d5f0fe9fd8_0_70"/>
          <p:cNvSpPr txBox="1"/>
          <p:nvPr>
            <p:ph idx="1" type="subTitle"/>
          </p:nvPr>
        </p:nvSpPr>
        <p:spPr>
          <a:xfrm>
            <a:off x="553500" y="433050"/>
            <a:ext cx="7779300" cy="809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b="1" lang="en" sz="2700">
                <a:solidFill>
                  <a:schemeClr val="dk1"/>
                </a:solidFill>
                <a:latin typeface="Inter"/>
                <a:ea typeface="Inter"/>
                <a:cs typeface="Inter"/>
                <a:sym typeface="Inter"/>
              </a:rPr>
              <a:t>Activity 1: </a:t>
            </a:r>
            <a:r>
              <a:rPr b="1" i="1" lang="en" sz="1800">
                <a:solidFill>
                  <a:schemeClr val="dk1"/>
                </a:solidFill>
                <a:latin typeface="Inter"/>
                <a:ea typeface="Inter"/>
                <a:cs typeface="Inter"/>
                <a:sym typeface="Inter"/>
              </a:rPr>
              <a:t>From Technical to Human-Centered Framing</a:t>
            </a:r>
            <a:endParaRPr b="1" i="1" sz="1800">
              <a:solidFill>
                <a:schemeClr val="dk1"/>
              </a:solidFill>
              <a:latin typeface="Inter"/>
              <a:ea typeface="Inter"/>
              <a:cs typeface="Inter"/>
              <a:sym typeface="Inter"/>
            </a:endParaRPr>
          </a:p>
          <a:p>
            <a:pPr indent="0" lvl="0" marL="0" rtl="0" algn="l">
              <a:lnSpc>
                <a:spcPct val="100000"/>
              </a:lnSpc>
              <a:spcBef>
                <a:spcPts val="0"/>
              </a:spcBef>
              <a:spcAft>
                <a:spcPts val="0"/>
              </a:spcAft>
              <a:buSzPts val="2800"/>
              <a:buNone/>
            </a:pPr>
            <a:r>
              <a:rPr lang="en" sz="1100">
                <a:solidFill>
                  <a:schemeClr val="dk1"/>
                </a:solidFill>
              </a:rPr>
              <a:t>Follow these steps to move from "calculating accuracy" to understanding "social facts" in the </a:t>
            </a:r>
            <a:r>
              <a:rPr b="1" lang="en" sz="1100">
                <a:solidFill>
                  <a:schemeClr val="dk1"/>
                </a:solidFill>
              </a:rPr>
              <a:t>COMPAS</a:t>
            </a:r>
            <a:r>
              <a:rPr lang="en" sz="1100">
                <a:solidFill>
                  <a:schemeClr val="dk1"/>
                </a:solidFill>
              </a:rPr>
              <a:t> recidivism dataset.</a:t>
            </a:r>
            <a:endParaRPr b="1" i="1" sz="1800">
              <a:solidFill>
                <a:schemeClr val="dk1"/>
              </a:solidFill>
              <a:latin typeface="Inter"/>
              <a:ea typeface="Inter"/>
              <a:cs typeface="Inter"/>
              <a:sym typeface="Inter"/>
            </a:endParaRPr>
          </a:p>
        </p:txBody>
      </p:sp>
      <p:sp>
        <p:nvSpPr>
          <p:cNvPr id="209" name="Google Shape;209;g3d5f0fe9fd8_0_70"/>
          <p:cNvSpPr/>
          <p:nvPr/>
        </p:nvSpPr>
        <p:spPr>
          <a:xfrm>
            <a:off x="4007900" y="1327700"/>
            <a:ext cx="3244500" cy="1548900"/>
          </a:xfrm>
          <a:prstGeom prst="roundRect">
            <a:avLst>
              <a:gd fmla="val 16667" name="adj"/>
            </a:avLst>
          </a:prstGeom>
          <a:solidFill>
            <a:srgbClr val="D4E4D1"/>
          </a:solidFill>
          <a:ln>
            <a:noFill/>
          </a:ln>
        </p:spPr>
        <p:txBody>
          <a:bodyPr anchorCtr="0" anchor="ctr" bIns="91425" lIns="91425" spcFirstLastPara="1" rIns="91425" wrap="square" tIns="91425">
            <a:noAutofit/>
          </a:bodyPr>
          <a:lstStyle/>
          <a:p>
            <a:pPr indent="0" lvl="0" marL="274320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210" name="Google Shape;210;g3d5f0fe9fd8_0_70"/>
          <p:cNvSpPr/>
          <p:nvPr/>
        </p:nvSpPr>
        <p:spPr>
          <a:xfrm>
            <a:off x="553500" y="1414550"/>
            <a:ext cx="3244500" cy="1461900"/>
          </a:xfrm>
          <a:prstGeom prst="roundRect">
            <a:avLst>
              <a:gd fmla="val 16667" name="adj"/>
            </a:avLst>
          </a:prstGeom>
          <a:solidFill>
            <a:srgbClr val="F5F0E8"/>
          </a:solidFill>
          <a:ln>
            <a:noFill/>
          </a:ln>
        </p:spPr>
        <p:txBody>
          <a:bodyPr anchorCtr="0" anchor="ctr" bIns="91425" lIns="91425" spcFirstLastPara="1" rIns="91425" wrap="square" tIns="91425">
            <a:noAutofit/>
          </a:bodyPr>
          <a:lstStyle/>
          <a:p>
            <a:pPr indent="0" lvl="0" marL="274320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211" name="Google Shape;211;g3d5f0fe9fd8_0_70"/>
          <p:cNvSpPr/>
          <p:nvPr/>
        </p:nvSpPr>
        <p:spPr>
          <a:xfrm>
            <a:off x="883952" y="1636802"/>
            <a:ext cx="19203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E"/>
              </a:buClr>
              <a:buSzPts val="1400"/>
              <a:buFont typeface="Georgia"/>
              <a:buNone/>
            </a:pPr>
            <a:r>
              <a:rPr b="1" lang="en">
                <a:solidFill>
                  <a:srgbClr val="1A1A2E"/>
                </a:solidFill>
                <a:latin typeface="Inter"/>
                <a:ea typeface="Inter"/>
                <a:cs typeface="Inter"/>
                <a:sym typeface="Inter"/>
              </a:rPr>
              <a:t>Step 1</a:t>
            </a:r>
            <a:endParaRPr b="0" i="0" sz="1400" u="none" cap="none" strike="noStrike">
              <a:solidFill>
                <a:srgbClr val="000000"/>
              </a:solidFill>
              <a:latin typeface="Inter"/>
              <a:ea typeface="Inter"/>
              <a:cs typeface="Inter"/>
              <a:sym typeface="Inter"/>
            </a:endParaRPr>
          </a:p>
        </p:txBody>
      </p:sp>
      <p:sp>
        <p:nvSpPr>
          <p:cNvPr id="212" name="Google Shape;212;g3d5f0fe9fd8_0_70"/>
          <p:cNvSpPr/>
          <p:nvPr/>
        </p:nvSpPr>
        <p:spPr>
          <a:xfrm>
            <a:off x="883952" y="1918965"/>
            <a:ext cx="495300" cy="18300"/>
          </a:xfrm>
          <a:prstGeom prst="rect">
            <a:avLst/>
          </a:prstGeom>
          <a:solidFill>
            <a:srgbClr val="B85C3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213" name="Google Shape;213;g3d5f0fe9fd8_0_70"/>
          <p:cNvSpPr/>
          <p:nvPr/>
        </p:nvSpPr>
        <p:spPr>
          <a:xfrm>
            <a:off x="4315293" y="1564953"/>
            <a:ext cx="23694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E"/>
              </a:buClr>
              <a:buSzPts val="1400"/>
              <a:buFont typeface="Georgia"/>
              <a:buNone/>
            </a:pPr>
            <a:r>
              <a:rPr b="1" lang="en">
                <a:solidFill>
                  <a:srgbClr val="1A1A2E"/>
                </a:solidFill>
                <a:latin typeface="Inter"/>
                <a:ea typeface="Inter"/>
                <a:cs typeface="Inter"/>
                <a:sym typeface="Inter"/>
              </a:rPr>
              <a:t>Step 2</a:t>
            </a:r>
            <a:endParaRPr b="1" i="0" sz="1400" u="none" cap="none" strike="noStrike">
              <a:solidFill>
                <a:srgbClr val="000000"/>
              </a:solidFill>
              <a:latin typeface="Inter"/>
              <a:ea typeface="Inter"/>
              <a:cs typeface="Inter"/>
              <a:sym typeface="Inter"/>
            </a:endParaRPr>
          </a:p>
        </p:txBody>
      </p:sp>
      <p:sp>
        <p:nvSpPr>
          <p:cNvPr id="214" name="Google Shape;214;g3d5f0fe9fd8_0_70"/>
          <p:cNvSpPr/>
          <p:nvPr/>
        </p:nvSpPr>
        <p:spPr>
          <a:xfrm>
            <a:off x="4315299" y="1839154"/>
            <a:ext cx="526500" cy="18300"/>
          </a:xfrm>
          <a:prstGeom prst="rect">
            <a:avLst/>
          </a:prstGeom>
          <a:solidFill>
            <a:srgbClr val="2C6E6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215" name="Google Shape;215;g3d5f0fe9fd8_0_70"/>
          <p:cNvSpPr/>
          <p:nvPr/>
        </p:nvSpPr>
        <p:spPr>
          <a:xfrm>
            <a:off x="553500" y="3004175"/>
            <a:ext cx="3244500" cy="1719600"/>
          </a:xfrm>
          <a:prstGeom prst="roundRect">
            <a:avLst>
              <a:gd fmla="val 16667" name="adj"/>
            </a:avLst>
          </a:prstGeom>
          <a:solidFill>
            <a:srgbClr val="CFE2F3"/>
          </a:solidFill>
          <a:ln>
            <a:noFill/>
          </a:ln>
        </p:spPr>
        <p:txBody>
          <a:bodyPr anchorCtr="0" anchor="ctr" bIns="91425" lIns="91425" spcFirstLastPara="1" rIns="91425" wrap="square" tIns="91425">
            <a:noAutofit/>
          </a:bodyPr>
          <a:lstStyle/>
          <a:p>
            <a:pPr indent="0" lvl="0" marL="274320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216" name="Google Shape;216;g3d5f0fe9fd8_0_70"/>
          <p:cNvSpPr/>
          <p:nvPr/>
        </p:nvSpPr>
        <p:spPr>
          <a:xfrm>
            <a:off x="865153" y="3108555"/>
            <a:ext cx="23451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E"/>
              </a:buClr>
              <a:buSzPts val="1400"/>
              <a:buFont typeface="Georgia"/>
              <a:buNone/>
            </a:pPr>
            <a:r>
              <a:rPr b="1" lang="en">
                <a:solidFill>
                  <a:srgbClr val="1A1A2E"/>
                </a:solidFill>
                <a:latin typeface="Inter"/>
                <a:ea typeface="Inter"/>
                <a:cs typeface="Inter"/>
                <a:sym typeface="Inter"/>
              </a:rPr>
              <a:t>Step 3</a:t>
            </a:r>
            <a:endParaRPr b="0" i="0" sz="1400" u="none" cap="none" strike="noStrike">
              <a:solidFill>
                <a:srgbClr val="000000"/>
              </a:solidFill>
              <a:latin typeface="Inter"/>
              <a:ea typeface="Inter"/>
              <a:cs typeface="Inter"/>
              <a:sym typeface="Inter"/>
            </a:endParaRPr>
          </a:p>
        </p:txBody>
      </p:sp>
      <p:sp>
        <p:nvSpPr>
          <p:cNvPr id="217" name="Google Shape;217;g3d5f0fe9fd8_0_70"/>
          <p:cNvSpPr/>
          <p:nvPr/>
        </p:nvSpPr>
        <p:spPr>
          <a:xfrm>
            <a:off x="865153" y="3423248"/>
            <a:ext cx="551400" cy="246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218" name="Google Shape;218;g3d5f0fe9fd8_0_70"/>
          <p:cNvSpPr/>
          <p:nvPr/>
        </p:nvSpPr>
        <p:spPr>
          <a:xfrm>
            <a:off x="4008000" y="3004175"/>
            <a:ext cx="3244500" cy="1719600"/>
          </a:xfrm>
          <a:prstGeom prst="roundRect">
            <a:avLst>
              <a:gd fmla="val 16667" name="adj"/>
            </a:avLst>
          </a:prstGeom>
          <a:solidFill>
            <a:srgbClr val="F4CCCC"/>
          </a:solidFill>
          <a:ln>
            <a:noFill/>
          </a:ln>
        </p:spPr>
        <p:txBody>
          <a:bodyPr anchorCtr="0" anchor="ctr" bIns="108175" lIns="108175" spcFirstLastPara="1" rIns="108175" wrap="square" tIns="108175">
            <a:noAutofit/>
          </a:bodyPr>
          <a:lstStyle/>
          <a:p>
            <a:pPr indent="0" lvl="0" marL="3245509" marR="0" rtl="0" algn="ctr">
              <a:lnSpc>
                <a:spcPct val="100000"/>
              </a:lnSpc>
              <a:spcBef>
                <a:spcPts val="0"/>
              </a:spcBef>
              <a:spcAft>
                <a:spcPts val="0"/>
              </a:spcAft>
              <a:buClr>
                <a:srgbClr val="000000"/>
              </a:buClr>
              <a:buSzPts val="1656"/>
              <a:buFont typeface="Arial"/>
              <a:buNone/>
            </a:pPr>
            <a:r>
              <a:t/>
            </a:r>
            <a:endParaRPr b="0" i="0" sz="1656" u="none" cap="none" strike="noStrike">
              <a:solidFill>
                <a:srgbClr val="000000"/>
              </a:solidFill>
              <a:latin typeface="Inter"/>
              <a:ea typeface="Inter"/>
              <a:cs typeface="Inter"/>
              <a:sym typeface="Inter"/>
            </a:endParaRPr>
          </a:p>
        </p:txBody>
      </p:sp>
      <p:sp>
        <p:nvSpPr>
          <p:cNvPr id="219" name="Google Shape;219;g3d5f0fe9fd8_0_70"/>
          <p:cNvSpPr/>
          <p:nvPr/>
        </p:nvSpPr>
        <p:spPr>
          <a:xfrm>
            <a:off x="4337851" y="3086625"/>
            <a:ext cx="2621100" cy="393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E"/>
              </a:buClr>
              <a:buSzPts val="1656"/>
              <a:buFont typeface="Georgia"/>
              <a:buNone/>
            </a:pPr>
            <a:r>
              <a:rPr b="1" lang="en" sz="1456">
                <a:solidFill>
                  <a:srgbClr val="1A1A2E"/>
                </a:solidFill>
                <a:latin typeface="Inter"/>
                <a:ea typeface="Inter"/>
                <a:cs typeface="Inter"/>
                <a:sym typeface="Inter"/>
              </a:rPr>
              <a:t>Step 4</a:t>
            </a:r>
            <a:endParaRPr b="0" i="0" sz="1456" u="none" cap="none" strike="noStrike">
              <a:solidFill>
                <a:srgbClr val="000000"/>
              </a:solidFill>
              <a:latin typeface="Inter"/>
              <a:ea typeface="Inter"/>
              <a:cs typeface="Inter"/>
              <a:sym typeface="Inter"/>
            </a:endParaRPr>
          </a:p>
        </p:txBody>
      </p:sp>
      <p:sp>
        <p:nvSpPr>
          <p:cNvPr id="220" name="Google Shape;220;g3d5f0fe9fd8_0_70"/>
          <p:cNvSpPr/>
          <p:nvPr/>
        </p:nvSpPr>
        <p:spPr>
          <a:xfrm>
            <a:off x="4345024" y="3425263"/>
            <a:ext cx="534300" cy="26100"/>
          </a:xfrm>
          <a:prstGeom prst="rect">
            <a:avLst/>
          </a:prstGeom>
          <a:solidFill>
            <a:srgbClr val="E06666"/>
          </a:solidFill>
          <a:ln>
            <a:noFill/>
          </a:ln>
        </p:spPr>
        <p:txBody>
          <a:bodyPr anchorCtr="0" anchor="ctr" bIns="108175" lIns="108175" spcFirstLastPara="1" rIns="108175" wrap="square" tIns="108175">
            <a:noAutofit/>
          </a:bodyPr>
          <a:lstStyle/>
          <a:p>
            <a:pPr indent="0" lvl="0" marL="0" marR="0" rtl="0" algn="l">
              <a:lnSpc>
                <a:spcPct val="100000"/>
              </a:lnSpc>
              <a:spcBef>
                <a:spcPts val="0"/>
              </a:spcBef>
              <a:spcAft>
                <a:spcPts val="0"/>
              </a:spcAft>
              <a:buClr>
                <a:srgbClr val="000000"/>
              </a:buClr>
              <a:buSzPts val="1656"/>
              <a:buFont typeface="Arial"/>
              <a:buNone/>
            </a:pPr>
            <a:r>
              <a:t/>
            </a:r>
            <a:endParaRPr b="0" i="0" sz="1656" u="none" cap="none" strike="noStrike">
              <a:solidFill>
                <a:srgbClr val="000000"/>
              </a:solidFill>
              <a:latin typeface="Inter"/>
              <a:ea typeface="Inter"/>
              <a:cs typeface="Inter"/>
              <a:sym typeface="Inter"/>
            </a:endParaRPr>
          </a:p>
        </p:txBody>
      </p:sp>
      <p:sp>
        <p:nvSpPr>
          <p:cNvPr id="221" name="Google Shape;221;g3d5f0fe9fd8_0_70"/>
          <p:cNvSpPr txBox="1"/>
          <p:nvPr/>
        </p:nvSpPr>
        <p:spPr>
          <a:xfrm>
            <a:off x="801350" y="1945250"/>
            <a:ext cx="2862300" cy="996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lang="en" sz="1200">
                <a:solidFill>
                  <a:schemeClr val="dk1"/>
                </a:solidFill>
                <a:latin typeface="Inter"/>
                <a:ea typeface="Inter"/>
                <a:cs typeface="Inter"/>
                <a:sym typeface="Inter"/>
              </a:rPr>
              <a:t>What are the raw columns, and what is the machine trying to predict or measure?</a:t>
            </a:r>
            <a:endParaRPr b="0" i="0" sz="1200" u="none" cap="none" strike="noStrike">
              <a:solidFill>
                <a:schemeClr val="dk1"/>
              </a:solidFill>
              <a:latin typeface="Inter"/>
              <a:ea typeface="Inter"/>
              <a:cs typeface="Inter"/>
              <a:sym typeface="Inter"/>
            </a:endParaRPr>
          </a:p>
        </p:txBody>
      </p:sp>
      <p:sp>
        <p:nvSpPr>
          <p:cNvPr id="222" name="Google Shape;222;g3d5f0fe9fd8_0_70"/>
          <p:cNvSpPr txBox="1"/>
          <p:nvPr/>
        </p:nvSpPr>
        <p:spPr>
          <a:xfrm>
            <a:off x="4218800" y="1902175"/>
            <a:ext cx="2799900" cy="1002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lang="en" sz="1200">
                <a:solidFill>
                  <a:schemeClr val="dk1"/>
                </a:solidFill>
                <a:latin typeface="Inter"/>
                <a:ea typeface="Inter"/>
                <a:cs typeface="Inter"/>
                <a:sym typeface="Inter"/>
              </a:rPr>
              <a:t>What real-world context or human stories were stripped away to turn this life into a spreadsheet row?</a:t>
            </a:r>
            <a:endParaRPr b="0" i="0" sz="1200" u="none" cap="none" strike="noStrike">
              <a:solidFill>
                <a:schemeClr val="dk1"/>
              </a:solidFill>
              <a:latin typeface="Inter"/>
              <a:ea typeface="Inter"/>
              <a:cs typeface="Inter"/>
              <a:sym typeface="Inter"/>
            </a:endParaRPr>
          </a:p>
        </p:txBody>
      </p:sp>
      <p:sp>
        <p:nvSpPr>
          <p:cNvPr id="223" name="Google Shape;223;g3d5f0fe9fd8_0_70"/>
          <p:cNvSpPr txBox="1"/>
          <p:nvPr/>
        </p:nvSpPr>
        <p:spPr>
          <a:xfrm>
            <a:off x="764300" y="3423248"/>
            <a:ext cx="2862300" cy="1230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lang="en" sz="1200">
                <a:solidFill>
                  <a:schemeClr val="dk1"/>
                </a:solidFill>
                <a:latin typeface="Inter"/>
                <a:ea typeface="Inter"/>
                <a:cs typeface="Inter"/>
                <a:sym typeface="Inter"/>
              </a:rPr>
              <a:t>Whose goals drive this project, and who bears the real-world burden when the model makes a mistake?</a:t>
            </a:r>
            <a:endParaRPr b="0" i="0" sz="1200" u="none" cap="none" strike="noStrike">
              <a:solidFill>
                <a:schemeClr val="dk1"/>
              </a:solidFill>
              <a:latin typeface="Inter"/>
              <a:ea typeface="Inter"/>
              <a:cs typeface="Inter"/>
              <a:sym typeface="Inter"/>
            </a:endParaRPr>
          </a:p>
        </p:txBody>
      </p:sp>
      <p:sp>
        <p:nvSpPr>
          <p:cNvPr id="224" name="Google Shape;224;g3d5f0fe9fd8_0_70"/>
          <p:cNvSpPr txBox="1"/>
          <p:nvPr/>
        </p:nvSpPr>
        <p:spPr>
          <a:xfrm>
            <a:off x="4246050" y="3455175"/>
            <a:ext cx="2712900" cy="1047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sz="1200">
                <a:solidFill>
                  <a:schemeClr val="dk1"/>
                </a:solidFill>
                <a:latin typeface="Inter"/>
                <a:ea typeface="Inter"/>
                <a:cs typeface="Inter"/>
                <a:sym typeface="Inter"/>
              </a:rPr>
              <a:t>How does starting with a human-centered question change your data analysis compared to just starting with a raw dataset?</a:t>
            </a:r>
            <a:endParaRPr sz="1200">
              <a:solidFill>
                <a:schemeClr val="dk1"/>
              </a:solidFill>
              <a:latin typeface="Inter"/>
              <a:ea typeface="Inter"/>
              <a:cs typeface="Inter"/>
              <a:sym typeface="Inter"/>
            </a:endParaRPr>
          </a:p>
          <a:p>
            <a:pPr indent="0" lvl="0" marL="0" marR="0" rtl="0" algn="l">
              <a:lnSpc>
                <a:spcPct val="100000"/>
              </a:lnSpc>
              <a:spcBef>
                <a:spcPts val="1200"/>
              </a:spcBef>
              <a:spcAft>
                <a:spcPts val="0"/>
              </a:spcAft>
              <a:buClr>
                <a:srgbClr val="000000"/>
              </a:buClr>
              <a:buSzPts val="1500"/>
              <a:buFont typeface="Arial"/>
              <a:buNone/>
            </a:pPr>
            <a:r>
              <a:t/>
            </a:r>
            <a:endParaRPr sz="1200">
              <a:solidFill>
                <a:schemeClr val="dk1"/>
              </a:solidFill>
              <a:latin typeface="Inter"/>
              <a:ea typeface="Inter"/>
              <a:cs typeface="Inter"/>
              <a:sym typeface="Inte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5"/>
          <p:cNvSpPr/>
          <p:nvPr/>
        </p:nvSpPr>
        <p:spPr>
          <a:xfrm>
            <a:off x="5934575" y="2335196"/>
            <a:ext cx="2443800" cy="837600"/>
          </a:xfrm>
          <a:prstGeom prst="roundRect">
            <a:avLst>
              <a:gd fmla="val 16667" name="adj"/>
            </a:avLst>
          </a:prstGeom>
          <a:solidFill>
            <a:srgbClr val="CFE2F3"/>
          </a:solidFill>
          <a:ln>
            <a:noFill/>
          </a:ln>
        </p:spPr>
        <p:txBody>
          <a:bodyPr anchorCtr="0" anchor="ctr" bIns="91425" lIns="91425" spcFirstLastPara="1" rIns="91425" wrap="square" tIns="91425">
            <a:noAutofit/>
          </a:bodyPr>
          <a:lstStyle/>
          <a:p>
            <a:pPr indent="0" lvl="0" marL="274320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230" name="Google Shape;230;p5"/>
          <p:cNvSpPr/>
          <p:nvPr/>
        </p:nvSpPr>
        <p:spPr>
          <a:xfrm>
            <a:off x="3191375" y="2356771"/>
            <a:ext cx="2443800" cy="809700"/>
          </a:xfrm>
          <a:prstGeom prst="roundRect">
            <a:avLst>
              <a:gd fmla="val 16667" name="adj"/>
            </a:avLst>
          </a:prstGeom>
          <a:solidFill>
            <a:srgbClr val="D4E4D1"/>
          </a:solidFill>
          <a:ln>
            <a:noFill/>
          </a:ln>
        </p:spPr>
        <p:txBody>
          <a:bodyPr anchorCtr="0" anchor="ctr" bIns="91425" lIns="91425" spcFirstLastPara="1" rIns="91425" wrap="square" tIns="91425">
            <a:noAutofit/>
          </a:bodyPr>
          <a:lstStyle/>
          <a:p>
            <a:pPr indent="0" lvl="0" marL="274320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231" name="Google Shape;231;p5"/>
          <p:cNvSpPr/>
          <p:nvPr/>
        </p:nvSpPr>
        <p:spPr>
          <a:xfrm>
            <a:off x="448175" y="2363071"/>
            <a:ext cx="2443800" cy="809700"/>
          </a:xfrm>
          <a:prstGeom prst="roundRect">
            <a:avLst>
              <a:gd fmla="val 16667" name="adj"/>
            </a:avLst>
          </a:prstGeom>
          <a:solidFill>
            <a:srgbClr val="F5F0E8"/>
          </a:solidFill>
          <a:ln>
            <a:noFill/>
          </a:ln>
        </p:spPr>
        <p:txBody>
          <a:bodyPr anchorCtr="0" anchor="ctr" bIns="91425" lIns="91425" spcFirstLastPara="1" rIns="91425" wrap="square" tIns="91425">
            <a:noAutofit/>
          </a:bodyPr>
          <a:lstStyle/>
          <a:p>
            <a:pPr indent="0" lvl="0" marL="274320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232" name="Google Shape;232;p5"/>
          <p:cNvSpPr/>
          <p:nvPr/>
        </p:nvSpPr>
        <p:spPr>
          <a:xfrm>
            <a:off x="773513" y="2585333"/>
            <a:ext cx="19203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E"/>
              </a:buClr>
              <a:buSzPts val="1400"/>
              <a:buFont typeface="Georgia"/>
              <a:buNone/>
            </a:pPr>
            <a:r>
              <a:rPr b="1" lang="en">
                <a:solidFill>
                  <a:srgbClr val="1A1A2E"/>
                </a:solidFill>
                <a:latin typeface="Inter"/>
                <a:ea typeface="Inter"/>
                <a:cs typeface="Inter"/>
                <a:sym typeface="Inter"/>
              </a:rPr>
              <a:t>What could go wrong?</a:t>
            </a:r>
            <a:endParaRPr b="1" i="0" sz="1400" u="none" cap="none" strike="noStrike">
              <a:solidFill>
                <a:srgbClr val="000000"/>
              </a:solidFill>
              <a:latin typeface="Inter"/>
              <a:ea typeface="Inter"/>
              <a:cs typeface="Inter"/>
              <a:sym typeface="Inter"/>
            </a:endParaRPr>
          </a:p>
        </p:txBody>
      </p:sp>
      <p:sp>
        <p:nvSpPr>
          <p:cNvPr id="233" name="Google Shape;233;p5"/>
          <p:cNvSpPr/>
          <p:nvPr/>
        </p:nvSpPr>
        <p:spPr>
          <a:xfrm>
            <a:off x="773518" y="2960596"/>
            <a:ext cx="495300" cy="18300"/>
          </a:xfrm>
          <a:prstGeom prst="rect">
            <a:avLst/>
          </a:prstGeom>
          <a:solidFill>
            <a:srgbClr val="B85C3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234" name="Google Shape;234;p5"/>
          <p:cNvSpPr/>
          <p:nvPr/>
        </p:nvSpPr>
        <p:spPr>
          <a:xfrm>
            <a:off x="3516713" y="2573993"/>
            <a:ext cx="19203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E"/>
              </a:buClr>
              <a:buSzPts val="1400"/>
              <a:buFont typeface="Georgia"/>
              <a:buNone/>
            </a:pPr>
            <a:r>
              <a:rPr b="1" lang="en">
                <a:solidFill>
                  <a:srgbClr val="1A1A2E"/>
                </a:solidFill>
                <a:latin typeface="Inter"/>
                <a:ea typeface="Inter"/>
                <a:cs typeface="Inter"/>
                <a:sym typeface="Inter"/>
              </a:rPr>
              <a:t>Who could be harmed?</a:t>
            </a:r>
            <a:endParaRPr b="1" i="0" sz="1400" u="none" cap="none" strike="noStrike">
              <a:solidFill>
                <a:srgbClr val="000000"/>
              </a:solidFill>
              <a:latin typeface="Inter"/>
              <a:ea typeface="Inter"/>
              <a:cs typeface="Inter"/>
              <a:sym typeface="Inter"/>
            </a:endParaRPr>
          </a:p>
        </p:txBody>
      </p:sp>
      <p:sp>
        <p:nvSpPr>
          <p:cNvPr id="235" name="Google Shape;235;p5"/>
          <p:cNvSpPr/>
          <p:nvPr/>
        </p:nvSpPr>
        <p:spPr>
          <a:xfrm>
            <a:off x="3516718" y="2916243"/>
            <a:ext cx="426600" cy="18300"/>
          </a:xfrm>
          <a:prstGeom prst="rect">
            <a:avLst/>
          </a:prstGeom>
          <a:solidFill>
            <a:srgbClr val="2C6E6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236" name="Google Shape;236;p5"/>
          <p:cNvSpPr/>
          <p:nvPr/>
        </p:nvSpPr>
        <p:spPr>
          <a:xfrm>
            <a:off x="6259913" y="2577343"/>
            <a:ext cx="19203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E"/>
              </a:buClr>
              <a:buSzPts val="1400"/>
              <a:buFont typeface="Georgia"/>
              <a:buNone/>
            </a:pPr>
            <a:r>
              <a:rPr b="1" lang="en">
                <a:solidFill>
                  <a:srgbClr val="1A1A2E"/>
                </a:solidFill>
                <a:latin typeface="Inter"/>
                <a:ea typeface="Inter"/>
                <a:cs typeface="Inter"/>
                <a:sym typeface="Inter"/>
              </a:rPr>
              <a:t>Who could </a:t>
            </a:r>
            <a:endParaRPr b="1">
              <a:solidFill>
                <a:srgbClr val="1A1A2E"/>
              </a:solidFill>
              <a:latin typeface="Inter"/>
              <a:ea typeface="Inter"/>
              <a:cs typeface="Inter"/>
              <a:sym typeface="Inter"/>
            </a:endParaRPr>
          </a:p>
          <a:p>
            <a:pPr indent="0" lvl="0" marL="0" marR="0" rtl="0" algn="l">
              <a:lnSpc>
                <a:spcPct val="100000"/>
              </a:lnSpc>
              <a:spcBef>
                <a:spcPts val="0"/>
              </a:spcBef>
              <a:spcAft>
                <a:spcPts val="0"/>
              </a:spcAft>
              <a:buClr>
                <a:srgbClr val="1A1A2E"/>
              </a:buClr>
              <a:buSzPts val="1400"/>
              <a:buFont typeface="Georgia"/>
              <a:buNone/>
            </a:pPr>
            <a:r>
              <a:rPr b="1" lang="en">
                <a:solidFill>
                  <a:srgbClr val="1A1A2E"/>
                </a:solidFill>
                <a:latin typeface="Inter"/>
                <a:ea typeface="Inter"/>
                <a:cs typeface="Inter"/>
                <a:sym typeface="Inter"/>
              </a:rPr>
              <a:t>benefit?</a:t>
            </a:r>
            <a:endParaRPr b="1" i="0" sz="1400" u="none" cap="none" strike="noStrike">
              <a:solidFill>
                <a:srgbClr val="000000"/>
              </a:solidFill>
              <a:latin typeface="Inter"/>
              <a:ea typeface="Inter"/>
              <a:cs typeface="Inter"/>
              <a:sym typeface="Inter"/>
            </a:endParaRPr>
          </a:p>
        </p:txBody>
      </p:sp>
      <p:sp>
        <p:nvSpPr>
          <p:cNvPr id="237" name="Google Shape;237;p5"/>
          <p:cNvSpPr/>
          <p:nvPr/>
        </p:nvSpPr>
        <p:spPr>
          <a:xfrm>
            <a:off x="6259920" y="2931184"/>
            <a:ext cx="651600" cy="18300"/>
          </a:xfrm>
          <a:prstGeom prst="rect">
            <a:avLst/>
          </a:prstGeom>
          <a:solidFill>
            <a:srgbClr val="3D85C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nvGrpSpPr>
          <p:cNvPr id="238" name="Google Shape;238;p5"/>
          <p:cNvGrpSpPr/>
          <p:nvPr/>
        </p:nvGrpSpPr>
        <p:grpSpPr>
          <a:xfrm>
            <a:off x="8625" y="0"/>
            <a:ext cx="9144000" cy="267600"/>
            <a:chOff x="8625" y="0"/>
            <a:chExt cx="9144000" cy="267600"/>
          </a:xfrm>
        </p:grpSpPr>
        <p:sp>
          <p:nvSpPr>
            <p:cNvPr id="239" name="Google Shape;239;p5"/>
            <p:cNvSpPr/>
            <p:nvPr/>
          </p:nvSpPr>
          <p:spPr>
            <a:xfrm>
              <a:off x="8625" y="0"/>
              <a:ext cx="9144000" cy="2676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40" name="Google Shape;240;p5" title="Logo Header.png"/>
            <p:cNvPicPr preferRelativeResize="0"/>
            <p:nvPr/>
          </p:nvPicPr>
          <p:blipFill rotWithShape="1">
            <a:blip r:embed="rId3">
              <a:alphaModFix/>
            </a:blip>
            <a:srcRect b="0" l="0" r="0" t="0"/>
            <a:stretch/>
          </p:blipFill>
          <p:spPr>
            <a:xfrm>
              <a:off x="8348195" y="15790"/>
              <a:ext cx="634775" cy="199625"/>
            </a:xfrm>
            <a:prstGeom prst="rect">
              <a:avLst/>
            </a:prstGeom>
            <a:noFill/>
            <a:ln>
              <a:noFill/>
            </a:ln>
          </p:spPr>
        </p:pic>
      </p:grpSp>
      <p:sp>
        <p:nvSpPr>
          <p:cNvPr id="241" name="Google Shape;241;p5"/>
          <p:cNvSpPr txBox="1"/>
          <p:nvPr>
            <p:ph idx="1" type="subTitle"/>
          </p:nvPr>
        </p:nvSpPr>
        <p:spPr>
          <a:xfrm>
            <a:off x="448173" y="449700"/>
            <a:ext cx="5545500" cy="809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b="1" lang="en" sz="2700">
                <a:solidFill>
                  <a:schemeClr val="dk1"/>
                </a:solidFill>
                <a:latin typeface="Inter"/>
                <a:ea typeface="Inter"/>
                <a:cs typeface="Inter"/>
                <a:sym typeface="Inter"/>
              </a:rPr>
              <a:t>Ethical Practices</a:t>
            </a:r>
            <a:endParaRPr b="1" sz="2700">
              <a:solidFill>
                <a:schemeClr val="dk1"/>
              </a:solidFill>
              <a:latin typeface="Inter"/>
              <a:ea typeface="Inter"/>
              <a:cs typeface="Inter"/>
              <a:sym typeface="Inter"/>
            </a:endParaRPr>
          </a:p>
        </p:txBody>
      </p:sp>
      <p:sp>
        <p:nvSpPr>
          <p:cNvPr id="242" name="Google Shape;242;p5"/>
          <p:cNvSpPr txBox="1"/>
          <p:nvPr/>
        </p:nvSpPr>
        <p:spPr>
          <a:xfrm>
            <a:off x="457324" y="1418650"/>
            <a:ext cx="7993800" cy="728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 sz="1800">
                <a:solidFill>
                  <a:schemeClr val="dk1"/>
                </a:solidFill>
                <a:latin typeface="Inter"/>
                <a:ea typeface="Inter"/>
                <a:cs typeface="Inter"/>
                <a:sym typeface="Inter"/>
              </a:rPr>
              <a:t>Data science work has the potential to harm people. Ethics should be reflexive, considered at every step:</a:t>
            </a:r>
            <a:endParaRPr sz="1800">
              <a:solidFill>
                <a:schemeClr val="dk1"/>
              </a:solidFill>
              <a:latin typeface="Inter"/>
              <a:ea typeface="Inter"/>
              <a:cs typeface="Inter"/>
              <a:sym typeface="Inter"/>
            </a:endParaRPr>
          </a:p>
        </p:txBody>
      </p:sp>
      <p:pic>
        <p:nvPicPr>
          <p:cNvPr descr="something more simple. one icon not two inbetween and no border please" id="243" name="Google Shape;243;p5"/>
          <p:cNvPicPr preferRelativeResize="0"/>
          <p:nvPr/>
        </p:nvPicPr>
        <p:blipFill>
          <a:blip r:embed="rId4">
            <a:alphaModFix/>
          </a:blip>
          <a:stretch>
            <a:fillRect/>
          </a:stretch>
        </p:blipFill>
        <p:spPr>
          <a:xfrm>
            <a:off x="2267225" y="2540697"/>
            <a:ext cx="426600" cy="426600"/>
          </a:xfrm>
          <a:prstGeom prst="rect">
            <a:avLst/>
          </a:prstGeom>
          <a:noFill/>
          <a:ln>
            <a:noFill/>
          </a:ln>
        </p:spPr>
      </p:pic>
      <p:pic>
        <p:nvPicPr>
          <p:cNvPr descr="create a simple icon with #14AD81 that represents 'harm' 'harmful' or 'what could be harmed' &#10;&#10;simple and no border" id="244" name="Google Shape;244;p5"/>
          <p:cNvPicPr preferRelativeResize="0"/>
          <p:nvPr/>
        </p:nvPicPr>
        <p:blipFill>
          <a:blip r:embed="rId5">
            <a:alphaModFix/>
          </a:blip>
          <a:stretch>
            <a:fillRect/>
          </a:stretch>
        </p:blipFill>
        <p:spPr>
          <a:xfrm>
            <a:off x="5010425" y="2554622"/>
            <a:ext cx="426600" cy="426600"/>
          </a:xfrm>
          <a:prstGeom prst="rect">
            <a:avLst/>
          </a:prstGeom>
          <a:noFill/>
          <a:ln>
            <a:noFill/>
          </a:ln>
        </p:spPr>
      </p:pic>
      <p:pic>
        <p:nvPicPr>
          <p:cNvPr descr="create a simple icon with #14AD81 that represents 'benefit' or 'who could be benefit' simple and no border" id="245" name="Google Shape;245;p5"/>
          <p:cNvPicPr preferRelativeResize="0"/>
          <p:nvPr/>
        </p:nvPicPr>
        <p:blipFill>
          <a:blip r:embed="rId6">
            <a:alphaModFix/>
          </a:blip>
          <a:stretch>
            <a:fillRect/>
          </a:stretch>
        </p:blipFill>
        <p:spPr>
          <a:xfrm>
            <a:off x="7665725" y="2472001"/>
            <a:ext cx="495300" cy="495300"/>
          </a:xfrm>
          <a:prstGeom prst="rect">
            <a:avLst/>
          </a:prstGeom>
          <a:noFill/>
          <a:ln>
            <a:noFill/>
          </a:ln>
        </p:spPr>
      </p:pic>
      <p:sp>
        <p:nvSpPr>
          <p:cNvPr id="246" name="Google Shape;246;p5"/>
          <p:cNvSpPr txBox="1"/>
          <p:nvPr/>
        </p:nvSpPr>
        <p:spPr>
          <a:xfrm>
            <a:off x="458512" y="876900"/>
            <a:ext cx="7993800" cy="728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i="1" lang="en" sz="1500">
                <a:solidFill>
                  <a:schemeClr val="dk1"/>
                </a:solidFill>
                <a:latin typeface="Inter"/>
                <a:ea typeface="Inter"/>
                <a:cs typeface="Inter"/>
                <a:sym typeface="Inter"/>
              </a:rPr>
              <a:t>Considering the impacts of our work</a:t>
            </a:r>
            <a:endParaRPr i="1" sz="1500">
              <a:solidFill>
                <a:schemeClr val="dk1"/>
              </a:solidFill>
              <a:latin typeface="Inter"/>
              <a:ea typeface="Inter"/>
              <a:cs typeface="Inter"/>
              <a:sym typeface="Inter"/>
            </a:endParaRPr>
          </a:p>
        </p:txBody>
      </p:sp>
      <p:sp>
        <p:nvSpPr>
          <p:cNvPr id="247" name="Google Shape;247;p5"/>
          <p:cNvSpPr txBox="1"/>
          <p:nvPr/>
        </p:nvSpPr>
        <p:spPr>
          <a:xfrm>
            <a:off x="448175" y="3298100"/>
            <a:ext cx="2443800" cy="954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Inter"/>
                <a:ea typeface="Inter"/>
                <a:cs typeface="Inter"/>
                <a:sym typeface="Inter"/>
              </a:rPr>
              <a:t>A model intended to neutrally assess ”risk” can inherit historical societal biases, mistaking over-policed neighborhood data for actual criminal intent.</a:t>
            </a:r>
            <a:endParaRPr sz="1000">
              <a:latin typeface="Inter"/>
              <a:ea typeface="Inter"/>
              <a:cs typeface="Inter"/>
              <a:sym typeface="Inter"/>
            </a:endParaRPr>
          </a:p>
        </p:txBody>
      </p:sp>
      <p:sp>
        <p:nvSpPr>
          <p:cNvPr id="248" name="Google Shape;248;p5"/>
          <p:cNvSpPr txBox="1"/>
          <p:nvPr/>
        </p:nvSpPr>
        <p:spPr>
          <a:xfrm>
            <a:off x="3191375" y="3275450"/>
            <a:ext cx="2443800" cy="954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Inter"/>
                <a:ea typeface="Inter"/>
                <a:cs typeface="Inter"/>
                <a:sym typeface="Inter"/>
              </a:rPr>
              <a:t>Black defendants, who are statistically flagged with disproportionately higher false positive rates (wrongly labeled "high risk") compared to White defendants.</a:t>
            </a:r>
            <a:endParaRPr sz="1000">
              <a:latin typeface="Inter"/>
              <a:ea typeface="Inter"/>
              <a:cs typeface="Inter"/>
              <a:sym typeface="Inter"/>
            </a:endParaRPr>
          </a:p>
        </p:txBody>
      </p:sp>
      <p:sp>
        <p:nvSpPr>
          <p:cNvPr id="249" name="Google Shape;249;p5"/>
          <p:cNvSpPr txBox="1"/>
          <p:nvPr/>
        </p:nvSpPr>
        <p:spPr>
          <a:xfrm>
            <a:off x="5934575" y="3259855"/>
            <a:ext cx="2443800" cy="954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Inter"/>
                <a:ea typeface="Inter"/>
                <a:cs typeface="Inter"/>
                <a:sym typeface="Inter"/>
              </a:rPr>
              <a:t>Institutional legal systems looking for automated efficiency, and commercial software vendors operating proprietary "black box" prediction models.</a:t>
            </a:r>
            <a:endParaRPr sz="1000">
              <a:latin typeface="Inter"/>
              <a:ea typeface="Inter"/>
              <a:cs typeface="Inter"/>
              <a:sym typeface="Inte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g3d5f0fe9fd8_0_356"/>
          <p:cNvSpPr/>
          <p:nvPr/>
        </p:nvSpPr>
        <p:spPr>
          <a:xfrm>
            <a:off x="539050" y="2495221"/>
            <a:ext cx="2443800" cy="837600"/>
          </a:xfrm>
          <a:prstGeom prst="roundRect">
            <a:avLst>
              <a:gd fmla="val 16667" name="adj"/>
            </a:avLst>
          </a:prstGeom>
          <a:solidFill>
            <a:srgbClr val="F5F0E8"/>
          </a:solidFill>
          <a:ln>
            <a:noFill/>
          </a:ln>
        </p:spPr>
        <p:txBody>
          <a:bodyPr anchorCtr="0" anchor="ctr" bIns="91425" lIns="91425" spcFirstLastPara="1" rIns="91425" wrap="square" tIns="91425">
            <a:noAutofit/>
          </a:bodyPr>
          <a:lstStyle/>
          <a:p>
            <a:pPr indent="0" lvl="0" marL="274320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255" name="Google Shape;255;g3d5f0fe9fd8_0_356"/>
          <p:cNvSpPr/>
          <p:nvPr/>
        </p:nvSpPr>
        <p:spPr>
          <a:xfrm>
            <a:off x="5993675" y="2502871"/>
            <a:ext cx="2443800" cy="809700"/>
          </a:xfrm>
          <a:prstGeom prst="roundRect">
            <a:avLst>
              <a:gd fmla="val 16667" name="adj"/>
            </a:avLst>
          </a:prstGeom>
          <a:solidFill>
            <a:srgbClr val="CFE2F3"/>
          </a:solidFill>
          <a:ln>
            <a:noFill/>
          </a:ln>
        </p:spPr>
        <p:txBody>
          <a:bodyPr anchorCtr="0" anchor="ctr" bIns="91425" lIns="91425" spcFirstLastPara="1" rIns="91425" wrap="square" tIns="91425">
            <a:noAutofit/>
          </a:bodyPr>
          <a:lstStyle/>
          <a:p>
            <a:pPr indent="0" lvl="0" marL="274320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256" name="Google Shape;256;g3d5f0fe9fd8_0_356"/>
          <p:cNvSpPr/>
          <p:nvPr/>
        </p:nvSpPr>
        <p:spPr>
          <a:xfrm>
            <a:off x="3253763" y="2502871"/>
            <a:ext cx="2443800" cy="809700"/>
          </a:xfrm>
          <a:prstGeom prst="roundRect">
            <a:avLst>
              <a:gd fmla="val 16667" name="adj"/>
            </a:avLst>
          </a:prstGeom>
          <a:solidFill>
            <a:srgbClr val="D4E4D1"/>
          </a:solidFill>
          <a:ln>
            <a:noFill/>
          </a:ln>
        </p:spPr>
        <p:txBody>
          <a:bodyPr anchorCtr="0" anchor="ctr" bIns="91425" lIns="91425" spcFirstLastPara="1" rIns="91425" wrap="square" tIns="91425">
            <a:noAutofit/>
          </a:bodyPr>
          <a:lstStyle/>
          <a:p>
            <a:pPr indent="0" lvl="0" marL="274320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257" name="Google Shape;257;g3d5f0fe9fd8_0_356"/>
          <p:cNvSpPr/>
          <p:nvPr/>
        </p:nvSpPr>
        <p:spPr>
          <a:xfrm>
            <a:off x="3569363" y="2725125"/>
            <a:ext cx="1812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E"/>
              </a:buClr>
              <a:buSzPts val="1400"/>
              <a:buFont typeface="Georgia"/>
              <a:buNone/>
            </a:pPr>
            <a:r>
              <a:rPr b="1" lang="en">
                <a:solidFill>
                  <a:srgbClr val="1A1A2E"/>
                </a:solidFill>
                <a:latin typeface="Inter"/>
                <a:ea typeface="Inter"/>
                <a:cs typeface="Inter"/>
                <a:sym typeface="Inter"/>
              </a:rPr>
              <a:t>Respect for Persons</a:t>
            </a:r>
            <a:endParaRPr b="1" i="0" sz="1400" u="none" cap="none" strike="noStrike">
              <a:solidFill>
                <a:srgbClr val="000000"/>
              </a:solidFill>
              <a:latin typeface="Inter"/>
              <a:ea typeface="Inter"/>
              <a:cs typeface="Inter"/>
              <a:sym typeface="Inter"/>
            </a:endParaRPr>
          </a:p>
        </p:txBody>
      </p:sp>
      <p:sp>
        <p:nvSpPr>
          <p:cNvPr id="258" name="Google Shape;258;g3d5f0fe9fd8_0_356"/>
          <p:cNvSpPr/>
          <p:nvPr/>
        </p:nvSpPr>
        <p:spPr>
          <a:xfrm>
            <a:off x="4228013" y="3100396"/>
            <a:ext cx="495300" cy="18300"/>
          </a:xfrm>
          <a:prstGeom prst="rect">
            <a:avLst/>
          </a:prstGeom>
          <a:solidFill>
            <a:srgbClr val="2C6E6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259" name="Google Shape;259;g3d5f0fe9fd8_0_356"/>
          <p:cNvSpPr/>
          <p:nvPr/>
        </p:nvSpPr>
        <p:spPr>
          <a:xfrm>
            <a:off x="6651425" y="2720100"/>
            <a:ext cx="11283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E"/>
              </a:buClr>
              <a:buSzPts val="1400"/>
              <a:buFont typeface="Georgia"/>
              <a:buNone/>
            </a:pPr>
            <a:r>
              <a:rPr b="1" lang="en">
                <a:solidFill>
                  <a:srgbClr val="1A1A2E"/>
                </a:solidFill>
                <a:latin typeface="Inter"/>
                <a:ea typeface="Inter"/>
                <a:cs typeface="Inter"/>
                <a:sym typeface="Inter"/>
              </a:rPr>
              <a:t>Beneficence</a:t>
            </a:r>
            <a:endParaRPr b="1" i="0" sz="1400" u="none" cap="none" strike="noStrike">
              <a:solidFill>
                <a:srgbClr val="000000"/>
              </a:solidFill>
              <a:latin typeface="Inter"/>
              <a:ea typeface="Inter"/>
              <a:cs typeface="Inter"/>
              <a:sym typeface="Inter"/>
            </a:endParaRPr>
          </a:p>
        </p:txBody>
      </p:sp>
      <p:sp>
        <p:nvSpPr>
          <p:cNvPr id="260" name="Google Shape;260;g3d5f0fe9fd8_0_356"/>
          <p:cNvSpPr/>
          <p:nvPr/>
        </p:nvSpPr>
        <p:spPr>
          <a:xfrm>
            <a:off x="7002275" y="3062343"/>
            <a:ext cx="426600" cy="18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261" name="Google Shape;261;g3d5f0fe9fd8_0_356"/>
          <p:cNvSpPr/>
          <p:nvPr/>
        </p:nvSpPr>
        <p:spPr>
          <a:xfrm>
            <a:off x="1405450" y="2727950"/>
            <a:ext cx="7110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E"/>
              </a:buClr>
              <a:buSzPts val="1400"/>
              <a:buFont typeface="Georgia"/>
              <a:buNone/>
            </a:pPr>
            <a:r>
              <a:rPr b="1" lang="en">
                <a:solidFill>
                  <a:srgbClr val="1A1A2E"/>
                </a:solidFill>
                <a:latin typeface="Inter"/>
                <a:ea typeface="Inter"/>
                <a:cs typeface="Inter"/>
                <a:sym typeface="Inter"/>
              </a:rPr>
              <a:t>Justice</a:t>
            </a:r>
            <a:endParaRPr b="1" i="0" sz="1400" u="none" cap="none" strike="noStrike">
              <a:solidFill>
                <a:srgbClr val="000000"/>
              </a:solidFill>
              <a:latin typeface="Inter"/>
              <a:ea typeface="Inter"/>
              <a:cs typeface="Inter"/>
              <a:sym typeface="Inter"/>
            </a:endParaRPr>
          </a:p>
        </p:txBody>
      </p:sp>
      <p:sp>
        <p:nvSpPr>
          <p:cNvPr id="262" name="Google Shape;262;g3d5f0fe9fd8_0_356"/>
          <p:cNvSpPr/>
          <p:nvPr/>
        </p:nvSpPr>
        <p:spPr>
          <a:xfrm>
            <a:off x="1435150" y="3081796"/>
            <a:ext cx="651600" cy="18300"/>
          </a:xfrm>
          <a:prstGeom prst="rect">
            <a:avLst/>
          </a:prstGeom>
          <a:solidFill>
            <a:srgbClr val="B85C3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nvGrpSpPr>
          <p:cNvPr id="263" name="Google Shape;263;g3d5f0fe9fd8_0_356"/>
          <p:cNvGrpSpPr/>
          <p:nvPr/>
        </p:nvGrpSpPr>
        <p:grpSpPr>
          <a:xfrm>
            <a:off x="8625" y="0"/>
            <a:ext cx="9144000" cy="267600"/>
            <a:chOff x="8625" y="0"/>
            <a:chExt cx="9144000" cy="267600"/>
          </a:xfrm>
        </p:grpSpPr>
        <p:sp>
          <p:nvSpPr>
            <p:cNvPr id="264" name="Google Shape;264;g3d5f0fe9fd8_0_356"/>
            <p:cNvSpPr/>
            <p:nvPr/>
          </p:nvSpPr>
          <p:spPr>
            <a:xfrm>
              <a:off x="8625" y="0"/>
              <a:ext cx="9144000" cy="2676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65" name="Google Shape;265;g3d5f0fe9fd8_0_356" title="Logo Header.png"/>
            <p:cNvPicPr preferRelativeResize="0"/>
            <p:nvPr/>
          </p:nvPicPr>
          <p:blipFill rotWithShape="1">
            <a:blip r:embed="rId3">
              <a:alphaModFix/>
            </a:blip>
            <a:srcRect b="0" l="0" r="0" t="0"/>
            <a:stretch/>
          </p:blipFill>
          <p:spPr>
            <a:xfrm>
              <a:off x="8348195" y="15790"/>
              <a:ext cx="634775" cy="199625"/>
            </a:xfrm>
            <a:prstGeom prst="rect">
              <a:avLst/>
            </a:prstGeom>
            <a:noFill/>
            <a:ln>
              <a:noFill/>
            </a:ln>
          </p:spPr>
        </p:pic>
      </p:grpSp>
      <p:sp>
        <p:nvSpPr>
          <p:cNvPr id="266" name="Google Shape;266;g3d5f0fe9fd8_0_356"/>
          <p:cNvSpPr txBox="1"/>
          <p:nvPr>
            <p:ph idx="1" type="subTitle"/>
          </p:nvPr>
        </p:nvSpPr>
        <p:spPr>
          <a:xfrm>
            <a:off x="448173" y="449700"/>
            <a:ext cx="5545500" cy="809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b="1" lang="en" sz="2700">
                <a:solidFill>
                  <a:schemeClr val="dk1"/>
                </a:solidFill>
                <a:latin typeface="Inter"/>
                <a:ea typeface="Inter"/>
                <a:cs typeface="Inter"/>
                <a:sym typeface="Inter"/>
              </a:rPr>
              <a:t>Belmont Report </a:t>
            </a:r>
            <a:r>
              <a:rPr lang="en" sz="1500">
                <a:solidFill>
                  <a:schemeClr val="dk1"/>
                </a:solidFill>
                <a:latin typeface="Inter"/>
                <a:ea typeface="Inter"/>
                <a:cs typeface="Inter"/>
                <a:sym typeface="Inter"/>
              </a:rPr>
              <a:t>[1]</a:t>
            </a:r>
            <a:endParaRPr sz="1500">
              <a:solidFill>
                <a:schemeClr val="dk1"/>
              </a:solidFill>
              <a:latin typeface="Inter"/>
              <a:ea typeface="Inter"/>
              <a:cs typeface="Inter"/>
              <a:sym typeface="Inter"/>
            </a:endParaRPr>
          </a:p>
        </p:txBody>
      </p:sp>
      <p:sp>
        <p:nvSpPr>
          <p:cNvPr id="267" name="Google Shape;267;g3d5f0fe9fd8_0_356"/>
          <p:cNvSpPr txBox="1"/>
          <p:nvPr/>
        </p:nvSpPr>
        <p:spPr>
          <a:xfrm>
            <a:off x="409575" y="1342450"/>
            <a:ext cx="7993800" cy="728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 sz="1800">
                <a:solidFill>
                  <a:schemeClr val="dk1"/>
                </a:solidFill>
                <a:latin typeface="Inter"/>
                <a:ea typeface="Inter"/>
                <a:cs typeface="Inter"/>
                <a:sym typeface="Inter"/>
              </a:rPr>
              <a:t>Human subject research conducted in the US and Canada follows guidelines from The Belmont Report, which outlines three core ethical principles:</a:t>
            </a:r>
            <a:endParaRPr sz="1800">
              <a:solidFill>
                <a:schemeClr val="dk1"/>
              </a:solidFill>
              <a:latin typeface="Inter"/>
              <a:ea typeface="Inter"/>
              <a:cs typeface="Inter"/>
              <a:sym typeface="Inter"/>
            </a:endParaRPr>
          </a:p>
        </p:txBody>
      </p:sp>
      <p:pic>
        <p:nvPicPr>
          <p:cNvPr descr="something more simple. one icon not two inbetween and no border please" id="268" name="Google Shape;268;g3d5f0fe9fd8_0_356"/>
          <p:cNvPicPr preferRelativeResize="0"/>
          <p:nvPr/>
        </p:nvPicPr>
        <p:blipFill>
          <a:blip r:embed="rId4">
            <a:alphaModFix/>
          </a:blip>
          <a:stretch>
            <a:fillRect/>
          </a:stretch>
        </p:blipFill>
        <p:spPr>
          <a:xfrm>
            <a:off x="1523213" y="3543082"/>
            <a:ext cx="475478" cy="475478"/>
          </a:xfrm>
          <a:prstGeom prst="rect">
            <a:avLst/>
          </a:prstGeom>
          <a:noFill/>
          <a:ln>
            <a:noFill/>
          </a:ln>
        </p:spPr>
      </p:pic>
      <p:pic>
        <p:nvPicPr>
          <p:cNvPr descr="create a simple icon with #14AD81 that represents 'harm' 'harmful' or 'what could be harmed' &#10;&#10;simple and no border" id="269" name="Google Shape;269;g3d5f0fe9fd8_0_356"/>
          <p:cNvPicPr preferRelativeResize="0"/>
          <p:nvPr/>
        </p:nvPicPr>
        <p:blipFill>
          <a:blip r:embed="rId5">
            <a:alphaModFix/>
          </a:blip>
          <a:stretch>
            <a:fillRect/>
          </a:stretch>
        </p:blipFill>
        <p:spPr>
          <a:xfrm>
            <a:off x="4237941" y="3543070"/>
            <a:ext cx="475478" cy="475478"/>
          </a:xfrm>
          <a:prstGeom prst="rect">
            <a:avLst/>
          </a:prstGeom>
          <a:noFill/>
          <a:ln>
            <a:noFill/>
          </a:ln>
        </p:spPr>
      </p:pic>
      <p:pic>
        <p:nvPicPr>
          <p:cNvPr descr="create a simple icon with #14AD81 that represents 'benefit' or 'who could be benefit' simple and no border" id="270" name="Google Shape;270;g3d5f0fe9fd8_0_356"/>
          <p:cNvPicPr preferRelativeResize="0"/>
          <p:nvPr/>
        </p:nvPicPr>
        <p:blipFill>
          <a:blip r:embed="rId6">
            <a:alphaModFix/>
          </a:blip>
          <a:stretch>
            <a:fillRect/>
          </a:stretch>
        </p:blipFill>
        <p:spPr>
          <a:xfrm>
            <a:off x="6939551" y="3504801"/>
            <a:ext cx="552049" cy="552049"/>
          </a:xfrm>
          <a:prstGeom prst="rect">
            <a:avLst/>
          </a:prstGeom>
          <a:noFill/>
          <a:ln>
            <a:noFill/>
          </a:ln>
        </p:spPr>
      </p:pic>
      <p:sp>
        <p:nvSpPr>
          <p:cNvPr id="271" name="Google Shape;271;g3d5f0fe9fd8_0_356"/>
          <p:cNvSpPr/>
          <p:nvPr/>
        </p:nvSpPr>
        <p:spPr>
          <a:xfrm>
            <a:off x="580425" y="4182075"/>
            <a:ext cx="7754100" cy="809700"/>
          </a:xfrm>
          <a:prstGeom prst="roundRect">
            <a:avLst>
              <a:gd fmla="val 16667" name="adj"/>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2" name="Google Shape;272;g3d5f0fe9fd8_0_356"/>
          <p:cNvSpPr txBox="1"/>
          <p:nvPr/>
        </p:nvSpPr>
        <p:spPr>
          <a:xfrm>
            <a:off x="562125" y="4184750"/>
            <a:ext cx="7754100" cy="80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Inter"/>
                <a:ea typeface="Inter"/>
                <a:cs typeface="Inter"/>
                <a:sym typeface="Inter"/>
              </a:rPr>
              <a:t>Ethics is not only IRB/REB compliance. A data science project can be legally approved and technically reproducible while still being poorly framed from a human-centered perspective.</a:t>
            </a:r>
            <a:endParaRPr>
              <a:solidFill>
                <a:schemeClr val="dk1"/>
              </a:solidFill>
              <a:latin typeface="Inter"/>
              <a:ea typeface="Inter"/>
              <a:cs typeface="Inter"/>
              <a:sym typeface="Inte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g3d5f0fe9fd8_0_420"/>
          <p:cNvSpPr/>
          <p:nvPr/>
        </p:nvSpPr>
        <p:spPr>
          <a:xfrm>
            <a:off x="3191375" y="1936550"/>
            <a:ext cx="2443800" cy="865500"/>
          </a:xfrm>
          <a:prstGeom prst="roundRect">
            <a:avLst>
              <a:gd fmla="val 16667" name="adj"/>
            </a:avLst>
          </a:prstGeom>
          <a:solidFill>
            <a:srgbClr val="D4E4D1"/>
          </a:solidFill>
          <a:ln>
            <a:noFill/>
          </a:ln>
        </p:spPr>
        <p:txBody>
          <a:bodyPr anchorCtr="0" anchor="ctr" bIns="91425" lIns="91425" spcFirstLastPara="1" rIns="91425" wrap="square" tIns="91425">
            <a:noAutofit/>
          </a:bodyPr>
          <a:lstStyle/>
          <a:p>
            <a:pPr indent="0" lvl="0" marL="274320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278" name="Google Shape;278;g3d5f0fe9fd8_0_420"/>
          <p:cNvSpPr/>
          <p:nvPr/>
        </p:nvSpPr>
        <p:spPr>
          <a:xfrm>
            <a:off x="448175" y="1936550"/>
            <a:ext cx="2443800" cy="865500"/>
          </a:xfrm>
          <a:prstGeom prst="roundRect">
            <a:avLst>
              <a:gd fmla="val 16667" name="adj"/>
            </a:avLst>
          </a:prstGeom>
          <a:solidFill>
            <a:srgbClr val="F5F0E8"/>
          </a:solidFill>
          <a:ln>
            <a:noFill/>
          </a:ln>
        </p:spPr>
        <p:txBody>
          <a:bodyPr anchorCtr="0" anchor="ctr" bIns="91425" lIns="91425" spcFirstLastPara="1" rIns="91425" wrap="square" tIns="91425">
            <a:noAutofit/>
          </a:bodyPr>
          <a:lstStyle/>
          <a:p>
            <a:pPr indent="0" lvl="0" marL="274320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nvGrpSpPr>
          <p:cNvPr id="279" name="Google Shape;279;g3d5f0fe9fd8_0_420"/>
          <p:cNvGrpSpPr/>
          <p:nvPr/>
        </p:nvGrpSpPr>
        <p:grpSpPr>
          <a:xfrm>
            <a:off x="8625" y="0"/>
            <a:ext cx="9144000" cy="267600"/>
            <a:chOff x="8625" y="0"/>
            <a:chExt cx="9144000" cy="267600"/>
          </a:xfrm>
        </p:grpSpPr>
        <p:sp>
          <p:nvSpPr>
            <p:cNvPr id="280" name="Google Shape;280;g3d5f0fe9fd8_0_420"/>
            <p:cNvSpPr/>
            <p:nvPr/>
          </p:nvSpPr>
          <p:spPr>
            <a:xfrm>
              <a:off x="8625" y="0"/>
              <a:ext cx="9144000" cy="2676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81" name="Google Shape;281;g3d5f0fe9fd8_0_420" title="Logo Header.png"/>
            <p:cNvPicPr preferRelativeResize="0"/>
            <p:nvPr/>
          </p:nvPicPr>
          <p:blipFill rotWithShape="1">
            <a:blip r:embed="rId3">
              <a:alphaModFix/>
            </a:blip>
            <a:srcRect b="0" l="0" r="0" t="0"/>
            <a:stretch/>
          </p:blipFill>
          <p:spPr>
            <a:xfrm>
              <a:off x="8348195" y="15790"/>
              <a:ext cx="634775" cy="199625"/>
            </a:xfrm>
            <a:prstGeom prst="rect">
              <a:avLst/>
            </a:prstGeom>
            <a:noFill/>
            <a:ln>
              <a:noFill/>
            </a:ln>
          </p:spPr>
        </p:pic>
      </p:grpSp>
      <p:sp>
        <p:nvSpPr>
          <p:cNvPr id="282" name="Google Shape;282;g3d5f0fe9fd8_0_420"/>
          <p:cNvSpPr txBox="1"/>
          <p:nvPr>
            <p:ph idx="1" type="subTitle"/>
          </p:nvPr>
        </p:nvSpPr>
        <p:spPr>
          <a:xfrm>
            <a:off x="448173" y="449700"/>
            <a:ext cx="5545500" cy="809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b="1" lang="en" sz="2700">
                <a:solidFill>
                  <a:schemeClr val="dk1"/>
                </a:solidFill>
                <a:latin typeface="Inter"/>
                <a:ea typeface="Inter"/>
                <a:cs typeface="Inter"/>
                <a:sym typeface="Inter"/>
              </a:rPr>
              <a:t>Justice</a:t>
            </a:r>
            <a:endParaRPr b="1" sz="2700">
              <a:solidFill>
                <a:schemeClr val="dk1"/>
              </a:solidFill>
              <a:latin typeface="Inter"/>
              <a:ea typeface="Inter"/>
              <a:cs typeface="Inter"/>
              <a:sym typeface="Inter"/>
            </a:endParaRPr>
          </a:p>
        </p:txBody>
      </p:sp>
      <p:sp>
        <p:nvSpPr>
          <p:cNvPr id="283" name="Google Shape;283;g3d5f0fe9fd8_0_420"/>
          <p:cNvSpPr txBox="1"/>
          <p:nvPr/>
        </p:nvSpPr>
        <p:spPr>
          <a:xfrm>
            <a:off x="443727" y="873368"/>
            <a:ext cx="7993800" cy="728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i="1" lang="en" sz="1300">
                <a:solidFill>
                  <a:schemeClr val="dk1"/>
                </a:solidFill>
                <a:latin typeface="Inter"/>
                <a:ea typeface="Inter"/>
                <a:cs typeface="Inter"/>
                <a:sym typeface="Inter"/>
              </a:rPr>
              <a:t>The Justice principle means that the benefits of research should be distributed fairly across society.</a:t>
            </a:r>
            <a:endParaRPr i="1" sz="1300">
              <a:solidFill>
                <a:schemeClr val="dk1"/>
              </a:solidFill>
              <a:latin typeface="Inter"/>
              <a:ea typeface="Inter"/>
              <a:cs typeface="Inter"/>
              <a:sym typeface="Inter"/>
            </a:endParaRPr>
          </a:p>
        </p:txBody>
      </p:sp>
      <p:sp>
        <p:nvSpPr>
          <p:cNvPr id="284" name="Google Shape;284;g3d5f0fe9fd8_0_420"/>
          <p:cNvSpPr txBox="1"/>
          <p:nvPr/>
        </p:nvSpPr>
        <p:spPr>
          <a:xfrm>
            <a:off x="653525" y="2055350"/>
            <a:ext cx="2033100" cy="809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lang="en" sz="1100">
                <a:solidFill>
                  <a:schemeClr val="dk1"/>
                </a:solidFill>
                <a:latin typeface="Inter"/>
                <a:ea typeface="Inter"/>
                <a:cs typeface="Inter"/>
                <a:sym typeface="Inter"/>
              </a:rPr>
              <a:t>No group should bear an undue or unfair burden</a:t>
            </a:r>
            <a:endParaRPr b="0" i="0" sz="1100" u="none" cap="none" strike="noStrike">
              <a:solidFill>
                <a:schemeClr val="dk1"/>
              </a:solidFill>
              <a:latin typeface="Inter"/>
              <a:ea typeface="Inter"/>
              <a:cs typeface="Inter"/>
              <a:sym typeface="Inter"/>
            </a:endParaRPr>
          </a:p>
        </p:txBody>
      </p:sp>
      <p:sp>
        <p:nvSpPr>
          <p:cNvPr id="285" name="Google Shape;285;g3d5f0fe9fd8_0_420"/>
          <p:cNvSpPr txBox="1"/>
          <p:nvPr/>
        </p:nvSpPr>
        <p:spPr>
          <a:xfrm>
            <a:off x="3396725" y="1955600"/>
            <a:ext cx="2033100" cy="996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sz="1100">
                <a:solidFill>
                  <a:schemeClr val="dk1"/>
                </a:solidFill>
                <a:latin typeface="Inter"/>
                <a:ea typeface="Inter"/>
                <a:cs typeface="Inter"/>
                <a:sym typeface="Inter"/>
              </a:rPr>
              <a:t>Any group who could benefit or be harmed are included in research design</a:t>
            </a:r>
            <a:endParaRPr sz="1100">
              <a:solidFill>
                <a:schemeClr val="dk1"/>
              </a:solidFill>
              <a:latin typeface="Inter"/>
              <a:ea typeface="Inter"/>
              <a:cs typeface="Inter"/>
              <a:sym typeface="Inter"/>
            </a:endParaRPr>
          </a:p>
          <a:p>
            <a:pPr indent="0" lvl="0" marL="0" marR="0" rtl="0" algn="l">
              <a:lnSpc>
                <a:spcPct val="100000"/>
              </a:lnSpc>
              <a:spcBef>
                <a:spcPts val="1200"/>
              </a:spcBef>
              <a:spcAft>
                <a:spcPts val="0"/>
              </a:spcAft>
              <a:buClr>
                <a:srgbClr val="000000"/>
              </a:buClr>
              <a:buSzPts val="1500"/>
              <a:buFont typeface="Arial"/>
              <a:buNone/>
            </a:pPr>
            <a:r>
              <a:t/>
            </a:r>
            <a:endParaRPr sz="1100">
              <a:solidFill>
                <a:schemeClr val="dk1"/>
              </a:solidFill>
              <a:latin typeface="Inter"/>
              <a:ea typeface="Inter"/>
              <a:cs typeface="Inter"/>
              <a:sym typeface="Inter"/>
            </a:endParaRPr>
          </a:p>
        </p:txBody>
      </p:sp>
      <p:pic>
        <p:nvPicPr>
          <p:cNvPr descr="Diagrams of people, be inclusive. not real humans though. icon style with no identifying face and structure. " id="286" name="Google Shape;286;g3d5f0fe9fd8_0_420"/>
          <p:cNvPicPr preferRelativeResize="0"/>
          <p:nvPr/>
        </p:nvPicPr>
        <p:blipFill>
          <a:blip r:embed="rId4">
            <a:alphaModFix/>
          </a:blip>
          <a:stretch>
            <a:fillRect/>
          </a:stretch>
        </p:blipFill>
        <p:spPr>
          <a:xfrm>
            <a:off x="5715026" y="1259400"/>
            <a:ext cx="3221375" cy="3221375"/>
          </a:xfrm>
          <a:prstGeom prst="rect">
            <a:avLst/>
          </a:prstGeom>
          <a:noFill/>
          <a:ln>
            <a:noFill/>
          </a:ln>
        </p:spPr>
      </p:pic>
      <p:sp>
        <p:nvSpPr>
          <p:cNvPr id="287" name="Google Shape;287;g3d5f0fe9fd8_0_420"/>
          <p:cNvSpPr txBox="1"/>
          <p:nvPr/>
        </p:nvSpPr>
        <p:spPr>
          <a:xfrm>
            <a:off x="424900" y="1494049"/>
            <a:ext cx="2891700" cy="728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 sz="1500">
                <a:solidFill>
                  <a:schemeClr val="dk1"/>
                </a:solidFill>
                <a:latin typeface="Inter"/>
                <a:ea typeface="Inter"/>
                <a:cs typeface="Inter"/>
                <a:sym typeface="Inter"/>
              </a:rPr>
              <a:t>Research should ensure:</a:t>
            </a:r>
            <a:endParaRPr sz="1500">
              <a:solidFill>
                <a:schemeClr val="dk1"/>
              </a:solidFill>
              <a:latin typeface="Inter"/>
              <a:ea typeface="Inter"/>
              <a:cs typeface="Inter"/>
              <a:sym typeface="Inter"/>
            </a:endParaRPr>
          </a:p>
        </p:txBody>
      </p:sp>
      <p:sp>
        <p:nvSpPr>
          <p:cNvPr id="288" name="Google Shape;288;g3d5f0fe9fd8_0_420"/>
          <p:cNvSpPr txBox="1"/>
          <p:nvPr/>
        </p:nvSpPr>
        <p:spPr>
          <a:xfrm>
            <a:off x="495750" y="2961425"/>
            <a:ext cx="21846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000">
                <a:solidFill>
                  <a:schemeClr val="dk1"/>
                </a:solidFill>
                <a:latin typeface="Inter"/>
                <a:ea typeface="Inter"/>
                <a:cs typeface="Inter"/>
                <a:sym typeface="Inter"/>
              </a:rPr>
              <a:t>COMPAS Case:</a:t>
            </a:r>
            <a:r>
              <a:rPr lang="en" sz="1000">
                <a:solidFill>
                  <a:schemeClr val="dk1"/>
                </a:solidFill>
                <a:latin typeface="Inter"/>
                <a:ea typeface="Inter"/>
                <a:cs typeface="Inter"/>
                <a:sym typeface="Inter"/>
              </a:rPr>
              <a:t> Black defendants disproportionately bore the burden of the model's errors, facing a false positive rate twice as high as White defendants (wrongly flagged as high-risk).</a:t>
            </a:r>
            <a:endParaRPr sz="1000">
              <a:latin typeface="Inter"/>
              <a:ea typeface="Inter"/>
              <a:cs typeface="Inter"/>
              <a:sym typeface="Inter"/>
            </a:endParaRPr>
          </a:p>
        </p:txBody>
      </p:sp>
      <p:sp>
        <p:nvSpPr>
          <p:cNvPr id="289" name="Google Shape;289;g3d5f0fe9fd8_0_420"/>
          <p:cNvSpPr txBox="1"/>
          <p:nvPr/>
        </p:nvSpPr>
        <p:spPr>
          <a:xfrm>
            <a:off x="3245225" y="2952207"/>
            <a:ext cx="2184600" cy="954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000">
                <a:solidFill>
                  <a:schemeClr val="dk1"/>
                </a:solidFill>
                <a:latin typeface="Inter"/>
                <a:ea typeface="Inter"/>
                <a:cs typeface="Inter"/>
                <a:sym typeface="Inter"/>
              </a:rPr>
              <a:t>COMPAS Case:</a:t>
            </a:r>
            <a:r>
              <a:rPr lang="en" sz="1000">
                <a:solidFill>
                  <a:schemeClr val="dk1"/>
                </a:solidFill>
                <a:latin typeface="Inter"/>
                <a:ea typeface="Inter"/>
                <a:cs typeface="Inter"/>
                <a:sym typeface="Inter"/>
              </a:rPr>
              <a:t> The downstream stakeholders—defendants, defense lawyers, and community advocates—were excluded from the algorithm's design process.</a:t>
            </a:r>
            <a:endParaRPr sz="1000">
              <a:latin typeface="Inter"/>
              <a:ea typeface="Inter"/>
              <a:cs typeface="Inter"/>
              <a:sym typeface="Inte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g3d5f0fe9fd8_0_378"/>
          <p:cNvSpPr/>
          <p:nvPr/>
        </p:nvSpPr>
        <p:spPr>
          <a:xfrm>
            <a:off x="5916475" y="1992349"/>
            <a:ext cx="2443800" cy="1390800"/>
          </a:xfrm>
          <a:prstGeom prst="roundRect">
            <a:avLst>
              <a:gd fmla="val 16667" name="adj"/>
            </a:avLst>
          </a:prstGeom>
          <a:solidFill>
            <a:srgbClr val="CFE2F3"/>
          </a:solidFill>
          <a:ln>
            <a:noFill/>
          </a:ln>
        </p:spPr>
        <p:txBody>
          <a:bodyPr anchorCtr="0" anchor="ctr" bIns="91425" lIns="91425" spcFirstLastPara="1" rIns="91425" wrap="square" tIns="91425">
            <a:noAutofit/>
          </a:bodyPr>
          <a:lstStyle/>
          <a:p>
            <a:pPr indent="0" lvl="0" marL="274320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295" name="Google Shape;295;g3d5f0fe9fd8_0_378"/>
          <p:cNvSpPr/>
          <p:nvPr/>
        </p:nvSpPr>
        <p:spPr>
          <a:xfrm>
            <a:off x="3173275" y="2008073"/>
            <a:ext cx="2443800" cy="1390800"/>
          </a:xfrm>
          <a:prstGeom prst="roundRect">
            <a:avLst>
              <a:gd fmla="val 16667" name="adj"/>
            </a:avLst>
          </a:prstGeom>
          <a:solidFill>
            <a:srgbClr val="D4E4D1"/>
          </a:solidFill>
          <a:ln>
            <a:noFill/>
          </a:ln>
        </p:spPr>
        <p:txBody>
          <a:bodyPr anchorCtr="0" anchor="ctr" bIns="91425" lIns="91425" spcFirstLastPara="1" rIns="91425" wrap="square" tIns="91425">
            <a:noAutofit/>
          </a:bodyPr>
          <a:lstStyle/>
          <a:p>
            <a:pPr indent="0" lvl="0" marL="274320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296" name="Google Shape;296;g3d5f0fe9fd8_0_378"/>
          <p:cNvSpPr/>
          <p:nvPr/>
        </p:nvSpPr>
        <p:spPr>
          <a:xfrm>
            <a:off x="430075" y="2012664"/>
            <a:ext cx="2443800" cy="1390800"/>
          </a:xfrm>
          <a:prstGeom prst="roundRect">
            <a:avLst>
              <a:gd fmla="val 16667" name="adj"/>
            </a:avLst>
          </a:prstGeom>
          <a:solidFill>
            <a:srgbClr val="F5F0E8"/>
          </a:solidFill>
          <a:ln>
            <a:noFill/>
          </a:ln>
        </p:spPr>
        <p:txBody>
          <a:bodyPr anchorCtr="0" anchor="ctr" bIns="91425" lIns="91425" spcFirstLastPara="1" rIns="91425" wrap="square" tIns="91425">
            <a:noAutofit/>
          </a:bodyPr>
          <a:lstStyle/>
          <a:p>
            <a:pPr indent="0" lvl="0" marL="274320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297" name="Google Shape;297;g3d5f0fe9fd8_0_378"/>
          <p:cNvSpPr/>
          <p:nvPr/>
        </p:nvSpPr>
        <p:spPr>
          <a:xfrm>
            <a:off x="679213" y="2242471"/>
            <a:ext cx="19203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E"/>
              </a:buClr>
              <a:buSzPts val="1400"/>
              <a:buFont typeface="Georgia"/>
              <a:buNone/>
            </a:pPr>
            <a:r>
              <a:rPr b="1" lang="en">
                <a:solidFill>
                  <a:srgbClr val="1A1A2E"/>
                </a:solidFill>
                <a:latin typeface="Inter"/>
                <a:ea typeface="Inter"/>
                <a:cs typeface="Inter"/>
                <a:sym typeface="Inter"/>
              </a:rPr>
              <a:t>Autonomy</a:t>
            </a:r>
            <a:endParaRPr b="1" i="0" sz="1400" u="none" cap="none" strike="noStrike">
              <a:solidFill>
                <a:srgbClr val="000000"/>
              </a:solidFill>
              <a:latin typeface="Inter"/>
              <a:ea typeface="Inter"/>
              <a:cs typeface="Inter"/>
              <a:sym typeface="Inter"/>
            </a:endParaRPr>
          </a:p>
        </p:txBody>
      </p:sp>
      <p:sp>
        <p:nvSpPr>
          <p:cNvPr id="298" name="Google Shape;298;g3d5f0fe9fd8_0_378"/>
          <p:cNvSpPr/>
          <p:nvPr/>
        </p:nvSpPr>
        <p:spPr>
          <a:xfrm>
            <a:off x="679218" y="2617734"/>
            <a:ext cx="495300" cy="18300"/>
          </a:xfrm>
          <a:prstGeom prst="rect">
            <a:avLst/>
          </a:prstGeom>
          <a:solidFill>
            <a:srgbClr val="B85C3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299" name="Google Shape;299;g3d5f0fe9fd8_0_378"/>
          <p:cNvSpPr/>
          <p:nvPr/>
        </p:nvSpPr>
        <p:spPr>
          <a:xfrm>
            <a:off x="3422413" y="2231131"/>
            <a:ext cx="19203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E"/>
              </a:buClr>
              <a:buSzPts val="1400"/>
              <a:buFont typeface="Georgia"/>
              <a:buNone/>
            </a:pPr>
            <a:r>
              <a:rPr b="1" lang="en">
                <a:solidFill>
                  <a:srgbClr val="1A1A2E"/>
                </a:solidFill>
                <a:latin typeface="Inter"/>
                <a:ea typeface="Inter"/>
                <a:cs typeface="Inter"/>
                <a:sym typeface="Inter"/>
              </a:rPr>
              <a:t>Privacy</a:t>
            </a:r>
            <a:endParaRPr b="1" i="0" sz="1400" u="none" cap="none" strike="noStrike">
              <a:solidFill>
                <a:srgbClr val="000000"/>
              </a:solidFill>
              <a:latin typeface="Inter"/>
              <a:ea typeface="Inter"/>
              <a:cs typeface="Inter"/>
              <a:sym typeface="Inter"/>
            </a:endParaRPr>
          </a:p>
        </p:txBody>
      </p:sp>
      <p:sp>
        <p:nvSpPr>
          <p:cNvPr id="300" name="Google Shape;300;g3d5f0fe9fd8_0_378"/>
          <p:cNvSpPr/>
          <p:nvPr/>
        </p:nvSpPr>
        <p:spPr>
          <a:xfrm>
            <a:off x="3422418" y="2573381"/>
            <a:ext cx="426600" cy="18300"/>
          </a:xfrm>
          <a:prstGeom prst="rect">
            <a:avLst/>
          </a:prstGeom>
          <a:solidFill>
            <a:srgbClr val="2C6E6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301" name="Google Shape;301;g3d5f0fe9fd8_0_378"/>
          <p:cNvSpPr/>
          <p:nvPr/>
        </p:nvSpPr>
        <p:spPr>
          <a:xfrm>
            <a:off x="6165613" y="2234481"/>
            <a:ext cx="19203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E"/>
              </a:buClr>
              <a:buSzPts val="1400"/>
              <a:buFont typeface="Georgia"/>
              <a:buNone/>
            </a:pPr>
            <a:r>
              <a:rPr b="1" lang="en">
                <a:solidFill>
                  <a:srgbClr val="1A1A2E"/>
                </a:solidFill>
                <a:latin typeface="Inter"/>
                <a:ea typeface="Inter"/>
                <a:cs typeface="Inter"/>
                <a:sym typeface="Inter"/>
              </a:rPr>
              <a:t>Informed Consent</a:t>
            </a:r>
            <a:endParaRPr b="1" i="0" sz="1400" u="none" cap="none" strike="noStrike">
              <a:solidFill>
                <a:srgbClr val="000000"/>
              </a:solidFill>
              <a:latin typeface="Inter"/>
              <a:ea typeface="Inter"/>
              <a:cs typeface="Inter"/>
              <a:sym typeface="Inter"/>
            </a:endParaRPr>
          </a:p>
        </p:txBody>
      </p:sp>
      <p:sp>
        <p:nvSpPr>
          <p:cNvPr id="302" name="Google Shape;302;g3d5f0fe9fd8_0_378"/>
          <p:cNvSpPr/>
          <p:nvPr/>
        </p:nvSpPr>
        <p:spPr>
          <a:xfrm>
            <a:off x="6165620" y="2588321"/>
            <a:ext cx="651600" cy="18300"/>
          </a:xfrm>
          <a:prstGeom prst="rect">
            <a:avLst/>
          </a:prstGeom>
          <a:solidFill>
            <a:srgbClr val="3D85C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nvGrpSpPr>
          <p:cNvPr id="303" name="Google Shape;303;g3d5f0fe9fd8_0_378"/>
          <p:cNvGrpSpPr/>
          <p:nvPr/>
        </p:nvGrpSpPr>
        <p:grpSpPr>
          <a:xfrm>
            <a:off x="8625" y="0"/>
            <a:ext cx="9144000" cy="267600"/>
            <a:chOff x="8625" y="0"/>
            <a:chExt cx="9144000" cy="267600"/>
          </a:xfrm>
        </p:grpSpPr>
        <p:sp>
          <p:nvSpPr>
            <p:cNvPr id="304" name="Google Shape;304;g3d5f0fe9fd8_0_378"/>
            <p:cNvSpPr/>
            <p:nvPr/>
          </p:nvSpPr>
          <p:spPr>
            <a:xfrm>
              <a:off x="8625" y="0"/>
              <a:ext cx="9144000" cy="2676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05" name="Google Shape;305;g3d5f0fe9fd8_0_378" title="Logo Header.png"/>
            <p:cNvPicPr preferRelativeResize="0"/>
            <p:nvPr/>
          </p:nvPicPr>
          <p:blipFill rotWithShape="1">
            <a:blip r:embed="rId3">
              <a:alphaModFix/>
            </a:blip>
            <a:srcRect b="0" l="0" r="0" t="0"/>
            <a:stretch/>
          </p:blipFill>
          <p:spPr>
            <a:xfrm>
              <a:off x="8348195" y="15790"/>
              <a:ext cx="634775" cy="199625"/>
            </a:xfrm>
            <a:prstGeom prst="rect">
              <a:avLst/>
            </a:prstGeom>
            <a:noFill/>
            <a:ln>
              <a:noFill/>
            </a:ln>
          </p:spPr>
        </p:pic>
      </p:grpSp>
      <p:sp>
        <p:nvSpPr>
          <p:cNvPr id="306" name="Google Shape;306;g3d5f0fe9fd8_0_378"/>
          <p:cNvSpPr txBox="1"/>
          <p:nvPr>
            <p:ph idx="1" type="subTitle"/>
          </p:nvPr>
        </p:nvSpPr>
        <p:spPr>
          <a:xfrm>
            <a:off x="448173" y="449700"/>
            <a:ext cx="5545500" cy="809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b="1" lang="en" sz="2700">
                <a:solidFill>
                  <a:schemeClr val="dk1"/>
                </a:solidFill>
                <a:latin typeface="Inter"/>
                <a:ea typeface="Inter"/>
                <a:cs typeface="Inter"/>
                <a:sym typeface="Inter"/>
              </a:rPr>
              <a:t>Respect for Persons</a:t>
            </a:r>
            <a:endParaRPr b="1" sz="2700">
              <a:solidFill>
                <a:schemeClr val="dk1"/>
              </a:solidFill>
              <a:latin typeface="Inter"/>
              <a:ea typeface="Inter"/>
              <a:cs typeface="Inter"/>
              <a:sym typeface="Inter"/>
            </a:endParaRPr>
          </a:p>
        </p:txBody>
      </p:sp>
      <p:sp>
        <p:nvSpPr>
          <p:cNvPr id="307" name="Google Shape;307;g3d5f0fe9fd8_0_378"/>
          <p:cNvSpPr txBox="1"/>
          <p:nvPr/>
        </p:nvSpPr>
        <p:spPr>
          <a:xfrm>
            <a:off x="409586" y="1450822"/>
            <a:ext cx="5020200" cy="728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 sz="1500">
                <a:solidFill>
                  <a:schemeClr val="dk1"/>
                </a:solidFill>
                <a:latin typeface="Inter"/>
                <a:ea typeface="Inter"/>
                <a:cs typeface="Inter"/>
                <a:sym typeface="Inter"/>
              </a:rPr>
              <a:t>Research should respect people’s rights to:</a:t>
            </a:r>
            <a:endParaRPr sz="1500">
              <a:solidFill>
                <a:schemeClr val="dk1"/>
              </a:solidFill>
              <a:latin typeface="Inter"/>
              <a:ea typeface="Inter"/>
              <a:cs typeface="Inter"/>
              <a:sym typeface="Inter"/>
            </a:endParaRPr>
          </a:p>
        </p:txBody>
      </p:sp>
      <p:sp>
        <p:nvSpPr>
          <p:cNvPr id="308" name="Google Shape;308;g3d5f0fe9fd8_0_378"/>
          <p:cNvSpPr txBox="1"/>
          <p:nvPr/>
        </p:nvSpPr>
        <p:spPr>
          <a:xfrm>
            <a:off x="597726" y="2737113"/>
            <a:ext cx="2033100" cy="996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lang="en" sz="1200">
                <a:solidFill>
                  <a:schemeClr val="dk1"/>
                </a:solidFill>
                <a:latin typeface="Inter"/>
                <a:ea typeface="Inter"/>
                <a:cs typeface="Inter"/>
                <a:sym typeface="Inter"/>
              </a:rPr>
              <a:t>The right to make informed decision</a:t>
            </a:r>
            <a:endParaRPr b="0" i="0" sz="1200" u="none" cap="none" strike="noStrike">
              <a:solidFill>
                <a:schemeClr val="dk1"/>
              </a:solidFill>
              <a:latin typeface="Inter"/>
              <a:ea typeface="Inter"/>
              <a:cs typeface="Inter"/>
              <a:sym typeface="Inter"/>
            </a:endParaRPr>
          </a:p>
        </p:txBody>
      </p:sp>
      <p:sp>
        <p:nvSpPr>
          <p:cNvPr id="309" name="Google Shape;309;g3d5f0fe9fd8_0_378"/>
          <p:cNvSpPr txBox="1"/>
          <p:nvPr/>
        </p:nvSpPr>
        <p:spPr>
          <a:xfrm>
            <a:off x="3378625" y="2737113"/>
            <a:ext cx="2033100" cy="996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lang="en" sz="1200">
                <a:solidFill>
                  <a:schemeClr val="dk1"/>
                </a:solidFill>
                <a:latin typeface="Inter"/>
                <a:ea typeface="Inter"/>
                <a:cs typeface="Inter"/>
                <a:sym typeface="Inter"/>
              </a:rPr>
              <a:t>Protecting personal data and privacy</a:t>
            </a:r>
            <a:endParaRPr b="0" i="0" sz="1200" u="none" cap="none" strike="noStrike">
              <a:solidFill>
                <a:schemeClr val="dk1"/>
              </a:solidFill>
              <a:latin typeface="Inter"/>
              <a:ea typeface="Inter"/>
              <a:cs typeface="Inter"/>
              <a:sym typeface="Inter"/>
            </a:endParaRPr>
          </a:p>
        </p:txBody>
      </p:sp>
      <p:sp>
        <p:nvSpPr>
          <p:cNvPr id="310" name="Google Shape;310;g3d5f0fe9fd8_0_378"/>
          <p:cNvSpPr txBox="1"/>
          <p:nvPr/>
        </p:nvSpPr>
        <p:spPr>
          <a:xfrm>
            <a:off x="6165625" y="2737113"/>
            <a:ext cx="2033100" cy="996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lang="en" sz="1200">
                <a:solidFill>
                  <a:schemeClr val="dk1"/>
                </a:solidFill>
                <a:latin typeface="Inter"/>
                <a:ea typeface="Inter"/>
                <a:cs typeface="Inter"/>
                <a:sym typeface="Inter"/>
              </a:rPr>
              <a:t>Full transparency about the research process</a:t>
            </a:r>
            <a:endParaRPr b="0" i="0" sz="1200" u="none" cap="none" strike="noStrike">
              <a:solidFill>
                <a:schemeClr val="dk1"/>
              </a:solidFill>
              <a:latin typeface="Inter"/>
              <a:ea typeface="Inter"/>
              <a:cs typeface="Inter"/>
              <a:sym typeface="Inter"/>
            </a:endParaRPr>
          </a:p>
        </p:txBody>
      </p:sp>
      <p:sp>
        <p:nvSpPr>
          <p:cNvPr id="311" name="Google Shape;311;g3d5f0fe9fd8_0_378"/>
          <p:cNvSpPr txBox="1"/>
          <p:nvPr/>
        </p:nvSpPr>
        <p:spPr>
          <a:xfrm>
            <a:off x="409575" y="871578"/>
            <a:ext cx="8445000" cy="728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i="1" lang="en" sz="1300">
                <a:solidFill>
                  <a:schemeClr val="dk1"/>
                </a:solidFill>
                <a:latin typeface="Inter"/>
                <a:ea typeface="Inter"/>
                <a:cs typeface="Inter"/>
                <a:sym typeface="Inter"/>
              </a:rPr>
              <a:t>The principle of Respect for Persons means that participants should be fully informed and free to decide whether they participate in research.</a:t>
            </a:r>
            <a:endParaRPr i="1" sz="1300">
              <a:solidFill>
                <a:schemeClr val="dk1"/>
              </a:solidFill>
              <a:latin typeface="Inter"/>
              <a:ea typeface="Inter"/>
              <a:cs typeface="Inter"/>
              <a:sym typeface="Inter"/>
            </a:endParaRPr>
          </a:p>
        </p:txBody>
      </p:sp>
      <p:sp>
        <p:nvSpPr>
          <p:cNvPr id="312" name="Google Shape;312;g3d5f0fe9fd8_0_378"/>
          <p:cNvSpPr txBox="1"/>
          <p:nvPr/>
        </p:nvSpPr>
        <p:spPr>
          <a:xfrm>
            <a:off x="559675" y="3606100"/>
            <a:ext cx="2184600" cy="954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000">
                <a:solidFill>
                  <a:schemeClr val="dk1"/>
                </a:solidFill>
                <a:latin typeface="Inter"/>
                <a:ea typeface="Inter"/>
                <a:cs typeface="Inter"/>
                <a:sym typeface="Inter"/>
              </a:rPr>
              <a:t>Defendants lacked the autonomy to contest or opt-out of how their risk scores were generated or interpreted during sentencing decisions.</a:t>
            </a:r>
            <a:endParaRPr sz="1000">
              <a:latin typeface="Inter"/>
              <a:ea typeface="Inter"/>
              <a:cs typeface="Inter"/>
              <a:sym typeface="Inter"/>
            </a:endParaRPr>
          </a:p>
        </p:txBody>
      </p:sp>
      <p:sp>
        <p:nvSpPr>
          <p:cNvPr id="313" name="Google Shape;313;g3d5f0fe9fd8_0_378"/>
          <p:cNvSpPr txBox="1"/>
          <p:nvPr/>
        </p:nvSpPr>
        <p:spPr>
          <a:xfrm>
            <a:off x="3305925" y="3606100"/>
            <a:ext cx="21846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000">
                <a:solidFill>
                  <a:schemeClr val="dk1"/>
                </a:solidFill>
                <a:latin typeface="Inter"/>
                <a:ea typeface="Inter"/>
                <a:cs typeface="Inter"/>
                <a:sym typeface="Inter"/>
              </a:rPr>
              <a:t>Standard criminal records and demographic inputs were aggregated into a proprietary profile without clear transparency regarding data retention or individual privacy rights.</a:t>
            </a:r>
            <a:endParaRPr sz="1000">
              <a:latin typeface="Inter"/>
              <a:ea typeface="Inter"/>
              <a:cs typeface="Inter"/>
              <a:sym typeface="Inter"/>
            </a:endParaRPr>
          </a:p>
        </p:txBody>
      </p:sp>
      <p:sp>
        <p:nvSpPr>
          <p:cNvPr id="314" name="Google Shape;314;g3d5f0fe9fd8_0_378"/>
          <p:cNvSpPr txBox="1"/>
          <p:nvPr/>
        </p:nvSpPr>
        <p:spPr>
          <a:xfrm>
            <a:off x="6052175" y="3606100"/>
            <a:ext cx="21846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000">
                <a:solidFill>
                  <a:schemeClr val="dk1"/>
                </a:solidFill>
                <a:latin typeface="Inter"/>
                <a:ea typeface="Inter"/>
                <a:cs typeface="Inter"/>
                <a:sym typeface="Inter"/>
              </a:rPr>
              <a:t>Defendants did not give informed consent for their personal data to be processed by a commercial third-party algorithm to determine their legal outcomes.</a:t>
            </a:r>
            <a:endParaRPr sz="1000">
              <a:latin typeface="Inter"/>
              <a:ea typeface="Inter"/>
              <a:cs typeface="Inter"/>
              <a:sym typeface="Inte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g3d5f0fe9fd8_0_399"/>
          <p:cNvSpPr/>
          <p:nvPr/>
        </p:nvSpPr>
        <p:spPr>
          <a:xfrm>
            <a:off x="2917088" y="2120450"/>
            <a:ext cx="1880400" cy="733500"/>
          </a:xfrm>
          <a:prstGeom prst="roundRect">
            <a:avLst>
              <a:gd fmla="val 16667" name="adj"/>
            </a:avLst>
          </a:prstGeom>
          <a:solidFill>
            <a:srgbClr val="D4E4D1"/>
          </a:solidFill>
          <a:ln>
            <a:noFill/>
          </a:ln>
        </p:spPr>
        <p:txBody>
          <a:bodyPr anchorCtr="0" anchor="ctr" bIns="91425" lIns="91425" spcFirstLastPara="1" rIns="91425" wrap="square" tIns="91425">
            <a:noAutofit/>
          </a:bodyPr>
          <a:lstStyle/>
          <a:p>
            <a:pPr indent="0" lvl="0" marL="274320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320" name="Google Shape;320;g3d5f0fe9fd8_0_399"/>
          <p:cNvSpPr/>
          <p:nvPr/>
        </p:nvSpPr>
        <p:spPr>
          <a:xfrm>
            <a:off x="450075" y="2120450"/>
            <a:ext cx="1785300" cy="733500"/>
          </a:xfrm>
          <a:prstGeom prst="roundRect">
            <a:avLst>
              <a:gd fmla="val 16667" name="adj"/>
            </a:avLst>
          </a:prstGeom>
          <a:solidFill>
            <a:srgbClr val="F5F0E8"/>
          </a:solidFill>
          <a:ln>
            <a:noFill/>
          </a:ln>
        </p:spPr>
        <p:txBody>
          <a:bodyPr anchorCtr="0" anchor="ctr" bIns="91425" lIns="91425" spcFirstLastPara="1" rIns="91425" wrap="square" tIns="91425">
            <a:noAutofit/>
          </a:bodyPr>
          <a:lstStyle/>
          <a:p>
            <a:pPr indent="0" lvl="0" marL="274320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nvGrpSpPr>
          <p:cNvPr id="321" name="Google Shape;321;g3d5f0fe9fd8_0_399"/>
          <p:cNvGrpSpPr/>
          <p:nvPr/>
        </p:nvGrpSpPr>
        <p:grpSpPr>
          <a:xfrm>
            <a:off x="8625" y="0"/>
            <a:ext cx="9144000" cy="267600"/>
            <a:chOff x="8625" y="0"/>
            <a:chExt cx="9144000" cy="267600"/>
          </a:xfrm>
        </p:grpSpPr>
        <p:sp>
          <p:nvSpPr>
            <p:cNvPr id="322" name="Google Shape;322;g3d5f0fe9fd8_0_399"/>
            <p:cNvSpPr/>
            <p:nvPr/>
          </p:nvSpPr>
          <p:spPr>
            <a:xfrm>
              <a:off x="8625" y="0"/>
              <a:ext cx="9144000" cy="2676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23" name="Google Shape;323;g3d5f0fe9fd8_0_399" title="Logo Header.png"/>
            <p:cNvPicPr preferRelativeResize="0"/>
            <p:nvPr/>
          </p:nvPicPr>
          <p:blipFill rotWithShape="1">
            <a:blip r:embed="rId3">
              <a:alphaModFix/>
            </a:blip>
            <a:srcRect b="0" l="0" r="0" t="0"/>
            <a:stretch/>
          </p:blipFill>
          <p:spPr>
            <a:xfrm>
              <a:off x="8348195" y="15790"/>
              <a:ext cx="634775" cy="199625"/>
            </a:xfrm>
            <a:prstGeom prst="rect">
              <a:avLst/>
            </a:prstGeom>
            <a:noFill/>
            <a:ln>
              <a:noFill/>
            </a:ln>
          </p:spPr>
        </p:pic>
      </p:grpSp>
      <p:sp>
        <p:nvSpPr>
          <p:cNvPr id="324" name="Google Shape;324;g3d5f0fe9fd8_0_399"/>
          <p:cNvSpPr txBox="1"/>
          <p:nvPr>
            <p:ph idx="1" type="subTitle"/>
          </p:nvPr>
        </p:nvSpPr>
        <p:spPr>
          <a:xfrm>
            <a:off x="448173" y="449700"/>
            <a:ext cx="5545500" cy="809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b="1" lang="en" sz="2700">
                <a:solidFill>
                  <a:schemeClr val="dk1"/>
                </a:solidFill>
                <a:latin typeface="Inter"/>
                <a:ea typeface="Inter"/>
                <a:cs typeface="Inter"/>
                <a:sym typeface="Inter"/>
              </a:rPr>
              <a:t>Beneficence</a:t>
            </a:r>
            <a:endParaRPr b="1" sz="2700">
              <a:solidFill>
                <a:schemeClr val="dk1"/>
              </a:solidFill>
              <a:latin typeface="Inter"/>
              <a:ea typeface="Inter"/>
              <a:cs typeface="Inter"/>
              <a:sym typeface="Inter"/>
            </a:endParaRPr>
          </a:p>
        </p:txBody>
      </p:sp>
      <p:sp>
        <p:nvSpPr>
          <p:cNvPr id="325" name="Google Shape;325;g3d5f0fe9fd8_0_399"/>
          <p:cNvSpPr txBox="1"/>
          <p:nvPr/>
        </p:nvSpPr>
        <p:spPr>
          <a:xfrm>
            <a:off x="448174" y="1545736"/>
            <a:ext cx="3330600" cy="515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 sz="1500">
                <a:solidFill>
                  <a:schemeClr val="dk1"/>
                </a:solidFill>
                <a:latin typeface="Inter"/>
                <a:ea typeface="Inter"/>
                <a:cs typeface="Inter"/>
                <a:sym typeface="Inter"/>
              </a:rPr>
              <a:t>Research should:</a:t>
            </a:r>
            <a:endParaRPr sz="1500">
              <a:solidFill>
                <a:schemeClr val="dk1"/>
              </a:solidFill>
              <a:latin typeface="Inter"/>
              <a:ea typeface="Inter"/>
              <a:cs typeface="Inter"/>
              <a:sym typeface="Inter"/>
            </a:endParaRPr>
          </a:p>
        </p:txBody>
      </p:sp>
      <p:sp>
        <p:nvSpPr>
          <p:cNvPr id="326" name="Google Shape;326;g3d5f0fe9fd8_0_399"/>
          <p:cNvSpPr txBox="1"/>
          <p:nvPr/>
        </p:nvSpPr>
        <p:spPr>
          <a:xfrm>
            <a:off x="526999" y="2176237"/>
            <a:ext cx="1569600" cy="589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lang="en" sz="1200">
                <a:latin typeface="Inter"/>
                <a:ea typeface="Inter"/>
                <a:cs typeface="Inter"/>
                <a:sym typeface="Inter"/>
                <a:extLst>
                  <a:ext uri="http://customooxmlschemas.google.com/">
                    <go:slidesCustomData xmlns:go="http://customooxmlschemas.google.com/" textRoundtripDataId="12"/>
                  </a:ext>
                </a:extLst>
              </a:rPr>
              <a:t>Minimize harm to participants</a:t>
            </a:r>
            <a:endParaRPr b="0" i="0" sz="1200" u="none" cap="none" strike="noStrike">
              <a:latin typeface="Inter"/>
              <a:ea typeface="Inter"/>
              <a:cs typeface="Inter"/>
              <a:sym typeface="Inter"/>
            </a:endParaRPr>
          </a:p>
        </p:txBody>
      </p:sp>
      <p:sp>
        <p:nvSpPr>
          <p:cNvPr id="327" name="Google Shape;327;g3d5f0fe9fd8_0_399"/>
          <p:cNvSpPr txBox="1"/>
          <p:nvPr/>
        </p:nvSpPr>
        <p:spPr>
          <a:xfrm>
            <a:off x="3012337" y="2169937"/>
            <a:ext cx="1785300" cy="589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lang="en" sz="1200">
                <a:latin typeface="Inter"/>
                <a:ea typeface="Inter"/>
                <a:cs typeface="Inter"/>
                <a:sym typeface="Inter"/>
              </a:rPr>
              <a:t>Maximize benefits where possible</a:t>
            </a:r>
            <a:endParaRPr b="0" i="0" sz="1200" u="none" cap="none" strike="noStrike">
              <a:latin typeface="Inter"/>
              <a:ea typeface="Inter"/>
              <a:cs typeface="Inter"/>
              <a:sym typeface="Inter"/>
            </a:endParaRPr>
          </a:p>
        </p:txBody>
      </p:sp>
      <p:pic>
        <p:nvPicPr>
          <p:cNvPr descr="no other icons needed just scale and good and bad inside the scale" id="328" name="Google Shape;328;g3d5f0fe9fd8_0_399"/>
          <p:cNvPicPr preferRelativeResize="0"/>
          <p:nvPr/>
        </p:nvPicPr>
        <p:blipFill>
          <a:blip r:embed="rId4">
            <a:alphaModFix/>
          </a:blip>
          <a:stretch>
            <a:fillRect/>
          </a:stretch>
        </p:blipFill>
        <p:spPr>
          <a:xfrm>
            <a:off x="5479350" y="1067750"/>
            <a:ext cx="3594125" cy="3594125"/>
          </a:xfrm>
          <a:prstGeom prst="rect">
            <a:avLst/>
          </a:prstGeom>
          <a:noFill/>
          <a:ln>
            <a:noFill/>
          </a:ln>
        </p:spPr>
      </p:pic>
      <p:sp>
        <p:nvSpPr>
          <p:cNvPr id="329" name="Google Shape;329;g3d5f0fe9fd8_0_399"/>
          <p:cNvSpPr txBox="1"/>
          <p:nvPr/>
        </p:nvSpPr>
        <p:spPr>
          <a:xfrm>
            <a:off x="450071" y="915947"/>
            <a:ext cx="7993800" cy="589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i="1" lang="en" sz="1300">
                <a:solidFill>
                  <a:schemeClr val="dk1"/>
                </a:solidFill>
                <a:latin typeface="Inter"/>
                <a:ea typeface="Inter"/>
                <a:cs typeface="Inter"/>
                <a:sym typeface="Inter"/>
              </a:rPr>
              <a:t>The </a:t>
            </a:r>
            <a:r>
              <a:rPr i="1" lang="en" sz="1300">
                <a:solidFill>
                  <a:schemeClr val="dk1"/>
                </a:solidFill>
                <a:latin typeface="Inter"/>
                <a:ea typeface="Inter"/>
                <a:cs typeface="Inter"/>
                <a:sym typeface="Inter"/>
              </a:rPr>
              <a:t>principle</a:t>
            </a:r>
            <a:r>
              <a:rPr i="1" lang="en" sz="1300">
                <a:solidFill>
                  <a:schemeClr val="dk1"/>
                </a:solidFill>
                <a:latin typeface="Inter"/>
                <a:ea typeface="Inter"/>
                <a:cs typeface="Inter"/>
                <a:sym typeface="Inter"/>
              </a:rPr>
              <a:t> of beneficence means that researchers must always work to ensure the greatest possible benefits to society while reducing risks and harm to participants.</a:t>
            </a:r>
            <a:endParaRPr i="1" sz="1300">
              <a:solidFill>
                <a:schemeClr val="dk1"/>
              </a:solidFill>
              <a:latin typeface="Inter"/>
              <a:ea typeface="Inter"/>
              <a:cs typeface="Inter"/>
              <a:sym typeface="Inter"/>
            </a:endParaRPr>
          </a:p>
        </p:txBody>
      </p:sp>
      <p:sp>
        <p:nvSpPr>
          <p:cNvPr id="330" name="Google Shape;330;g3d5f0fe9fd8_0_399"/>
          <p:cNvSpPr txBox="1"/>
          <p:nvPr/>
        </p:nvSpPr>
        <p:spPr>
          <a:xfrm>
            <a:off x="5586663" y="4106350"/>
            <a:ext cx="3379500" cy="809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n" sz="1300">
                <a:solidFill>
                  <a:schemeClr val="dk1"/>
                </a:solidFill>
                <a:latin typeface="Inter"/>
                <a:ea typeface="Inter"/>
                <a:cs typeface="Inter"/>
                <a:sym typeface="Inter"/>
              </a:rPr>
              <a:t>Are both always possible?</a:t>
            </a:r>
            <a:endParaRPr i="1" sz="1300">
              <a:solidFill>
                <a:schemeClr val="dk1"/>
              </a:solidFill>
              <a:latin typeface="Inter"/>
              <a:ea typeface="Inter"/>
              <a:cs typeface="Inter"/>
              <a:sym typeface="Inter"/>
            </a:endParaRPr>
          </a:p>
        </p:txBody>
      </p:sp>
      <p:sp>
        <p:nvSpPr>
          <p:cNvPr id="331" name="Google Shape;331;g3d5f0fe9fd8_0_399"/>
          <p:cNvSpPr txBox="1"/>
          <p:nvPr/>
        </p:nvSpPr>
        <p:spPr>
          <a:xfrm>
            <a:off x="457560" y="2951625"/>
            <a:ext cx="18234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000">
                <a:solidFill>
                  <a:schemeClr val="dk1"/>
                </a:solidFill>
                <a:latin typeface="Inter"/>
                <a:ea typeface="Inter"/>
                <a:cs typeface="Inter"/>
                <a:sym typeface="Inter"/>
              </a:rPr>
              <a:t>The system failed to minimize harm because its training loop prioritized institutional classification speed over checking for disparate impact on marginalized defendants.</a:t>
            </a:r>
            <a:endParaRPr sz="1000">
              <a:latin typeface="Inter"/>
              <a:ea typeface="Inter"/>
              <a:cs typeface="Inter"/>
              <a:sym typeface="Inter"/>
            </a:endParaRPr>
          </a:p>
        </p:txBody>
      </p:sp>
      <p:sp>
        <p:nvSpPr>
          <p:cNvPr id="332" name="Google Shape;332;g3d5f0fe9fd8_0_399"/>
          <p:cNvSpPr txBox="1"/>
          <p:nvPr/>
        </p:nvSpPr>
        <p:spPr>
          <a:xfrm>
            <a:off x="2890294" y="2958821"/>
            <a:ext cx="1823400" cy="1569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000">
                <a:solidFill>
                  <a:schemeClr val="dk1"/>
                </a:solidFill>
                <a:latin typeface="Inter"/>
                <a:ea typeface="Inter"/>
                <a:cs typeface="Inter"/>
                <a:sym typeface="Inter"/>
              </a:rPr>
              <a:t>While the tool sought to maximize administrative efficiency and objectivity for the courts, it did not provide balancing benefits (like rehabilitation resources) to the individuals being evaluated.</a:t>
            </a:r>
            <a:endParaRPr sz="1000">
              <a:latin typeface="Inter"/>
              <a:ea typeface="Inter"/>
              <a:cs typeface="Inter"/>
              <a:sym typeface="Inte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grpSp>
        <p:nvGrpSpPr>
          <p:cNvPr id="337" name="Google Shape;337;g3d5f0fe9fd8_0_432"/>
          <p:cNvGrpSpPr/>
          <p:nvPr/>
        </p:nvGrpSpPr>
        <p:grpSpPr>
          <a:xfrm>
            <a:off x="8625" y="0"/>
            <a:ext cx="9144000" cy="267600"/>
            <a:chOff x="8625" y="0"/>
            <a:chExt cx="9144000" cy="267600"/>
          </a:xfrm>
        </p:grpSpPr>
        <p:sp>
          <p:nvSpPr>
            <p:cNvPr id="338" name="Google Shape;338;g3d5f0fe9fd8_0_432"/>
            <p:cNvSpPr/>
            <p:nvPr/>
          </p:nvSpPr>
          <p:spPr>
            <a:xfrm>
              <a:off x="8625" y="0"/>
              <a:ext cx="9144000" cy="2676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39" name="Google Shape;339;g3d5f0fe9fd8_0_432" title="Logo Header.png"/>
            <p:cNvPicPr preferRelativeResize="0"/>
            <p:nvPr/>
          </p:nvPicPr>
          <p:blipFill rotWithShape="1">
            <a:blip r:embed="rId3">
              <a:alphaModFix/>
            </a:blip>
            <a:srcRect b="0" l="0" r="0" t="0"/>
            <a:stretch/>
          </p:blipFill>
          <p:spPr>
            <a:xfrm>
              <a:off x="8348195" y="15790"/>
              <a:ext cx="634775" cy="199625"/>
            </a:xfrm>
            <a:prstGeom prst="rect">
              <a:avLst/>
            </a:prstGeom>
            <a:noFill/>
            <a:ln>
              <a:noFill/>
            </a:ln>
          </p:spPr>
        </p:pic>
      </p:grpSp>
      <p:sp>
        <p:nvSpPr>
          <p:cNvPr id="340" name="Google Shape;340;g3d5f0fe9fd8_0_432"/>
          <p:cNvSpPr txBox="1"/>
          <p:nvPr>
            <p:ph idx="1" type="subTitle"/>
          </p:nvPr>
        </p:nvSpPr>
        <p:spPr>
          <a:xfrm>
            <a:off x="368650" y="447125"/>
            <a:ext cx="5545500" cy="809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b="1" lang="en" sz="2700">
                <a:solidFill>
                  <a:schemeClr val="dk1"/>
                </a:solidFill>
                <a:latin typeface="Inter"/>
                <a:ea typeface="Inter"/>
                <a:cs typeface="Inter"/>
                <a:sym typeface="Inter"/>
              </a:rPr>
              <a:t>Ethics of Representation</a:t>
            </a:r>
            <a:endParaRPr b="1" sz="2700">
              <a:solidFill>
                <a:schemeClr val="dk1"/>
              </a:solidFill>
              <a:latin typeface="Inter"/>
              <a:ea typeface="Inter"/>
              <a:cs typeface="Inter"/>
              <a:sym typeface="Inter"/>
            </a:endParaRPr>
          </a:p>
        </p:txBody>
      </p:sp>
      <p:sp>
        <p:nvSpPr>
          <p:cNvPr id="341" name="Google Shape;341;g3d5f0fe9fd8_0_432"/>
          <p:cNvSpPr txBox="1"/>
          <p:nvPr/>
        </p:nvSpPr>
        <p:spPr>
          <a:xfrm>
            <a:off x="368650" y="938040"/>
            <a:ext cx="7993800" cy="1597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1200"/>
              </a:spcBef>
              <a:spcAft>
                <a:spcPts val="0"/>
              </a:spcAft>
              <a:buNone/>
            </a:pPr>
            <a:r>
              <a:rPr lang="en" sz="1500">
                <a:solidFill>
                  <a:schemeClr val="dk1"/>
                </a:solidFill>
                <a:latin typeface="Inter"/>
                <a:ea typeface="Inter"/>
                <a:cs typeface="Inter"/>
                <a:sym typeface="Inter"/>
              </a:rPr>
              <a:t>Data &amp; results can be represented many ways:</a:t>
            </a:r>
            <a:endParaRPr b="0" i="0" sz="1500" u="none" cap="none" strike="noStrike">
              <a:solidFill>
                <a:schemeClr val="dk1"/>
              </a:solidFill>
              <a:latin typeface="Inter"/>
              <a:ea typeface="Inter"/>
              <a:cs typeface="Inter"/>
              <a:sym typeface="Inter"/>
            </a:endParaRPr>
          </a:p>
          <a:p>
            <a:pPr indent="-323850" lvl="0" marL="457200" rtl="0" algn="l">
              <a:lnSpc>
                <a:spcPct val="115000"/>
              </a:lnSpc>
              <a:spcBef>
                <a:spcPts val="1200"/>
              </a:spcBef>
              <a:spcAft>
                <a:spcPts val="0"/>
              </a:spcAft>
              <a:buClr>
                <a:schemeClr val="dk1"/>
              </a:buClr>
              <a:buSzPts val="1500"/>
              <a:buFont typeface="Inter"/>
              <a:buChar char="●"/>
            </a:pPr>
            <a:r>
              <a:rPr lang="en" sz="1500">
                <a:solidFill>
                  <a:schemeClr val="dk1"/>
                </a:solidFill>
                <a:latin typeface="Inter"/>
                <a:ea typeface="Inter"/>
                <a:cs typeface="Inter"/>
                <a:sym typeface="Inter"/>
                <a:extLst>
                  <a:ext uri="http://customooxmlschemas.google.com/">
                    <go:slidesCustomData xmlns:go="http://customooxmlschemas.google.com/" textRoundtripDataId="13"/>
                  </a:ext>
                </a:extLst>
              </a:rPr>
              <a:t>Data representation </a:t>
            </a:r>
            <a:r>
              <a:rPr lang="en" sz="1500">
                <a:solidFill>
                  <a:schemeClr val="dk1"/>
                </a:solidFill>
                <a:latin typeface="Inter"/>
                <a:ea typeface="Inter"/>
                <a:cs typeface="Inter"/>
                <a:sym typeface="Inter"/>
                <a:extLst>
                  <a:ext uri="http://customooxmlschemas.google.com/">
                    <go:slidesCustomData xmlns:go="http://customooxmlschemas.google.com/" textRoundtripDataId="14"/>
                  </a:ext>
                </a:extLst>
              </a:rPr>
              <a:t>tells a story </a:t>
            </a:r>
            <a:r>
              <a:rPr lang="en" sz="1500">
                <a:solidFill>
                  <a:schemeClr val="dk1"/>
                </a:solidFill>
                <a:latin typeface="Inter"/>
                <a:ea typeface="Inter"/>
                <a:cs typeface="Inter"/>
                <a:sym typeface="Inter"/>
              </a:rPr>
              <a:t>about data science, the dataset, and the model</a:t>
            </a:r>
            <a:endParaRPr sz="1500">
              <a:solidFill>
                <a:schemeClr val="dk1"/>
              </a:solidFill>
              <a:latin typeface="Inter"/>
              <a:ea typeface="Inter"/>
              <a:cs typeface="Inter"/>
              <a:sym typeface="Inter"/>
            </a:endParaRPr>
          </a:p>
          <a:p>
            <a:pPr indent="-323850" lvl="0" marL="457200" rtl="0" algn="l">
              <a:lnSpc>
                <a:spcPct val="115000"/>
              </a:lnSpc>
              <a:spcBef>
                <a:spcPts val="0"/>
              </a:spcBef>
              <a:spcAft>
                <a:spcPts val="0"/>
              </a:spcAft>
              <a:buClr>
                <a:schemeClr val="dk1"/>
              </a:buClr>
              <a:buSzPts val="1500"/>
              <a:buFont typeface="Inter"/>
              <a:buChar char="●"/>
            </a:pPr>
            <a:r>
              <a:rPr i="1" lang="en" sz="1500">
                <a:solidFill>
                  <a:schemeClr val="dk1"/>
                </a:solidFill>
                <a:latin typeface="Inter"/>
                <a:ea typeface="Inter"/>
                <a:cs typeface="Inter"/>
                <a:sym typeface="Inter"/>
              </a:rPr>
              <a:t>Framing Effect: </a:t>
            </a:r>
            <a:r>
              <a:rPr lang="en" sz="1500">
                <a:solidFill>
                  <a:schemeClr val="dk1"/>
                </a:solidFill>
                <a:latin typeface="Inter"/>
                <a:ea typeface="Inter"/>
                <a:cs typeface="Inter"/>
                <a:sym typeface="Inter"/>
              </a:rPr>
              <a:t>How we define categories, metrics, and visualizations shapes what audiences think the problem is</a:t>
            </a:r>
            <a:endParaRPr sz="1500">
              <a:solidFill>
                <a:schemeClr val="dk1"/>
              </a:solidFill>
              <a:latin typeface="Inter"/>
              <a:ea typeface="Inter"/>
              <a:cs typeface="Inter"/>
              <a:sym typeface="Inter"/>
            </a:endParaRPr>
          </a:p>
          <a:p>
            <a:pPr indent="-323850" lvl="0" marL="457200" rtl="0" algn="l">
              <a:lnSpc>
                <a:spcPct val="115000"/>
              </a:lnSpc>
              <a:spcBef>
                <a:spcPts val="0"/>
              </a:spcBef>
              <a:spcAft>
                <a:spcPts val="0"/>
              </a:spcAft>
              <a:buClr>
                <a:schemeClr val="dk1"/>
              </a:buClr>
              <a:buSzPts val="1500"/>
              <a:buFont typeface="Inter"/>
              <a:buChar char="●"/>
            </a:pPr>
            <a:r>
              <a:rPr lang="en" sz="1500">
                <a:solidFill>
                  <a:schemeClr val="dk1"/>
                </a:solidFill>
                <a:latin typeface="Inter"/>
                <a:ea typeface="Inter"/>
                <a:cs typeface="Inter"/>
                <a:sym typeface="Inter"/>
              </a:rPr>
              <a:t>Results should be shared by striving for transparency and accountability and by avoiding oversimplification</a:t>
            </a:r>
            <a:endParaRPr sz="1500">
              <a:solidFill>
                <a:schemeClr val="dk1"/>
              </a:solidFill>
              <a:latin typeface="Inter"/>
              <a:ea typeface="Inter"/>
              <a:cs typeface="Inter"/>
              <a:sym typeface="Inter"/>
            </a:endParaRPr>
          </a:p>
          <a:p>
            <a:pPr indent="-323850" lvl="0" marL="457200" rtl="0" algn="l">
              <a:lnSpc>
                <a:spcPct val="115000"/>
              </a:lnSpc>
              <a:spcBef>
                <a:spcPts val="0"/>
              </a:spcBef>
              <a:spcAft>
                <a:spcPts val="0"/>
              </a:spcAft>
              <a:buClr>
                <a:schemeClr val="dk1"/>
              </a:buClr>
              <a:buSzPts val="1500"/>
              <a:buFont typeface="Inter"/>
              <a:buChar char="●"/>
            </a:pPr>
            <a:r>
              <a:rPr lang="en" sz="1500">
                <a:solidFill>
                  <a:schemeClr val="dk1"/>
                </a:solidFill>
                <a:latin typeface="Inter"/>
                <a:ea typeface="Inter"/>
                <a:cs typeface="Inter"/>
                <a:sym typeface="Inter"/>
                <a:extLst>
                  <a:ext uri="http://customooxmlschemas.google.com/">
                    <go:slidesCustomData xmlns:go="http://customooxmlschemas.google.com/" textRoundtripDataId="15"/>
                  </a:ext>
                </a:extLst>
              </a:rPr>
              <a:t>Iterative process</a:t>
            </a:r>
            <a:r>
              <a:rPr lang="en" sz="1500">
                <a:solidFill>
                  <a:schemeClr val="dk1"/>
                </a:solidFill>
                <a:latin typeface="Inter"/>
                <a:ea typeface="Inter"/>
                <a:cs typeface="Inter"/>
                <a:sym typeface="Inter"/>
              </a:rPr>
              <a:t> that can lead to new questions</a:t>
            </a:r>
            <a:endParaRPr sz="1500">
              <a:solidFill>
                <a:schemeClr val="dk1"/>
              </a:solidFill>
              <a:latin typeface="Inter"/>
              <a:ea typeface="Inter"/>
              <a:cs typeface="Inter"/>
              <a:sym typeface="Inter"/>
            </a:endParaRPr>
          </a:p>
          <a:p>
            <a:pPr indent="0" lvl="0" marL="0" marR="0" rtl="0" algn="l">
              <a:lnSpc>
                <a:spcPct val="100000"/>
              </a:lnSpc>
              <a:spcBef>
                <a:spcPts val="1200"/>
              </a:spcBef>
              <a:spcAft>
                <a:spcPts val="0"/>
              </a:spcAft>
              <a:buNone/>
            </a:pPr>
            <a:r>
              <a:t/>
            </a:r>
            <a:endParaRPr sz="1500">
              <a:solidFill>
                <a:schemeClr val="dk1"/>
              </a:solidFill>
              <a:latin typeface="Inter"/>
              <a:ea typeface="Inter"/>
              <a:cs typeface="Inter"/>
              <a:sym typeface="Inter"/>
            </a:endParaRPr>
          </a:p>
        </p:txBody>
      </p:sp>
      <p:sp>
        <p:nvSpPr>
          <p:cNvPr id="342" name="Google Shape;342;g3d5f0fe9fd8_0_432"/>
          <p:cNvSpPr txBox="1"/>
          <p:nvPr>
            <p:ph idx="1" type="subTitle"/>
          </p:nvPr>
        </p:nvSpPr>
        <p:spPr>
          <a:xfrm>
            <a:off x="368650" y="2981980"/>
            <a:ext cx="5545500" cy="809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b="1" lang="en" sz="2700">
                <a:solidFill>
                  <a:schemeClr val="dk1"/>
                </a:solidFill>
                <a:latin typeface="Inter"/>
                <a:ea typeface="Inter"/>
                <a:cs typeface="Inter"/>
                <a:sym typeface="Inter"/>
              </a:rPr>
              <a:t>Combining Both!</a:t>
            </a:r>
            <a:endParaRPr b="1" sz="2700">
              <a:solidFill>
                <a:schemeClr val="dk1"/>
              </a:solidFill>
              <a:latin typeface="Inter"/>
              <a:ea typeface="Inter"/>
              <a:cs typeface="Inter"/>
              <a:sym typeface="Inter"/>
            </a:endParaRPr>
          </a:p>
        </p:txBody>
      </p:sp>
      <p:sp>
        <p:nvSpPr>
          <p:cNvPr id="343" name="Google Shape;343;g3d5f0fe9fd8_0_432"/>
          <p:cNvSpPr txBox="1"/>
          <p:nvPr/>
        </p:nvSpPr>
        <p:spPr>
          <a:xfrm>
            <a:off x="368650" y="3428545"/>
            <a:ext cx="7993800" cy="1365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1200"/>
              </a:spcBef>
              <a:spcAft>
                <a:spcPts val="0"/>
              </a:spcAft>
              <a:buNone/>
            </a:pPr>
            <a:r>
              <a:rPr lang="en" sz="1500">
                <a:solidFill>
                  <a:schemeClr val="dk1"/>
                </a:solidFill>
                <a:latin typeface="Inter"/>
                <a:ea typeface="Inter"/>
                <a:cs typeface="Inter"/>
                <a:sym typeface="Inter"/>
              </a:rPr>
              <a:t>Ethics + asking the right questions!</a:t>
            </a:r>
            <a:endParaRPr b="0" i="0" sz="1500" u="none" cap="none" strike="noStrike">
              <a:solidFill>
                <a:schemeClr val="dk1"/>
              </a:solidFill>
              <a:latin typeface="Inter"/>
              <a:ea typeface="Inter"/>
              <a:cs typeface="Inter"/>
              <a:sym typeface="Inter"/>
            </a:endParaRPr>
          </a:p>
          <a:p>
            <a:pPr indent="-323850" lvl="0" marL="457200" rtl="0" algn="l">
              <a:lnSpc>
                <a:spcPct val="115000"/>
              </a:lnSpc>
              <a:spcBef>
                <a:spcPts val="1200"/>
              </a:spcBef>
              <a:spcAft>
                <a:spcPts val="0"/>
              </a:spcAft>
              <a:buClr>
                <a:schemeClr val="dk1"/>
              </a:buClr>
              <a:buSzPts val="1500"/>
              <a:buFont typeface="Inter"/>
              <a:buChar char="●"/>
            </a:pPr>
            <a:r>
              <a:rPr lang="en" sz="1500">
                <a:solidFill>
                  <a:schemeClr val="dk1"/>
                </a:solidFill>
                <a:latin typeface="Inter"/>
                <a:ea typeface="Inter"/>
                <a:cs typeface="Inter"/>
                <a:sym typeface="Inter"/>
              </a:rPr>
              <a:t>Prevents unnecessary data collection (Data Minimization)</a:t>
            </a:r>
            <a:endParaRPr sz="1500">
              <a:solidFill>
                <a:schemeClr val="dk1"/>
              </a:solidFill>
              <a:latin typeface="Inter"/>
              <a:ea typeface="Inter"/>
              <a:cs typeface="Inter"/>
              <a:sym typeface="Inter"/>
            </a:endParaRPr>
          </a:p>
          <a:p>
            <a:pPr indent="-323850" lvl="0" marL="457200" rtl="0" algn="l">
              <a:lnSpc>
                <a:spcPct val="115000"/>
              </a:lnSpc>
              <a:spcBef>
                <a:spcPts val="0"/>
              </a:spcBef>
              <a:spcAft>
                <a:spcPts val="0"/>
              </a:spcAft>
              <a:buClr>
                <a:schemeClr val="dk1"/>
              </a:buClr>
              <a:buSzPts val="1500"/>
              <a:buFont typeface="Inter"/>
              <a:buChar char="●"/>
            </a:pPr>
            <a:r>
              <a:rPr lang="en" sz="1500">
                <a:solidFill>
                  <a:schemeClr val="dk1"/>
                </a:solidFill>
                <a:latin typeface="Inter"/>
                <a:ea typeface="Inter"/>
                <a:cs typeface="Inter"/>
                <a:sym typeface="Inter"/>
              </a:rPr>
              <a:t>Limits unnecessary risks/harm</a:t>
            </a:r>
            <a:endParaRPr sz="1500">
              <a:solidFill>
                <a:schemeClr val="dk1"/>
              </a:solidFill>
              <a:latin typeface="Inter"/>
              <a:ea typeface="Inter"/>
              <a:cs typeface="Inter"/>
              <a:sym typeface="Inter"/>
            </a:endParaRPr>
          </a:p>
          <a:p>
            <a:pPr indent="-323850" lvl="0" marL="457200" rtl="0" algn="l">
              <a:lnSpc>
                <a:spcPct val="115000"/>
              </a:lnSpc>
              <a:spcBef>
                <a:spcPts val="0"/>
              </a:spcBef>
              <a:spcAft>
                <a:spcPts val="0"/>
              </a:spcAft>
              <a:buClr>
                <a:schemeClr val="dk1"/>
              </a:buClr>
              <a:buSzPts val="1500"/>
              <a:buFont typeface="Inter"/>
              <a:buChar char="●"/>
            </a:pPr>
            <a:r>
              <a:rPr lang="en" sz="1500">
                <a:solidFill>
                  <a:schemeClr val="dk1"/>
                </a:solidFill>
                <a:latin typeface="Inter"/>
                <a:ea typeface="Inter"/>
                <a:cs typeface="Inter"/>
                <a:sym typeface="Inter"/>
              </a:rPr>
              <a:t>Limits re-identification or loss of privacy [2]</a:t>
            </a:r>
            <a:endParaRPr sz="1500">
              <a:solidFill>
                <a:schemeClr val="dk1"/>
              </a:solidFill>
              <a:latin typeface="Inter"/>
              <a:ea typeface="Inter"/>
              <a:cs typeface="Inter"/>
              <a:sym typeface="Inter"/>
            </a:endParaRPr>
          </a:p>
          <a:p>
            <a:pPr indent="0" lvl="0" marL="0" marR="0" rtl="0" algn="l">
              <a:lnSpc>
                <a:spcPct val="100000"/>
              </a:lnSpc>
              <a:spcBef>
                <a:spcPts val="1200"/>
              </a:spcBef>
              <a:spcAft>
                <a:spcPts val="0"/>
              </a:spcAft>
              <a:buNone/>
            </a:pPr>
            <a:r>
              <a:t/>
            </a:r>
            <a:endParaRPr sz="1500">
              <a:solidFill>
                <a:schemeClr val="dk1"/>
              </a:solidFill>
              <a:latin typeface="Inter"/>
              <a:ea typeface="Inter"/>
              <a:cs typeface="Inter"/>
              <a:sym typeface="Inte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g3d66280ef2d_0_2"/>
          <p:cNvSpPr/>
          <p:nvPr/>
        </p:nvSpPr>
        <p:spPr>
          <a:xfrm>
            <a:off x="5934575" y="2662105"/>
            <a:ext cx="2443800" cy="1908300"/>
          </a:xfrm>
          <a:prstGeom prst="roundRect">
            <a:avLst>
              <a:gd fmla="val 16667" name="adj"/>
            </a:avLst>
          </a:prstGeom>
          <a:solidFill>
            <a:srgbClr val="CFE2F3"/>
          </a:solidFill>
          <a:ln>
            <a:noFill/>
          </a:ln>
        </p:spPr>
        <p:txBody>
          <a:bodyPr anchorCtr="0" anchor="ctr" bIns="91425" lIns="91425" spcFirstLastPara="1" rIns="91425" wrap="square" tIns="91425">
            <a:noAutofit/>
          </a:bodyPr>
          <a:lstStyle/>
          <a:p>
            <a:pPr indent="0" lvl="0" marL="274320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349" name="Google Shape;349;g3d66280ef2d_0_2"/>
          <p:cNvSpPr/>
          <p:nvPr/>
        </p:nvSpPr>
        <p:spPr>
          <a:xfrm>
            <a:off x="3191375" y="2683681"/>
            <a:ext cx="2443800" cy="1908300"/>
          </a:xfrm>
          <a:prstGeom prst="roundRect">
            <a:avLst>
              <a:gd fmla="val 16667" name="adj"/>
            </a:avLst>
          </a:prstGeom>
          <a:solidFill>
            <a:srgbClr val="D4E4D1"/>
          </a:solidFill>
          <a:ln>
            <a:noFill/>
          </a:ln>
        </p:spPr>
        <p:txBody>
          <a:bodyPr anchorCtr="0" anchor="ctr" bIns="91425" lIns="91425" spcFirstLastPara="1" rIns="91425" wrap="square" tIns="91425">
            <a:noAutofit/>
          </a:bodyPr>
          <a:lstStyle/>
          <a:p>
            <a:pPr indent="0" lvl="0" marL="274320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350" name="Google Shape;350;g3d66280ef2d_0_2"/>
          <p:cNvSpPr/>
          <p:nvPr/>
        </p:nvSpPr>
        <p:spPr>
          <a:xfrm>
            <a:off x="448175" y="2689981"/>
            <a:ext cx="2443800" cy="1908300"/>
          </a:xfrm>
          <a:prstGeom prst="roundRect">
            <a:avLst>
              <a:gd fmla="val 16667" name="adj"/>
            </a:avLst>
          </a:prstGeom>
          <a:solidFill>
            <a:srgbClr val="F5F0E8"/>
          </a:solidFill>
          <a:ln>
            <a:noFill/>
          </a:ln>
        </p:spPr>
        <p:txBody>
          <a:bodyPr anchorCtr="0" anchor="ctr" bIns="91425" lIns="91425" spcFirstLastPara="1" rIns="91425" wrap="square" tIns="91425">
            <a:noAutofit/>
          </a:bodyPr>
          <a:lstStyle/>
          <a:p>
            <a:pPr indent="0" lvl="0" marL="274320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351" name="Google Shape;351;g3d66280ef2d_0_2"/>
          <p:cNvSpPr/>
          <p:nvPr/>
        </p:nvSpPr>
        <p:spPr>
          <a:xfrm>
            <a:off x="697313" y="2912233"/>
            <a:ext cx="19203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E"/>
              </a:buClr>
              <a:buSzPts val="1400"/>
              <a:buFont typeface="Georgia"/>
              <a:buNone/>
            </a:pPr>
            <a:r>
              <a:rPr b="1" lang="en">
                <a:solidFill>
                  <a:srgbClr val="1A1A2E"/>
                </a:solidFill>
                <a:latin typeface="Inter"/>
                <a:ea typeface="Inter"/>
                <a:cs typeface="Inter"/>
                <a:sym typeface="Inter"/>
              </a:rPr>
              <a:t>Academic</a:t>
            </a:r>
            <a:endParaRPr b="1" i="0" sz="1400" u="none" cap="none" strike="noStrike">
              <a:solidFill>
                <a:srgbClr val="000000"/>
              </a:solidFill>
              <a:latin typeface="Inter"/>
              <a:ea typeface="Inter"/>
              <a:cs typeface="Inter"/>
              <a:sym typeface="Inter"/>
            </a:endParaRPr>
          </a:p>
        </p:txBody>
      </p:sp>
      <p:sp>
        <p:nvSpPr>
          <p:cNvPr id="352" name="Google Shape;352;g3d66280ef2d_0_2"/>
          <p:cNvSpPr/>
          <p:nvPr/>
        </p:nvSpPr>
        <p:spPr>
          <a:xfrm>
            <a:off x="697318" y="3287496"/>
            <a:ext cx="495300" cy="18300"/>
          </a:xfrm>
          <a:prstGeom prst="rect">
            <a:avLst/>
          </a:prstGeom>
          <a:solidFill>
            <a:srgbClr val="B85C3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353" name="Google Shape;353;g3d66280ef2d_0_2"/>
          <p:cNvSpPr/>
          <p:nvPr/>
        </p:nvSpPr>
        <p:spPr>
          <a:xfrm>
            <a:off x="3472263" y="2900893"/>
            <a:ext cx="19203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E"/>
              </a:buClr>
              <a:buSzPts val="1400"/>
              <a:buFont typeface="Georgia"/>
              <a:buNone/>
            </a:pPr>
            <a:r>
              <a:rPr b="1" lang="en">
                <a:solidFill>
                  <a:srgbClr val="1A1A2E"/>
                </a:solidFill>
                <a:latin typeface="Inter"/>
                <a:ea typeface="Inter"/>
                <a:cs typeface="Inter"/>
                <a:sym typeface="Inter"/>
              </a:rPr>
              <a:t>Government</a:t>
            </a:r>
            <a:endParaRPr b="1" i="0" sz="1400" u="none" cap="none" strike="noStrike">
              <a:solidFill>
                <a:srgbClr val="000000"/>
              </a:solidFill>
              <a:latin typeface="Inter"/>
              <a:ea typeface="Inter"/>
              <a:cs typeface="Inter"/>
              <a:sym typeface="Inter"/>
            </a:endParaRPr>
          </a:p>
        </p:txBody>
      </p:sp>
      <p:sp>
        <p:nvSpPr>
          <p:cNvPr id="354" name="Google Shape;354;g3d66280ef2d_0_2"/>
          <p:cNvSpPr/>
          <p:nvPr/>
        </p:nvSpPr>
        <p:spPr>
          <a:xfrm>
            <a:off x="3440518" y="3243143"/>
            <a:ext cx="426600" cy="18300"/>
          </a:xfrm>
          <a:prstGeom prst="rect">
            <a:avLst/>
          </a:prstGeom>
          <a:solidFill>
            <a:srgbClr val="2C6E6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355" name="Google Shape;355;g3d66280ef2d_0_2"/>
          <p:cNvSpPr/>
          <p:nvPr/>
        </p:nvSpPr>
        <p:spPr>
          <a:xfrm>
            <a:off x="6183713" y="2904243"/>
            <a:ext cx="19203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E"/>
              </a:buClr>
              <a:buSzPts val="1400"/>
              <a:buFont typeface="Georgia"/>
              <a:buNone/>
            </a:pPr>
            <a:r>
              <a:rPr b="1" lang="en">
                <a:solidFill>
                  <a:srgbClr val="1A1A2E"/>
                </a:solidFill>
                <a:latin typeface="Inter"/>
                <a:ea typeface="Inter"/>
                <a:cs typeface="Inter"/>
                <a:sym typeface="Inter"/>
              </a:rPr>
              <a:t>Training</a:t>
            </a:r>
            <a:endParaRPr b="1" i="0" sz="1400" u="none" cap="none" strike="noStrike">
              <a:solidFill>
                <a:srgbClr val="000000"/>
              </a:solidFill>
              <a:latin typeface="Inter"/>
              <a:ea typeface="Inter"/>
              <a:cs typeface="Inter"/>
              <a:sym typeface="Inter"/>
            </a:endParaRPr>
          </a:p>
        </p:txBody>
      </p:sp>
      <p:sp>
        <p:nvSpPr>
          <p:cNvPr id="356" name="Google Shape;356;g3d66280ef2d_0_2"/>
          <p:cNvSpPr/>
          <p:nvPr/>
        </p:nvSpPr>
        <p:spPr>
          <a:xfrm>
            <a:off x="6183720" y="3258084"/>
            <a:ext cx="651600" cy="18300"/>
          </a:xfrm>
          <a:prstGeom prst="rect">
            <a:avLst/>
          </a:prstGeom>
          <a:solidFill>
            <a:srgbClr val="3D85C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nvGrpSpPr>
          <p:cNvPr id="357" name="Google Shape;357;g3d66280ef2d_0_2"/>
          <p:cNvGrpSpPr/>
          <p:nvPr/>
        </p:nvGrpSpPr>
        <p:grpSpPr>
          <a:xfrm>
            <a:off x="8625" y="0"/>
            <a:ext cx="9144000" cy="267600"/>
            <a:chOff x="8625" y="0"/>
            <a:chExt cx="9144000" cy="267600"/>
          </a:xfrm>
        </p:grpSpPr>
        <p:sp>
          <p:nvSpPr>
            <p:cNvPr id="358" name="Google Shape;358;g3d66280ef2d_0_2"/>
            <p:cNvSpPr/>
            <p:nvPr/>
          </p:nvSpPr>
          <p:spPr>
            <a:xfrm>
              <a:off x="8625" y="0"/>
              <a:ext cx="9144000" cy="2676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59" name="Google Shape;359;g3d66280ef2d_0_2" title="Logo Header.png"/>
            <p:cNvPicPr preferRelativeResize="0"/>
            <p:nvPr/>
          </p:nvPicPr>
          <p:blipFill rotWithShape="1">
            <a:blip r:embed="rId3">
              <a:alphaModFix/>
            </a:blip>
            <a:srcRect b="0" l="0" r="0" t="0"/>
            <a:stretch/>
          </p:blipFill>
          <p:spPr>
            <a:xfrm>
              <a:off x="8348195" y="15790"/>
              <a:ext cx="634775" cy="199625"/>
            </a:xfrm>
            <a:prstGeom prst="rect">
              <a:avLst/>
            </a:prstGeom>
            <a:noFill/>
            <a:ln>
              <a:noFill/>
            </a:ln>
          </p:spPr>
        </p:pic>
      </p:grpSp>
      <p:sp>
        <p:nvSpPr>
          <p:cNvPr id="360" name="Google Shape;360;g3d66280ef2d_0_2"/>
          <p:cNvSpPr txBox="1"/>
          <p:nvPr>
            <p:ph idx="1" type="subTitle"/>
          </p:nvPr>
        </p:nvSpPr>
        <p:spPr>
          <a:xfrm>
            <a:off x="448173" y="449700"/>
            <a:ext cx="5545500" cy="8097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2800"/>
              <a:buFont typeface="Arial"/>
              <a:buNone/>
            </a:pPr>
            <a:r>
              <a:rPr b="1" lang="en" sz="2700">
                <a:solidFill>
                  <a:schemeClr val="dk1"/>
                </a:solidFill>
                <a:latin typeface="Inter"/>
                <a:ea typeface="Inter"/>
                <a:cs typeface="Inter"/>
                <a:sym typeface="Inter"/>
              </a:rPr>
              <a:t>Resources &amp; Ethics Boards</a:t>
            </a:r>
            <a:endParaRPr b="1" sz="2700">
              <a:solidFill>
                <a:schemeClr val="dk1"/>
              </a:solidFill>
              <a:latin typeface="Inter"/>
              <a:ea typeface="Inter"/>
              <a:cs typeface="Inter"/>
              <a:sym typeface="Inter"/>
            </a:endParaRPr>
          </a:p>
        </p:txBody>
      </p:sp>
      <p:sp>
        <p:nvSpPr>
          <p:cNvPr id="361" name="Google Shape;361;g3d66280ef2d_0_2"/>
          <p:cNvSpPr txBox="1"/>
          <p:nvPr/>
        </p:nvSpPr>
        <p:spPr>
          <a:xfrm>
            <a:off x="416375" y="1153275"/>
            <a:ext cx="7993800" cy="1432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sz="1200">
                <a:solidFill>
                  <a:schemeClr val="dk1"/>
                </a:solidFill>
                <a:latin typeface="Inter"/>
                <a:ea typeface="Inter"/>
                <a:cs typeface="Inter"/>
                <a:sym typeface="Inter"/>
              </a:rPr>
              <a:t>In academic settings, ethical research is regulated by Institutional Review Boards (IRB) or Research Ethics Boards (REB). However, an institutional ethics review is only one part of responsible research.</a:t>
            </a:r>
            <a:endParaRPr sz="1200">
              <a:solidFill>
                <a:schemeClr val="dk1"/>
              </a:solidFill>
              <a:latin typeface="Inter"/>
              <a:ea typeface="Inter"/>
              <a:cs typeface="Inter"/>
              <a:sym typeface="Inter"/>
            </a:endParaRPr>
          </a:p>
          <a:p>
            <a:pPr indent="0" lvl="0" marL="0" rtl="0" algn="l">
              <a:lnSpc>
                <a:spcPct val="115000"/>
              </a:lnSpc>
              <a:spcBef>
                <a:spcPts val="1200"/>
              </a:spcBef>
              <a:spcAft>
                <a:spcPts val="0"/>
              </a:spcAft>
              <a:buClr>
                <a:schemeClr val="dk1"/>
              </a:buClr>
              <a:buSzPts val="1100"/>
              <a:buFont typeface="Arial"/>
              <a:buNone/>
            </a:pPr>
            <a:r>
              <a:rPr lang="en" sz="1200">
                <a:solidFill>
                  <a:schemeClr val="dk1"/>
                </a:solidFill>
                <a:latin typeface="Inter"/>
                <a:ea typeface="Inter"/>
                <a:cs typeface="Inter"/>
                <a:sym typeface="Inter"/>
              </a:rPr>
              <a:t>True human-centered problem framing also requires actively reflecting on stakeholders, potential harms, missing data, and long-term downstream use. Beyond standard compliance, excellent resources and frameworks can be found across higher education, government, and professional training organizations:</a:t>
            </a:r>
            <a:endParaRPr sz="1200">
              <a:solidFill>
                <a:schemeClr val="dk1"/>
              </a:solidFill>
              <a:latin typeface="Inter"/>
              <a:ea typeface="Inter"/>
              <a:cs typeface="Inter"/>
              <a:sym typeface="Inter"/>
            </a:endParaRPr>
          </a:p>
          <a:p>
            <a:pPr indent="0" lvl="0" marL="0" marR="0" rtl="0" algn="l">
              <a:lnSpc>
                <a:spcPct val="100000"/>
              </a:lnSpc>
              <a:spcBef>
                <a:spcPts val="1200"/>
              </a:spcBef>
              <a:spcAft>
                <a:spcPts val="0"/>
              </a:spcAft>
              <a:buNone/>
            </a:pPr>
            <a:r>
              <a:t/>
            </a:r>
            <a:endParaRPr sz="1200">
              <a:solidFill>
                <a:schemeClr val="dk1"/>
              </a:solidFill>
              <a:latin typeface="Inter"/>
              <a:ea typeface="Inter"/>
              <a:cs typeface="Inter"/>
              <a:sym typeface="Inter"/>
            </a:endParaRPr>
          </a:p>
        </p:txBody>
      </p:sp>
      <p:sp>
        <p:nvSpPr>
          <p:cNvPr id="362" name="Google Shape;362;g3d66280ef2d_0_2"/>
          <p:cNvSpPr txBox="1"/>
          <p:nvPr/>
        </p:nvSpPr>
        <p:spPr>
          <a:xfrm>
            <a:off x="597715" y="3352542"/>
            <a:ext cx="2033100" cy="996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lang="en" sz="1500">
                <a:solidFill>
                  <a:schemeClr val="dk1"/>
                </a:solidFill>
                <a:latin typeface="Inter"/>
                <a:ea typeface="Inter"/>
                <a:cs typeface="Inter"/>
                <a:sym typeface="Inter"/>
              </a:rPr>
              <a:t>Start with resources at your academic institution</a:t>
            </a:r>
            <a:endParaRPr b="0" i="0" sz="1500" u="none" cap="none" strike="noStrike">
              <a:solidFill>
                <a:schemeClr val="dk1"/>
              </a:solidFill>
              <a:latin typeface="Inter"/>
              <a:ea typeface="Inter"/>
              <a:cs typeface="Inter"/>
              <a:sym typeface="Inter"/>
            </a:endParaRPr>
          </a:p>
        </p:txBody>
      </p:sp>
      <p:sp>
        <p:nvSpPr>
          <p:cNvPr id="363" name="Google Shape;363;g3d66280ef2d_0_2"/>
          <p:cNvSpPr txBox="1"/>
          <p:nvPr/>
        </p:nvSpPr>
        <p:spPr>
          <a:xfrm>
            <a:off x="3396725" y="3295305"/>
            <a:ext cx="2033100" cy="996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lang="en" sz="1500">
                <a:solidFill>
                  <a:schemeClr val="dk1"/>
                </a:solidFill>
                <a:latin typeface="Inter"/>
                <a:ea typeface="Inter"/>
                <a:cs typeface="Inter"/>
                <a:sym typeface="Inter"/>
              </a:rPr>
              <a:t>Look at government resources</a:t>
            </a:r>
            <a:endParaRPr b="0" i="0" sz="1500" u="none" cap="none" strike="noStrike">
              <a:solidFill>
                <a:schemeClr val="dk1"/>
              </a:solidFill>
              <a:latin typeface="Inter"/>
              <a:ea typeface="Inter"/>
              <a:cs typeface="Inter"/>
              <a:sym typeface="Inter"/>
            </a:endParaRPr>
          </a:p>
        </p:txBody>
      </p:sp>
      <p:sp>
        <p:nvSpPr>
          <p:cNvPr id="364" name="Google Shape;364;g3d66280ef2d_0_2"/>
          <p:cNvSpPr txBox="1"/>
          <p:nvPr/>
        </p:nvSpPr>
        <p:spPr>
          <a:xfrm>
            <a:off x="6183725" y="3322583"/>
            <a:ext cx="2033100" cy="996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lang="en" sz="1500">
                <a:solidFill>
                  <a:schemeClr val="dk1"/>
                </a:solidFill>
                <a:latin typeface="Inter"/>
                <a:ea typeface="Inter"/>
                <a:cs typeface="Inter"/>
                <a:sym typeface="Inter"/>
              </a:rPr>
              <a:t>Look for possible trainings</a:t>
            </a:r>
            <a:endParaRPr b="0" i="0" sz="1500" u="none" cap="none" strike="noStrike">
              <a:solidFill>
                <a:schemeClr val="dk1"/>
              </a:solidFill>
              <a:latin typeface="Inter"/>
              <a:ea typeface="Inter"/>
              <a:cs typeface="Inter"/>
              <a:sym typeface="Inte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g3c5d521f515_0_223"/>
          <p:cNvSpPr/>
          <p:nvPr/>
        </p:nvSpPr>
        <p:spPr>
          <a:xfrm>
            <a:off x="503800" y="979625"/>
            <a:ext cx="1857900" cy="71400"/>
          </a:xfrm>
          <a:prstGeom prst="rect">
            <a:avLst/>
          </a:prstGeom>
          <a:solidFill>
            <a:srgbClr val="13AE8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0" name="Google Shape;370;g3c5d521f515_0_223"/>
          <p:cNvSpPr txBox="1"/>
          <p:nvPr>
            <p:ph idx="1" type="subTitle"/>
          </p:nvPr>
        </p:nvSpPr>
        <p:spPr>
          <a:xfrm>
            <a:off x="409575" y="447125"/>
            <a:ext cx="2207400" cy="1270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2800"/>
              <a:buNone/>
            </a:pPr>
            <a:r>
              <a:rPr b="1" lang="en" sz="3500">
                <a:solidFill>
                  <a:schemeClr val="dk1"/>
                </a:solidFill>
                <a:latin typeface="Roboto"/>
                <a:ea typeface="Roboto"/>
                <a:cs typeface="Roboto"/>
                <a:sym typeface="Roboto"/>
              </a:rPr>
              <a:t>Activity 2</a:t>
            </a:r>
            <a:endParaRPr i="1" sz="3500">
              <a:solidFill>
                <a:schemeClr val="dk1"/>
              </a:solidFill>
              <a:latin typeface="Roboto"/>
              <a:ea typeface="Roboto"/>
              <a:cs typeface="Roboto"/>
              <a:sym typeface="Roboto"/>
            </a:endParaRPr>
          </a:p>
        </p:txBody>
      </p:sp>
      <p:grpSp>
        <p:nvGrpSpPr>
          <p:cNvPr id="371" name="Google Shape;371;g3c5d521f515_0_223"/>
          <p:cNvGrpSpPr/>
          <p:nvPr/>
        </p:nvGrpSpPr>
        <p:grpSpPr>
          <a:xfrm>
            <a:off x="8625" y="0"/>
            <a:ext cx="9144000" cy="267600"/>
            <a:chOff x="8625" y="0"/>
            <a:chExt cx="9144000" cy="267600"/>
          </a:xfrm>
        </p:grpSpPr>
        <p:sp>
          <p:nvSpPr>
            <p:cNvPr id="372" name="Google Shape;372;g3c5d521f515_0_223"/>
            <p:cNvSpPr/>
            <p:nvPr/>
          </p:nvSpPr>
          <p:spPr>
            <a:xfrm>
              <a:off x="8625" y="0"/>
              <a:ext cx="9144000" cy="2676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73" name="Google Shape;373;g3c5d521f515_0_223" title="Logo Header.png"/>
            <p:cNvPicPr preferRelativeResize="0"/>
            <p:nvPr/>
          </p:nvPicPr>
          <p:blipFill rotWithShape="1">
            <a:blip r:embed="rId3">
              <a:alphaModFix/>
            </a:blip>
            <a:srcRect b="0" l="0" r="0" t="0"/>
            <a:stretch/>
          </p:blipFill>
          <p:spPr>
            <a:xfrm>
              <a:off x="8348195" y="15790"/>
              <a:ext cx="634775" cy="199625"/>
            </a:xfrm>
            <a:prstGeom prst="rect">
              <a:avLst/>
            </a:prstGeom>
            <a:noFill/>
            <a:ln>
              <a:noFill/>
            </a:ln>
          </p:spPr>
        </p:pic>
      </p:grpSp>
      <p:pic>
        <p:nvPicPr>
          <p:cNvPr id="374" name="Google Shape;374;g3c5d521f515_0_223" title="Logo Main.png"/>
          <p:cNvPicPr preferRelativeResize="0"/>
          <p:nvPr/>
        </p:nvPicPr>
        <p:blipFill rotWithShape="1">
          <a:blip r:embed="rId4">
            <a:alphaModFix/>
          </a:blip>
          <a:srcRect b="0" l="0" r="0" t="0"/>
          <a:stretch/>
        </p:blipFill>
        <p:spPr>
          <a:xfrm>
            <a:off x="503800" y="4431775"/>
            <a:ext cx="1404000" cy="398875"/>
          </a:xfrm>
          <a:prstGeom prst="rect">
            <a:avLst/>
          </a:prstGeom>
          <a:noFill/>
          <a:ln>
            <a:noFill/>
          </a:ln>
        </p:spPr>
      </p:pic>
      <p:sp>
        <p:nvSpPr>
          <p:cNvPr id="375" name="Google Shape;375;g3c5d521f515_0_223"/>
          <p:cNvSpPr txBox="1"/>
          <p:nvPr/>
        </p:nvSpPr>
        <p:spPr>
          <a:xfrm>
            <a:off x="470875" y="1202425"/>
            <a:ext cx="8074800" cy="2634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sz="1100">
                <a:solidFill>
                  <a:schemeClr val="dk1"/>
                </a:solidFill>
                <a:latin typeface="Inter"/>
                <a:ea typeface="Inter"/>
                <a:cs typeface="Inter"/>
                <a:sym typeface="Inter"/>
              </a:rPr>
              <a:t>Reflect on the </a:t>
            </a:r>
            <a:r>
              <a:rPr b="1" lang="en" sz="1100">
                <a:solidFill>
                  <a:schemeClr val="dk1"/>
                </a:solidFill>
                <a:latin typeface="Inter"/>
                <a:ea typeface="Inter"/>
                <a:cs typeface="Inter"/>
                <a:sym typeface="Inter"/>
              </a:rPr>
              <a:t>COMPAS</a:t>
            </a:r>
            <a:r>
              <a:rPr lang="en" sz="1100">
                <a:solidFill>
                  <a:schemeClr val="dk1"/>
                </a:solidFill>
                <a:latin typeface="Inter"/>
                <a:ea typeface="Inter"/>
                <a:cs typeface="Inter"/>
                <a:sym typeface="Inter"/>
              </a:rPr>
              <a:t> research question you crafted in Activity 1. Now, imagine you are moving from tabular criminal justice records to a massive computer vision dataset like </a:t>
            </a:r>
            <a:r>
              <a:rPr b="1" lang="en" sz="1100">
                <a:solidFill>
                  <a:schemeClr val="dk1"/>
                </a:solidFill>
                <a:latin typeface="Inter"/>
                <a:ea typeface="Inter"/>
                <a:cs typeface="Inter"/>
                <a:sym typeface="Inter"/>
              </a:rPr>
              <a:t>FairFace</a:t>
            </a:r>
            <a:r>
              <a:rPr lang="en" sz="1100">
                <a:solidFill>
                  <a:schemeClr val="dk1"/>
                </a:solidFill>
                <a:latin typeface="Inter"/>
                <a:ea typeface="Inter"/>
                <a:cs typeface="Inter"/>
                <a:sym typeface="Inter"/>
              </a:rPr>
              <a:t> or </a:t>
            </a:r>
            <a:r>
              <a:rPr b="1" lang="en" sz="1100">
                <a:solidFill>
                  <a:schemeClr val="dk1"/>
                </a:solidFill>
                <a:latin typeface="Inter"/>
                <a:ea typeface="Inter"/>
                <a:cs typeface="Inter"/>
                <a:sym typeface="Inter"/>
              </a:rPr>
              <a:t>YFCC-100m</a:t>
            </a:r>
            <a:r>
              <a:rPr lang="en" sz="1100">
                <a:solidFill>
                  <a:schemeClr val="dk1"/>
                </a:solidFill>
                <a:latin typeface="Inter"/>
                <a:ea typeface="Inter"/>
                <a:cs typeface="Inter"/>
                <a:sym typeface="Inter"/>
              </a:rPr>
              <a:t> to look at bias in a different domain.</a:t>
            </a:r>
            <a:endParaRPr sz="1100">
              <a:solidFill>
                <a:schemeClr val="dk1"/>
              </a:solidFill>
              <a:latin typeface="Inter"/>
              <a:ea typeface="Inter"/>
              <a:cs typeface="Inter"/>
              <a:sym typeface="Inter"/>
            </a:endParaRPr>
          </a:p>
          <a:p>
            <a:pPr indent="0" lvl="0" marL="0" rtl="0" algn="l">
              <a:lnSpc>
                <a:spcPct val="115000"/>
              </a:lnSpc>
              <a:spcBef>
                <a:spcPts val="1200"/>
              </a:spcBef>
              <a:spcAft>
                <a:spcPts val="0"/>
              </a:spcAft>
              <a:buNone/>
            </a:pPr>
            <a:r>
              <a:rPr b="1" lang="en" sz="1100">
                <a:solidFill>
                  <a:schemeClr val="dk1"/>
                </a:solidFill>
                <a:latin typeface="Inter"/>
                <a:ea typeface="Inter"/>
                <a:cs typeface="Inter"/>
                <a:sym typeface="Inter"/>
              </a:rPr>
              <a:t>Iterate and revise your understanding of a 'good question' after considering:</a:t>
            </a:r>
            <a:endParaRPr b="1" sz="1100">
              <a:solidFill>
                <a:schemeClr val="dk1"/>
              </a:solidFill>
              <a:latin typeface="Inter"/>
              <a:ea typeface="Inter"/>
              <a:cs typeface="Inter"/>
              <a:sym typeface="Inter"/>
            </a:endParaRPr>
          </a:p>
          <a:p>
            <a:pPr indent="-298450" lvl="0" marL="457200" rtl="0" algn="l">
              <a:lnSpc>
                <a:spcPct val="115000"/>
              </a:lnSpc>
              <a:spcBef>
                <a:spcPts val="1200"/>
              </a:spcBef>
              <a:spcAft>
                <a:spcPts val="0"/>
              </a:spcAft>
              <a:buClr>
                <a:schemeClr val="dk1"/>
              </a:buClr>
              <a:buSzPts val="1100"/>
              <a:buAutoNum type="arabicPeriod"/>
            </a:pPr>
            <a:r>
              <a:rPr b="1" lang="en" sz="1100">
                <a:solidFill>
                  <a:schemeClr val="dk1"/>
                </a:solidFill>
                <a:latin typeface="Inter"/>
                <a:ea typeface="Inter"/>
                <a:cs typeface="Inter"/>
                <a:sym typeface="Inter"/>
              </a:rPr>
              <a:t>Consent &amp; Sourcing:</a:t>
            </a:r>
            <a:r>
              <a:rPr lang="en" sz="1100">
                <a:solidFill>
                  <a:schemeClr val="dk1"/>
                </a:solidFill>
                <a:latin typeface="Inter"/>
                <a:ea typeface="Inter"/>
                <a:cs typeface="Inter"/>
                <a:sym typeface="Inter"/>
              </a:rPr>
              <a:t> These facial images were scraped from public platforms. Even if an institutional review board (IRB/REB) legally clears public data, what are the ethical implications of using people's faces without explicit consent?</a:t>
            </a:r>
            <a:endParaRPr sz="1100">
              <a:solidFill>
                <a:schemeClr val="dk1"/>
              </a:solidFill>
              <a:latin typeface="Inter"/>
              <a:ea typeface="Inter"/>
              <a:cs typeface="Inter"/>
              <a:sym typeface="Inter"/>
            </a:endParaRPr>
          </a:p>
          <a:p>
            <a:pPr indent="-298450" lvl="0" marL="457200" rtl="0" algn="l">
              <a:lnSpc>
                <a:spcPct val="115000"/>
              </a:lnSpc>
              <a:spcBef>
                <a:spcPts val="0"/>
              </a:spcBef>
              <a:spcAft>
                <a:spcPts val="0"/>
              </a:spcAft>
              <a:buClr>
                <a:schemeClr val="dk1"/>
              </a:buClr>
              <a:buSzPts val="1100"/>
              <a:buAutoNum type="arabicPeriod"/>
            </a:pPr>
            <a:r>
              <a:rPr b="1" lang="en" sz="1100">
                <a:solidFill>
                  <a:schemeClr val="dk1"/>
                </a:solidFill>
                <a:latin typeface="Inter"/>
                <a:ea typeface="Inter"/>
                <a:cs typeface="Inter"/>
                <a:sym typeface="Inter"/>
              </a:rPr>
              <a:t>Missing Data &amp; Classification Harm:</a:t>
            </a:r>
            <a:r>
              <a:rPr lang="en" sz="1100">
                <a:solidFill>
                  <a:schemeClr val="dk1"/>
                </a:solidFill>
                <a:latin typeface="Inter"/>
                <a:ea typeface="Inter"/>
                <a:cs typeface="Inter"/>
                <a:sym typeface="Inter"/>
              </a:rPr>
              <a:t> How do the predefined categorical labels in the dataset (e.g., race, age, binary gender) oversimplify human identity? Who is erased or misrepresented by these technical choices?</a:t>
            </a:r>
            <a:endParaRPr sz="1100">
              <a:solidFill>
                <a:schemeClr val="dk1"/>
              </a:solidFill>
              <a:latin typeface="Inter"/>
              <a:ea typeface="Inter"/>
              <a:cs typeface="Inter"/>
              <a:sym typeface="Inter"/>
            </a:endParaRPr>
          </a:p>
          <a:p>
            <a:pPr indent="-298450" lvl="0" marL="457200" rtl="0" algn="l">
              <a:lnSpc>
                <a:spcPct val="115000"/>
              </a:lnSpc>
              <a:spcBef>
                <a:spcPts val="0"/>
              </a:spcBef>
              <a:spcAft>
                <a:spcPts val="0"/>
              </a:spcAft>
              <a:buClr>
                <a:schemeClr val="dk1"/>
              </a:buClr>
              <a:buSzPts val="1100"/>
              <a:buAutoNum type="arabicPeriod"/>
            </a:pPr>
            <a:r>
              <a:rPr b="1" lang="en" sz="1100">
                <a:solidFill>
                  <a:schemeClr val="dk1"/>
                </a:solidFill>
                <a:latin typeface="Inter"/>
                <a:ea typeface="Inter"/>
                <a:cs typeface="Inter"/>
                <a:sym typeface="Inter"/>
              </a:rPr>
              <a:t>The RA Dilemma (Downstream Harm):</a:t>
            </a:r>
            <a:r>
              <a:rPr lang="en" sz="1100">
                <a:solidFill>
                  <a:schemeClr val="dk1"/>
                </a:solidFill>
                <a:latin typeface="Inter"/>
                <a:ea typeface="Inter"/>
                <a:cs typeface="Inter"/>
                <a:sym typeface="Inter"/>
              </a:rPr>
              <a:t> As a Research Assistant, if you discover that analyzing this data could inherently reinforce surveillance biases or systemic inequalities, would you choose to work on this project? How must you rewrite your research scope to minimize this harm?</a:t>
            </a:r>
            <a:endParaRPr sz="1100">
              <a:solidFill>
                <a:schemeClr val="dk1"/>
              </a:solidFill>
              <a:latin typeface="Inter"/>
              <a:ea typeface="Inter"/>
              <a:cs typeface="Inter"/>
              <a:sym typeface="Inter"/>
            </a:endParaRPr>
          </a:p>
          <a:p>
            <a:pPr indent="0" lvl="0" marL="0" rtl="0" algn="l">
              <a:lnSpc>
                <a:spcPct val="115000"/>
              </a:lnSpc>
              <a:spcBef>
                <a:spcPts val="1200"/>
              </a:spcBef>
              <a:spcAft>
                <a:spcPts val="1200"/>
              </a:spcAft>
              <a:buNone/>
            </a:pPr>
            <a:r>
              <a:t/>
            </a:r>
            <a:endParaRPr sz="1100">
              <a:solidFill>
                <a:schemeClr val="dk1"/>
              </a:solidFill>
              <a:latin typeface="Inter"/>
              <a:ea typeface="Inter"/>
              <a:cs typeface="Inter"/>
              <a:sym typeface="Inter"/>
            </a:endParaRPr>
          </a:p>
        </p:txBody>
      </p:sp>
      <p:pic>
        <p:nvPicPr>
          <p:cNvPr id="376" name="Google Shape;376;g3c5d521f515_0_223"/>
          <p:cNvPicPr preferRelativeResize="0"/>
          <p:nvPr/>
        </p:nvPicPr>
        <p:blipFill rotWithShape="1">
          <a:blip r:embed="rId5">
            <a:alphaModFix/>
          </a:blip>
          <a:srcRect b="0" l="426" r="436" t="0"/>
          <a:stretch/>
        </p:blipFill>
        <p:spPr>
          <a:xfrm>
            <a:off x="7722400" y="3837025"/>
            <a:ext cx="823276" cy="830426"/>
          </a:xfrm>
          <a:prstGeom prst="rect">
            <a:avLst/>
          </a:prstGeom>
          <a:noFill/>
          <a:ln>
            <a:noFill/>
          </a:ln>
        </p:spPr>
      </p:pic>
      <p:sp>
        <p:nvSpPr>
          <p:cNvPr id="377" name="Google Shape;377;g3c5d521f515_0_223"/>
          <p:cNvSpPr txBox="1"/>
          <p:nvPr/>
        </p:nvSpPr>
        <p:spPr>
          <a:xfrm>
            <a:off x="503800" y="3743149"/>
            <a:ext cx="4674300" cy="108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1"/>
                </a:solidFill>
              </a:rPr>
              <a:t>FairFace</a:t>
            </a:r>
            <a:r>
              <a:rPr b="1" lang="en" sz="1800">
                <a:solidFill>
                  <a:schemeClr val="dk1"/>
                </a:solidFill>
              </a:rPr>
              <a:t> Dataset</a:t>
            </a:r>
            <a:endParaRPr b="1" sz="1800">
              <a:solidFill>
                <a:schemeClr val="dk1"/>
              </a:solidFill>
            </a:endParaRPr>
          </a:p>
          <a:p>
            <a:pPr indent="0" lvl="0" marL="0" rtl="0" algn="l">
              <a:lnSpc>
                <a:spcPct val="115000"/>
              </a:lnSpc>
              <a:spcBef>
                <a:spcPts val="0"/>
              </a:spcBef>
              <a:spcAft>
                <a:spcPts val="0"/>
              </a:spcAft>
              <a:buNone/>
            </a:pPr>
            <a:r>
              <a:rPr lang="en" sz="1100" u="sng">
                <a:solidFill>
                  <a:schemeClr val="accent5"/>
                </a:solidFill>
                <a:latin typeface="Inter"/>
                <a:ea typeface="Inter"/>
                <a:cs typeface="Inter"/>
                <a:sym typeface="Inter"/>
                <a:hlinkClick r:id="rId6">
                  <a:extLst>
                    <a:ext uri="{A12FA001-AC4F-418D-AE19-62706E023703}">
                      <ahyp:hlinkClr val="tx"/>
                    </a:ext>
                  </a:extLst>
                </a:hlinkClick>
              </a:rPr>
              <a:t>https://huggingface.co/datasets/HuggingFaceM4/FairFace</a:t>
            </a:r>
            <a:endParaRPr sz="1100">
              <a:solidFill>
                <a:schemeClr val="dk1"/>
              </a:solidFill>
              <a:latin typeface="Inter"/>
              <a:ea typeface="Inter"/>
              <a:cs typeface="Inter"/>
              <a:sym typeface="Inter"/>
            </a:endParaRPr>
          </a:p>
          <a:p>
            <a:pPr indent="0" lvl="0" marL="0" rtl="0" algn="l">
              <a:spcBef>
                <a:spcPts val="1200"/>
              </a:spcBef>
              <a:spcAft>
                <a:spcPts val="0"/>
              </a:spcAft>
              <a:buNone/>
            </a:pPr>
            <a:r>
              <a:t/>
            </a:r>
            <a:endParaRPr b="1" sz="1800">
              <a:solidFill>
                <a:schemeClr val="dk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grpSp>
        <p:nvGrpSpPr>
          <p:cNvPr id="382" name="Google Shape;382;g3d5f0fe9fd8_0_450"/>
          <p:cNvGrpSpPr/>
          <p:nvPr/>
        </p:nvGrpSpPr>
        <p:grpSpPr>
          <a:xfrm>
            <a:off x="8625" y="0"/>
            <a:ext cx="9144000" cy="267600"/>
            <a:chOff x="8625" y="0"/>
            <a:chExt cx="9144000" cy="267600"/>
          </a:xfrm>
        </p:grpSpPr>
        <p:sp>
          <p:nvSpPr>
            <p:cNvPr id="383" name="Google Shape;383;g3d5f0fe9fd8_0_450"/>
            <p:cNvSpPr/>
            <p:nvPr/>
          </p:nvSpPr>
          <p:spPr>
            <a:xfrm>
              <a:off x="8625" y="0"/>
              <a:ext cx="9144000" cy="2676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84" name="Google Shape;384;g3d5f0fe9fd8_0_450" title="Logo Header.png"/>
            <p:cNvPicPr preferRelativeResize="0"/>
            <p:nvPr/>
          </p:nvPicPr>
          <p:blipFill rotWithShape="1">
            <a:blip r:embed="rId3">
              <a:alphaModFix/>
            </a:blip>
            <a:srcRect b="0" l="0" r="0" t="0"/>
            <a:stretch/>
          </p:blipFill>
          <p:spPr>
            <a:xfrm>
              <a:off x="8348195" y="15790"/>
              <a:ext cx="634775" cy="199625"/>
            </a:xfrm>
            <a:prstGeom prst="rect">
              <a:avLst/>
            </a:prstGeom>
            <a:noFill/>
            <a:ln>
              <a:noFill/>
            </a:ln>
          </p:spPr>
        </p:pic>
      </p:grpSp>
      <p:sp>
        <p:nvSpPr>
          <p:cNvPr id="385" name="Google Shape;385;g3d5f0fe9fd8_0_450"/>
          <p:cNvSpPr txBox="1"/>
          <p:nvPr>
            <p:ph idx="1" type="subTitle"/>
          </p:nvPr>
        </p:nvSpPr>
        <p:spPr>
          <a:xfrm>
            <a:off x="1130650" y="370925"/>
            <a:ext cx="5890800" cy="8097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00000"/>
              </a:lnSpc>
              <a:spcBef>
                <a:spcPts val="0"/>
              </a:spcBef>
              <a:spcAft>
                <a:spcPts val="0"/>
              </a:spcAft>
              <a:buSzPts val="2800"/>
              <a:buNone/>
            </a:pPr>
            <a:r>
              <a:rPr b="1" lang="en" sz="2700">
                <a:solidFill>
                  <a:schemeClr val="dk1"/>
                </a:solidFill>
                <a:latin typeface="Inter"/>
                <a:ea typeface="Inter"/>
                <a:cs typeface="Inter"/>
                <a:sym typeface="Inter"/>
              </a:rPr>
              <a:t>Generalizability </a:t>
            </a:r>
            <a:endParaRPr b="1" sz="2700">
              <a:solidFill>
                <a:schemeClr val="dk1"/>
              </a:solidFill>
              <a:latin typeface="Inter"/>
              <a:ea typeface="Inter"/>
              <a:cs typeface="Inter"/>
              <a:sym typeface="Inter"/>
            </a:endParaRPr>
          </a:p>
          <a:p>
            <a:pPr indent="0" lvl="0" marL="0" rtl="0" algn="l">
              <a:lnSpc>
                <a:spcPct val="100000"/>
              </a:lnSpc>
              <a:spcBef>
                <a:spcPts val="0"/>
              </a:spcBef>
              <a:spcAft>
                <a:spcPts val="0"/>
              </a:spcAft>
              <a:buSzPts val="2800"/>
              <a:buNone/>
            </a:pPr>
            <a:r>
              <a:rPr i="1" lang="en" sz="1500">
                <a:solidFill>
                  <a:schemeClr val="dk1"/>
                </a:solidFill>
                <a:latin typeface="Inter"/>
                <a:ea typeface="Inter"/>
                <a:cs typeface="Inter"/>
                <a:sym typeface="Inter"/>
              </a:rPr>
              <a:t>How others will use your project</a:t>
            </a:r>
            <a:endParaRPr i="1" sz="1500">
              <a:solidFill>
                <a:schemeClr val="dk1"/>
              </a:solidFill>
              <a:latin typeface="Inter"/>
              <a:ea typeface="Inter"/>
              <a:cs typeface="Inter"/>
              <a:sym typeface="Inter"/>
            </a:endParaRPr>
          </a:p>
        </p:txBody>
      </p:sp>
      <p:sp>
        <p:nvSpPr>
          <p:cNvPr id="386" name="Google Shape;386;g3d5f0fe9fd8_0_450"/>
          <p:cNvSpPr/>
          <p:nvPr/>
        </p:nvSpPr>
        <p:spPr>
          <a:xfrm>
            <a:off x="4388900" y="1574875"/>
            <a:ext cx="3244500" cy="748200"/>
          </a:xfrm>
          <a:prstGeom prst="roundRect">
            <a:avLst>
              <a:gd fmla="val 16667" name="adj"/>
            </a:avLst>
          </a:prstGeom>
          <a:solidFill>
            <a:srgbClr val="D4E4D1"/>
          </a:solidFill>
          <a:ln>
            <a:noFill/>
          </a:ln>
        </p:spPr>
        <p:txBody>
          <a:bodyPr anchorCtr="0" anchor="ctr" bIns="91425" lIns="91425" spcFirstLastPara="1" rIns="91425" wrap="square" tIns="91425">
            <a:noAutofit/>
          </a:bodyPr>
          <a:lstStyle/>
          <a:p>
            <a:pPr indent="0" lvl="0" marL="274320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387" name="Google Shape;387;g3d5f0fe9fd8_0_450"/>
          <p:cNvSpPr/>
          <p:nvPr/>
        </p:nvSpPr>
        <p:spPr>
          <a:xfrm>
            <a:off x="553500" y="1575050"/>
            <a:ext cx="3244500" cy="748200"/>
          </a:xfrm>
          <a:prstGeom prst="roundRect">
            <a:avLst>
              <a:gd fmla="val 16667" name="adj"/>
            </a:avLst>
          </a:prstGeom>
          <a:solidFill>
            <a:srgbClr val="F5F0E8"/>
          </a:solidFill>
          <a:ln>
            <a:noFill/>
          </a:ln>
        </p:spPr>
        <p:txBody>
          <a:bodyPr anchorCtr="0" anchor="ctr" bIns="91425" lIns="91425" spcFirstLastPara="1" rIns="91425" wrap="square" tIns="91425">
            <a:noAutofit/>
          </a:bodyPr>
          <a:lstStyle/>
          <a:p>
            <a:pPr indent="0" lvl="0" marL="274320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388" name="Google Shape;388;g3d5f0fe9fd8_0_450"/>
          <p:cNvSpPr/>
          <p:nvPr/>
        </p:nvSpPr>
        <p:spPr>
          <a:xfrm>
            <a:off x="536050" y="2571750"/>
            <a:ext cx="3244500" cy="668400"/>
          </a:xfrm>
          <a:prstGeom prst="roundRect">
            <a:avLst>
              <a:gd fmla="val 16667" name="adj"/>
            </a:avLst>
          </a:prstGeom>
          <a:solidFill>
            <a:srgbClr val="CFE2F3"/>
          </a:solidFill>
          <a:ln>
            <a:noFill/>
          </a:ln>
        </p:spPr>
        <p:txBody>
          <a:bodyPr anchorCtr="0" anchor="ctr" bIns="91425" lIns="91425" spcFirstLastPara="1" rIns="91425" wrap="square" tIns="91425">
            <a:noAutofit/>
          </a:bodyPr>
          <a:lstStyle/>
          <a:p>
            <a:pPr indent="0" lvl="0" marL="274320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389" name="Google Shape;389;g3d5f0fe9fd8_0_450"/>
          <p:cNvSpPr/>
          <p:nvPr/>
        </p:nvSpPr>
        <p:spPr>
          <a:xfrm>
            <a:off x="4287850" y="2571750"/>
            <a:ext cx="3328200" cy="668400"/>
          </a:xfrm>
          <a:prstGeom prst="roundRect">
            <a:avLst>
              <a:gd fmla="val 16667" name="adj"/>
            </a:avLst>
          </a:prstGeom>
          <a:solidFill>
            <a:srgbClr val="F4CCCC"/>
          </a:solidFill>
          <a:ln>
            <a:noFill/>
          </a:ln>
        </p:spPr>
        <p:txBody>
          <a:bodyPr anchorCtr="0" anchor="ctr" bIns="108175" lIns="108175" spcFirstLastPara="1" rIns="108175" wrap="square" tIns="108175">
            <a:noAutofit/>
          </a:bodyPr>
          <a:lstStyle/>
          <a:p>
            <a:pPr indent="0" lvl="0" marL="3245509" marR="0" rtl="0" algn="ctr">
              <a:lnSpc>
                <a:spcPct val="100000"/>
              </a:lnSpc>
              <a:spcBef>
                <a:spcPts val="0"/>
              </a:spcBef>
              <a:spcAft>
                <a:spcPts val="0"/>
              </a:spcAft>
              <a:buClr>
                <a:srgbClr val="000000"/>
              </a:buClr>
              <a:buSzPts val="1656"/>
              <a:buFont typeface="Arial"/>
              <a:buNone/>
            </a:pPr>
            <a:r>
              <a:t/>
            </a:r>
            <a:endParaRPr b="0" i="0" sz="1656" u="none" cap="none" strike="noStrike">
              <a:solidFill>
                <a:srgbClr val="000000"/>
              </a:solidFill>
              <a:latin typeface="Inter"/>
              <a:ea typeface="Inter"/>
              <a:cs typeface="Inter"/>
              <a:sym typeface="Inter"/>
            </a:endParaRPr>
          </a:p>
        </p:txBody>
      </p:sp>
      <p:sp>
        <p:nvSpPr>
          <p:cNvPr id="390" name="Google Shape;390;g3d5f0fe9fd8_0_450"/>
          <p:cNvSpPr txBox="1"/>
          <p:nvPr/>
        </p:nvSpPr>
        <p:spPr>
          <a:xfrm>
            <a:off x="801350" y="1661442"/>
            <a:ext cx="2862300" cy="996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lang="en" sz="1200">
                <a:solidFill>
                  <a:schemeClr val="dk1"/>
                </a:solidFill>
                <a:latin typeface="Inter"/>
                <a:ea typeface="Inter"/>
                <a:cs typeface="Inter"/>
                <a:sym typeface="Inter"/>
              </a:rPr>
              <a:t>Who might reuse your data,</a:t>
            </a:r>
            <a:endParaRPr sz="1200">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500"/>
              <a:buFont typeface="Arial"/>
              <a:buNone/>
            </a:pPr>
            <a:r>
              <a:rPr lang="en" sz="1200">
                <a:solidFill>
                  <a:schemeClr val="dk1"/>
                </a:solidFill>
                <a:latin typeface="Inter"/>
                <a:ea typeface="Inter"/>
                <a:cs typeface="Inter"/>
                <a:sym typeface="Inter"/>
              </a:rPr>
              <a:t>Model, or pipeline?</a:t>
            </a:r>
            <a:endParaRPr sz="1200">
              <a:solidFill>
                <a:schemeClr val="dk1"/>
              </a:solidFill>
              <a:latin typeface="Inter"/>
              <a:ea typeface="Inter"/>
              <a:cs typeface="Inter"/>
              <a:sym typeface="Inter"/>
            </a:endParaRPr>
          </a:p>
        </p:txBody>
      </p:sp>
      <p:sp>
        <p:nvSpPr>
          <p:cNvPr id="391" name="Google Shape;391;g3d5f0fe9fd8_0_450"/>
          <p:cNvSpPr txBox="1"/>
          <p:nvPr/>
        </p:nvSpPr>
        <p:spPr>
          <a:xfrm>
            <a:off x="4611200" y="1738345"/>
            <a:ext cx="2799900" cy="500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lang="en" sz="1200">
                <a:solidFill>
                  <a:schemeClr val="dk1"/>
                </a:solidFill>
                <a:latin typeface="Inter"/>
                <a:ea typeface="Inter"/>
                <a:cs typeface="Inter"/>
                <a:sym typeface="Inter"/>
              </a:rPr>
              <a:t>How might they reuse it?</a:t>
            </a:r>
            <a:endParaRPr b="0" i="0" sz="1200" u="none" cap="none" strike="noStrike">
              <a:solidFill>
                <a:schemeClr val="dk1"/>
              </a:solidFill>
              <a:latin typeface="Inter"/>
              <a:ea typeface="Inter"/>
              <a:cs typeface="Inter"/>
              <a:sym typeface="Inter"/>
            </a:endParaRPr>
          </a:p>
        </p:txBody>
      </p:sp>
      <p:sp>
        <p:nvSpPr>
          <p:cNvPr id="392" name="Google Shape;392;g3d5f0fe9fd8_0_450"/>
          <p:cNvSpPr txBox="1"/>
          <p:nvPr/>
        </p:nvSpPr>
        <p:spPr>
          <a:xfrm>
            <a:off x="746850" y="2710078"/>
            <a:ext cx="2712900" cy="668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lang="en" sz="1200">
                <a:solidFill>
                  <a:schemeClr val="dk1"/>
                </a:solidFill>
                <a:latin typeface="Inter"/>
                <a:ea typeface="Inter"/>
                <a:cs typeface="Inter"/>
                <a:sym typeface="Inter"/>
              </a:rPr>
              <a:t>Who can reuse it and who can’t?</a:t>
            </a:r>
            <a:endParaRPr b="0" i="0" sz="1200" u="none" cap="none" strike="noStrike">
              <a:solidFill>
                <a:schemeClr val="dk1"/>
              </a:solidFill>
              <a:latin typeface="Inter"/>
              <a:ea typeface="Inter"/>
              <a:cs typeface="Inter"/>
              <a:sym typeface="Inter"/>
            </a:endParaRPr>
          </a:p>
        </p:txBody>
      </p:sp>
      <p:sp>
        <p:nvSpPr>
          <p:cNvPr id="393" name="Google Shape;393;g3d5f0fe9fd8_0_450"/>
          <p:cNvSpPr txBox="1"/>
          <p:nvPr/>
        </p:nvSpPr>
        <p:spPr>
          <a:xfrm>
            <a:off x="4609600" y="2642160"/>
            <a:ext cx="2712900" cy="1047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lang="en" sz="1200">
                <a:solidFill>
                  <a:schemeClr val="dk1"/>
                </a:solidFill>
                <a:latin typeface="Inter"/>
                <a:ea typeface="Inter"/>
                <a:cs typeface="Inter"/>
                <a:sym typeface="Inter"/>
              </a:rPr>
              <a:t>What would they need to reuse your data, model, or pipeline?</a:t>
            </a:r>
            <a:endParaRPr b="0" i="0" sz="1200" u="none" cap="none" strike="noStrike">
              <a:solidFill>
                <a:schemeClr val="dk1"/>
              </a:solidFill>
              <a:latin typeface="Inter"/>
              <a:ea typeface="Inter"/>
              <a:cs typeface="Inter"/>
              <a:sym typeface="Inter"/>
            </a:endParaRPr>
          </a:p>
        </p:txBody>
      </p:sp>
      <p:pic>
        <p:nvPicPr>
          <p:cNvPr descr="simpler logo please" id="394" name="Google Shape;394;g3d5f0fe9fd8_0_450"/>
          <p:cNvPicPr preferRelativeResize="0"/>
          <p:nvPr/>
        </p:nvPicPr>
        <p:blipFill>
          <a:blip r:embed="rId4">
            <a:alphaModFix/>
          </a:blip>
          <a:stretch>
            <a:fillRect/>
          </a:stretch>
        </p:blipFill>
        <p:spPr>
          <a:xfrm>
            <a:off x="401100" y="330296"/>
            <a:ext cx="809700" cy="809700"/>
          </a:xfrm>
          <a:prstGeom prst="rect">
            <a:avLst/>
          </a:prstGeom>
          <a:noFill/>
          <a:ln>
            <a:noFill/>
          </a:ln>
        </p:spPr>
      </p:pic>
      <p:sp>
        <p:nvSpPr>
          <p:cNvPr id="395" name="Google Shape;395;g3d5f0fe9fd8_0_450"/>
          <p:cNvSpPr/>
          <p:nvPr/>
        </p:nvSpPr>
        <p:spPr>
          <a:xfrm>
            <a:off x="553500" y="3488650"/>
            <a:ext cx="7098600" cy="748200"/>
          </a:xfrm>
          <a:prstGeom prst="roundRect">
            <a:avLst>
              <a:gd fmla="val 16667" name="adj"/>
            </a:avLst>
          </a:prstGeom>
          <a:solidFill>
            <a:srgbClr val="EAD1DC"/>
          </a:solidFill>
          <a:ln>
            <a:noFill/>
          </a:ln>
        </p:spPr>
        <p:txBody>
          <a:bodyPr anchorCtr="0" anchor="ctr" bIns="91425" lIns="91425" spcFirstLastPara="1" rIns="91425" wrap="square" tIns="91425">
            <a:noAutofit/>
          </a:bodyPr>
          <a:lstStyle/>
          <a:p>
            <a:pPr indent="0" lvl="0" marL="274320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396" name="Google Shape;396;g3d5f0fe9fd8_0_450"/>
          <p:cNvSpPr txBox="1"/>
          <p:nvPr/>
        </p:nvSpPr>
        <p:spPr>
          <a:xfrm>
            <a:off x="677150" y="3606275"/>
            <a:ext cx="6804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100">
                <a:latin typeface="Inter"/>
                <a:ea typeface="Inter"/>
                <a:cs typeface="Inter"/>
                <a:sym typeface="Inter"/>
              </a:rPr>
              <a:t>If a model is trained on the FairFace benchmark to achieve "balanced skin tone accuracy," can a healthcare lab reuse that pipeline to detect skin cancer equitably?</a:t>
            </a:r>
            <a:endParaRPr i="1" sz="1100">
              <a:latin typeface="Inter"/>
              <a:ea typeface="Inter"/>
              <a:cs typeface="Inter"/>
              <a:sym typeface="Inte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grpSp>
        <p:nvGrpSpPr>
          <p:cNvPr id="401" name="Google Shape;401;g3e45df3a92f_0_173"/>
          <p:cNvGrpSpPr/>
          <p:nvPr/>
        </p:nvGrpSpPr>
        <p:grpSpPr>
          <a:xfrm>
            <a:off x="8625" y="0"/>
            <a:ext cx="9144000" cy="267600"/>
            <a:chOff x="8625" y="0"/>
            <a:chExt cx="9144000" cy="267600"/>
          </a:xfrm>
        </p:grpSpPr>
        <p:sp>
          <p:nvSpPr>
            <p:cNvPr id="402" name="Google Shape;402;g3e45df3a92f_0_173"/>
            <p:cNvSpPr/>
            <p:nvPr/>
          </p:nvSpPr>
          <p:spPr>
            <a:xfrm>
              <a:off x="8625" y="0"/>
              <a:ext cx="9144000" cy="2676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03" name="Google Shape;403;g3e45df3a92f_0_173" title="Logo Header.png"/>
            <p:cNvPicPr preferRelativeResize="0"/>
            <p:nvPr/>
          </p:nvPicPr>
          <p:blipFill rotWithShape="1">
            <a:blip r:embed="rId3">
              <a:alphaModFix/>
            </a:blip>
            <a:srcRect b="0" l="0" r="0" t="0"/>
            <a:stretch/>
          </p:blipFill>
          <p:spPr>
            <a:xfrm>
              <a:off x="8348195" y="15790"/>
              <a:ext cx="634775" cy="199625"/>
            </a:xfrm>
            <a:prstGeom prst="rect">
              <a:avLst/>
            </a:prstGeom>
            <a:noFill/>
            <a:ln>
              <a:noFill/>
            </a:ln>
          </p:spPr>
        </p:pic>
      </p:grpSp>
      <p:sp>
        <p:nvSpPr>
          <p:cNvPr id="404" name="Google Shape;404;g3e45df3a92f_0_173"/>
          <p:cNvSpPr txBox="1"/>
          <p:nvPr>
            <p:ph idx="1" type="subTitle"/>
          </p:nvPr>
        </p:nvSpPr>
        <p:spPr>
          <a:xfrm>
            <a:off x="1130650" y="370925"/>
            <a:ext cx="5890800" cy="8097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00000"/>
              </a:lnSpc>
              <a:spcBef>
                <a:spcPts val="0"/>
              </a:spcBef>
              <a:spcAft>
                <a:spcPts val="0"/>
              </a:spcAft>
              <a:buSzPts val="2800"/>
              <a:buNone/>
            </a:pPr>
            <a:r>
              <a:rPr b="1" lang="en" sz="2700">
                <a:solidFill>
                  <a:schemeClr val="dk1"/>
                </a:solidFill>
                <a:latin typeface="Inter"/>
                <a:ea typeface="Inter"/>
                <a:cs typeface="Inter"/>
                <a:sym typeface="Inter"/>
              </a:rPr>
              <a:t>Generalizability </a:t>
            </a:r>
            <a:endParaRPr b="1" sz="2700">
              <a:solidFill>
                <a:schemeClr val="dk1"/>
              </a:solidFill>
              <a:latin typeface="Inter"/>
              <a:ea typeface="Inter"/>
              <a:cs typeface="Inter"/>
              <a:sym typeface="Inter"/>
            </a:endParaRPr>
          </a:p>
          <a:p>
            <a:pPr indent="0" lvl="0" marL="0" rtl="0" algn="l">
              <a:lnSpc>
                <a:spcPct val="100000"/>
              </a:lnSpc>
              <a:spcBef>
                <a:spcPts val="0"/>
              </a:spcBef>
              <a:spcAft>
                <a:spcPts val="0"/>
              </a:spcAft>
              <a:buSzPts val="2800"/>
              <a:buNone/>
            </a:pPr>
            <a:r>
              <a:rPr i="1" lang="en" sz="1500">
                <a:solidFill>
                  <a:schemeClr val="dk1"/>
                </a:solidFill>
                <a:latin typeface="Inter"/>
                <a:ea typeface="Inter"/>
                <a:cs typeface="Inter"/>
                <a:sym typeface="Inter"/>
              </a:rPr>
              <a:t>How others will use your project</a:t>
            </a:r>
            <a:endParaRPr i="1" sz="1500">
              <a:solidFill>
                <a:schemeClr val="dk1"/>
              </a:solidFill>
              <a:latin typeface="Inter"/>
              <a:ea typeface="Inter"/>
              <a:cs typeface="Inter"/>
              <a:sym typeface="Inter"/>
            </a:endParaRPr>
          </a:p>
        </p:txBody>
      </p:sp>
      <p:pic>
        <p:nvPicPr>
          <p:cNvPr descr="simpler logo please" id="405" name="Google Shape;405;g3e45df3a92f_0_173"/>
          <p:cNvPicPr preferRelativeResize="0"/>
          <p:nvPr/>
        </p:nvPicPr>
        <p:blipFill>
          <a:blip r:embed="rId4">
            <a:alphaModFix/>
          </a:blip>
          <a:stretch>
            <a:fillRect/>
          </a:stretch>
        </p:blipFill>
        <p:spPr>
          <a:xfrm>
            <a:off x="401100" y="330296"/>
            <a:ext cx="809700" cy="809700"/>
          </a:xfrm>
          <a:prstGeom prst="rect">
            <a:avLst/>
          </a:prstGeom>
          <a:noFill/>
          <a:ln>
            <a:noFill/>
          </a:ln>
        </p:spPr>
      </p:pic>
      <p:graphicFrame>
        <p:nvGraphicFramePr>
          <p:cNvPr id="406" name="Google Shape;406;g3e45df3a92f_0_173"/>
          <p:cNvGraphicFramePr/>
          <p:nvPr/>
        </p:nvGraphicFramePr>
        <p:xfrm>
          <a:off x="176213" y="1465825"/>
          <a:ext cx="3000000" cy="3000000"/>
        </p:xfrm>
        <a:graphic>
          <a:graphicData uri="http://schemas.openxmlformats.org/drawingml/2006/table">
            <a:tbl>
              <a:tblPr>
                <a:noFill/>
                <a:tableStyleId>{BD242995-2E1B-4E11-8BAC-C2370DC31B60}</a:tableStyleId>
              </a:tblPr>
              <a:tblGrid>
                <a:gridCol w="2740175"/>
                <a:gridCol w="6051400"/>
              </a:tblGrid>
              <a:tr h="523875">
                <a:tc>
                  <a:txBody>
                    <a:bodyPr/>
                    <a:lstStyle/>
                    <a:p>
                      <a:pPr indent="0" lvl="0" marL="0" rtl="0" algn="l">
                        <a:lnSpc>
                          <a:spcPct val="115000"/>
                        </a:lnSpc>
                        <a:spcBef>
                          <a:spcPts val="0"/>
                        </a:spcBef>
                        <a:spcAft>
                          <a:spcPts val="0"/>
                        </a:spcAft>
                        <a:buNone/>
                      </a:pPr>
                      <a:r>
                        <a:rPr b="1" lang="en" sz="1100" u="sng">
                          <a:solidFill>
                            <a:srgbClr val="1F1F1F"/>
                          </a:solidFill>
                        </a:rPr>
                        <a:t>General Generalizability Framework</a:t>
                      </a:r>
                      <a:endParaRPr b="1" sz="1100" u="sng">
                        <a:solidFill>
                          <a:srgbClr val="1F1F1F"/>
                        </a:solidFill>
                      </a:endParaRPr>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n" sz="1100" u="sng">
                          <a:solidFill>
                            <a:srgbClr val="1F1F1F"/>
                          </a:solidFill>
                        </a:rPr>
                        <a:t>FairFace / Computer Vision Application</a:t>
                      </a:r>
                      <a:endParaRPr b="1" sz="1100" u="sng">
                        <a:solidFill>
                          <a:srgbClr val="1F1F1F"/>
                        </a:solidFill>
                      </a:endParaRPr>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solidFill>
                      <a:srgbClr val="EFEFEF"/>
                    </a:solidFill>
                  </a:tcPr>
                </a:tc>
              </a:tr>
              <a:tr h="523875">
                <a:tc>
                  <a:txBody>
                    <a:bodyPr/>
                    <a:lstStyle/>
                    <a:p>
                      <a:pPr indent="0" lvl="0" marL="0" rtl="0" algn="l">
                        <a:lnSpc>
                          <a:spcPct val="115000"/>
                        </a:lnSpc>
                        <a:spcBef>
                          <a:spcPts val="0"/>
                        </a:spcBef>
                        <a:spcAft>
                          <a:spcPts val="0"/>
                        </a:spcAft>
                        <a:buNone/>
                      </a:pPr>
                      <a:r>
                        <a:rPr b="1" lang="en" sz="1100">
                          <a:solidFill>
                            <a:srgbClr val="1F1F1F"/>
                          </a:solidFill>
                        </a:rPr>
                        <a:t>Who might reuse your data, model, or pipeline?</a:t>
                      </a:r>
                      <a:endParaRPr b="1" sz="1100">
                        <a:solidFill>
                          <a:srgbClr val="1F1F1F"/>
                        </a:solidFill>
                      </a:endParaRPr>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Commercial developers, academic researchers, or healthcare labs looking for pre-trained facial analysis pipelines.</a:t>
                      </a:r>
                      <a:endParaRPr sz="1100">
                        <a:solidFill>
                          <a:srgbClr val="1F1F1F"/>
                        </a:solidFill>
                      </a:endParaRPr>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tcPr>
                </a:tc>
              </a:tr>
              <a:tr h="523875">
                <a:tc>
                  <a:txBody>
                    <a:bodyPr/>
                    <a:lstStyle/>
                    <a:p>
                      <a:pPr indent="0" lvl="0" marL="0" rtl="0" algn="l">
                        <a:lnSpc>
                          <a:spcPct val="115000"/>
                        </a:lnSpc>
                        <a:spcBef>
                          <a:spcPts val="0"/>
                        </a:spcBef>
                        <a:spcAft>
                          <a:spcPts val="0"/>
                        </a:spcAft>
                        <a:buNone/>
                      </a:pPr>
                      <a:r>
                        <a:rPr b="1" lang="en" sz="1100">
                          <a:solidFill>
                            <a:srgbClr val="1F1F1F"/>
                          </a:solidFill>
                        </a:rPr>
                        <a:t>How might they reuse it?</a:t>
                      </a:r>
                      <a:endParaRPr b="1" sz="1100">
                        <a:solidFill>
                          <a:srgbClr val="1F1F1F"/>
                        </a:solidFill>
                      </a:endParaRPr>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Transferring a model trained on web-scraped data (FairFace) to perform tasks like facial authentication or medical skin anomaly detection.</a:t>
                      </a:r>
                      <a:endParaRPr sz="1100">
                        <a:solidFill>
                          <a:srgbClr val="1F1F1F"/>
                        </a:solidFill>
                      </a:endParaRPr>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tcPr>
                </a:tc>
              </a:tr>
              <a:tr h="523875">
                <a:tc>
                  <a:txBody>
                    <a:bodyPr/>
                    <a:lstStyle/>
                    <a:p>
                      <a:pPr indent="0" lvl="0" marL="0" rtl="0" algn="l">
                        <a:lnSpc>
                          <a:spcPct val="115000"/>
                        </a:lnSpc>
                        <a:spcBef>
                          <a:spcPts val="0"/>
                        </a:spcBef>
                        <a:spcAft>
                          <a:spcPts val="0"/>
                        </a:spcAft>
                        <a:buNone/>
                      </a:pPr>
                      <a:r>
                        <a:rPr b="1" lang="en" sz="1100">
                          <a:solidFill>
                            <a:srgbClr val="1F1F1F"/>
                          </a:solidFill>
                        </a:rPr>
                        <a:t>Who can reuse it and who can't?</a:t>
                      </a:r>
                      <a:endParaRPr b="1" sz="1100">
                        <a:solidFill>
                          <a:srgbClr val="1F1F1F"/>
                        </a:solidFill>
                      </a:endParaRPr>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Well-funded teams can easily reuse the technical pipeline, but marginalized communities lack the resources to contest how the reused models categorize them.</a:t>
                      </a:r>
                      <a:endParaRPr sz="1100">
                        <a:solidFill>
                          <a:srgbClr val="1F1F1F"/>
                        </a:solidFill>
                      </a:endParaRPr>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tcPr>
                </a:tc>
              </a:tr>
              <a:tr h="523875">
                <a:tc>
                  <a:txBody>
                    <a:bodyPr/>
                    <a:lstStyle/>
                    <a:p>
                      <a:pPr indent="0" lvl="0" marL="0" rtl="0" algn="l">
                        <a:lnSpc>
                          <a:spcPct val="115000"/>
                        </a:lnSpc>
                        <a:spcBef>
                          <a:spcPts val="0"/>
                        </a:spcBef>
                        <a:spcAft>
                          <a:spcPts val="0"/>
                        </a:spcAft>
                        <a:buNone/>
                      </a:pPr>
                      <a:r>
                        <a:rPr b="1" lang="en" sz="1100">
                          <a:solidFill>
                            <a:srgbClr val="1F1F1F"/>
                          </a:solidFill>
                        </a:rPr>
                        <a:t>What is required for case transfer?</a:t>
                      </a:r>
                      <a:endParaRPr b="1" sz="1100">
                        <a:solidFill>
                          <a:srgbClr val="1F1F1F"/>
                        </a:solidFill>
                      </a:endParaRPr>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A deep evaluation of whether a web-scraped categorization scheme safely applies to completely different global populations, lighting conditions, or contexts.</a:t>
                      </a:r>
                      <a:endParaRPr sz="1100">
                        <a:solidFill>
                          <a:srgbClr val="1F1F1F"/>
                        </a:solidFill>
                      </a:endParaRPr>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grpSp>
        <p:nvGrpSpPr>
          <p:cNvPr id="411" name="Google Shape;411;g3d5f0fe9fd8_0_478"/>
          <p:cNvGrpSpPr/>
          <p:nvPr/>
        </p:nvGrpSpPr>
        <p:grpSpPr>
          <a:xfrm>
            <a:off x="8625" y="0"/>
            <a:ext cx="9144000" cy="267600"/>
            <a:chOff x="8625" y="0"/>
            <a:chExt cx="9144000" cy="267600"/>
          </a:xfrm>
        </p:grpSpPr>
        <p:sp>
          <p:nvSpPr>
            <p:cNvPr id="412" name="Google Shape;412;g3d5f0fe9fd8_0_478"/>
            <p:cNvSpPr/>
            <p:nvPr/>
          </p:nvSpPr>
          <p:spPr>
            <a:xfrm>
              <a:off x="8625" y="0"/>
              <a:ext cx="9144000" cy="2676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13" name="Google Shape;413;g3d5f0fe9fd8_0_478" title="Logo Header.png"/>
            <p:cNvPicPr preferRelativeResize="0"/>
            <p:nvPr/>
          </p:nvPicPr>
          <p:blipFill rotWithShape="1">
            <a:blip r:embed="rId3">
              <a:alphaModFix/>
            </a:blip>
            <a:srcRect b="0" l="0" r="0" t="0"/>
            <a:stretch/>
          </p:blipFill>
          <p:spPr>
            <a:xfrm>
              <a:off x="8348195" y="15790"/>
              <a:ext cx="634775" cy="199625"/>
            </a:xfrm>
            <a:prstGeom prst="rect">
              <a:avLst/>
            </a:prstGeom>
            <a:noFill/>
            <a:ln>
              <a:noFill/>
            </a:ln>
          </p:spPr>
        </p:pic>
      </p:grpSp>
      <p:sp>
        <p:nvSpPr>
          <p:cNvPr id="414" name="Google Shape;414;g3d5f0fe9fd8_0_478"/>
          <p:cNvSpPr txBox="1"/>
          <p:nvPr>
            <p:ph idx="1" type="subTitle"/>
          </p:nvPr>
        </p:nvSpPr>
        <p:spPr>
          <a:xfrm>
            <a:off x="1118593" y="382982"/>
            <a:ext cx="7419600" cy="738900"/>
          </a:xfrm>
          <a:prstGeom prst="rect">
            <a:avLst/>
          </a:prstGeom>
          <a:noFill/>
          <a:ln>
            <a:noFill/>
          </a:ln>
        </p:spPr>
        <p:txBody>
          <a:bodyPr anchorCtr="0" anchor="t" bIns="91425" lIns="91425" spcFirstLastPara="1" rIns="91425" wrap="square" tIns="91425">
            <a:normAutofit lnSpcReduction="20000"/>
          </a:bodyPr>
          <a:lstStyle/>
          <a:p>
            <a:pPr indent="0" lvl="0" marL="0" rtl="0" algn="l">
              <a:lnSpc>
                <a:spcPct val="100000"/>
              </a:lnSpc>
              <a:spcBef>
                <a:spcPts val="0"/>
              </a:spcBef>
              <a:spcAft>
                <a:spcPts val="0"/>
              </a:spcAft>
              <a:buSzPts val="2800"/>
              <a:buNone/>
            </a:pPr>
            <a:r>
              <a:rPr b="1" lang="en" sz="2700">
                <a:solidFill>
                  <a:schemeClr val="dk1"/>
                </a:solidFill>
                <a:latin typeface="Inter"/>
                <a:ea typeface="Inter"/>
                <a:cs typeface="Inter"/>
                <a:sym typeface="Inter"/>
              </a:rPr>
              <a:t>Reproducibility</a:t>
            </a:r>
            <a:r>
              <a:rPr b="1" lang="en" sz="2700">
                <a:solidFill>
                  <a:schemeClr val="dk1"/>
                </a:solidFill>
                <a:latin typeface="Inter"/>
                <a:ea typeface="Inter"/>
                <a:cs typeface="Inter"/>
                <a:sym typeface="Inter"/>
              </a:rPr>
              <a:t> </a:t>
            </a:r>
            <a:endParaRPr b="1" sz="2700">
              <a:solidFill>
                <a:schemeClr val="dk1"/>
              </a:solidFill>
              <a:latin typeface="Inter"/>
              <a:ea typeface="Inter"/>
              <a:cs typeface="Inter"/>
              <a:sym typeface="Inter"/>
            </a:endParaRPr>
          </a:p>
          <a:p>
            <a:pPr indent="0" lvl="0" marL="0" rtl="0" algn="l">
              <a:lnSpc>
                <a:spcPct val="100000"/>
              </a:lnSpc>
              <a:spcBef>
                <a:spcPts val="0"/>
              </a:spcBef>
              <a:spcAft>
                <a:spcPts val="0"/>
              </a:spcAft>
              <a:buSzPts val="2800"/>
              <a:buNone/>
            </a:pPr>
            <a:r>
              <a:rPr i="1" lang="en" sz="1500">
                <a:solidFill>
                  <a:schemeClr val="dk1"/>
                </a:solidFill>
                <a:latin typeface="Inter"/>
                <a:ea typeface="Inter"/>
                <a:cs typeface="Inter"/>
                <a:sym typeface="Inter"/>
              </a:rPr>
              <a:t>Designing projects so others can verify the results by using the same methods</a:t>
            </a:r>
            <a:endParaRPr i="1" sz="1500">
              <a:solidFill>
                <a:schemeClr val="dk1"/>
              </a:solidFill>
              <a:latin typeface="Inter"/>
              <a:ea typeface="Inter"/>
              <a:cs typeface="Inter"/>
              <a:sym typeface="Inter"/>
            </a:endParaRPr>
          </a:p>
        </p:txBody>
      </p:sp>
      <p:sp>
        <p:nvSpPr>
          <p:cNvPr id="415" name="Google Shape;415;g3d5f0fe9fd8_0_478"/>
          <p:cNvSpPr/>
          <p:nvPr/>
        </p:nvSpPr>
        <p:spPr>
          <a:xfrm>
            <a:off x="4388900" y="1439900"/>
            <a:ext cx="3244500" cy="1170900"/>
          </a:xfrm>
          <a:prstGeom prst="roundRect">
            <a:avLst>
              <a:gd fmla="val 16667" name="adj"/>
            </a:avLst>
          </a:prstGeom>
          <a:solidFill>
            <a:srgbClr val="D4E4D1"/>
          </a:solidFill>
          <a:ln>
            <a:noFill/>
          </a:ln>
        </p:spPr>
        <p:txBody>
          <a:bodyPr anchorCtr="0" anchor="ctr" bIns="91425" lIns="91425" spcFirstLastPara="1" rIns="91425" wrap="square" tIns="91425">
            <a:noAutofit/>
          </a:bodyPr>
          <a:lstStyle/>
          <a:p>
            <a:pPr indent="0" lvl="0" marL="274320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416" name="Google Shape;416;g3d5f0fe9fd8_0_478"/>
          <p:cNvSpPr/>
          <p:nvPr/>
        </p:nvSpPr>
        <p:spPr>
          <a:xfrm>
            <a:off x="553500" y="1439825"/>
            <a:ext cx="3244500" cy="1170900"/>
          </a:xfrm>
          <a:prstGeom prst="roundRect">
            <a:avLst>
              <a:gd fmla="val 16667" name="adj"/>
            </a:avLst>
          </a:prstGeom>
          <a:solidFill>
            <a:srgbClr val="F5F0E8"/>
          </a:solidFill>
          <a:ln>
            <a:noFill/>
          </a:ln>
        </p:spPr>
        <p:txBody>
          <a:bodyPr anchorCtr="0" anchor="ctr" bIns="91425" lIns="91425" spcFirstLastPara="1" rIns="91425" wrap="square" tIns="91425">
            <a:noAutofit/>
          </a:bodyPr>
          <a:lstStyle/>
          <a:p>
            <a:pPr indent="0" lvl="0" marL="274320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417" name="Google Shape;417;g3d5f0fe9fd8_0_478"/>
          <p:cNvSpPr/>
          <p:nvPr/>
        </p:nvSpPr>
        <p:spPr>
          <a:xfrm>
            <a:off x="553500" y="3137342"/>
            <a:ext cx="3244500" cy="1170900"/>
          </a:xfrm>
          <a:prstGeom prst="roundRect">
            <a:avLst>
              <a:gd fmla="val 16667" name="adj"/>
            </a:avLst>
          </a:prstGeom>
          <a:solidFill>
            <a:srgbClr val="CFE2F3"/>
          </a:solidFill>
          <a:ln>
            <a:noFill/>
          </a:ln>
        </p:spPr>
        <p:txBody>
          <a:bodyPr anchorCtr="0" anchor="ctr" bIns="91425" lIns="91425" spcFirstLastPara="1" rIns="91425" wrap="square" tIns="91425">
            <a:noAutofit/>
          </a:bodyPr>
          <a:lstStyle/>
          <a:p>
            <a:pPr indent="0" lvl="0" marL="274320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418" name="Google Shape;418;g3d5f0fe9fd8_0_478"/>
          <p:cNvSpPr/>
          <p:nvPr/>
        </p:nvSpPr>
        <p:spPr>
          <a:xfrm>
            <a:off x="4305300" y="3137342"/>
            <a:ext cx="3328200" cy="1170900"/>
          </a:xfrm>
          <a:prstGeom prst="roundRect">
            <a:avLst>
              <a:gd fmla="val 16667" name="adj"/>
            </a:avLst>
          </a:prstGeom>
          <a:solidFill>
            <a:srgbClr val="F4CCCC"/>
          </a:solidFill>
          <a:ln>
            <a:noFill/>
          </a:ln>
        </p:spPr>
        <p:txBody>
          <a:bodyPr anchorCtr="0" anchor="ctr" bIns="108175" lIns="108175" spcFirstLastPara="1" rIns="108175" wrap="square" tIns="108175">
            <a:noAutofit/>
          </a:bodyPr>
          <a:lstStyle/>
          <a:p>
            <a:pPr indent="0" lvl="0" marL="3245509" marR="0" rtl="0" algn="ctr">
              <a:lnSpc>
                <a:spcPct val="100000"/>
              </a:lnSpc>
              <a:spcBef>
                <a:spcPts val="0"/>
              </a:spcBef>
              <a:spcAft>
                <a:spcPts val="0"/>
              </a:spcAft>
              <a:buClr>
                <a:srgbClr val="000000"/>
              </a:buClr>
              <a:buSzPts val="1656"/>
              <a:buFont typeface="Arial"/>
              <a:buNone/>
            </a:pPr>
            <a:r>
              <a:t/>
            </a:r>
            <a:endParaRPr b="0" i="0" sz="1656" u="none" cap="none" strike="noStrike">
              <a:solidFill>
                <a:srgbClr val="000000"/>
              </a:solidFill>
              <a:latin typeface="Inter"/>
              <a:ea typeface="Inter"/>
              <a:cs typeface="Inter"/>
              <a:sym typeface="Inter"/>
            </a:endParaRPr>
          </a:p>
        </p:txBody>
      </p:sp>
      <p:sp>
        <p:nvSpPr>
          <p:cNvPr id="419" name="Google Shape;419;g3d5f0fe9fd8_0_478"/>
          <p:cNvSpPr txBox="1"/>
          <p:nvPr/>
        </p:nvSpPr>
        <p:spPr>
          <a:xfrm>
            <a:off x="744600" y="1559867"/>
            <a:ext cx="2862300" cy="996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sz="1500">
                <a:solidFill>
                  <a:schemeClr val="dk1"/>
                </a:solidFill>
                <a:latin typeface="Inter"/>
                <a:ea typeface="Inter"/>
                <a:cs typeface="Inter"/>
                <a:sym typeface="Inter"/>
              </a:rPr>
              <a:t>Clear, documented processes so others can reproduce your work</a:t>
            </a:r>
            <a:endParaRPr sz="1500">
              <a:solidFill>
                <a:schemeClr val="dk1"/>
              </a:solidFill>
              <a:latin typeface="Inter"/>
              <a:ea typeface="Inter"/>
              <a:cs typeface="Inter"/>
              <a:sym typeface="Inter"/>
            </a:endParaRPr>
          </a:p>
          <a:p>
            <a:pPr indent="0" lvl="0" marL="0" marR="0" rtl="0" algn="l">
              <a:lnSpc>
                <a:spcPct val="100000"/>
              </a:lnSpc>
              <a:spcBef>
                <a:spcPts val="1200"/>
              </a:spcBef>
              <a:spcAft>
                <a:spcPts val="0"/>
              </a:spcAft>
              <a:buClr>
                <a:srgbClr val="000000"/>
              </a:buClr>
              <a:buSzPts val="1500"/>
              <a:buFont typeface="Arial"/>
              <a:buNone/>
            </a:pPr>
            <a:r>
              <a:t/>
            </a:r>
            <a:endParaRPr sz="1500">
              <a:solidFill>
                <a:schemeClr val="dk1"/>
              </a:solidFill>
              <a:latin typeface="Inter"/>
              <a:ea typeface="Inter"/>
              <a:cs typeface="Inter"/>
              <a:sym typeface="Inter"/>
            </a:endParaRPr>
          </a:p>
        </p:txBody>
      </p:sp>
      <p:sp>
        <p:nvSpPr>
          <p:cNvPr id="420" name="Google Shape;420;g3d5f0fe9fd8_0_478"/>
          <p:cNvSpPr txBox="1"/>
          <p:nvPr/>
        </p:nvSpPr>
        <p:spPr>
          <a:xfrm>
            <a:off x="4611200" y="1699550"/>
            <a:ext cx="2799900" cy="738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sz="1500">
                <a:solidFill>
                  <a:schemeClr val="dk1"/>
                </a:solidFill>
                <a:latin typeface="Inter"/>
                <a:ea typeface="Inter"/>
                <a:cs typeface="Inter"/>
                <a:sym typeface="Inter"/>
              </a:rPr>
              <a:t>Ensure reliability and credibility of your findings</a:t>
            </a:r>
            <a:endParaRPr sz="1500">
              <a:solidFill>
                <a:schemeClr val="dk1"/>
              </a:solidFill>
              <a:latin typeface="Inter"/>
              <a:ea typeface="Inter"/>
              <a:cs typeface="Inter"/>
              <a:sym typeface="Inter"/>
            </a:endParaRPr>
          </a:p>
          <a:p>
            <a:pPr indent="0" lvl="0" marL="0" marR="0" rtl="0" algn="l">
              <a:lnSpc>
                <a:spcPct val="100000"/>
              </a:lnSpc>
              <a:spcBef>
                <a:spcPts val="1200"/>
              </a:spcBef>
              <a:spcAft>
                <a:spcPts val="0"/>
              </a:spcAft>
              <a:buClr>
                <a:srgbClr val="000000"/>
              </a:buClr>
              <a:buSzPts val="1500"/>
              <a:buFont typeface="Arial"/>
              <a:buNone/>
            </a:pPr>
            <a:r>
              <a:t/>
            </a:r>
            <a:endParaRPr sz="1500">
              <a:solidFill>
                <a:schemeClr val="dk1"/>
              </a:solidFill>
              <a:latin typeface="Inter"/>
              <a:ea typeface="Inter"/>
              <a:cs typeface="Inter"/>
              <a:sym typeface="Inter"/>
            </a:endParaRPr>
          </a:p>
        </p:txBody>
      </p:sp>
      <p:sp>
        <p:nvSpPr>
          <p:cNvPr id="421" name="Google Shape;421;g3d5f0fe9fd8_0_478"/>
          <p:cNvSpPr txBox="1"/>
          <p:nvPr/>
        </p:nvSpPr>
        <p:spPr>
          <a:xfrm>
            <a:off x="819300" y="3358299"/>
            <a:ext cx="2712900" cy="738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sz="1500">
                <a:solidFill>
                  <a:schemeClr val="dk1"/>
                </a:solidFill>
                <a:latin typeface="Inter"/>
                <a:ea typeface="Inter"/>
                <a:cs typeface="Inter"/>
                <a:sym typeface="Inter"/>
              </a:rPr>
              <a:t>Clear decision logs and comments in code</a:t>
            </a:r>
            <a:endParaRPr sz="1500">
              <a:solidFill>
                <a:schemeClr val="dk1"/>
              </a:solidFill>
              <a:latin typeface="Inter"/>
              <a:ea typeface="Inter"/>
              <a:cs typeface="Inter"/>
              <a:sym typeface="Inter"/>
            </a:endParaRPr>
          </a:p>
          <a:p>
            <a:pPr indent="0" lvl="0" marL="0" marR="0" rtl="0" algn="l">
              <a:lnSpc>
                <a:spcPct val="100000"/>
              </a:lnSpc>
              <a:spcBef>
                <a:spcPts val="1200"/>
              </a:spcBef>
              <a:spcAft>
                <a:spcPts val="0"/>
              </a:spcAft>
              <a:buClr>
                <a:srgbClr val="000000"/>
              </a:buClr>
              <a:buSzPts val="1500"/>
              <a:buFont typeface="Arial"/>
              <a:buNone/>
            </a:pPr>
            <a:r>
              <a:t/>
            </a:r>
            <a:endParaRPr sz="1500">
              <a:solidFill>
                <a:schemeClr val="dk1"/>
              </a:solidFill>
              <a:latin typeface="Inter"/>
              <a:ea typeface="Inter"/>
              <a:cs typeface="Inter"/>
              <a:sym typeface="Inter"/>
            </a:endParaRPr>
          </a:p>
        </p:txBody>
      </p:sp>
      <p:sp>
        <p:nvSpPr>
          <p:cNvPr id="422" name="Google Shape;422;g3d5f0fe9fd8_0_478"/>
          <p:cNvSpPr txBox="1"/>
          <p:nvPr/>
        </p:nvSpPr>
        <p:spPr>
          <a:xfrm>
            <a:off x="4612950" y="3385465"/>
            <a:ext cx="2712900" cy="738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sz="1500">
                <a:solidFill>
                  <a:schemeClr val="dk1"/>
                </a:solidFill>
                <a:latin typeface="Inter"/>
                <a:ea typeface="Inter"/>
                <a:cs typeface="Inter"/>
                <a:sym typeface="Inter"/>
              </a:rPr>
              <a:t>GitHub or publication of your process</a:t>
            </a:r>
            <a:endParaRPr sz="1500">
              <a:solidFill>
                <a:schemeClr val="dk1"/>
              </a:solidFill>
              <a:latin typeface="Inter"/>
              <a:ea typeface="Inter"/>
              <a:cs typeface="Inter"/>
              <a:sym typeface="Inter"/>
            </a:endParaRPr>
          </a:p>
          <a:p>
            <a:pPr indent="0" lvl="0" marL="0" marR="0" rtl="0" algn="l">
              <a:lnSpc>
                <a:spcPct val="100000"/>
              </a:lnSpc>
              <a:spcBef>
                <a:spcPts val="1200"/>
              </a:spcBef>
              <a:spcAft>
                <a:spcPts val="0"/>
              </a:spcAft>
              <a:buClr>
                <a:srgbClr val="000000"/>
              </a:buClr>
              <a:buSzPts val="1500"/>
              <a:buFont typeface="Arial"/>
              <a:buNone/>
            </a:pPr>
            <a:r>
              <a:t/>
            </a:r>
            <a:endParaRPr sz="1500">
              <a:solidFill>
                <a:schemeClr val="dk1"/>
              </a:solidFill>
              <a:latin typeface="Inter"/>
              <a:ea typeface="Inter"/>
              <a:cs typeface="Inter"/>
              <a:sym typeface="Inter"/>
            </a:endParaRPr>
          </a:p>
        </p:txBody>
      </p:sp>
      <p:pic>
        <p:nvPicPr>
          <p:cNvPr descr="simple icon for reproducibility and verification with #14AD81 color" id="423" name="Google Shape;423;g3d5f0fe9fd8_0_478"/>
          <p:cNvPicPr preferRelativeResize="0"/>
          <p:nvPr/>
        </p:nvPicPr>
        <p:blipFill>
          <a:blip r:embed="rId4">
            <a:alphaModFix/>
          </a:blip>
          <a:stretch>
            <a:fillRect/>
          </a:stretch>
        </p:blipFill>
        <p:spPr>
          <a:xfrm>
            <a:off x="287585" y="357325"/>
            <a:ext cx="738900" cy="7389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grpSp>
        <p:nvGrpSpPr>
          <p:cNvPr id="428" name="Google Shape;428;g3e45df3a92f_0_153"/>
          <p:cNvGrpSpPr/>
          <p:nvPr/>
        </p:nvGrpSpPr>
        <p:grpSpPr>
          <a:xfrm>
            <a:off x="8625" y="0"/>
            <a:ext cx="9144000" cy="267600"/>
            <a:chOff x="8625" y="0"/>
            <a:chExt cx="9144000" cy="267600"/>
          </a:xfrm>
        </p:grpSpPr>
        <p:sp>
          <p:nvSpPr>
            <p:cNvPr id="429" name="Google Shape;429;g3e45df3a92f_0_153"/>
            <p:cNvSpPr/>
            <p:nvPr/>
          </p:nvSpPr>
          <p:spPr>
            <a:xfrm>
              <a:off x="8625" y="0"/>
              <a:ext cx="9144000" cy="2676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30" name="Google Shape;430;g3e45df3a92f_0_153" title="Logo Header.png"/>
            <p:cNvPicPr preferRelativeResize="0"/>
            <p:nvPr/>
          </p:nvPicPr>
          <p:blipFill rotWithShape="1">
            <a:blip r:embed="rId3">
              <a:alphaModFix/>
            </a:blip>
            <a:srcRect b="0" l="0" r="0" t="0"/>
            <a:stretch/>
          </p:blipFill>
          <p:spPr>
            <a:xfrm>
              <a:off x="8348195" y="15790"/>
              <a:ext cx="634775" cy="199625"/>
            </a:xfrm>
            <a:prstGeom prst="rect">
              <a:avLst/>
            </a:prstGeom>
            <a:noFill/>
            <a:ln>
              <a:noFill/>
            </a:ln>
          </p:spPr>
        </p:pic>
      </p:grpSp>
      <p:sp>
        <p:nvSpPr>
          <p:cNvPr id="431" name="Google Shape;431;g3e45df3a92f_0_153"/>
          <p:cNvSpPr txBox="1"/>
          <p:nvPr>
            <p:ph idx="1" type="subTitle"/>
          </p:nvPr>
        </p:nvSpPr>
        <p:spPr>
          <a:xfrm>
            <a:off x="1118593" y="382982"/>
            <a:ext cx="7419600" cy="738900"/>
          </a:xfrm>
          <a:prstGeom prst="rect">
            <a:avLst/>
          </a:prstGeom>
          <a:noFill/>
          <a:ln>
            <a:noFill/>
          </a:ln>
        </p:spPr>
        <p:txBody>
          <a:bodyPr anchorCtr="0" anchor="t" bIns="91425" lIns="91425" spcFirstLastPara="1" rIns="91425" wrap="square" tIns="91425">
            <a:normAutofit lnSpcReduction="20000"/>
          </a:bodyPr>
          <a:lstStyle/>
          <a:p>
            <a:pPr indent="0" lvl="0" marL="0" rtl="0" algn="l">
              <a:lnSpc>
                <a:spcPct val="100000"/>
              </a:lnSpc>
              <a:spcBef>
                <a:spcPts val="0"/>
              </a:spcBef>
              <a:spcAft>
                <a:spcPts val="0"/>
              </a:spcAft>
              <a:buSzPts val="2800"/>
              <a:buNone/>
            </a:pPr>
            <a:r>
              <a:rPr b="1" lang="en" sz="2700">
                <a:solidFill>
                  <a:schemeClr val="dk1"/>
                </a:solidFill>
                <a:latin typeface="Inter"/>
                <a:ea typeface="Inter"/>
                <a:cs typeface="Inter"/>
                <a:sym typeface="Inter"/>
              </a:rPr>
              <a:t>Reproducibility </a:t>
            </a:r>
            <a:endParaRPr b="1" sz="2700">
              <a:solidFill>
                <a:schemeClr val="dk1"/>
              </a:solidFill>
              <a:latin typeface="Inter"/>
              <a:ea typeface="Inter"/>
              <a:cs typeface="Inter"/>
              <a:sym typeface="Inter"/>
            </a:endParaRPr>
          </a:p>
          <a:p>
            <a:pPr indent="0" lvl="0" marL="0" rtl="0" algn="l">
              <a:lnSpc>
                <a:spcPct val="100000"/>
              </a:lnSpc>
              <a:spcBef>
                <a:spcPts val="0"/>
              </a:spcBef>
              <a:spcAft>
                <a:spcPts val="0"/>
              </a:spcAft>
              <a:buSzPts val="2800"/>
              <a:buNone/>
            </a:pPr>
            <a:r>
              <a:rPr i="1" lang="en" sz="1500">
                <a:solidFill>
                  <a:schemeClr val="dk1"/>
                </a:solidFill>
                <a:latin typeface="Inter"/>
                <a:ea typeface="Inter"/>
                <a:cs typeface="Inter"/>
                <a:sym typeface="Inter"/>
              </a:rPr>
              <a:t>Designing projects so others can verify the results by using the same methods</a:t>
            </a:r>
            <a:endParaRPr i="1" sz="1500">
              <a:solidFill>
                <a:schemeClr val="dk1"/>
              </a:solidFill>
              <a:latin typeface="Inter"/>
              <a:ea typeface="Inter"/>
              <a:cs typeface="Inter"/>
              <a:sym typeface="Inter"/>
            </a:endParaRPr>
          </a:p>
        </p:txBody>
      </p:sp>
      <p:pic>
        <p:nvPicPr>
          <p:cNvPr descr="simple icon for reproducibility and verification with #14AD81 color" id="432" name="Google Shape;432;g3e45df3a92f_0_153"/>
          <p:cNvPicPr preferRelativeResize="0"/>
          <p:nvPr/>
        </p:nvPicPr>
        <p:blipFill>
          <a:blip r:embed="rId4">
            <a:alphaModFix/>
          </a:blip>
          <a:stretch>
            <a:fillRect/>
          </a:stretch>
        </p:blipFill>
        <p:spPr>
          <a:xfrm>
            <a:off x="287585" y="357325"/>
            <a:ext cx="738900" cy="738900"/>
          </a:xfrm>
          <a:prstGeom prst="rect">
            <a:avLst/>
          </a:prstGeom>
          <a:noFill/>
          <a:ln>
            <a:noFill/>
          </a:ln>
        </p:spPr>
      </p:pic>
      <p:graphicFrame>
        <p:nvGraphicFramePr>
          <p:cNvPr id="433" name="Google Shape;433;g3e45df3a92f_0_153"/>
          <p:cNvGraphicFramePr/>
          <p:nvPr/>
        </p:nvGraphicFramePr>
        <p:xfrm>
          <a:off x="225325" y="1423450"/>
          <a:ext cx="3000000" cy="3000000"/>
        </p:xfrm>
        <a:graphic>
          <a:graphicData uri="http://schemas.openxmlformats.org/drawingml/2006/table">
            <a:tbl>
              <a:tblPr>
                <a:noFill/>
                <a:tableStyleId>{BD242995-2E1B-4E11-8BAC-C2370DC31B60}</a:tableStyleId>
              </a:tblPr>
              <a:tblGrid>
                <a:gridCol w="2505075"/>
                <a:gridCol w="6286500"/>
              </a:tblGrid>
              <a:tr h="523875">
                <a:tc>
                  <a:txBody>
                    <a:bodyPr/>
                    <a:lstStyle/>
                    <a:p>
                      <a:pPr indent="0" lvl="0" marL="0" rtl="0" algn="l">
                        <a:lnSpc>
                          <a:spcPct val="115000"/>
                        </a:lnSpc>
                        <a:spcBef>
                          <a:spcPts val="0"/>
                        </a:spcBef>
                        <a:spcAft>
                          <a:spcPts val="0"/>
                        </a:spcAft>
                        <a:buNone/>
                      </a:pPr>
                      <a:r>
                        <a:rPr b="1" lang="en" sz="1100" u="sng">
                          <a:solidFill>
                            <a:srgbClr val="1F1F1F"/>
                          </a:solidFill>
                        </a:rPr>
                        <a:t>General Reproducibility Checklist</a:t>
                      </a:r>
                      <a:endParaRPr b="1" sz="1100" u="sng">
                        <a:solidFill>
                          <a:srgbClr val="1F1F1F"/>
                        </a:solidFill>
                      </a:endParaRPr>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n" sz="1100" u="sng">
                          <a:solidFill>
                            <a:srgbClr val="1F1F1F"/>
                          </a:solidFill>
                        </a:rPr>
                        <a:t>FairFace Checklist</a:t>
                      </a:r>
                      <a:endParaRPr b="1" sz="1100" u="sng">
                        <a:solidFill>
                          <a:srgbClr val="1F1F1F"/>
                        </a:solidFill>
                      </a:endParaRPr>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solidFill>
                      <a:srgbClr val="EFEFEF"/>
                    </a:solidFill>
                  </a:tcPr>
                </a:tc>
              </a:tr>
              <a:tr h="523875">
                <a:tc>
                  <a:txBody>
                    <a:bodyPr/>
                    <a:lstStyle/>
                    <a:p>
                      <a:pPr indent="0" lvl="0" marL="0" rtl="0" algn="l">
                        <a:lnSpc>
                          <a:spcPct val="115000"/>
                        </a:lnSpc>
                        <a:spcBef>
                          <a:spcPts val="0"/>
                        </a:spcBef>
                        <a:spcAft>
                          <a:spcPts val="0"/>
                        </a:spcAft>
                        <a:buNone/>
                      </a:pPr>
                      <a:r>
                        <a:rPr b="1" lang="en" sz="1100">
                          <a:solidFill>
                            <a:srgbClr val="1F1F1F"/>
                          </a:solidFill>
                        </a:rPr>
                        <a:t>Dataset &amp; Model Access</a:t>
                      </a:r>
                      <a:endParaRPr b="1" sz="1100">
                        <a:solidFill>
                          <a:srgbClr val="1F1F1F"/>
                        </a:solidFill>
                      </a:endParaRPr>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Document the specific Hugging Face repository commit hash and source image resolution.</a:t>
                      </a:r>
                      <a:endParaRPr sz="1100">
                        <a:solidFill>
                          <a:srgbClr val="1F1F1F"/>
                        </a:solidFill>
                      </a:endParaRPr>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tcPr>
                </a:tc>
              </a:tr>
              <a:tr h="523875">
                <a:tc>
                  <a:txBody>
                    <a:bodyPr/>
                    <a:lstStyle/>
                    <a:p>
                      <a:pPr indent="0" lvl="0" marL="0" rtl="0" algn="l">
                        <a:lnSpc>
                          <a:spcPct val="115000"/>
                        </a:lnSpc>
                        <a:spcBef>
                          <a:spcPts val="0"/>
                        </a:spcBef>
                        <a:spcAft>
                          <a:spcPts val="0"/>
                        </a:spcAft>
                        <a:buNone/>
                      </a:pPr>
                      <a:r>
                        <a:rPr b="1" lang="en" sz="1100">
                          <a:solidFill>
                            <a:srgbClr val="1F1F1F"/>
                          </a:solidFill>
                        </a:rPr>
                        <a:t>Variable Definitions</a:t>
                      </a:r>
                      <a:endParaRPr b="1" sz="1100">
                        <a:solidFill>
                          <a:srgbClr val="1F1F1F"/>
                        </a:solidFill>
                      </a:endParaRPr>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Explicitly define how "perceived race" and "perceived gender" are labeled in the data attributes.</a:t>
                      </a:r>
                      <a:endParaRPr sz="1100">
                        <a:solidFill>
                          <a:srgbClr val="1F1F1F"/>
                        </a:solidFill>
                      </a:endParaRPr>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tcPr>
                </a:tc>
              </a:tr>
              <a:tr h="342900">
                <a:tc>
                  <a:txBody>
                    <a:bodyPr/>
                    <a:lstStyle/>
                    <a:p>
                      <a:pPr indent="0" lvl="0" marL="0" rtl="0" algn="l">
                        <a:lnSpc>
                          <a:spcPct val="115000"/>
                        </a:lnSpc>
                        <a:spcBef>
                          <a:spcPts val="0"/>
                        </a:spcBef>
                        <a:spcAft>
                          <a:spcPts val="0"/>
                        </a:spcAft>
                        <a:buNone/>
                      </a:pPr>
                      <a:r>
                        <a:rPr b="1" lang="en" sz="1100">
                          <a:solidFill>
                            <a:srgbClr val="1F1F1F"/>
                          </a:solidFill>
                        </a:rPr>
                        <a:t>Classification Task</a:t>
                      </a:r>
                      <a:endParaRPr b="1" sz="1100">
                        <a:solidFill>
                          <a:srgbClr val="1F1F1F"/>
                        </a:solidFill>
                      </a:endParaRPr>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Define the exact machine learning task (e.g., multi-class facial attribute classification).</a:t>
                      </a:r>
                      <a:endParaRPr sz="1100">
                        <a:solidFill>
                          <a:srgbClr val="1F1F1F"/>
                        </a:solidFill>
                      </a:endParaRPr>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tcPr>
                </a:tc>
              </a:tr>
              <a:tr h="523875">
                <a:tc>
                  <a:txBody>
                    <a:bodyPr/>
                    <a:lstStyle/>
                    <a:p>
                      <a:pPr indent="0" lvl="0" marL="0" rtl="0" algn="l">
                        <a:lnSpc>
                          <a:spcPct val="115000"/>
                        </a:lnSpc>
                        <a:spcBef>
                          <a:spcPts val="0"/>
                        </a:spcBef>
                        <a:spcAft>
                          <a:spcPts val="0"/>
                        </a:spcAft>
                        <a:buNone/>
                      </a:pPr>
                      <a:r>
                        <a:rPr b="1" lang="en" sz="1100">
                          <a:solidFill>
                            <a:srgbClr val="1F1F1F"/>
                          </a:solidFill>
                        </a:rPr>
                        <a:t>Performance Metrics</a:t>
                      </a:r>
                      <a:endParaRPr b="1" sz="1100">
                        <a:solidFill>
                          <a:srgbClr val="1F1F1F"/>
                        </a:solidFill>
                      </a:endParaRPr>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Track per-class error rates and intersectional confusion matrices, not just overall accuracy.</a:t>
                      </a:r>
                      <a:endParaRPr sz="1100">
                        <a:solidFill>
                          <a:srgbClr val="1F1F1F"/>
                        </a:solidFill>
                      </a:endParaRPr>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tcPr>
                </a:tc>
              </a:tr>
              <a:tr h="523875">
                <a:tc>
                  <a:txBody>
                    <a:bodyPr/>
                    <a:lstStyle/>
                    <a:p>
                      <a:pPr indent="0" lvl="0" marL="0" rtl="0" algn="l">
                        <a:lnSpc>
                          <a:spcPct val="115000"/>
                        </a:lnSpc>
                        <a:spcBef>
                          <a:spcPts val="0"/>
                        </a:spcBef>
                        <a:spcAft>
                          <a:spcPts val="0"/>
                        </a:spcAft>
                        <a:buNone/>
                      </a:pPr>
                      <a:r>
                        <a:rPr b="1" lang="en" sz="1100">
                          <a:solidFill>
                            <a:srgbClr val="1F1F1F"/>
                          </a:solidFill>
                        </a:rPr>
                        <a:t>Decision &amp; Subgroup Log</a:t>
                      </a:r>
                      <a:endParaRPr b="1" sz="1100">
                        <a:solidFill>
                          <a:srgbClr val="1F1F1F"/>
                        </a:solidFill>
                      </a:endParaRPr>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Save a decision log detailing why certain outlier images or ambiguous labels were included/excluded.</a:t>
                      </a:r>
                      <a:endParaRPr sz="1100">
                        <a:solidFill>
                          <a:srgbClr val="1F1F1F"/>
                        </a:solidFill>
                      </a:endParaRPr>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grpSp>
        <p:nvGrpSpPr>
          <p:cNvPr id="438" name="Google Shape;438;g3d5f0fe9fd8_0_498"/>
          <p:cNvGrpSpPr/>
          <p:nvPr/>
        </p:nvGrpSpPr>
        <p:grpSpPr>
          <a:xfrm>
            <a:off x="8625" y="0"/>
            <a:ext cx="9144000" cy="267600"/>
            <a:chOff x="8625" y="0"/>
            <a:chExt cx="9144000" cy="267600"/>
          </a:xfrm>
        </p:grpSpPr>
        <p:sp>
          <p:nvSpPr>
            <p:cNvPr id="439" name="Google Shape;439;g3d5f0fe9fd8_0_498"/>
            <p:cNvSpPr/>
            <p:nvPr/>
          </p:nvSpPr>
          <p:spPr>
            <a:xfrm>
              <a:off x="8625" y="0"/>
              <a:ext cx="9144000" cy="2676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40" name="Google Shape;440;g3d5f0fe9fd8_0_498" title="Logo Header.png"/>
            <p:cNvPicPr preferRelativeResize="0"/>
            <p:nvPr/>
          </p:nvPicPr>
          <p:blipFill rotWithShape="1">
            <a:blip r:embed="rId3">
              <a:alphaModFix/>
            </a:blip>
            <a:srcRect b="0" l="0" r="0" t="0"/>
            <a:stretch/>
          </p:blipFill>
          <p:spPr>
            <a:xfrm>
              <a:off x="8348195" y="15790"/>
              <a:ext cx="634775" cy="199625"/>
            </a:xfrm>
            <a:prstGeom prst="rect">
              <a:avLst/>
            </a:prstGeom>
            <a:noFill/>
            <a:ln>
              <a:noFill/>
            </a:ln>
          </p:spPr>
        </p:pic>
      </p:grpSp>
      <p:sp>
        <p:nvSpPr>
          <p:cNvPr id="441" name="Google Shape;441;g3d5f0fe9fd8_0_498"/>
          <p:cNvSpPr txBox="1"/>
          <p:nvPr>
            <p:ph idx="1" type="subTitle"/>
          </p:nvPr>
        </p:nvSpPr>
        <p:spPr>
          <a:xfrm>
            <a:off x="1078575" y="298578"/>
            <a:ext cx="7867800" cy="922500"/>
          </a:xfrm>
          <a:prstGeom prst="rect">
            <a:avLst/>
          </a:prstGeom>
          <a:noFill/>
          <a:ln>
            <a:noFill/>
          </a:ln>
        </p:spPr>
        <p:txBody>
          <a:bodyPr anchorCtr="0" anchor="t" bIns="91425" lIns="91425" spcFirstLastPara="1" rIns="91425" wrap="square" tIns="91425">
            <a:normAutofit fontScale="77500" lnSpcReduction="20000"/>
          </a:bodyPr>
          <a:lstStyle/>
          <a:p>
            <a:pPr indent="0" lvl="0" marL="0" rtl="0" algn="l">
              <a:lnSpc>
                <a:spcPct val="100000"/>
              </a:lnSpc>
              <a:spcBef>
                <a:spcPts val="0"/>
              </a:spcBef>
              <a:spcAft>
                <a:spcPts val="0"/>
              </a:spcAft>
              <a:buSzPct val="88889"/>
              <a:buNone/>
            </a:pPr>
            <a:r>
              <a:rPr b="1" lang="en" sz="3150">
                <a:solidFill>
                  <a:schemeClr val="dk1"/>
                </a:solidFill>
                <a:latin typeface="Inter"/>
                <a:ea typeface="Inter"/>
                <a:cs typeface="Inter"/>
                <a:sym typeface="Inter"/>
              </a:rPr>
              <a:t>Accessibility &amp; Inclusivity</a:t>
            </a:r>
            <a:endParaRPr b="1" sz="3150">
              <a:solidFill>
                <a:schemeClr val="dk1"/>
              </a:solidFill>
              <a:latin typeface="Inter"/>
              <a:ea typeface="Inter"/>
              <a:cs typeface="Inter"/>
              <a:sym typeface="Inter"/>
            </a:endParaRPr>
          </a:p>
          <a:p>
            <a:pPr indent="0" lvl="0" marL="0" rtl="0" algn="l">
              <a:spcBef>
                <a:spcPts val="0"/>
              </a:spcBef>
              <a:spcAft>
                <a:spcPts val="0"/>
              </a:spcAft>
              <a:buClr>
                <a:schemeClr val="dk1"/>
              </a:buClr>
              <a:buSzPct val="147368"/>
              <a:buFont typeface="Arial"/>
              <a:buNone/>
            </a:pPr>
            <a:r>
              <a:rPr i="1" lang="en" sz="1900">
                <a:solidFill>
                  <a:schemeClr val="dk1"/>
                </a:solidFill>
                <a:latin typeface="Inter"/>
                <a:ea typeface="Inter"/>
                <a:cs typeface="Inter"/>
                <a:sym typeface="Inter"/>
              </a:rPr>
              <a:t>Consider who may be excluded from your work</a:t>
            </a:r>
            <a:endParaRPr i="1" sz="1900">
              <a:solidFill>
                <a:schemeClr val="dk1"/>
              </a:solidFill>
              <a:latin typeface="Inter"/>
              <a:ea typeface="Inter"/>
              <a:cs typeface="Inter"/>
              <a:sym typeface="Inter"/>
            </a:endParaRPr>
          </a:p>
          <a:p>
            <a:pPr indent="0" lvl="0" marL="0" rtl="0" algn="l">
              <a:lnSpc>
                <a:spcPct val="100000"/>
              </a:lnSpc>
              <a:spcBef>
                <a:spcPts val="0"/>
              </a:spcBef>
              <a:spcAft>
                <a:spcPts val="0"/>
              </a:spcAft>
              <a:buSzPct val="103704"/>
              <a:buNone/>
            </a:pPr>
            <a:r>
              <a:t/>
            </a:r>
            <a:endParaRPr b="1" sz="2700">
              <a:solidFill>
                <a:schemeClr val="dk1"/>
              </a:solidFill>
              <a:latin typeface="Inter"/>
              <a:ea typeface="Inter"/>
              <a:cs typeface="Inter"/>
              <a:sym typeface="Inter"/>
            </a:endParaRPr>
          </a:p>
        </p:txBody>
      </p:sp>
      <p:sp>
        <p:nvSpPr>
          <p:cNvPr id="442" name="Google Shape;442;g3d5f0fe9fd8_0_498"/>
          <p:cNvSpPr/>
          <p:nvPr/>
        </p:nvSpPr>
        <p:spPr>
          <a:xfrm>
            <a:off x="560679" y="1058461"/>
            <a:ext cx="7867800" cy="922500"/>
          </a:xfrm>
          <a:prstGeom prst="roundRect">
            <a:avLst>
              <a:gd fmla="val 16667" name="adj"/>
            </a:avLst>
          </a:prstGeom>
          <a:solidFill>
            <a:srgbClr val="D4E4D1"/>
          </a:solidFill>
          <a:ln>
            <a:noFill/>
          </a:ln>
        </p:spPr>
        <p:txBody>
          <a:bodyPr anchorCtr="0" anchor="ctr" bIns="91425" lIns="91425" spcFirstLastPara="1" rIns="91425" wrap="square" tIns="91425">
            <a:noAutofit/>
          </a:bodyPr>
          <a:lstStyle/>
          <a:p>
            <a:pPr indent="0" lvl="0" marL="274320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443" name="Google Shape;443;g3d5f0fe9fd8_0_498"/>
          <p:cNvSpPr txBox="1"/>
          <p:nvPr/>
        </p:nvSpPr>
        <p:spPr>
          <a:xfrm>
            <a:off x="804749" y="1205938"/>
            <a:ext cx="7534500" cy="723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sz="1500">
                <a:solidFill>
                  <a:schemeClr val="dk1"/>
                </a:solidFill>
                <a:latin typeface="Inter"/>
                <a:ea typeface="Inter"/>
                <a:cs typeface="Inter"/>
                <a:sym typeface="Inter"/>
              </a:rPr>
              <a:t>Are visualizations accessible to those with vision impairments? </a:t>
            </a:r>
            <a:r>
              <a:rPr lang="en" sz="1500">
                <a:solidFill>
                  <a:schemeClr val="dk1"/>
                </a:solidFill>
                <a:latin typeface="Inter"/>
                <a:ea typeface="Inter"/>
                <a:cs typeface="Inter"/>
                <a:sym typeface="Inter"/>
              </a:rPr>
              <a:t>Are you intentionally excluding people with disabilities from interacting with your work?</a:t>
            </a:r>
            <a:endParaRPr sz="1500">
              <a:solidFill>
                <a:schemeClr val="dk1"/>
              </a:solidFill>
              <a:latin typeface="Inter"/>
              <a:ea typeface="Inter"/>
              <a:cs typeface="Inter"/>
              <a:sym typeface="Inter"/>
            </a:endParaRPr>
          </a:p>
          <a:p>
            <a:pPr indent="0" lvl="0" marL="0" rtl="0" algn="l">
              <a:lnSpc>
                <a:spcPct val="115000"/>
              </a:lnSpc>
              <a:spcBef>
                <a:spcPts val="1200"/>
              </a:spcBef>
              <a:spcAft>
                <a:spcPts val="0"/>
              </a:spcAft>
              <a:buClr>
                <a:schemeClr val="dk1"/>
              </a:buClr>
              <a:buSzPts val="1100"/>
              <a:buFont typeface="Arial"/>
              <a:buNone/>
            </a:pPr>
            <a:r>
              <a:t/>
            </a:r>
            <a:endParaRPr sz="1500">
              <a:solidFill>
                <a:schemeClr val="dk1"/>
              </a:solidFill>
              <a:latin typeface="Inter"/>
              <a:ea typeface="Inter"/>
              <a:cs typeface="Inter"/>
              <a:sym typeface="Inter"/>
            </a:endParaRPr>
          </a:p>
          <a:p>
            <a:pPr indent="0" lvl="0" marL="0" rtl="0" algn="l">
              <a:lnSpc>
                <a:spcPct val="115000"/>
              </a:lnSpc>
              <a:spcBef>
                <a:spcPts val="1200"/>
              </a:spcBef>
              <a:spcAft>
                <a:spcPts val="0"/>
              </a:spcAft>
              <a:buClr>
                <a:schemeClr val="dk1"/>
              </a:buClr>
              <a:buSzPts val="1100"/>
              <a:buFont typeface="Arial"/>
              <a:buNone/>
            </a:pPr>
            <a:r>
              <a:t/>
            </a:r>
            <a:endParaRPr sz="1500">
              <a:solidFill>
                <a:schemeClr val="dk1"/>
              </a:solidFill>
              <a:latin typeface="Inter"/>
              <a:ea typeface="Inter"/>
              <a:cs typeface="Inter"/>
              <a:sym typeface="Inter"/>
            </a:endParaRPr>
          </a:p>
          <a:p>
            <a:pPr indent="0" lvl="0" marL="0" rtl="0" algn="l">
              <a:lnSpc>
                <a:spcPct val="115000"/>
              </a:lnSpc>
              <a:spcBef>
                <a:spcPts val="1200"/>
              </a:spcBef>
              <a:spcAft>
                <a:spcPts val="0"/>
              </a:spcAft>
              <a:buNone/>
            </a:pPr>
            <a:r>
              <a:t/>
            </a:r>
            <a:endParaRPr sz="1500">
              <a:solidFill>
                <a:schemeClr val="dk1"/>
              </a:solidFill>
              <a:latin typeface="Inter"/>
              <a:ea typeface="Inter"/>
              <a:cs typeface="Inter"/>
              <a:sym typeface="Inter"/>
            </a:endParaRPr>
          </a:p>
          <a:p>
            <a:pPr indent="0" lvl="0" marL="0" rtl="0" algn="l">
              <a:lnSpc>
                <a:spcPct val="115000"/>
              </a:lnSpc>
              <a:spcBef>
                <a:spcPts val="1200"/>
              </a:spcBef>
              <a:spcAft>
                <a:spcPts val="1200"/>
              </a:spcAft>
              <a:buNone/>
            </a:pPr>
            <a:r>
              <a:t/>
            </a:r>
            <a:endParaRPr sz="1500">
              <a:solidFill>
                <a:schemeClr val="dk1"/>
              </a:solidFill>
              <a:latin typeface="Inter"/>
              <a:ea typeface="Inter"/>
              <a:cs typeface="Inter"/>
              <a:sym typeface="Inter"/>
            </a:endParaRPr>
          </a:p>
        </p:txBody>
      </p:sp>
      <p:sp>
        <p:nvSpPr>
          <p:cNvPr id="444" name="Google Shape;444;g3d5f0fe9fd8_0_498"/>
          <p:cNvSpPr/>
          <p:nvPr/>
        </p:nvSpPr>
        <p:spPr>
          <a:xfrm>
            <a:off x="560679" y="2192049"/>
            <a:ext cx="7867800" cy="1247700"/>
          </a:xfrm>
          <a:prstGeom prst="roundRect">
            <a:avLst>
              <a:gd fmla="val 16667" name="adj"/>
            </a:avLst>
          </a:prstGeom>
          <a:solidFill>
            <a:srgbClr val="D4E4D1"/>
          </a:solidFill>
          <a:ln>
            <a:noFill/>
          </a:ln>
        </p:spPr>
        <p:txBody>
          <a:bodyPr anchorCtr="0" anchor="ctr" bIns="91425" lIns="91425" spcFirstLastPara="1" rIns="91425" wrap="square" tIns="91425">
            <a:noAutofit/>
          </a:bodyPr>
          <a:lstStyle/>
          <a:p>
            <a:pPr indent="0" lvl="0" marL="274320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445" name="Google Shape;445;g3d5f0fe9fd8_0_498"/>
          <p:cNvSpPr txBox="1"/>
          <p:nvPr/>
        </p:nvSpPr>
        <p:spPr>
          <a:xfrm>
            <a:off x="770374" y="2466225"/>
            <a:ext cx="7273800" cy="723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n" sz="1500">
                <a:solidFill>
                  <a:schemeClr val="dk1"/>
                </a:solidFill>
                <a:latin typeface="Inter"/>
                <a:ea typeface="Inter"/>
                <a:cs typeface="Inter"/>
                <a:sym typeface="Inter"/>
              </a:rPr>
              <a:t>Are you promoting true inclusivity, or are your visuals collapsing complex </a:t>
            </a:r>
            <a:r>
              <a:rPr lang="en" sz="1500">
                <a:solidFill>
                  <a:schemeClr val="dk1"/>
                </a:solidFill>
                <a:latin typeface="Inter"/>
                <a:ea typeface="Inter"/>
                <a:cs typeface="Inter"/>
                <a:sym typeface="Inter"/>
              </a:rPr>
              <a:t>identities</a:t>
            </a:r>
            <a:r>
              <a:rPr lang="en" sz="1500">
                <a:solidFill>
                  <a:schemeClr val="dk1"/>
                </a:solidFill>
                <a:latin typeface="Inter"/>
                <a:ea typeface="Inter"/>
                <a:cs typeface="Inter"/>
                <a:sym typeface="Inter"/>
              </a:rPr>
              <a:t> into limited or restrictive categories?</a:t>
            </a:r>
            <a:endParaRPr sz="1500">
              <a:solidFill>
                <a:schemeClr val="dk1"/>
              </a:solidFill>
              <a:latin typeface="Inter"/>
              <a:ea typeface="Inter"/>
              <a:cs typeface="Inter"/>
              <a:sym typeface="Inter"/>
            </a:endParaRPr>
          </a:p>
        </p:txBody>
      </p:sp>
      <p:pic>
        <p:nvPicPr>
          <p:cNvPr descr="no humans please just icon/symbol" id="446" name="Google Shape;446;g3d5f0fe9fd8_0_498"/>
          <p:cNvPicPr preferRelativeResize="0"/>
          <p:nvPr/>
        </p:nvPicPr>
        <p:blipFill rotWithShape="1">
          <a:blip r:embed="rId4">
            <a:alphaModFix/>
          </a:blip>
          <a:srcRect b="12116" l="11637" r="12450" t="11971"/>
          <a:stretch/>
        </p:blipFill>
        <p:spPr>
          <a:xfrm>
            <a:off x="425350" y="326026"/>
            <a:ext cx="617400" cy="617400"/>
          </a:xfrm>
          <a:prstGeom prst="ellipse">
            <a:avLst/>
          </a:prstGeom>
          <a:noFill/>
          <a:ln>
            <a:noFill/>
          </a:ln>
        </p:spPr>
      </p:pic>
      <p:sp>
        <p:nvSpPr>
          <p:cNvPr id="447" name="Google Shape;447;g3d5f0fe9fd8_0_498"/>
          <p:cNvSpPr/>
          <p:nvPr/>
        </p:nvSpPr>
        <p:spPr>
          <a:xfrm>
            <a:off x="560675" y="3593225"/>
            <a:ext cx="7867800" cy="1416000"/>
          </a:xfrm>
          <a:prstGeom prst="roundRect">
            <a:avLst>
              <a:gd fmla="val 16667" name="adj"/>
            </a:avLst>
          </a:prstGeom>
          <a:solidFill>
            <a:srgbClr val="D4E4D1"/>
          </a:solidFill>
          <a:ln>
            <a:noFill/>
          </a:ln>
        </p:spPr>
        <p:txBody>
          <a:bodyPr anchorCtr="0" anchor="ctr" bIns="91425" lIns="91425" spcFirstLastPara="1" rIns="91425" wrap="square" tIns="91425">
            <a:noAutofit/>
          </a:bodyPr>
          <a:lstStyle/>
          <a:p>
            <a:pPr indent="0" lvl="0" marL="274320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448" name="Google Shape;448;g3d5f0fe9fd8_0_498"/>
          <p:cNvSpPr txBox="1"/>
          <p:nvPr/>
        </p:nvSpPr>
        <p:spPr>
          <a:xfrm>
            <a:off x="770379" y="3611139"/>
            <a:ext cx="6704400" cy="723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sz="1500">
                <a:solidFill>
                  <a:schemeClr val="dk1"/>
                </a:solidFill>
                <a:latin typeface="Inter"/>
                <a:ea typeface="Inter"/>
                <a:cs typeface="Inter"/>
                <a:sym typeface="Inter"/>
              </a:rPr>
              <a:t>Look for local and federal governmental resources </a:t>
            </a:r>
            <a:endParaRPr sz="1500">
              <a:solidFill>
                <a:schemeClr val="dk1"/>
              </a:solidFill>
              <a:latin typeface="Inter"/>
              <a:ea typeface="Inter"/>
              <a:cs typeface="Inter"/>
              <a:sym typeface="Inter"/>
            </a:endParaRPr>
          </a:p>
          <a:p>
            <a:pPr indent="0" lvl="0" marL="0" rtl="0" algn="l">
              <a:lnSpc>
                <a:spcPct val="115000"/>
              </a:lnSpc>
              <a:spcBef>
                <a:spcPts val="1200"/>
              </a:spcBef>
              <a:spcAft>
                <a:spcPts val="0"/>
              </a:spcAft>
              <a:buNone/>
            </a:pPr>
            <a:r>
              <a:rPr lang="en" sz="1500">
                <a:solidFill>
                  <a:schemeClr val="dk1"/>
                </a:solidFill>
                <a:latin typeface="Inter"/>
                <a:ea typeface="Inter"/>
                <a:cs typeface="Inter"/>
                <a:sym typeface="Inter"/>
              </a:rPr>
              <a:t>In Ontario, AODA: </a:t>
            </a:r>
            <a:r>
              <a:rPr lang="en" sz="1500" u="sng">
                <a:solidFill>
                  <a:schemeClr val="hlink"/>
                </a:solidFill>
                <a:latin typeface="Inter"/>
                <a:ea typeface="Inter"/>
                <a:cs typeface="Inter"/>
                <a:sym typeface="Inter"/>
                <a:hlinkClick r:id="rId5"/>
              </a:rPr>
              <a:t>h</a:t>
            </a:r>
            <a:r>
              <a:rPr lang="en" sz="1500" u="sng">
                <a:solidFill>
                  <a:schemeClr val="hlink"/>
                </a:solidFill>
                <a:latin typeface="Inter"/>
                <a:ea typeface="Inter"/>
                <a:cs typeface="Inter"/>
                <a:sym typeface="Inter"/>
                <a:hlinkClick r:id="rId6"/>
              </a:rPr>
              <a:t>ttps://www.aoda.ca/implementing-federal-standards-for-accessibility-in-information-and-technology/</a:t>
            </a:r>
            <a:endParaRPr sz="1500">
              <a:solidFill>
                <a:schemeClr val="dk1"/>
              </a:solidFill>
              <a:latin typeface="Inter"/>
              <a:ea typeface="Inter"/>
              <a:cs typeface="Inter"/>
              <a:sym typeface="Inter"/>
            </a:endParaRPr>
          </a:p>
          <a:p>
            <a:pPr indent="0" lvl="0" marL="0" rtl="0" algn="l">
              <a:lnSpc>
                <a:spcPct val="115000"/>
              </a:lnSpc>
              <a:spcBef>
                <a:spcPts val="1200"/>
              </a:spcBef>
              <a:spcAft>
                <a:spcPts val="0"/>
              </a:spcAft>
              <a:buNone/>
            </a:pPr>
            <a:r>
              <a:t/>
            </a:r>
            <a:endParaRPr sz="1500">
              <a:solidFill>
                <a:schemeClr val="dk1"/>
              </a:solidFill>
              <a:latin typeface="Inter"/>
              <a:ea typeface="Inter"/>
              <a:cs typeface="Inter"/>
              <a:sym typeface="Inter"/>
            </a:endParaRPr>
          </a:p>
          <a:p>
            <a:pPr indent="0" lvl="0" marL="0" rtl="0" algn="l">
              <a:lnSpc>
                <a:spcPct val="115000"/>
              </a:lnSpc>
              <a:spcBef>
                <a:spcPts val="1200"/>
              </a:spcBef>
              <a:spcAft>
                <a:spcPts val="0"/>
              </a:spcAft>
              <a:buNone/>
            </a:pPr>
            <a:r>
              <a:t/>
            </a:r>
            <a:endParaRPr sz="1500">
              <a:solidFill>
                <a:schemeClr val="dk1"/>
              </a:solidFill>
              <a:latin typeface="Inter"/>
              <a:ea typeface="Inter"/>
              <a:cs typeface="Inter"/>
              <a:sym typeface="Inter"/>
            </a:endParaRPr>
          </a:p>
          <a:p>
            <a:pPr indent="0" lvl="0" marL="0" rtl="0" algn="l">
              <a:lnSpc>
                <a:spcPct val="115000"/>
              </a:lnSpc>
              <a:spcBef>
                <a:spcPts val="1200"/>
              </a:spcBef>
              <a:spcAft>
                <a:spcPts val="1200"/>
              </a:spcAft>
              <a:buNone/>
            </a:pPr>
            <a:r>
              <a:t/>
            </a:r>
            <a:endParaRPr sz="1500">
              <a:solidFill>
                <a:schemeClr val="dk1"/>
              </a:solidFill>
              <a:latin typeface="Inter"/>
              <a:ea typeface="Inter"/>
              <a:cs typeface="Inter"/>
              <a:sym typeface="Inte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grpSp>
        <p:nvGrpSpPr>
          <p:cNvPr id="453" name="Google Shape;453;g3e45df3a92f_0_185"/>
          <p:cNvGrpSpPr/>
          <p:nvPr/>
        </p:nvGrpSpPr>
        <p:grpSpPr>
          <a:xfrm>
            <a:off x="8625" y="0"/>
            <a:ext cx="9144000" cy="267600"/>
            <a:chOff x="8625" y="0"/>
            <a:chExt cx="9144000" cy="267600"/>
          </a:xfrm>
        </p:grpSpPr>
        <p:sp>
          <p:nvSpPr>
            <p:cNvPr id="454" name="Google Shape;454;g3e45df3a92f_0_185"/>
            <p:cNvSpPr/>
            <p:nvPr/>
          </p:nvSpPr>
          <p:spPr>
            <a:xfrm>
              <a:off x="8625" y="0"/>
              <a:ext cx="9144000" cy="2676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55" name="Google Shape;455;g3e45df3a92f_0_185" title="Logo Header.png"/>
            <p:cNvPicPr preferRelativeResize="0"/>
            <p:nvPr/>
          </p:nvPicPr>
          <p:blipFill rotWithShape="1">
            <a:blip r:embed="rId3">
              <a:alphaModFix/>
            </a:blip>
            <a:srcRect b="0" l="0" r="0" t="0"/>
            <a:stretch/>
          </p:blipFill>
          <p:spPr>
            <a:xfrm>
              <a:off x="8348195" y="15790"/>
              <a:ext cx="634775" cy="199625"/>
            </a:xfrm>
            <a:prstGeom prst="rect">
              <a:avLst/>
            </a:prstGeom>
            <a:noFill/>
            <a:ln>
              <a:noFill/>
            </a:ln>
          </p:spPr>
        </p:pic>
      </p:grpSp>
      <p:sp>
        <p:nvSpPr>
          <p:cNvPr id="456" name="Google Shape;456;g3e45df3a92f_0_185"/>
          <p:cNvSpPr txBox="1"/>
          <p:nvPr>
            <p:ph idx="1" type="subTitle"/>
          </p:nvPr>
        </p:nvSpPr>
        <p:spPr>
          <a:xfrm>
            <a:off x="1078575" y="298578"/>
            <a:ext cx="7867800" cy="922500"/>
          </a:xfrm>
          <a:prstGeom prst="rect">
            <a:avLst/>
          </a:prstGeom>
          <a:noFill/>
          <a:ln>
            <a:noFill/>
          </a:ln>
        </p:spPr>
        <p:txBody>
          <a:bodyPr anchorCtr="0" anchor="t" bIns="91425" lIns="91425" spcFirstLastPara="1" rIns="91425" wrap="square" tIns="91425">
            <a:normAutofit fontScale="77500" lnSpcReduction="20000"/>
          </a:bodyPr>
          <a:lstStyle/>
          <a:p>
            <a:pPr indent="0" lvl="0" marL="0" rtl="0" algn="l">
              <a:lnSpc>
                <a:spcPct val="100000"/>
              </a:lnSpc>
              <a:spcBef>
                <a:spcPts val="0"/>
              </a:spcBef>
              <a:spcAft>
                <a:spcPts val="0"/>
              </a:spcAft>
              <a:buSzPct val="88889"/>
              <a:buNone/>
            </a:pPr>
            <a:r>
              <a:rPr b="1" lang="en" sz="3150">
                <a:solidFill>
                  <a:schemeClr val="dk1"/>
                </a:solidFill>
                <a:latin typeface="Inter"/>
                <a:ea typeface="Inter"/>
                <a:cs typeface="Inter"/>
                <a:sym typeface="Inter"/>
              </a:rPr>
              <a:t>Accessibility &amp; Inclusivity</a:t>
            </a:r>
            <a:endParaRPr b="1" sz="3150">
              <a:solidFill>
                <a:schemeClr val="dk1"/>
              </a:solidFill>
              <a:latin typeface="Inter"/>
              <a:ea typeface="Inter"/>
              <a:cs typeface="Inter"/>
              <a:sym typeface="Inter"/>
            </a:endParaRPr>
          </a:p>
          <a:p>
            <a:pPr indent="0" lvl="0" marL="0" rtl="0" algn="l">
              <a:spcBef>
                <a:spcPts val="0"/>
              </a:spcBef>
              <a:spcAft>
                <a:spcPts val="0"/>
              </a:spcAft>
              <a:buClr>
                <a:schemeClr val="dk1"/>
              </a:buClr>
              <a:buSzPct val="147368"/>
              <a:buFont typeface="Arial"/>
              <a:buNone/>
            </a:pPr>
            <a:r>
              <a:rPr i="1" lang="en" sz="1900">
                <a:solidFill>
                  <a:schemeClr val="dk1"/>
                </a:solidFill>
                <a:latin typeface="Inter"/>
                <a:ea typeface="Inter"/>
                <a:cs typeface="Inter"/>
                <a:sym typeface="Inter"/>
              </a:rPr>
              <a:t>Consider who may be excluded from your work</a:t>
            </a:r>
            <a:endParaRPr i="1" sz="1900">
              <a:solidFill>
                <a:schemeClr val="dk1"/>
              </a:solidFill>
              <a:latin typeface="Inter"/>
              <a:ea typeface="Inter"/>
              <a:cs typeface="Inter"/>
              <a:sym typeface="Inter"/>
            </a:endParaRPr>
          </a:p>
          <a:p>
            <a:pPr indent="0" lvl="0" marL="0" rtl="0" algn="l">
              <a:lnSpc>
                <a:spcPct val="100000"/>
              </a:lnSpc>
              <a:spcBef>
                <a:spcPts val="0"/>
              </a:spcBef>
              <a:spcAft>
                <a:spcPts val="0"/>
              </a:spcAft>
              <a:buSzPct val="103704"/>
              <a:buNone/>
            </a:pPr>
            <a:r>
              <a:t/>
            </a:r>
            <a:endParaRPr b="1" sz="2700">
              <a:solidFill>
                <a:schemeClr val="dk1"/>
              </a:solidFill>
              <a:latin typeface="Inter"/>
              <a:ea typeface="Inter"/>
              <a:cs typeface="Inter"/>
              <a:sym typeface="Inter"/>
            </a:endParaRPr>
          </a:p>
        </p:txBody>
      </p:sp>
      <p:pic>
        <p:nvPicPr>
          <p:cNvPr descr="no humans please just icon/symbol" id="457" name="Google Shape;457;g3e45df3a92f_0_185"/>
          <p:cNvPicPr preferRelativeResize="0"/>
          <p:nvPr/>
        </p:nvPicPr>
        <p:blipFill rotWithShape="1">
          <a:blip r:embed="rId4">
            <a:alphaModFix/>
          </a:blip>
          <a:srcRect b="12116" l="11637" r="12450" t="11971"/>
          <a:stretch/>
        </p:blipFill>
        <p:spPr>
          <a:xfrm>
            <a:off x="425350" y="326026"/>
            <a:ext cx="617400" cy="617400"/>
          </a:xfrm>
          <a:prstGeom prst="ellipse">
            <a:avLst/>
          </a:prstGeom>
          <a:noFill/>
          <a:ln>
            <a:noFill/>
          </a:ln>
        </p:spPr>
      </p:pic>
      <p:graphicFrame>
        <p:nvGraphicFramePr>
          <p:cNvPr id="458" name="Google Shape;458;g3e45df3a92f_0_185"/>
          <p:cNvGraphicFramePr/>
          <p:nvPr/>
        </p:nvGraphicFramePr>
        <p:xfrm>
          <a:off x="184838" y="1092975"/>
          <a:ext cx="3000000" cy="3000000"/>
        </p:xfrm>
        <a:graphic>
          <a:graphicData uri="http://schemas.openxmlformats.org/drawingml/2006/table">
            <a:tbl>
              <a:tblPr>
                <a:noFill/>
                <a:tableStyleId>{BD242995-2E1B-4E11-8BAC-C2370DC31B60}</a:tableStyleId>
              </a:tblPr>
              <a:tblGrid>
                <a:gridCol w="4095750"/>
                <a:gridCol w="4695825"/>
              </a:tblGrid>
              <a:tr h="342900">
                <a:tc>
                  <a:txBody>
                    <a:bodyPr/>
                    <a:lstStyle/>
                    <a:p>
                      <a:pPr indent="0" lvl="0" marL="0" rtl="0" algn="l">
                        <a:lnSpc>
                          <a:spcPct val="115000"/>
                        </a:lnSpc>
                        <a:spcBef>
                          <a:spcPts val="0"/>
                        </a:spcBef>
                        <a:spcAft>
                          <a:spcPts val="0"/>
                        </a:spcAft>
                        <a:buNone/>
                      </a:pPr>
                      <a:r>
                        <a:rPr b="1" lang="en" sz="1100" u="sng">
                          <a:solidFill>
                            <a:srgbClr val="1F1F1F"/>
                          </a:solidFill>
                        </a:rPr>
                        <a:t>Design &amp; Presentation Accessibility</a:t>
                      </a:r>
                      <a:endParaRPr b="1" sz="1100" u="sng">
                        <a:solidFill>
                          <a:srgbClr val="1F1F1F"/>
                        </a:solidFill>
                      </a:endParaRPr>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n" sz="1100" u="sng">
                          <a:solidFill>
                            <a:srgbClr val="1F1F1F"/>
                          </a:solidFill>
                        </a:rPr>
                        <a:t>Framing &amp; Categorical Inclusivity</a:t>
                      </a:r>
                      <a:endParaRPr b="1" sz="1100" u="sng">
                        <a:solidFill>
                          <a:srgbClr val="1F1F1F"/>
                        </a:solidFill>
                      </a:endParaRPr>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solidFill>
                      <a:srgbClr val="EFEFEF"/>
                    </a:solidFill>
                  </a:tcPr>
                </a:tc>
              </a:tr>
              <a:tr h="1047750">
                <a:tc>
                  <a:txBody>
                    <a:bodyPr/>
                    <a:lstStyle/>
                    <a:p>
                      <a:pPr indent="0" lvl="0" marL="0" rtl="0" algn="l">
                        <a:lnSpc>
                          <a:spcPct val="115000"/>
                        </a:lnSpc>
                        <a:spcBef>
                          <a:spcPts val="0"/>
                        </a:spcBef>
                        <a:spcAft>
                          <a:spcPts val="0"/>
                        </a:spcAft>
                        <a:buNone/>
                      </a:pPr>
                      <a:r>
                        <a:rPr b="1" lang="en" sz="1100">
                          <a:solidFill>
                            <a:srgbClr val="1F1F1F"/>
                          </a:solidFill>
                        </a:rPr>
                        <a:t>Visual Accessibility</a:t>
                      </a:r>
                      <a:endParaRPr b="1" sz="1100">
                        <a:solidFill>
                          <a:srgbClr val="1F1F1F"/>
                        </a:solidFill>
                      </a:endParaRPr>
                    </a:p>
                    <a:p>
                      <a:pPr indent="0" lvl="0" marL="0" rtl="0" algn="l">
                        <a:lnSpc>
                          <a:spcPct val="115000"/>
                        </a:lnSpc>
                        <a:spcBef>
                          <a:spcPts val="0"/>
                        </a:spcBef>
                        <a:spcAft>
                          <a:spcPts val="0"/>
                        </a:spcAft>
                        <a:buNone/>
                      </a:pPr>
                      <a:r>
                        <a:t/>
                      </a:r>
                      <a:endParaRPr sz="1100">
                        <a:solidFill>
                          <a:srgbClr val="1F1F1F"/>
                        </a:solidFill>
                      </a:endParaRPr>
                    </a:p>
                    <a:p>
                      <a:pPr indent="0" lvl="0" marL="0" rtl="0" algn="l">
                        <a:lnSpc>
                          <a:spcPct val="115000"/>
                        </a:lnSpc>
                        <a:spcBef>
                          <a:spcPts val="0"/>
                        </a:spcBef>
                        <a:spcAft>
                          <a:spcPts val="0"/>
                        </a:spcAft>
                        <a:buNone/>
                      </a:pPr>
                      <a:r>
                        <a:rPr lang="en" sz="1100">
                          <a:solidFill>
                            <a:srgbClr val="1F1F1F"/>
                          </a:solidFill>
                        </a:rPr>
                        <a:t>Are model performance charts, confusion matrices, and data plots legible to individuals with vision impairments or color blindness?</a:t>
                      </a:r>
                      <a:endParaRPr sz="1100">
                        <a:solidFill>
                          <a:srgbClr val="1F1F1F"/>
                        </a:solidFill>
                      </a:endParaRPr>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100">
                          <a:solidFill>
                            <a:srgbClr val="1F1F1F"/>
                          </a:solidFill>
                        </a:rPr>
                        <a:t>Identity Collapsing</a:t>
                      </a:r>
                      <a:endParaRPr b="1" sz="1100">
                        <a:solidFill>
                          <a:srgbClr val="1F1F1F"/>
                        </a:solidFill>
                      </a:endParaRPr>
                    </a:p>
                    <a:p>
                      <a:pPr indent="0" lvl="0" marL="0" rtl="0" algn="l">
                        <a:lnSpc>
                          <a:spcPct val="115000"/>
                        </a:lnSpc>
                        <a:spcBef>
                          <a:spcPts val="0"/>
                        </a:spcBef>
                        <a:spcAft>
                          <a:spcPts val="0"/>
                        </a:spcAft>
                        <a:buNone/>
                      </a:pPr>
                      <a:r>
                        <a:t/>
                      </a:r>
                      <a:endParaRPr sz="1100">
                        <a:solidFill>
                          <a:srgbClr val="1F1F1F"/>
                        </a:solidFill>
                      </a:endParaRPr>
                    </a:p>
                    <a:p>
                      <a:pPr indent="0" lvl="0" marL="0" rtl="0" algn="l">
                        <a:lnSpc>
                          <a:spcPct val="115000"/>
                        </a:lnSpc>
                        <a:spcBef>
                          <a:spcPts val="0"/>
                        </a:spcBef>
                        <a:spcAft>
                          <a:spcPts val="0"/>
                        </a:spcAft>
                        <a:buNone/>
                      </a:pPr>
                      <a:r>
                        <a:rPr lang="en" sz="1100">
                          <a:solidFill>
                            <a:srgbClr val="1F1F1F"/>
                          </a:solidFill>
                        </a:rPr>
                        <a:t>Does the project's technical framing force complex, fluid human identities into rigid, limited categories (e.g., binary gender or fixed racial buckets)?</a:t>
                      </a:r>
                      <a:endParaRPr sz="1100">
                        <a:solidFill>
                          <a:srgbClr val="1F1F1F"/>
                        </a:solidFill>
                      </a:endParaRPr>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tcPr>
                </a:tc>
              </a:tr>
              <a:tr h="1047750">
                <a:tc>
                  <a:txBody>
                    <a:bodyPr/>
                    <a:lstStyle/>
                    <a:p>
                      <a:pPr indent="0" lvl="0" marL="0" rtl="0" algn="l">
                        <a:lnSpc>
                          <a:spcPct val="115000"/>
                        </a:lnSpc>
                        <a:spcBef>
                          <a:spcPts val="0"/>
                        </a:spcBef>
                        <a:spcAft>
                          <a:spcPts val="0"/>
                        </a:spcAft>
                        <a:buNone/>
                      </a:pPr>
                      <a:r>
                        <a:rPr b="1" lang="en" sz="1100">
                          <a:solidFill>
                            <a:srgbClr val="1F1F1F"/>
                          </a:solidFill>
                        </a:rPr>
                        <a:t>Platform Compatibility</a:t>
                      </a:r>
                      <a:endParaRPr b="1" sz="1100">
                        <a:solidFill>
                          <a:srgbClr val="1F1F1F"/>
                        </a:solidFill>
                      </a:endParaRPr>
                    </a:p>
                    <a:p>
                      <a:pPr indent="0" lvl="0" marL="0" rtl="0" algn="l">
                        <a:lnSpc>
                          <a:spcPct val="115000"/>
                        </a:lnSpc>
                        <a:spcBef>
                          <a:spcPts val="0"/>
                        </a:spcBef>
                        <a:spcAft>
                          <a:spcPts val="0"/>
                        </a:spcAft>
                        <a:buNone/>
                      </a:pPr>
                      <a:r>
                        <a:t/>
                      </a:r>
                      <a:endParaRPr sz="1100">
                        <a:solidFill>
                          <a:srgbClr val="1F1F1F"/>
                        </a:solidFill>
                      </a:endParaRPr>
                    </a:p>
                    <a:p>
                      <a:pPr indent="0" lvl="0" marL="0" rtl="0" algn="l">
                        <a:lnSpc>
                          <a:spcPct val="115000"/>
                        </a:lnSpc>
                        <a:spcBef>
                          <a:spcPts val="0"/>
                        </a:spcBef>
                        <a:spcAft>
                          <a:spcPts val="0"/>
                        </a:spcAft>
                        <a:buNone/>
                      </a:pPr>
                      <a:r>
                        <a:rPr lang="en" sz="1100">
                          <a:solidFill>
                            <a:srgbClr val="1F1F1F"/>
                          </a:solidFill>
                        </a:rPr>
                        <a:t>Are digital artifacts, code notebooks, and portfolio websites optimized for screen readers and assistive technologies?</a:t>
                      </a:r>
                      <a:endParaRPr sz="1100">
                        <a:solidFill>
                          <a:srgbClr val="1F1F1F"/>
                        </a:solidFill>
                      </a:endParaRPr>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100">
                          <a:solidFill>
                            <a:srgbClr val="1F1F1F"/>
                          </a:solidFill>
                        </a:rPr>
                        <a:t>Exclusion Harm</a:t>
                      </a:r>
                      <a:endParaRPr b="1" sz="1100">
                        <a:solidFill>
                          <a:srgbClr val="1F1F1F"/>
                        </a:solidFill>
                      </a:endParaRPr>
                    </a:p>
                    <a:p>
                      <a:pPr indent="0" lvl="0" marL="0" rtl="0" algn="l">
                        <a:lnSpc>
                          <a:spcPct val="115000"/>
                        </a:lnSpc>
                        <a:spcBef>
                          <a:spcPts val="0"/>
                        </a:spcBef>
                        <a:spcAft>
                          <a:spcPts val="0"/>
                        </a:spcAft>
                        <a:buNone/>
                      </a:pPr>
                      <a:r>
                        <a:t/>
                      </a:r>
                      <a:endParaRPr sz="1100">
                        <a:solidFill>
                          <a:srgbClr val="1F1F1F"/>
                        </a:solidFill>
                      </a:endParaRPr>
                    </a:p>
                    <a:p>
                      <a:pPr indent="0" lvl="0" marL="0" rtl="0" algn="l">
                        <a:lnSpc>
                          <a:spcPct val="115000"/>
                        </a:lnSpc>
                        <a:spcBef>
                          <a:spcPts val="0"/>
                        </a:spcBef>
                        <a:spcAft>
                          <a:spcPts val="0"/>
                        </a:spcAft>
                        <a:buNone/>
                      </a:pPr>
                      <a:r>
                        <a:rPr lang="en" sz="1100">
                          <a:solidFill>
                            <a:srgbClr val="1F1F1F"/>
                          </a:solidFill>
                        </a:rPr>
                        <a:t>Who is systemically erased, misclassified, or placed in danger when an automated system simplifies human social dimensions to streamline a training loop?</a:t>
                      </a:r>
                      <a:endParaRPr sz="1100">
                        <a:solidFill>
                          <a:srgbClr val="1F1F1F"/>
                        </a:solidFill>
                      </a:endParaRPr>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tcPr>
                </a:tc>
              </a:tr>
              <a:tr h="1047750">
                <a:tc>
                  <a:txBody>
                    <a:bodyPr/>
                    <a:lstStyle/>
                    <a:p>
                      <a:pPr indent="0" lvl="0" marL="0" rtl="0" algn="l">
                        <a:lnSpc>
                          <a:spcPct val="115000"/>
                        </a:lnSpc>
                        <a:spcBef>
                          <a:spcPts val="0"/>
                        </a:spcBef>
                        <a:spcAft>
                          <a:spcPts val="0"/>
                        </a:spcAft>
                        <a:buNone/>
                      </a:pPr>
                      <a:r>
                        <a:rPr b="1" lang="en" sz="1100">
                          <a:solidFill>
                            <a:srgbClr val="1F1F1F"/>
                          </a:solidFill>
                        </a:rPr>
                        <a:t>Regulatory Compliance</a:t>
                      </a:r>
                      <a:endParaRPr b="1" sz="1100">
                        <a:solidFill>
                          <a:srgbClr val="1F1F1F"/>
                        </a:solidFill>
                      </a:endParaRPr>
                    </a:p>
                    <a:p>
                      <a:pPr indent="0" lvl="0" marL="0" rtl="0" algn="l">
                        <a:lnSpc>
                          <a:spcPct val="115000"/>
                        </a:lnSpc>
                        <a:spcBef>
                          <a:spcPts val="0"/>
                        </a:spcBef>
                        <a:spcAft>
                          <a:spcPts val="0"/>
                        </a:spcAft>
                        <a:buNone/>
                      </a:pPr>
                      <a:r>
                        <a:t/>
                      </a:r>
                      <a:endParaRPr sz="1100">
                        <a:solidFill>
                          <a:srgbClr val="1F1F1F"/>
                        </a:solidFill>
                      </a:endParaRPr>
                    </a:p>
                    <a:p>
                      <a:pPr indent="0" lvl="0" marL="0" rtl="0" algn="l">
                        <a:lnSpc>
                          <a:spcPct val="115000"/>
                        </a:lnSpc>
                        <a:spcBef>
                          <a:spcPts val="0"/>
                        </a:spcBef>
                        <a:spcAft>
                          <a:spcPts val="0"/>
                        </a:spcAft>
                        <a:buNone/>
                      </a:pPr>
                      <a:r>
                        <a:rPr lang="en" sz="1100">
                          <a:solidFill>
                            <a:srgbClr val="1F1F1F"/>
                          </a:solidFill>
                        </a:rPr>
                        <a:t>Utilizing local and federal frameworks (like Ontario's AODA) to ensure technical deliverables meet public accessibility standards.</a:t>
                      </a:r>
                      <a:endParaRPr sz="1100">
                        <a:solidFill>
                          <a:srgbClr val="1F1F1F"/>
                        </a:solidFill>
                      </a:endParaRPr>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100">
                          <a:solidFill>
                            <a:srgbClr val="1F1F1F"/>
                          </a:solidFill>
                        </a:rPr>
                        <a:t>HCDS Critical Practice</a:t>
                      </a:r>
                      <a:endParaRPr b="1" sz="1100">
                        <a:solidFill>
                          <a:srgbClr val="1F1F1F"/>
                        </a:solidFill>
                      </a:endParaRPr>
                    </a:p>
                    <a:p>
                      <a:pPr indent="0" lvl="0" marL="0" rtl="0" algn="l">
                        <a:lnSpc>
                          <a:spcPct val="115000"/>
                        </a:lnSpc>
                        <a:spcBef>
                          <a:spcPts val="0"/>
                        </a:spcBef>
                        <a:spcAft>
                          <a:spcPts val="0"/>
                        </a:spcAft>
                        <a:buNone/>
                      </a:pPr>
                      <a:r>
                        <a:t/>
                      </a:r>
                      <a:endParaRPr sz="1100">
                        <a:solidFill>
                          <a:srgbClr val="1F1F1F"/>
                        </a:solidFill>
                      </a:endParaRPr>
                    </a:p>
                    <a:p>
                      <a:pPr indent="0" lvl="0" marL="0" rtl="0" algn="l">
                        <a:lnSpc>
                          <a:spcPct val="115000"/>
                        </a:lnSpc>
                        <a:spcBef>
                          <a:spcPts val="0"/>
                        </a:spcBef>
                        <a:spcAft>
                          <a:spcPts val="0"/>
                        </a:spcAft>
                        <a:buNone/>
                      </a:pPr>
                      <a:r>
                        <a:rPr lang="en" sz="1100">
                          <a:solidFill>
                            <a:srgbClr val="1F1F1F"/>
                          </a:solidFill>
                        </a:rPr>
                        <a:t>Actively interrogating whose perspectives shaped the dataset's categories, and rewriting the research question to minimize classification harms.</a:t>
                      </a:r>
                      <a:endParaRPr sz="1100">
                        <a:solidFill>
                          <a:srgbClr val="1F1F1F"/>
                        </a:solidFill>
                      </a:endParaRPr>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tcP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grpSp>
        <p:nvGrpSpPr>
          <p:cNvPr id="463" name="Google Shape;463;g3d5f0fe9fd8_0_511"/>
          <p:cNvGrpSpPr/>
          <p:nvPr/>
        </p:nvGrpSpPr>
        <p:grpSpPr>
          <a:xfrm>
            <a:off x="8625" y="0"/>
            <a:ext cx="9144000" cy="267600"/>
            <a:chOff x="8625" y="0"/>
            <a:chExt cx="9144000" cy="267600"/>
          </a:xfrm>
        </p:grpSpPr>
        <p:sp>
          <p:nvSpPr>
            <p:cNvPr id="464" name="Google Shape;464;g3d5f0fe9fd8_0_511"/>
            <p:cNvSpPr/>
            <p:nvPr/>
          </p:nvSpPr>
          <p:spPr>
            <a:xfrm>
              <a:off x="8625" y="0"/>
              <a:ext cx="9144000" cy="2676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65" name="Google Shape;465;g3d5f0fe9fd8_0_511" title="Logo Header.png"/>
            <p:cNvPicPr preferRelativeResize="0"/>
            <p:nvPr/>
          </p:nvPicPr>
          <p:blipFill rotWithShape="1">
            <a:blip r:embed="rId3">
              <a:alphaModFix/>
            </a:blip>
            <a:srcRect b="0" l="0" r="0" t="0"/>
            <a:stretch/>
          </p:blipFill>
          <p:spPr>
            <a:xfrm>
              <a:off x="8348195" y="15790"/>
              <a:ext cx="634775" cy="199625"/>
            </a:xfrm>
            <a:prstGeom prst="rect">
              <a:avLst/>
            </a:prstGeom>
            <a:noFill/>
            <a:ln>
              <a:noFill/>
            </a:ln>
          </p:spPr>
        </p:pic>
      </p:grpSp>
      <p:sp>
        <p:nvSpPr>
          <p:cNvPr id="466" name="Google Shape;466;g3d5f0fe9fd8_0_511"/>
          <p:cNvSpPr txBox="1"/>
          <p:nvPr>
            <p:ph idx="1" type="subTitle"/>
          </p:nvPr>
        </p:nvSpPr>
        <p:spPr>
          <a:xfrm>
            <a:off x="1054450" y="294725"/>
            <a:ext cx="7419600" cy="738900"/>
          </a:xfrm>
          <a:prstGeom prst="rect">
            <a:avLst/>
          </a:prstGeom>
          <a:noFill/>
          <a:ln>
            <a:noFill/>
          </a:ln>
        </p:spPr>
        <p:txBody>
          <a:bodyPr anchorCtr="0" anchor="t" bIns="91425" lIns="91425" spcFirstLastPara="1" rIns="91425" wrap="square" tIns="91425">
            <a:normAutofit lnSpcReduction="20000"/>
          </a:bodyPr>
          <a:lstStyle/>
          <a:p>
            <a:pPr indent="0" lvl="0" marL="0" rtl="0" algn="l">
              <a:lnSpc>
                <a:spcPct val="100000"/>
              </a:lnSpc>
              <a:spcBef>
                <a:spcPts val="0"/>
              </a:spcBef>
              <a:spcAft>
                <a:spcPts val="0"/>
              </a:spcAft>
              <a:buSzPts val="2800"/>
              <a:buNone/>
            </a:pPr>
            <a:r>
              <a:rPr b="1" lang="en" sz="2700">
                <a:solidFill>
                  <a:schemeClr val="dk1"/>
                </a:solidFill>
                <a:latin typeface="Inter"/>
                <a:ea typeface="Inter"/>
                <a:cs typeface="Inter"/>
                <a:sym typeface="Inter"/>
              </a:rPr>
              <a:t>Openness</a:t>
            </a:r>
            <a:endParaRPr b="1" sz="2700">
              <a:solidFill>
                <a:schemeClr val="dk1"/>
              </a:solidFill>
              <a:latin typeface="Inter"/>
              <a:ea typeface="Inter"/>
              <a:cs typeface="Inter"/>
              <a:sym typeface="Inter"/>
            </a:endParaRPr>
          </a:p>
          <a:p>
            <a:pPr indent="0" lvl="0" marL="0" rtl="0" algn="l">
              <a:lnSpc>
                <a:spcPct val="100000"/>
              </a:lnSpc>
              <a:spcBef>
                <a:spcPts val="0"/>
              </a:spcBef>
              <a:spcAft>
                <a:spcPts val="0"/>
              </a:spcAft>
              <a:buSzPts val="2800"/>
              <a:buNone/>
            </a:pPr>
            <a:r>
              <a:rPr i="1" lang="en" sz="1500">
                <a:solidFill>
                  <a:schemeClr val="dk1"/>
                </a:solidFill>
                <a:latin typeface="Inter"/>
                <a:ea typeface="Inter"/>
                <a:cs typeface="Inter"/>
                <a:sym typeface="Inter"/>
              </a:rPr>
              <a:t>Consider the balance between sharing data and respecting privacy</a:t>
            </a:r>
            <a:endParaRPr i="1" sz="1500">
              <a:solidFill>
                <a:schemeClr val="dk1"/>
              </a:solidFill>
              <a:latin typeface="Inter"/>
              <a:ea typeface="Inter"/>
              <a:cs typeface="Inter"/>
              <a:sym typeface="Inter"/>
            </a:endParaRPr>
          </a:p>
        </p:txBody>
      </p:sp>
      <p:sp>
        <p:nvSpPr>
          <p:cNvPr id="467" name="Google Shape;467;g3d5f0fe9fd8_0_511"/>
          <p:cNvSpPr/>
          <p:nvPr/>
        </p:nvSpPr>
        <p:spPr>
          <a:xfrm>
            <a:off x="4388900" y="1555350"/>
            <a:ext cx="3244500" cy="1016400"/>
          </a:xfrm>
          <a:prstGeom prst="roundRect">
            <a:avLst>
              <a:gd fmla="val 16667" name="adj"/>
            </a:avLst>
          </a:prstGeom>
          <a:solidFill>
            <a:srgbClr val="D4E4D1"/>
          </a:solidFill>
          <a:ln>
            <a:noFill/>
          </a:ln>
        </p:spPr>
        <p:txBody>
          <a:bodyPr anchorCtr="0" anchor="ctr" bIns="91425" lIns="91425" spcFirstLastPara="1" rIns="91425" wrap="square" tIns="91425">
            <a:noAutofit/>
          </a:bodyPr>
          <a:lstStyle/>
          <a:p>
            <a:pPr indent="0" lvl="0" marL="274320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468" name="Google Shape;468;g3d5f0fe9fd8_0_511"/>
          <p:cNvSpPr/>
          <p:nvPr/>
        </p:nvSpPr>
        <p:spPr>
          <a:xfrm>
            <a:off x="553500" y="1555350"/>
            <a:ext cx="3244500" cy="996600"/>
          </a:xfrm>
          <a:prstGeom prst="roundRect">
            <a:avLst>
              <a:gd fmla="val 16667" name="adj"/>
            </a:avLst>
          </a:prstGeom>
          <a:solidFill>
            <a:srgbClr val="F5F0E8"/>
          </a:solidFill>
          <a:ln>
            <a:noFill/>
          </a:ln>
        </p:spPr>
        <p:txBody>
          <a:bodyPr anchorCtr="0" anchor="ctr" bIns="91425" lIns="91425" spcFirstLastPara="1" rIns="91425" wrap="square" tIns="91425">
            <a:noAutofit/>
          </a:bodyPr>
          <a:lstStyle/>
          <a:p>
            <a:pPr indent="0" lvl="0" marL="274320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469" name="Google Shape;469;g3d5f0fe9fd8_0_511"/>
          <p:cNvSpPr/>
          <p:nvPr/>
        </p:nvSpPr>
        <p:spPr>
          <a:xfrm>
            <a:off x="2456200" y="2921275"/>
            <a:ext cx="3244500" cy="1169100"/>
          </a:xfrm>
          <a:prstGeom prst="roundRect">
            <a:avLst>
              <a:gd fmla="val 16667" name="adj"/>
            </a:avLst>
          </a:prstGeom>
          <a:solidFill>
            <a:srgbClr val="CFE2F3"/>
          </a:solidFill>
          <a:ln>
            <a:noFill/>
          </a:ln>
        </p:spPr>
        <p:txBody>
          <a:bodyPr anchorCtr="0" anchor="ctr" bIns="91425" lIns="91425" spcFirstLastPara="1" rIns="91425" wrap="square" tIns="91425">
            <a:noAutofit/>
          </a:bodyPr>
          <a:lstStyle/>
          <a:p>
            <a:pPr indent="0" lvl="0" marL="274320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470" name="Google Shape;470;g3d5f0fe9fd8_0_511"/>
          <p:cNvSpPr txBox="1"/>
          <p:nvPr/>
        </p:nvSpPr>
        <p:spPr>
          <a:xfrm>
            <a:off x="801350" y="1716650"/>
            <a:ext cx="2862300" cy="996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sz="1500">
                <a:solidFill>
                  <a:schemeClr val="dk1"/>
                </a:solidFill>
                <a:latin typeface="Inter"/>
                <a:ea typeface="Inter"/>
                <a:cs typeface="Inter"/>
                <a:sym typeface="Inter"/>
              </a:rPr>
              <a:t>Can you share your results and your processes?</a:t>
            </a:r>
            <a:endParaRPr sz="1500">
              <a:solidFill>
                <a:schemeClr val="dk1"/>
              </a:solidFill>
              <a:latin typeface="Inter"/>
              <a:ea typeface="Inter"/>
              <a:cs typeface="Inter"/>
              <a:sym typeface="Inter"/>
            </a:endParaRPr>
          </a:p>
          <a:p>
            <a:pPr indent="0" lvl="0" marL="0" marR="0" rtl="0" algn="l">
              <a:lnSpc>
                <a:spcPct val="100000"/>
              </a:lnSpc>
              <a:spcBef>
                <a:spcPts val="1200"/>
              </a:spcBef>
              <a:spcAft>
                <a:spcPts val="0"/>
              </a:spcAft>
              <a:buClr>
                <a:srgbClr val="000000"/>
              </a:buClr>
              <a:buSzPts val="1500"/>
              <a:buFont typeface="Arial"/>
              <a:buNone/>
            </a:pPr>
            <a:r>
              <a:t/>
            </a:r>
            <a:endParaRPr sz="1500">
              <a:solidFill>
                <a:schemeClr val="dk1"/>
              </a:solidFill>
              <a:latin typeface="Inter"/>
              <a:ea typeface="Inter"/>
              <a:cs typeface="Inter"/>
              <a:sym typeface="Inter"/>
            </a:endParaRPr>
          </a:p>
        </p:txBody>
      </p:sp>
      <p:sp>
        <p:nvSpPr>
          <p:cNvPr id="471" name="Google Shape;471;g3d5f0fe9fd8_0_511"/>
          <p:cNvSpPr txBox="1"/>
          <p:nvPr/>
        </p:nvSpPr>
        <p:spPr>
          <a:xfrm>
            <a:off x="4599800" y="1673575"/>
            <a:ext cx="2799900" cy="1002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sz="1500">
                <a:solidFill>
                  <a:schemeClr val="dk1"/>
                </a:solidFill>
                <a:latin typeface="Inter"/>
                <a:ea typeface="Inter"/>
                <a:cs typeface="Inter"/>
                <a:sym typeface="Inter"/>
              </a:rPr>
              <a:t>Balance between openness and privacy</a:t>
            </a:r>
            <a:endParaRPr sz="1500">
              <a:solidFill>
                <a:schemeClr val="dk1"/>
              </a:solidFill>
              <a:latin typeface="Inter"/>
              <a:ea typeface="Inter"/>
              <a:cs typeface="Inter"/>
              <a:sym typeface="Inter"/>
            </a:endParaRPr>
          </a:p>
          <a:p>
            <a:pPr indent="0" lvl="0" marL="0" marR="0" rtl="0" algn="l">
              <a:lnSpc>
                <a:spcPct val="100000"/>
              </a:lnSpc>
              <a:spcBef>
                <a:spcPts val="1200"/>
              </a:spcBef>
              <a:spcAft>
                <a:spcPts val="0"/>
              </a:spcAft>
              <a:buClr>
                <a:srgbClr val="000000"/>
              </a:buClr>
              <a:buSzPts val="1500"/>
              <a:buFont typeface="Arial"/>
              <a:buNone/>
            </a:pPr>
            <a:r>
              <a:t/>
            </a:r>
            <a:endParaRPr sz="1500">
              <a:solidFill>
                <a:schemeClr val="dk1"/>
              </a:solidFill>
              <a:latin typeface="Inter"/>
              <a:ea typeface="Inter"/>
              <a:cs typeface="Inter"/>
              <a:sym typeface="Inter"/>
            </a:endParaRPr>
          </a:p>
        </p:txBody>
      </p:sp>
      <p:sp>
        <p:nvSpPr>
          <p:cNvPr id="472" name="Google Shape;472;g3d5f0fe9fd8_0_511"/>
          <p:cNvSpPr txBox="1"/>
          <p:nvPr/>
        </p:nvSpPr>
        <p:spPr>
          <a:xfrm>
            <a:off x="2667000" y="3009451"/>
            <a:ext cx="2712900" cy="996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sz="1500">
                <a:solidFill>
                  <a:schemeClr val="dk1"/>
                </a:solidFill>
                <a:latin typeface="Inter"/>
                <a:ea typeface="Inter"/>
                <a:cs typeface="Inter"/>
                <a:sym typeface="Inter"/>
              </a:rPr>
              <a:t>Are there regulations or data ownership issues that prevent sharing your result?</a:t>
            </a:r>
            <a:endParaRPr sz="1500">
              <a:solidFill>
                <a:schemeClr val="dk1"/>
              </a:solidFill>
              <a:latin typeface="Inter"/>
              <a:ea typeface="Inter"/>
              <a:cs typeface="Inter"/>
              <a:sym typeface="Inter"/>
            </a:endParaRPr>
          </a:p>
          <a:p>
            <a:pPr indent="0" lvl="0" marL="0" marR="0" rtl="0" algn="l">
              <a:lnSpc>
                <a:spcPct val="100000"/>
              </a:lnSpc>
              <a:spcBef>
                <a:spcPts val="1200"/>
              </a:spcBef>
              <a:spcAft>
                <a:spcPts val="0"/>
              </a:spcAft>
              <a:buClr>
                <a:srgbClr val="000000"/>
              </a:buClr>
              <a:buSzPts val="1500"/>
              <a:buFont typeface="Arial"/>
              <a:buNone/>
            </a:pPr>
            <a:r>
              <a:t/>
            </a:r>
            <a:endParaRPr sz="1500">
              <a:solidFill>
                <a:schemeClr val="dk1"/>
              </a:solidFill>
              <a:latin typeface="Inter"/>
              <a:ea typeface="Inter"/>
              <a:cs typeface="Inter"/>
              <a:sym typeface="Inter"/>
            </a:endParaRPr>
          </a:p>
        </p:txBody>
      </p:sp>
      <p:pic>
        <p:nvPicPr>
          <p:cNvPr descr="simple icon with #14AD81 color which represents &quot;openness&quot;/'privacy'" id="473" name="Google Shape;473;g3d5f0fe9fd8_0_511"/>
          <p:cNvPicPr preferRelativeResize="0"/>
          <p:nvPr/>
        </p:nvPicPr>
        <p:blipFill>
          <a:blip r:embed="rId4">
            <a:alphaModFix/>
          </a:blip>
          <a:stretch>
            <a:fillRect/>
          </a:stretch>
        </p:blipFill>
        <p:spPr>
          <a:xfrm>
            <a:off x="459150" y="294725"/>
            <a:ext cx="686225" cy="68622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grpSp>
        <p:nvGrpSpPr>
          <p:cNvPr id="478" name="Google Shape;478;g3e45df3a92f_0_201"/>
          <p:cNvGrpSpPr/>
          <p:nvPr/>
        </p:nvGrpSpPr>
        <p:grpSpPr>
          <a:xfrm>
            <a:off x="8625" y="0"/>
            <a:ext cx="9144000" cy="267600"/>
            <a:chOff x="8625" y="0"/>
            <a:chExt cx="9144000" cy="267600"/>
          </a:xfrm>
        </p:grpSpPr>
        <p:sp>
          <p:nvSpPr>
            <p:cNvPr id="479" name="Google Shape;479;g3e45df3a92f_0_201"/>
            <p:cNvSpPr/>
            <p:nvPr/>
          </p:nvSpPr>
          <p:spPr>
            <a:xfrm>
              <a:off x="8625" y="0"/>
              <a:ext cx="9144000" cy="2676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80" name="Google Shape;480;g3e45df3a92f_0_201" title="Logo Header.png"/>
            <p:cNvPicPr preferRelativeResize="0"/>
            <p:nvPr/>
          </p:nvPicPr>
          <p:blipFill rotWithShape="1">
            <a:blip r:embed="rId3">
              <a:alphaModFix/>
            </a:blip>
            <a:srcRect b="0" l="0" r="0" t="0"/>
            <a:stretch/>
          </p:blipFill>
          <p:spPr>
            <a:xfrm>
              <a:off x="8348195" y="15790"/>
              <a:ext cx="634775" cy="199625"/>
            </a:xfrm>
            <a:prstGeom prst="rect">
              <a:avLst/>
            </a:prstGeom>
            <a:noFill/>
            <a:ln>
              <a:noFill/>
            </a:ln>
          </p:spPr>
        </p:pic>
      </p:grpSp>
      <p:sp>
        <p:nvSpPr>
          <p:cNvPr id="481" name="Google Shape;481;g3e45df3a92f_0_201"/>
          <p:cNvSpPr txBox="1"/>
          <p:nvPr>
            <p:ph idx="1" type="subTitle"/>
          </p:nvPr>
        </p:nvSpPr>
        <p:spPr>
          <a:xfrm>
            <a:off x="1054450" y="294725"/>
            <a:ext cx="7419600" cy="738900"/>
          </a:xfrm>
          <a:prstGeom prst="rect">
            <a:avLst/>
          </a:prstGeom>
          <a:noFill/>
          <a:ln>
            <a:noFill/>
          </a:ln>
        </p:spPr>
        <p:txBody>
          <a:bodyPr anchorCtr="0" anchor="t" bIns="91425" lIns="91425" spcFirstLastPara="1" rIns="91425" wrap="square" tIns="91425">
            <a:normAutofit lnSpcReduction="20000"/>
          </a:bodyPr>
          <a:lstStyle/>
          <a:p>
            <a:pPr indent="0" lvl="0" marL="0" rtl="0" algn="l">
              <a:lnSpc>
                <a:spcPct val="100000"/>
              </a:lnSpc>
              <a:spcBef>
                <a:spcPts val="0"/>
              </a:spcBef>
              <a:spcAft>
                <a:spcPts val="0"/>
              </a:spcAft>
              <a:buSzPts val="2800"/>
              <a:buNone/>
            </a:pPr>
            <a:r>
              <a:rPr b="1" lang="en" sz="2700">
                <a:solidFill>
                  <a:schemeClr val="dk1"/>
                </a:solidFill>
                <a:latin typeface="Inter"/>
                <a:ea typeface="Inter"/>
                <a:cs typeface="Inter"/>
                <a:sym typeface="Inter"/>
              </a:rPr>
              <a:t>Openness</a:t>
            </a:r>
            <a:endParaRPr b="1" sz="2700">
              <a:solidFill>
                <a:schemeClr val="dk1"/>
              </a:solidFill>
              <a:latin typeface="Inter"/>
              <a:ea typeface="Inter"/>
              <a:cs typeface="Inter"/>
              <a:sym typeface="Inter"/>
            </a:endParaRPr>
          </a:p>
          <a:p>
            <a:pPr indent="0" lvl="0" marL="0" rtl="0" algn="l">
              <a:lnSpc>
                <a:spcPct val="100000"/>
              </a:lnSpc>
              <a:spcBef>
                <a:spcPts val="0"/>
              </a:spcBef>
              <a:spcAft>
                <a:spcPts val="0"/>
              </a:spcAft>
              <a:buSzPts val="2800"/>
              <a:buNone/>
            </a:pPr>
            <a:r>
              <a:rPr i="1" lang="en" sz="1500">
                <a:solidFill>
                  <a:schemeClr val="dk1"/>
                </a:solidFill>
                <a:latin typeface="Inter"/>
                <a:ea typeface="Inter"/>
                <a:cs typeface="Inter"/>
                <a:sym typeface="Inter"/>
              </a:rPr>
              <a:t>Consider the balance between sharing data and respecting privacy</a:t>
            </a:r>
            <a:endParaRPr i="1" sz="1500">
              <a:solidFill>
                <a:schemeClr val="dk1"/>
              </a:solidFill>
              <a:latin typeface="Inter"/>
              <a:ea typeface="Inter"/>
              <a:cs typeface="Inter"/>
              <a:sym typeface="Inter"/>
            </a:endParaRPr>
          </a:p>
        </p:txBody>
      </p:sp>
      <p:pic>
        <p:nvPicPr>
          <p:cNvPr descr="simple icon with #14AD81 color which represents &quot;openness&quot;/'privacy'" id="482" name="Google Shape;482;g3e45df3a92f_0_201"/>
          <p:cNvPicPr preferRelativeResize="0"/>
          <p:nvPr/>
        </p:nvPicPr>
        <p:blipFill>
          <a:blip r:embed="rId4">
            <a:alphaModFix/>
          </a:blip>
          <a:stretch>
            <a:fillRect/>
          </a:stretch>
        </p:blipFill>
        <p:spPr>
          <a:xfrm>
            <a:off x="459150" y="294725"/>
            <a:ext cx="686225" cy="686225"/>
          </a:xfrm>
          <a:prstGeom prst="rect">
            <a:avLst/>
          </a:prstGeom>
          <a:noFill/>
          <a:ln>
            <a:noFill/>
          </a:ln>
        </p:spPr>
      </p:pic>
      <p:graphicFrame>
        <p:nvGraphicFramePr>
          <p:cNvPr id="483" name="Google Shape;483;g3e45df3a92f_0_201"/>
          <p:cNvGraphicFramePr/>
          <p:nvPr/>
        </p:nvGraphicFramePr>
        <p:xfrm>
          <a:off x="459150" y="1321775"/>
          <a:ext cx="3000000" cy="3000000"/>
        </p:xfrm>
        <a:graphic>
          <a:graphicData uri="http://schemas.openxmlformats.org/drawingml/2006/table">
            <a:tbl>
              <a:tblPr>
                <a:noFill/>
                <a:tableStyleId>{BD242995-2E1B-4E11-8BAC-C2370DC31B60}</a:tableStyleId>
              </a:tblPr>
              <a:tblGrid>
                <a:gridCol w="2241175"/>
                <a:gridCol w="6267450"/>
              </a:tblGrid>
              <a:tr h="523875">
                <a:tc>
                  <a:txBody>
                    <a:bodyPr/>
                    <a:lstStyle/>
                    <a:p>
                      <a:pPr indent="0" lvl="0" marL="0" rtl="0" algn="l">
                        <a:lnSpc>
                          <a:spcPct val="115000"/>
                        </a:lnSpc>
                        <a:spcBef>
                          <a:spcPts val="0"/>
                        </a:spcBef>
                        <a:spcAft>
                          <a:spcPts val="0"/>
                        </a:spcAft>
                        <a:buNone/>
                      </a:pPr>
                      <a:r>
                        <a:rPr b="1" lang="en" sz="1100" u="sng">
                          <a:solidFill>
                            <a:srgbClr val="1F1F1F"/>
                          </a:solidFill>
                        </a:rPr>
                        <a:t>General Openness Framework</a:t>
                      </a:r>
                      <a:endParaRPr b="1" sz="1100" u="sng">
                        <a:solidFill>
                          <a:srgbClr val="1F1F1F"/>
                        </a:solidFill>
                      </a:endParaRPr>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n" sz="1100" u="sng">
                          <a:solidFill>
                            <a:srgbClr val="1F1F1F"/>
                          </a:solidFill>
                        </a:rPr>
                        <a:t>FairFace / Computer Vision Application</a:t>
                      </a:r>
                      <a:endParaRPr b="1" sz="1100" u="sng">
                        <a:solidFill>
                          <a:srgbClr val="1F1F1F"/>
                        </a:solidFill>
                      </a:endParaRPr>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solidFill>
                      <a:srgbClr val="EFEFEF"/>
                    </a:solidFill>
                  </a:tcPr>
                </a:tc>
              </a:tr>
              <a:tr h="523875">
                <a:tc>
                  <a:txBody>
                    <a:bodyPr/>
                    <a:lstStyle/>
                    <a:p>
                      <a:pPr indent="0" lvl="0" marL="0" rtl="0" algn="l">
                        <a:lnSpc>
                          <a:spcPct val="115000"/>
                        </a:lnSpc>
                        <a:spcBef>
                          <a:spcPts val="0"/>
                        </a:spcBef>
                        <a:spcAft>
                          <a:spcPts val="0"/>
                        </a:spcAft>
                        <a:buNone/>
                      </a:pPr>
                      <a:r>
                        <a:rPr b="1" lang="en" sz="1100">
                          <a:solidFill>
                            <a:srgbClr val="1F1F1F"/>
                          </a:solidFill>
                        </a:rPr>
                        <a:t>Can you share your results &amp; your processes?</a:t>
                      </a:r>
                      <a:endParaRPr b="1" sz="1100">
                        <a:solidFill>
                          <a:srgbClr val="1F1F1F"/>
                        </a:solidFill>
                      </a:endParaRPr>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Sharing aggregated accuracy metrics and open-source auditing code on GitHub is highly valuable for scientific transparency.</a:t>
                      </a:r>
                      <a:endParaRPr sz="1100">
                        <a:solidFill>
                          <a:srgbClr val="1F1F1F"/>
                        </a:solidFill>
                      </a:endParaRPr>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tcPr>
                </a:tc>
              </a:tr>
              <a:tr h="523875">
                <a:tc>
                  <a:txBody>
                    <a:bodyPr/>
                    <a:lstStyle/>
                    <a:p>
                      <a:pPr indent="0" lvl="0" marL="0" rtl="0" algn="l">
                        <a:lnSpc>
                          <a:spcPct val="115000"/>
                        </a:lnSpc>
                        <a:spcBef>
                          <a:spcPts val="0"/>
                        </a:spcBef>
                        <a:spcAft>
                          <a:spcPts val="0"/>
                        </a:spcAft>
                        <a:buNone/>
                      </a:pPr>
                      <a:r>
                        <a:rPr b="1" lang="en" sz="1100">
                          <a:solidFill>
                            <a:srgbClr val="1F1F1F"/>
                          </a:solidFill>
                        </a:rPr>
                        <a:t>Balance between openness and privacy</a:t>
                      </a:r>
                      <a:endParaRPr b="1" sz="1100">
                        <a:solidFill>
                          <a:srgbClr val="1F1F1F"/>
                        </a:solidFill>
                      </a:endParaRPr>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100">
                          <a:solidFill>
                            <a:srgbClr val="1F1F1F"/>
                          </a:solidFill>
                        </a:rPr>
                        <a:t>The Conflict:</a:t>
                      </a:r>
                      <a:r>
                        <a:rPr lang="en" sz="1100">
                          <a:solidFill>
                            <a:srgbClr val="1F1F1F"/>
                          </a:solidFill>
                        </a:rPr>
                        <a:t> Full data release is valuable, but republishing scraped images of real people creates severe privacy, consent, or downstream misuse concerns.</a:t>
                      </a:r>
                      <a:endParaRPr sz="1100">
                        <a:solidFill>
                          <a:srgbClr val="1F1F1F"/>
                        </a:solidFill>
                      </a:endParaRPr>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tcPr>
                </a:tc>
              </a:tr>
              <a:tr h="523875">
                <a:tc>
                  <a:txBody>
                    <a:bodyPr/>
                    <a:lstStyle/>
                    <a:p>
                      <a:pPr indent="0" lvl="0" marL="0" rtl="0" algn="l">
                        <a:lnSpc>
                          <a:spcPct val="115000"/>
                        </a:lnSpc>
                        <a:spcBef>
                          <a:spcPts val="0"/>
                        </a:spcBef>
                        <a:spcAft>
                          <a:spcPts val="0"/>
                        </a:spcAft>
                        <a:buNone/>
                      </a:pPr>
                      <a:r>
                        <a:rPr b="1" lang="en" sz="1100">
                          <a:solidFill>
                            <a:srgbClr val="1F1F1F"/>
                          </a:solidFill>
                        </a:rPr>
                        <a:t>Are there regulations or data ownership issues?</a:t>
                      </a:r>
                      <a:endParaRPr b="1" sz="1100">
                        <a:solidFill>
                          <a:srgbClr val="1F1F1F"/>
                        </a:solidFill>
                      </a:endParaRPr>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Copyright, terms of service restrictions from the original platforms, or regional privacy laws may legally restrict you from distributing the raw image files.</a:t>
                      </a:r>
                      <a:endParaRPr sz="1100">
                        <a:solidFill>
                          <a:srgbClr val="1F1F1F"/>
                        </a:solidFill>
                      </a:endParaRPr>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tcPr>
                </a:tc>
              </a:tr>
              <a:tr h="523875">
                <a:tc>
                  <a:txBody>
                    <a:bodyPr/>
                    <a:lstStyle/>
                    <a:p>
                      <a:pPr indent="0" lvl="0" marL="0" rtl="0" algn="l">
                        <a:lnSpc>
                          <a:spcPct val="115000"/>
                        </a:lnSpc>
                        <a:spcBef>
                          <a:spcPts val="0"/>
                        </a:spcBef>
                        <a:spcAft>
                          <a:spcPts val="0"/>
                        </a:spcAft>
                        <a:buNone/>
                      </a:pPr>
                      <a:r>
                        <a:rPr b="1" lang="en" sz="1100">
                          <a:solidFill>
                            <a:srgbClr val="1F1F1F"/>
                          </a:solidFill>
                        </a:rPr>
                        <a:t>Responsible Data Stewardship</a:t>
                      </a:r>
                      <a:endParaRPr b="1" sz="1100">
                        <a:solidFill>
                          <a:srgbClr val="1F1F1F"/>
                        </a:solidFill>
                      </a:endParaRPr>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1F1F1F"/>
                          </a:solidFill>
                        </a:rPr>
                        <a:t>Students must learn that open science principles sometimes directly conflict with the ethical duty to protect vulnerable subjects from data re-use.</a:t>
                      </a:r>
                      <a:endParaRPr sz="1100">
                        <a:solidFill>
                          <a:srgbClr val="1F1F1F"/>
                        </a:solidFill>
                      </a:endParaRPr>
                    </a:p>
                  </a:txBody>
                  <a:tcPr marT="76200" marB="76200" marR="114300" marL="114300">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tcPr>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25"/>
          <p:cNvSpPr/>
          <p:nvPr/>
        </p:nvSpPr>
        <p:spPr>
          <a:xfrm>
            <a:off x="503800" y="979625"/>
            <a:ext cx="1857900" cy="71400"/>
          </a:xfrm>
          <a:prstGeom prst="rect">
            <a:avLst/>
          </a:prstGeom>
          <a:solidFill>
            <a:srgbClr val="13AE8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9" name="Google Shape;489;p25"/>
          <p:cNvSpPr txBox="1"/>
          <p:nvPr>
            <p:ph idx="1" type="subTitle"/>
          </p:nvPr>
        </p:nvSpPr>
        <p:spPr>
          <a:xfrm>
            <a:off x="409575" y="447125"/>
            <a:ext cx="8125500" cy="1270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2800"/>
              <a:buNone/>
            </a:pPr>
            <a:r>
              <a:rPr b="1" lang="en" sz="3500">
                <a:solidFill>
                  <a:schemeClr val="dk1"/>
                </a:solidFill>
                <a:latin typeface="Roboto"/>
                <a:ea typeface="Roboto"/>
                <a:cs typeface="Roboto"/>
                <a:sym typeface="Roboto"/>
              </a:rPr>
              <a:t>Activity 3: Group Exit Ticket</a:t>
            </a:r>
            <a:endParaRPr i="1" sz="3500">
              <a:solidFill>
                <a:schemeClr val="dk1"/>
              </a:solidFill>
              <a:latin typeface="Roboto"/>
              <a:ea typeface="Roboto"/>
              <a:cs typeface="Roboto"/>
              <a:sym typeface="Roboto"/>
            </a:endParaRPr>
          </a:p>
        </p:txBody>
      </p:sp>
      <p:grpSp>
        <p:nvGrpSpPr>
          <p:cNvPr id="490" name="Google Shape;490;p25"/>
          <p:cNvGrpSpPr/>
          <p:nvPr/>
        </p:nvGrpSpPr>
        <p:grpSpPr>
          <a:xfrm>
            <a:off x="8625" y="0"/>
            <a:ext cx="9144000" cy="267600"/>
            <a:chOff x="8625" y="0"/>
            <a:chExt cx="9144000" cy="267600"/>
          </a:xfrm>
        </p:grpSpPr>
        <p:sp>
          <p:nvSpPr>
            <p:cNvPr id="491" name="Google Shape;491;p25"/>
            <p:cNvSpPr/>
            <p:nvPr/>
          </p:nvSpPr>
          <p:spPr>
            <a:xfrm>
              <a:off x="8625" y="0"/>
              <a:ext cx="9144000" cy="2676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92" name="Google Shape;492;p25" title="Logo Header.png"/>
            <p:cNvPicPr preferRelativeResize="0"/>
            <p:nvPr/>
          </p:nvPicPr>
          <p:blipFill rotWithShape="1">
            <a:blip r:embed="rId3">
              <a:alphaModFix/>
            </a:blip>
            <a:srcRect b="0" l="0" r="0" t="0"/>
            <a:stretch/>
          </p:blipFill>
          <p:spPr>
            <a:xfrm>
              <a:off x="8348195" y="15790"/>
              <a:ext cx="634775" cy="199625"/>
            </a:xfrm>
            <a:prstGeom prst="rect">
              <a:avLst/>
            </a:prstGeom>
            <a:noFill/>
            <a:ln>
              <a:noFill/>
            </a:ln>
          </p:spPr>
        </p:pic>
      </p:grpSp>
      <p:pic>
        <p:nvPicPr>
          <p:cNvPr id="493" name="Google Shape;493;p25" title="Logo Main.png"/>
          <p:cNvPicPr preferRelativeResize="0"/>
          <p:nvPr/>
        </p:nvPicPr>
        <p:blipFill rotWithShape="1">
          <a:blip r:embed="rId4">
            <a:alphaModFix/>
          </a:blip>
          <a:srcRect b="0" l="0" r="0" t="0"/>
          <a:stretch/>
        </p:blipFill>
        <p:spPr>
          <a:xfrm>
            <a:off x="452725" y="4401798"/>
            <a:ext cx="1529475" cy="434512"/>
          </a:xfrm>
          <a:prstGeom prst="rect">
            <a:avLst/>
          </a:prstGeom>
          <a:noFill/>
          <a:ln>
            <a:noFill/>
          </a:ln>
        </p:spPr>
      </p:pic>
      <p:sp>
        <p:nvSpPr>
          <p:cNvPr id="494" name="Google Shape;494;p25"/>
          <p:cNvSpPr txBox="1"/>
          <p:nvPr/>
        </p:nvSpPr>
        <p:spPr>
          <a:xfrm>
            <a:off x="383775" y="1232025"/>
            <a:ext cx="8205000" cy="2858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sz="1300">
                <a:solidFill>
                  <a:schemeClr val="dk1"/>
                </a:solidFill>
                <a:latin typeface="Inter"/>
                <a:ea typeface="Inter"/>
                <a:cs typeface="Inter"/>
                <a:sym typeface="Inter"/>
              </a:rPr>
              <a:t>Your group has been asked to design a responsible </a:t>
            </a:r>
            <a:r>
              <a:rPr b="1" lang="en" sz="1300">
                <a:solidFill>
                  <a:schemeClr val="dk1"/>
                </a:solidFill>
                <a:latin typeface="Inter"/>
                <a:ea typeface="Inter"/>
                <a:cs typeface="Inter"/>
                <a:sym typeface="Inter"/>
              </a:rPr>
              <a:t>replication or extension of the Gender Shades study using the FairFace dataset</a:t>
            </a:r>
            <a:r>
              <a:rPr lang="en" sz="1300">
                <a:solidFill>
                  <a:schemeClr val="dk1"/>
                </a:solidFill>
                <a:latin typeface="Inter"/>
                <a:ea typeface="Inter"/>
                <a:cs typeface="Inter"/>
                <a:sym typeface="Inter"/>
              </a:rPr>
              <a:t>. Based on your work in this module, prepare a short scoping memo that answers:</a:t>
            </a:r>
            <a:endParaRPr sz="1300">
              <a:solidFill>
                <a:schemeClr val="dk1"/>
              </a:solidFill>
              <a:latin typeface="Inter"/>
              <a:ea typeface="Inter"/>
              <a:cs typeface="Inter"/>
              <a:sym typeface="Inter"/>
            </a:endParaRPr>
          </a:p>
          <a:p>
            <a:pPr indent="-311150" lvl="0" marL="457200" rtl="0" algn="l">
              <a:lnSpc>
                <a:spcPct val="115000"/>
              </a:lnSpc>
              <a:spcBef>
                <a:spcPts val="1200"/>
              </a:spcBef>
              <a:spcAft>
                <a:spcPts val="0"/>
              </a:spcAft>
              <a:buClr>
                <a:schemeClr val="dk1"/>
              </a:buClr>
              <a:buSzPts val="1300"/>
              <a:buAutoNum type="arabicPeriod"/>
            </a:pPr>
            <a:r>
              <a:rPr b="1" lang="en" sz="1300">
                <a:solidFill>
                  <a:schemeClr val="dk1"/>
                </a:solidFill>
                <a:latin typeface="Inter"/>
                <a:ea typeface="Inter"/>
                <a:cs typeface="Inter"/>
                <a:sym typeface="Inter"/>
              </a:rPr>
              <a:t>Research Question Evolution:</a:t>
            </a:r>
            <a:r>
              <a:rPr lang="en" sz="1300">
                <a:solidFill>
                  <a:schemeClr val="dk1"/>
                </a:solidFill>
                <a:latin typeface="Inter"/>
                <a:ea typeface="Inter"/>
                <a:cs typeface="Inter"/>
                <a:sym typeface="Inter"/>
              </a:rPr>
              <a:t> What is your final research question, and how did it change from your first technical version?</a:t>
            </a:r>
            <a:endParaRPr sz="1300">
              <a:solidFill>
                <a:schemeClr val="dk1"/>
              </a:solidFill>
              <a:latin typeface="Inter"/>
              <a:ea typeface="Inter"/>
              <a:cs typeface="Inter"/>
              <a:sym typeface="Inter"/>
            </a:endParaRPr>
          </a:p>
          <a:p>
            <a:pPr indent="-311150" lvl="0" marL="457200" rtl="0" algn="l">
              <a:lnSpc>
                <a:spcPct val="115000"/>
              </a:lnSpc>
              <a:spcBef>
                <a:spcPts val="0"/>
              </a:spcBef>
              <a:spcAft>
                <a:spcPts val="0"/>
              </a:spcAft>
              <a:buClr>
                <a:schemeClr val="dk1"/>
              </a:buClr>
              <a:buSzPts val="1300"/>
              <a:buAutoNum type="arabicPeriod"/>
            </a:pPr>
            <a:r>
              <a:rPr b="1" lang="en" sz="1300">
                <a:solidFill>
                  <a:schemeClr val="dk1"/>
                </a:solidFill>
                <a:latin typeface="Inter"/>
                <a:ea typeface="Inter"/>
                <a:cs typeface="Inter"/>
                <a:sym typeface="Inter"/>
              </a:rPr>
              <a:t>Data &amp; Stewardship:</a:t>
            </a:r>
            <a:r>
              <a:rPr lang="en" sz="1300">
                <a:solidFill>
                  <a:schemeClr val="dk1"/>
                </a:solidFill>
                <a:latin typeface="Inter"/>
                <a:ea typeface="Inter"/>
                <a:cs typeface="Inter"/>
                <a:sym typeface="Inter"/>
              </a:rPr>
              <a:t> What data do you need from FairFace, and what data should you </a:t>
            </a:r>
            <a:r>
              <a:rPr i="1" lang="en" sz="1300">
                <a:solidFill>
                  <a:schemeClr val="dk1"/>
                </a:solidFill>
                <a:latin typeface="Inter"/>
                <a:ea typeface="Inter"/>
                <a:cs typeface="Inter"/>
                <a:sym typeface="Inter"/>
              </a:rPr>
              <a:t>avoid</a:t>
            </a:r>
            <a:r>
              <a:rPr lang="en" sz="1300">
                <a:solidFill>
                  <a:schemeClr val="dk1"/>
                </a:solidFill>
                <a:latin typeface="Inter"/>
                <a:ea typeface="Inter"/>
                <a:cs typeface="Inter"/>
                <a:sym typeface="Inter"/>
              </a:rPr>
              <a:t> collecting based on your Activity 2 ethical audit?</a:t>
            </a:r>
            <a:endParaRPr sz="1300">
              <a:solidFill>
                <a:schemeClr val="dk1"/>
              </a:solidFill>
              <a:latin typeface="Inter"/>
              <a:ea typeface="Inter"/>
              <a:cs typeface="Inter"/>
              <a:sym typeface="Inter"/>
            </a:endParaRPr>
          </a:p>
          <a:p>
            <a:pPr indent="-311150" lvl="0" marL="457200" rtl="0" algn="l">
              <a:lnSpc>
                <a:spcPct val="115000"/>
              </a:lnSpc>
              <a:spcBef>
                <a:spcPts val="0"/>
              </a:spcBef>
              <a:spcAft>
                <a:spcPts val="0"/>
              </a:spcAft>
              <a:buClr>
                <a:schemeClr val="dk1"/>
              </a:buClr>
              <a:buSzPts val="1300"/>
              <a:buAutoNum type="arabicPeriod"/>
            </a:pPr>
            <a:r>
              <a:rPr b="1" lang="en" sz="1300">
                <a:solidFill>
                  <a:schemeClr val="dk1"/>
                </a:solidFill>
                <a:latin typeface="Inter"/>
                <a:ea typeface="Inter"/>
                <a:cs typeface="Inter"/>
                <a:sym typeface="Inter"/>
              </a:rPr>
              <a:t>Metrics &amp; Representation:</a:t>
            </a:r>
            <a:r>
              <a:rPr lang="en" sz="1300">
                <a:solidFill>
                  <a:schemeClr val="dk1"/>
                </a:solidFill>
                <a:latin typeface="Inter"/>
                <a:ea typeface="Inter"/>
                <a:cs typeface="Inter"/>
                <a:sym typeface="Inter"/>
              </a:rPr>
              <a:t> What specific subgroup comparisons and fairness metrics will you report? Who is still missing or collapsed in these categories?</a:t>
            </a:r>
            <a:endParaRPr sz="1300">
              <a:solidFill>
                <a:schemeClr val="dk1"/>
              </a:solidFill>
              <a:latin typeface="Inter"/>
              <a:ea typeface="Inter"/>
              <a:cs typeface="Inter"/>
              <a:sym typeface="Inter"/>
            </a:endParaRPr>
          </a:p>
          <a:p>
            <a:pPr indent="-311150" lvl="0" marL="457200" rtl="0" algn="l">
              <a:lnSpc>
                <a:spcPct val="115000"/>
              </a:lnSpc>
              <a:spcBef>
                <a:spcPts val="0"/>
              </a:spcBef>
              <a:spcAft>
                <a:spcPts val="0"/>
              </a:spcAft>
              <a:buClr>
                <a:schemeClr val="dk1"/>
              </a:buClr>
              <a:buSzPts val="1300"/>
              <a:buAutoNum type="arabicPeriod"/>
            </a:pPr>
            <a:r>
              <a:rPr b="1" lang="en" sz="1300">
                <a:solidFill>
                  <a:schemeClr val="dk1"/>
                </a:solidFill>
                <a:latin typeface="Inter"/>
                <a:ea typeface="Inter"/>
                <a:cs typeface="Inter"/>
                <a:sym typeface="Inter"/>
              </a:rPr>
              <a:t>Openness &amp; Reproducibility:</a:t>
            </a:r>
            <a:r>
              <a:rPr lang="en" sz="1300">
                <a:solidFill>
                  <a:schemeClr val="dk1"/>
                </a:solidFill>
                <a:latin typeface="Inter"/>
                <a:ea typeface="Inter"/>
                <a:cs typeface="Inter"/>
                <a:sym typeface="Inter"/>
              </a:rPr>
              <a:t> What will you document in your decision log so another team can reproduce, critique, or safely transfer your workflow?</a:t>
            </a:r>
            <a:endParaRPr sz="1300">
              <a:solidFill>
                <a:schemeClr val="dk1"/>
              </a:solidFill>
              <a:latin typeface="Inter"/>
              <a:ea typeface="Inter"/>
              <a:cs typeface="Inter"/>
              <a:sym typeface="Inte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g3d972e05592_3_1"/>
          <p:cNvSpPr/>
          <p:nvPr/>
        </p:nvSpPr>
        <p:spPr>
          <a:xfrm>
            <a:off x="467325" y="3935898"/>
            <a:ext cx="7930200" cy="1019700"/>
          </a:xfrm>
          <a:prstGeom prst="roundRect">
            <a:avLst>
              <a:gd fmla="val 16667" name="adj"/>
            </a:avLst>
          </a:prstGeom>
          <a:solidFill>
            <a:srgbClr val="CFE2F3"/>
          </a:solidFill>
          <a:ln>
            <a:noFill/>
          </a:ln>
        </p:spPr>
        <p:txBody>
          <a:bodyPr anchorCtr="0" anchor="ctr" bIns="91425" lIns="91425" spcFirstLastPara="1" rIns="91425" wrap="square" tIns="91425">
            <a:noAutofit/>
          </a:bodyPr>
          <a:lstStyle/>
          <a:p>
            <a:pPr indent="0" lvl="0" marL="274320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500" name="Google Shape;500;g3d972e05592_3_1"/>
          <p:cNvSpPr/>
          <p:nvPr/>
        </p:nvSpPr>
        <p:spPr>
          <a:xfrm>
            <a:off x="467325" y="1842226"/>
            <a:ext cx="7930200" cy="1998900"/>
          </a:xfrm>
          <a:prstGeom prst="roundRect">
            <a:avLst>
              <a:gd fmla="val 16667" name="adj"/>
            </a:avLst>
          </a:prstGeom>
          <a:solidFill>
            <a:srgbClr val="D4E4D1"/>
          </a:solidFill>
          <a:ln>
            <a:noFill/>
          </a:ln>
        </p:spPr>
        <p:txBody>
          <a:bodyPr anchorCtr="0" anchor="ctr" bIns="91425" lIns="91425" spcFirstLastPara="1" rIns="91425" wrap="square" tIns="91425">
            <a:noAutofit/>
          </a:bodyPr>
          <a:lstStyle/>
          <a:p>
            <a:pPr indent="0" lvl="0" marL="274320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501" name="Google Shape;501;g3d972e05592_3_1"/>
          <p:cNvSpPr/>
          <p:nvPr/>
        </p:nvSpPr>
        <p:spPr>
          <a:xfrm>
            <a:off x="467325" y="386207"/>
            <a:ext cx="7891800" cy="1337400"/>
          </a:xfrm>
          <a:prstGeom prst="roundRect">
            <a:avLst>
              <a:gd fmla="val 16667" name="adj"/>
            </a:avLst>
          </a:prstGeom>
          <a:solidFill>
            <a:srgbClr val="F5F0E8"/>
          </a:solidFill>
          <a:ln>
            <a:noFill/>
          </a:ln>
        </p:spPr>
        <p:txBody>
          <a:bodyPr anchorCtr="0" anchor="ctr" bIns="91425" lIns="91425" spcFirstLastPara="1" rIns="91425" wrap="square" tIns="91425">
            <a:noAutofit/>
          </a:bodyPr>
          <a:lstStyle/>
          <a:p>
            <a:pPr indent="0" lvl="0" marL="274320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502" name="Google Shape;502;g3d972e05592_3_1"/>
          <p:cNvSpPr/>
          <p:nvPr/>
        </p:nvSpPr>
        <p:spPr>
          <a:xfrm>
            <a:off x="697325" y="557703"/>
            <a:ext cx="1920300" cy="26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E"/>
              </a:buClr>
              <a:buSzPts val="1400"/>
              <a:buFont typeface="Georgia"/>
              <a:buNone/>
            </a:pPr>
            <a:r>
              <a:rPr b="1" lang="en">
                <a:solidFill>
                  <a:srgbClr val="1A1A2E"/>
                </a:solidFill>
                <a:latin typeface="Inter"/>
                <a:ea typeface="Inter"/>
                <a:cs typeface="Inter"/>
                <a:sym typeface="Inter"/>
              </a:rPr>
              <a:t>Institutional Review</a:t>
            </a:r>
            <a:endParaRPr b="1" i="0" sz="1400" u="none" cap="none" strike="noStrike">
              <a:solidFill>
                <a:srgbClr val="000000"/>
              </a:solidFill>
              <a:latin typeface="Inter"/>
              <a:ea typeface="Inter"/>
              <a:cs typeface="Inter"/>
              <a:sym typeface="Inter"/>
            </a:endParaRPr>
          </a:p>
        </p:txBody>
      </p:sp>
      <p:sp>
        <p:nvSpPr>
          <p:cNvPr id="503" name="Google Shape;503;g3d972e05592_3_1"/>
          <p:cNvSpPr/>
          <p:nvPr/>
        </p:nvSpPr>
        <p:spPr>
          <a:xfrm>
            <a:off x="697330" y="805042"/>
            <a:ext cx="832200" cy="18300"/>
          </a:xfrm>
          <a:prstGeom prst="rect">
            <a:avLst/>
          </a:prstGeom>
          <a:solidFill>
            <a:srgbClr val="B85C3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504" name="Google Shape;504;g3d972e05592_3_1"/>
          <p:cNvSpPr/>
          <p:nvPr/>
        </p:nvSpPr>
        <p:spPr>
          <a:xfrm>
            <a:off x="716484" y="1880400"/>
            <a:ext cx="34068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E"/>
              </a:buClr>
              <a:buSzPts val="1400"/>
              <a:buFont typeface="Georgia"/>
              <a:buNone/>
            </a:pPr>
            <a:r>
              <a:rPr b="1" lang="en">
                <a:solidFill>
                  <a:srgbClr val="1A1A2E"/>
                </a:solidFill>
                <a:latin typeface="Inter"/>
                <a:ea typeface="Inter"/>
                <a:cs typeface="Inter"/>
                <a:sym typeface="Inter"/>
              </a:rPr>
              <a:t>Government Guidance</a:t>
            </a:r>
            <a:endParaRPr b="1" i="0" sz="1400" u="none" cap="none" strike="noStrike">
              <a:solidFill>
                <a:srgbClr val="000000"/>
              </a:solidFill>
              <a:latin typeface="Inter"/>
              <a:ea typeface="Inter"/>
              <a:cs typeface="Inter"/>
              <a:sym typeface="Inter"/>
            </a:endParaRPr>
          </a:p>
        </p:txBody>
      </p:sp>
      <p:sp>
        <p:nvSpPr>
          <p:cNvPr id="505" name="Google Shape;505;g3d972e05592_3_1"/>
          <p:cNvSpPr/>
          <p:nvPr/>
        </p:nvSpPr>
        <p:spPr>
          <a:xfrm>
            <a:off x="746225" y="2122301"/>
            <a:ext cx="1012200" cy="18300"/>
          </a:xfrm>
          <a:prstGeom prst="rect">
            <a:avLst/>
          </a:prstGeom>
          <a:solidFill>
            <a:srgbClr val="2C6E6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506" name="Google Shape;506;g3d972e05592_3_1"/>
          <p:cNvSpPr/>
          <p:nvPr/>
        </p:nvSpPr>
        <p:spPr>
          <a:xfrm>
            <a:off x="716463" y="4021166"/>
            <a:ext cx="19203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E"/>
              </a:buClr>
              <a:buSzPts val="1400"/>
              <a:buFont typeface="Georgia"/>
              <a:buNone/>
            </a:pPr>
            <a:r>
              <a:rPr b="1" lang="en">
                <a:solidFill>
                  <a:srgbClr val="1A1A2E"/>
                </a:solidFill>
                <a:latin typeface="Inter"/>
                <a:ea typeface="Inter"/>
                <a:cs typeface="Inter"/>
                <a:sym typeface="Inter"/>
              </a:rPr>
              <a:t>Ethics </a:t>
            </a:r>
            <a:r>
              <a:rPr b="1" lang="en">
                <a:solidFill>
                  <a:srgbClr val="1A1A2E"/>
                </a:solidFill>
                <a:latin typeface="Inter"/>
                <a:ea typeface="Inter"/>
                <a:cs typeface="Inter"/>
                <a:sym typeface="Inter"/>
              </a:rPr>
              <a:t>Training</a:t>
            </a:r>
            <a:endParaRPr b="1" i="0" sz="1400" u="none" cap="none" strike="noStrike">
              <a:solidFill>
                <a:srgbClr val="000000"/>
              </a:solidFill>
              <a:latin typeface="Inter"/>
              <a:ea typeface="Inter"/>
              <a:cs typeface="Inter"/>
              <a:sym typeface="Inter"/>
            </a:endParaRPr>
          </a:p>
        </p:txBody>
      </p:sp>
      <p:sp>
        <p:nvSpPr>
          <p:cNvPr id="507" name="Google Shape;507;g3d972e05592_3_1"/>
          <p:cNvSpPr/>
          <p:nvPr/>
        </p:nvSpPr>
        <p:spPr>
          <a:xfrm>
            <a:off x="725525" y="4282430"/>
            <a:ext cx="651600" cy="18300"/>
          </a:xfrm>
          <a:prstGeom prst="rect">
            <a:avLst/>
          </a:prstGeom>
          <a:solidFill>
            <a:srgbClr val="3D85C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grpSp>
        <p:nvGrpSpPr>
          <p:cNvPr id="508" name="Google Shape;508;g3d972e05592_3_1"/>
          <p:cNvGrpSpPr/>
          <p:nvPr/>
        </p:nvGrpSpPr>
        <p:grpSpPr>
          <a:xfrm>
            <a:off x="8625" y="0"/>
            <a:ext cx="9144000" cy="267600"/>
            <a:chOff x="8625" y="0"/>
            <a:chExt cx="9144000" cy="267600"/>
          </a:xfrm>
        </p:grpSpPr>
        <p:sp>
          <p:nvSpPr>
            <p:cNvPr id="509" name="Google Shape;509;g3d972e05592_3_1"/>
            <p:cNvSpPr/>
            <p:nvPr/>
          </p:nvSpPr>
          <p:spPr>
            <a:xfrm>
              <a:off x="8625" y="0"/>
              <a:ext cx="9144000" cy="2676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10" name="Google Shape;510;g3d972e05592_3_1" title="Logo Header.png"/>
            <p:cNvPicPr preferRelativeResize="0"/>
            <p:nvPr/>
          </p:nvPicPr>
          <p:blipFill rotWithShape="1">
            <a:blip r:embed="rId3">
              <a:alphaModFix/>
            </a:blip>
            <a:srcRect b="0" l="0" r="0" t="0"/>
            <a:stretch/>
          </p:blipFill>
          <p:spPr>
            <a:xfrm>
              <a:off x="8348195" y="15790"/>
              <a:ext cx="634775" cy="199625"/>
            </a:xfrm>
            <a:prstGeom prst="rect">
              <a:avLst/>
            </a:prstGeom>
            <a:noFill/>
            <a:ln>
              <a:noFill/>
            </a:ln>
          </p:spPr>
        </p:pic>
      </p:grpSp>
      <p:sp>
        <p:nvSpPr>
          <p:cNvPr id="511" name="Google Shape;511;g3d972e05592_3_1"/>
          <p:cNvSpPr txBox="1"/>
          <p:nvPr/>
        </p:nvSpPr>
        <p:spPr>
          <a:xfrm>
            <a:off x="612925" y="802834"/>
            <a:ext cx="7144800" cy="858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lang="en" sz="1200">
                <a:solidFill>
                  <a:schemeClr val="dk1"/>
                </a:solidFill>
              </a:rPr>
              <a:t>Start with resources at your academic institution</a:t>
            </a:r>
            <a:endParaRPr sz="1200">
              <a:solidFill>
                <a:schemeClr val="dk1"/>
              </a:solidFill>
            </a:endParaRPr>
          </a:p>
          <a:p>
            <a:pPr indent="0" lvl="0" marL="0" marR="0" rtl="0" algn="l">
              <a:lnSpc>
                <a:spcPct val="100000"/>
              </a:lnSpc>
              <a:spcBef>
                <a:spcPts val="0"/>
              </a:spcBef>
              <a:spcAft>
                <a:spcPts val="0"/>
              </a:spcAft>
              <a:buClr>
                <a:srgbClr val="000000"/>
              </a:buClr>
              <a:buSzPts val="1500"/>
              <a:buFont typeface="Arial"/>
              <a:buNone/>
            </a:pPr>
            <a:r>
              <a:rPr lang="en" sz="1200">
                <a:solidFill>
                  <a:schemeClr val="dk1"/>
                </a:solidFill>
              </a:rPr>
              <a:t>Other good academic resources are:</a:t>
            </a:r>
            <a:endParaRPr sz="1200">
              <a:solidFill>
                <a:schemeClr val="dk1"/>
              </a:solidFill>
            </a:endParaRPr>
          </a:p>
          <a:p>
            <a:pPr indent="0" lvl="0" marL="0" marR="0" rtl="0" algn="l">
              <a:lnSpc>
                <a:spcPct val="100000"/>
              </a:lnSpc>
              <a:spcBef>
                <a:spcPts val="0"/>
              </a:spcBef>
              <a:spcAft>
                <a:spcPts val="0"/>
              </a:spcAft>
              <a:buClr>
                <a:srgbClr val="000000"/>
              </a:buClr>
              <a:buSzPts val="1500"/>
              <a:buFont typeface="Arial"/>
              <a:buNone/>
            </a:pPr>
            <a:r>
              <a:rPr lang="en" sz="1100" u="sng">
                <a:solidFill>
                  <a:schemeClr val="hlink"/>
                </a:solidFill>
                <a:hlinkClick r:id="rId4"/>
              </a:rPr>
              <a:t>https://doresearch.stanford.edu/who-we-are/responsible-and-ethical-conduct-research-education</a:t>
            </a:r>
            <a:endParaRPr sz="1200">
              <a:solidFill>
                <a:schemeClr val="dk1"/>
              </a:solidFill>
            </a:endParaRPr>
          </a:p>
          <a:p>
            <a:pPr indent="0" lvl="0" marL="0" marR="0" rtl="0" algn="l">
              <a:lnSpc>
                <a:spcPct val="100000"/>
              </a:lnSpc>
              <a:spcBef>
                <a:spcPts val="0"/>
              </a:spcBef>
              <a:spcAft>
                <a:spcPts val="0"/>
              </a:spcAft>
              <a:buClr>
                <a:srgbClr val="000000"/>
              </a:buClr>
              <a:buSzPts val="1500"/>
              <a:buFont typeface="Arial"/>
              <a:buNone/>
            </a:pPr>
            <a:r>
              <a:rPr lang="en" sz="1200" u="sng">
                <a:solidFill>
                  <a:schemeClr val="hlink"/>
                </a:solidFill>
                <a:hlinkClick r:id="rId5"/>
              </a:rPr>
              <a:t>https://jhura.jhu.edu/compliance-2/human-subjects/</a:t>
            </a:r>
            <a:endParaRPr sz="1200">
              <a:solidFill>
                <a:schemeClr val="dk1"/>
              </a:solidFill>
            </a:endParaRPr>
          </a:p>
          <a:p>
            <a:pPr indent="0" lvl="0" marL="0" marR="0" rtl="0" algn="l">
              <a:lnSpc>
                <a:spcPct val="100000"/>
              </a:lnSpc>
              <a:spcBef>
                <a:spcPts val="0"/>
              </a:spcBef>
              <a:spcAft>
                <a:spcPts val="0"/>
              </a:spcAft>
              <a:buClr>
                <a:srgbClr val="000000"/>
              </a:buClr>
              <a:buSzPts val="1500"/>
              <a:buFont typeface="Arial"/>
              <a:buNone/>
            </a:pPr>
            <a:r>
              <a:t/>
            </a:r>
            <a:endParaRPr sz="1200">
              <a:solidFill>
                <a:schemeClr val="dk1"/>
              </a:solidFill>
            </a:endParaRPr>
          </a:p>
          <a:p>
            <a:pPr indent="0" lvl="0" marL="0" marR="0" rtl="0" algn="l">
              <a:lnSpc>
                <a:spcPct val="100000"/>
              </a:lnSpc>
              <a:spcBef>
                <a:spcPts val="0"/>
              </a:spcBef>
              <a:spcAft>
                <a:spcPts val="0"/>
              </a:spcAft>
              <a:buClr>
                <a:srgbClr val="000000"/>
              </a:buClr>
              <a:buSzPts val="1500"/>
              <a:buFont typeface="Arial"/>
              <a:buNone/>
            </a:pPr>
            <a:r>
              <a:t/>
            </a:r>
            <a:endParaRPr sz="1200">
              <a:solidFill>
                <a:schemeClr val="dk1"/>
              </a:solidFill>
            </a:endParaRPr>
          </a:p>
        </p:txBody>
      </p:sp>
      <p:sp>
        <p:nvSpPr>
          <p:cNvPr id="512" name="Google Shape;512;g3d972e05592_3_1"/>
          <p:cNvSpPr txBox="1"/>
          <p:nvPr/>
        </p:nvSpPr>
        <p:spPr>
          <a:xfrm>
            <a:off x="601275" y="2138525"/>
            <a:ext cx="7662300" cy="1444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lang="en" sz="1100">
                <a:solidFill>
                  <a:schemeClr val="dk1"/>
                </a:solidFill>
              </a:rPr>
              <a:t>Look at government resources;</a:t>
            </a:r>
            <a:endParaRPr sz="1100">
              <a:solidFill>
                <a:schemeClr val="dk1"/>
              </a:solidFill>
            </a:endParaRPr>
          </a:p>
          <a:p>
            <a:pPr indent="0" lvl="0" marL="0" marR="0" rtl="0" algn="l">
              <a:lnSpc>
                <a:spcPct val="100000"/>
              </a:lnSpc>
              <a:spcBef>
                <a:spcPts val="0"/>
              </a:spcBef>
              <a:spcAft>
                <a:spcPts val="0"/>
              </a:spcAft>
              <a:buClr>
                <a:srgbClr val="000000"/>
              </a:buClr>
              <a:buSzPts val="1500"/>
              <a:buFont typeface="Arial"/>
              <a:buNone/>
            </a:pPr>
            <a:r>
              <a:rPr lang="en" sz="1100">
                <a:solidFill>
                  <a:schemeClr val="dk1"/>
                </a:solidFill>
              </a:rPr>
              <a:t>US: Health and Human Services (HHS): </a:t>
            </a:r>
            <a:r>
              <a:rPr lang="en" sz="1100" u="sng">
                <a:solidFill>
                  <a:schemeClr val="hlink"/>
                </a:solidFill>
                <a:hlinkClick r:id="rId6"/>
              </a:rPr>
              <a:t>h</a:t>
            </a:r>
            <a:r>
              <a:rPr lang="en" sz="1100" u="sng">
                <a:solidFill>
                  <a:schemeClr val="hlink"/>
                </a:solidFill>
                <a:hlinkClick r:id="rId7"/>
              </a:rPr>
              <a:t>ttps://www.hhs.gov/ohrp/sites/default/files/educational-resources-for-irb-members.pdf</a:t>
            </a:r>
            <a:endParaRPr sz="1100">
              <a:solidFill>
                <a:schemeClr val="dk1"/>
              </a:solidFill>
            </a:endParaRPr>
          </a:p>
          <a:p>
            <a:pPr indent="0" lvl="0" marL="0" marR="0" rtl="0" algn="l">
              <a:lnSpc>
                <a:spcPct val="100000"/>
              </a:lnSpc>
              <a:spcBef>
                <a:spcPts val="0"/>
              </a:spcBef>
              <a:spcAft>
                <a:spcPts val="0"/>
              </a:spcAft>
              <a:buClr>
                <a:srgbClr val="000000"/>
              </a:buClr>
              <a:buSzPts val="1500"/>
              <a:buFont typeface="Arial"/>
              <a:buNone/>
            </a:pPr>
            <a:r>
              <a:rPr lang="en" sz="1100">
                <a:solidFill>
                  <a:schemeClr val="dk1"/>
                </a:solidFill>
              </a:rPr>
              <a:t>National Institutes of Health (NIH): </a:t>
            </a:r>
            <a:r>
              <a:rPr lang="en" sz="1100" u="sng">
                <a:solidFill>
                  <a:schemeClr val="hlink"/>
                </a:solidFill>
                <a:hlinkClick r:id="rId8"/>
              </a:rPr>
              <a:t>https://www.nih.gov/health-information/nih-clinical-research-trials-you/guiding-principles-ethical-research</a:t>
            </a:r>
            <a:endParaRPr sz="1100">
              <a:solidFill>
                <a:schemeClr val="dk1"/>
              </a:solidFill>
            </a:endParaRPr>
          </a:p>
          <a:p>
            <a:pPr indent="0" lvl="0" marL="0" marR="0" rtl="0" algn="l">
              <a:lnSpc>
                <a:spcPct val="100000"/>
              </a:lnSpc>
              <a:spcBef>
                <a:spcPts val="0"/>
              </a:spcBef>
              <a:spcAft>
                <a:spcPts val="0"/>
              </a:spcAft>
              <a:buClr>
                <a:srgbClr val="000000"/>
              </a:buClr>
              <a:buSzPts val="1500"/>
              <a:buFont typeface="Arial"/>
              <a:buNone/>
            </a:pPr>
            <a:r>
              <a:rPr lang="en" sz="1100">
                <a:solidFill>
                  <a:schemeClr val="dk1"/>
                </a:solidFill>
              </a:rPr>
              <a:t>National Science Foundation (NSF): </a:t>
            </a:r>
            <a:r>
              <a:rPr lang="en" sz="1100" u="sng">
                <a:solidFill>
                  <a:schemeClr val="hlink"/>
                </a:solidFill>
                <a:hlinkClick r:id="rId9"/>
              </a:rPr>
              <a:t>https://www.nsf.gov/funding/research-involving-human-subjects</a:t>
            </a:r>
            <a:endParaRPr sz="1100">
              <a:solidFill>
                <a:schemeClr val="dk1"/>
              </a:solidFill>
            </a:endParaRPr>
          </a:p>
          <a:p>
            <a:pPr indent="0" lvl="0" marL="0" marR="0" rtl="0" algn="l">
              <a:lnSpc>
                <a:spcPct val="100000"/>
              </a:lnSpc>
              <a:spcBef>
                <a:spcPts val="0"/>
              </a:spcBef>
              <a:spcAft>
                <a:spcPts val="0"/>
              </a:spcAft>
              <a:buClr>
                <a:srgbClr val="000000"/>
              </a:buClr>
              <a:buSzPts val="1500"/>
              <a:buFont typeface="Arial"/>
              <a:buNone/>
            </a:pPr>
            <a:r>
              <a:rPr lang="en" sz="1100">
                <a:solidFill>
                  <a:schemeClr val="dk1"/>
                </a:solidFill>
              </a:rPr>
              <a:t>Canada: Tri-Council Policy Statement: Ethical Conduct for Research Involving Humans (TCPS2):</a:t>
            </a:r>
            <a:r>
              <a:rPr lang="en" sz="1100" u="sng">
                <a:solidFill>
                  <a:schemeClr val="hlink"/>
                </a:solidFill>
                <a:hlinkClick r:id="rId10"/>
              </a:rPr>
              <a:t>https://tcps2core.ca/welcome</a:t>
            </a:r>
            <a:endParaRPr i="0" sz="1100" u="none" cap="none" strike="noStrike">
              <a:solidFill>
                <a:schemeClr val="dk1"/>
              </a:solidFill>
            </a:endParaRPr>
          </a:p>
        </p:txBody>
      </p:sp>
      <p:sp>
        <p:nvSpPr>
          <p:cNvPr id="513" name="Google Shape;513;g3d972e05592_3_1"/>
          <p:cNvSpPr txBox="1"/>
          <p:nvPr/>
        </p:nvSpPr>
        <p:spPr>
          <a:xfrm>
            <a:off x="632075" y="4317249"/>
            <a:ext cx="5314500" cy="553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lang="en" sz="1100">
                <a:solidFill>
                  <a:schemeClr val="dk1"/>
                </a:solidFill>
              </a:rPr>
              <a:t>Look for possible trainings such as CITI Program</a:t>
            </a:r>
            <a:endParaRPr sz="1100">
              <a:solidFill>
                <a:schemeClr val="dk1"/>
              </a:solidFill>
            </a:endParaRPr>
          </a:p>
          <a:p>
            <a:pPr indent="0" lvl="0" marL="0" marR="0" rtl="0" algn="l">
              <a:lnSpc>
                <a:spcPct val="100000"/>
              </a:lnSpc>
              <a:spcBef>
                <a:spcPts val="0"/>
              </a:spcBef>
              <a:spcAft>
                <a:spcPts val="0"/>
              </a:spcAft>
              <a:buClr>
                <a:srgbClr val="000000"/>
              </a:buClr>
              <a:buSzPts val="1500"/>
              <a:buFont typeface="Arial"/>
              <a:buNone/>
            </a:pPr>
            <a:r>
              <a:rPr lang="en" sz="1100" u="sng">
                <a:solidFill>
                  <a:schemeClr val="hlink"/>
                </a:solidFill>
                <a:hlinkClick r:id="rId11"/>
              </a:rPr>
              <a:t>https://about.citiprogram.org/get-to-know-citi-program/</a:t>
            </a:r>
            <a:endParaRPr sz="1100">
              <a:solidFill>
                <a:schemeClr val="dk1"/>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26"/>
          <p:cNvSpPr/>
          <p:nvPr/>
        </p:nvSpPr>
        <p:spPr>
          <a:xfrm>
            <a:off x="503800" y="996885"/>
            <a:ext cx="4639800" cy="64500"/>
          </a:xfrm>
          <a:prstGeom prst="rect">
            <a:avLst/>
          </a:prstGeom>
          <a:solidFill>
            <a:srgbClr val="13AE8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9" name="Google Shape;519;p26"/>
          <p:cNvSpPr txBox="1"/>
          <p:nvPr>
            <p:ph idx="1" type="subTitle"/>
          </p:nvPr>
        </p:nvSpPr>
        <p:spPr>
          <a:xfrm>
            <a:off x="409575" y="1303125"/>
            <a:ext cx="8125500" cy="3538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2800"/>
              <a:buNone/>
            </a:pPr>
            <a:r>
              <a:t/>
            </a:r>
            <a:endParaRPr sz="1000">
              <a:solidFill>
                <a:schemeClr val="dk1"/>
              </a:solidFill>
              <a:latin typeface="Inter"/>
              <a:ea typeface="Inter"/>
              <a:cs typeface="Inter"/>
              <a:sym typeface="Inter"/>
            </a:endParaRPr>
          </a:p>
          <a:p>
            <a:pPr indent="-292100" lvl="0" marL="457200" rtl="0" algn="l">
              <a:lnSpc>
                <a:spcPct val="115000"/>
              </a:lnSpc>
              <a:spcBef>
                <a:spcPts val="0"/>
              </a:spcBef>
              <a:spcAft>
                <a:spcPts val="0"/>
              </a:spcAft>
              <a:buClr>
                <a:schemeClr val="dk1"/>
              </a:buClr>
              <a:buSzPts val="1000"/>
              <a:buFont typeface="Inter"/>
              <a:buAutoNum type="arabicPeriod"/>
            </a:pPr>
            <a:r>
              <a:rPr lang="en" sz="1000">
                <a:solidFill>
                  <a:schemeClr val="dk1"/>
                </a:solidFill>
                <a:highlight>
                  <a:srgbClr val="FFFFFF"/>
                </a:highlight>
                <a:latin typeface="Inter"/>
                <a:ea typeface="Inter"/>
                <a:cs typeface="Inter"/>
                <a:sym typeface="Inter"/>
              </a:rPr>
              <a:t>National Commission for the Protection of Human Subjects of Biomedical and Behavioral Research. (1979). </a:t>
            </a:r>
            <a:r>
              <a:rPr i="1" lang="en" sz="1000">
                <a:solidFill>
                  <a:schemeClr val="dk1"/>
                </a:solidFill>
                <a:highlight>
                  <a:srgbClr val="FFFFFF"/>
                </a:highlight>
                <a:latin typeface="Inter"/>
                <a:ea typeface="Inter"/>
                <a:cs typeface="Inter"/>
                <a:sym typeface="Inter"/>
              </a:rPr>
              <a:t>The Belmont report: Ethical principles and guidelines for the protection of human subjects of research</a:t>
            </a:r>
            <a:r>
              <a:rPr lang="en" sz="1000">
                <a:solidFill>
                  <a:schemeClr val="dk1"/>
                </a:solidFill>
                <a:highlight>
                  <a:srgbClr val="FFFFFF"/>
                </a:highlight>
                <a:latin typeface="Inter"/>
                <a:ea typeface="Inter"/>
                <a:cs typeface="Inter"/>
                <a:sym typeface="Inter"/>
              </a:rPr>
              <a:t>. U.S. Department of Health and Human Services. </a:t>
            </a:r>
            <a:r>
              <a:rPr lang="en" sz="1000" u="sng">
                <a:solidFill>
                  <a:schemeClr val="hlink"/>
                </a:solidFill>
                <a:highlight>
                  <a:srgbClr val="FFFFFF"/>
                </a:highlight>
                <a:latin typeface="Inter"/>
                <a:ea typeface="Inter"/>
                <a:cs typeface="Inter"/>
                <a:sym typeface="Inter"/>
                <a:hlinkClick r:id="rId3"/>
              </a:rPr>
              <a:t>https://www.hhs.gov/ohrp/regulations-and-policy/belmont-report/read-the-belmont-report/index.html</a:t>
            </a:r>
            <a:r>
              <a:rPr lang="en" sz="1000">
                <a:solidFill>
                  <a:schemeClr val="dk1"/>
                </a:solidFill>
                <a:highlight>
                  <a:srgbClr val="FFFFFF"/>
                </a:highlight>
                <a:latin typeface="Inter"/>
                <a:ea typeface="Inter"/>
                <a:cs typeface="Inter"/>
                <a:sym typeface="Inter"/>
              </a:rPr>
              <a:t> </a:t>
            </a:r>
            <a:endParaRPr sz="1000">
              <a:solidFill>
                <a:schemeClr val="dk1"/>
              </a:solidFill>
              <a:highlight>
                <a:srgbClr val="FFFFFF"/>
              </a:highlight>
              <a:latin typeface="Inter"/>
              <a:ea typeface="Inter"/>
              <a:cs typeface="Inter"/>
              <a:sym typeface="Inter"/>
            </a:endParaRPr>
          </a:p>
          <a:p>
            <a:pPr indent="-292100" lvl="0" marL="457200" rtl="0" algn="l">
              <a:lnSpc>
                <a:spcPct val="115000"/>
              </a:lnSpc>
              <a:spcBef>
                <a:spcPts val="0"/>
              </a:spcBef>
              <a:spcAft>
                <a:spcPts val="0"/>
              </a:spcAft>
              <a:buClr>
                <a:schemeClr val="dk1"/>
              </a:buClr>
              <a:buSzPts val="1000"/>
              <a:buFont typeface="Inter"/>
              <a:buAutoNum type="arabicPeriod"/>
            </a:pPr>
            <a:r>
              <a:rPr lang="en" sz="1000">
                <a:solidFill>
                  <a:schemeClr val="dk1"/>
                </a:solidFill>
                <a:highlight>
                  <a:srgbClr val="FFFFFF"/>
                </a:highlight>
                <a:latin typeface="Inter"/>
                <a:ea typeface="Inter"/>
                <a:cs typeface="Inter"/>
                <a:sym typeface="Inter"/>
              </a:rPr>
              <a:t>Eliazar, A., Brown, J. T., Cinamon, S., Kantarcioglu, M., &amp; Malin, B. (2026). Re-identification risk for common privacy preserving patient matching strategies when shared with de-identified demographics. </a:t>
            </a:r>
            <a:r>
              <a:rPr i="1" lang="en" sz="1000">
                <a:solidFill>
                  <a:schemeClr val="dk1"/>
                </a:solidFill>
                <a:highlight>
                  <a:srgbClr val="FFFFFF"/>
                </a:highlight>
                <a:latin typeface="Inter"/>
                <a:ea typeface="Inter"/>
                <a:cs typeface="Inter"/>
                <a:sym typeface="Inter"/>
              </a:rPr>
              <a:t>Journal of the American Medical Informatics Association : JAMIA</a:t>
            </a:r>
            <a:r>
              <a:rPr lang="en" sz="1000">
                <a:solidFill>
                  <a:schemeClr val="dk1"/>
                </a:solidFill>
                <a:highlight>
                  <a:srgbClr val="FFFFFF"/>
                </a:highlight>
                <a:latin typeface="Inter"/>
                <a:ea typeface="Inter"/>
                <a:cs typeface="Inter"/>
                <a:sym typeface="Inter"/>
              </a:rPr>
              <a:t>, </a:t>
            </a:r>
            <a:r>
              <a:rPr i="1" lang="en" sz="1000">
                <a:solidFill>
                  <a:schemeClr val="dk1"/>
                </a:solidFill>
                <a:highlight>
                  <a:srgbClr val="FFFFFF"/>
                </a:highlight>
                <a:latin typeface="Inter"/>
                <a:ea typeface="Inter"/>
                <a:cs typeface="Inter"/>
                <a:sym typeface="Inter"/>
              </a:rPr>
              <a:t>33</a:t>
            </a:r>
            <a:r>
              <a:rPr lang="en" sz="1000">
                <a:solidFill>
                  <a:schemeClr val="dk1"/>
                </a:solidFill>
                <a:highlight>
                  <a:srgbClr val="FFFFFF"/>
                </a:highlight>
                <a:latin typeface="Inter"/>
                <a:ea typeface="Inter"/>
                <a:cs typeface="Inter"/>
                <a:sym typeface="Inter"/>
              </a:rPr>
              <a:t>(2), 336–346. </a:t>
            </a:r>
            <a:r>
              <a:rPr lang="en" sz="1000" u="sng">
                <a:solidFill>
                  <a:schemeClr val="hlink"/>
                </a:solidFill>
                <a:highlight>
                  <a:srgbClr val="FFFFFF"/>
                </a:highlight>
                <a:latin typeface="Inter"/>
                <a:ea typeface="Inter"/>
                <a:cs typeface="Inter"/>
                <a:sym typeface="Inter"/>
                <a:hlinkClick r:id="rId4"/>
              </a:rPr>
              <a:t>https://doi.org/10.1093/jamia/ocaf183</a:t>
            </a:r>
            <a:endParaRPr sz="1000">
              <a:solidFill>
                <a:schemeClr val="dk1"/>
              </a:solidFill>
              <a:highlight>
                <a:srgbClr val="FFFFFF"/>
              </a:highlight>
              <a:latin typeface="Inter"/>
              <a:ea typeface="Inter"/>
              <a:cs typeface="Inter"/>
              <a:sym typeface="Inter"/>
            </a:endParaRPr>
          </a:p>
          <a:p>
            <a:pPr indent="-292100" lvl="0" marL="457200" rtl="0" algn="l">
              <a:lnSpc>
                <a:spcPct val="115000"/>
              </a:lnSpc>
              <a:spcBef>
                <a:spcPts val="0"/>
              </a:spcBef>
              <a:spcAft>
                <a:spcPts val="0"/>
              </a:spcAft>
              <a:buClr>
                <a:schemeClr val="dk1"/>
              </a:buClr>
              <a:buSzPts val="1000"/>
              <a:buFont typeface="Inter"/>
              <a:buAutoNum type="arabicPeriod"/>
            </a:pPr>
            <a:r>
              <a:rPr lang="en" sz="1000">
                <a:solidFill>
                  <a:schemeClr val="dk1"/>
                </a:solidFill>
                <a:highlight>
                  <a:srgbClr val="FFFFFF"/>
                </a:highlight>
                <a:latin typeface="Inter"/>
                <a:ea typeface="Inter"/>
                <a:cs typeface="Inter"/>
                <a:sym typeface="Inter"/>
              </a:rPr>
              <a:t>Buolamwini, J. &amp; Gebru, T. (2018). Gender Shades: Intersectional Accuracy Disparities in Commercial Gender Classification. </a:t>
            </a:r>
            <a:r>
              <a:rPr i="1" lang="en" sz="1000">
                <a:solidFill>
                  <a:schemeClr val="dk1"/>
                </a:solidFill>
                <a:highlight>
                  <a:srgbClr val="FFFFFF"/>
                </a:highlight>
                <a:latin typeface="Inter"/>
                <a:ea typeface="Inter"/>
                <a:cs typeface="Inter"/>
                <a:sym typeface="Inter"/>
              </a:rPr>
              <a:t>Proceedings of the 1st Conference on Fairness, Accountability and Transparency</a:t>
            </a:r>
            <a:r>
              <a:rPr lang="en" sz="1000">
                <a:solidFill>
                  <a:schemeClr val="dk1"/>
                </a:solidFill>
                <a:highlight>
                  <a:srgbClr val="FFFFFF"/>
                </a:highlight>
                <a:latin typeface="Inter"/>
                <a:ea typeface="Inter"/>
                <a:cs typeface="Inter"/>
                <a:sym typeface="Inter"/>
              </a:rPr>
              <a:t>, in Proceedings of Machine Learning Research 81:77-91 Available from </a:t>
            </a:r>
            <a:r>
              <a:rPr lang="en" sz="1000" u="sng">
                <a:solidFill>
                  <a:schemeClr val="hlink"/>
                </a:solidFill>
                <a:highlight>
                  <a:srgbClr val="FFFFFF"/>
                </a:highlight>
                <a:latin typeface="Inter"/>
                <a:ea typeface="Inter"/>
                <a:cs typeface="Inter"/>
                <a:sym typeface="Inter"/>
                <a:hlinkClick r:id="rId5"/>
              </a:rPr>
              <a:t>https://proceedings.mlr.press/v81/buolamwini18a.html</a:t>
            </a:r>
            <a:r>
              <a:rPr lang="en" sz="1000">
                <a:solidFill>
                  <a:schemeClr val="dk1"/>
                </a:solidFill>
                <a:highlight>
                  <a:srgbClr val="FFFFFF"/>
                </a:highlight>
                <a:latin typeface="Inter"/>
                <a:ea typeface="Inter"/>
                <a:cs typeface="Inter"/>
                <a:sym typeface="Inter"/>
              </a:rPr>
              <a:t> </a:t>
            </a:r>
            <a:endParaRPr sz="1000">
              <a:solidFill>
                <a:schemeClr val="dk1"/>
              </a:solidFill>
              <a:highlight>
                <a:srgbClr val="FFFFFF"/>
              </a:highlight>
              <a:latin typeface="Inter"/>
              <a:ea typeface="Inter"/>
              <a:cs typeface="Inter"/>
              <a:sym typeface="Inter"/>
            </a:endParaRPr>
          </a:p>
          <a:p>
            <a:pPr indent="-292100" lvl="0" marL="457200" rtl="0" algn="l">
              <a:lnSpc>
                <a:spcPct val="115000"/>
              </a:lnSpc>
              <a:spcBef>
                <a:spcPts val="0"/>
              </a:spcBef>
              <a:spcAft>
                <a:spcPts val="0"/>
              </a:spcAft>
              <a:buClr>
                <a:schemeClr val="dk1"/>
              </a:buClr>
              <a:buSzPts val="1000"/>
              <a:buFont typeface="Inter"/>
              <a:buAutoNum type="arabicPeriod"/>
            </a:pPr>
            <a:r>
              <a:rPr lang="en" sz="1000">
                <a:solidFill>
                  <a:schemeClr val="dk1"/>
                </a:solidFill>
                <a:latin typeface="Inter"/>
                <a:ea typeface="Inter"/>
                <a:cs typeface="Inter"/>
                <a:sym typeface="Inter"/>
              </a:rPr>
              <a:t>Karkkainen, K., &amp; Joo, J. (2021). FairFace: Face Attribute Dataset for Balanced Race, Gender, and Age for Bias Measurement and Mitigation. </a:t>
            </a:r>
            <a:r>
              <a:rPr i="1" lang="en" sz="1000">
                <a:solidFill>
                  <a:schemeClr val="dk1"/>
                </a:solidFill>
                <a:latin typeface="Inter"/>
                <a:ea typeface="Inter"/>
                <a:cs typeface="Inter"/>
                <a:sym typeface="Inter"/>
              </a:rPr>
              <a:t>Hugging Face Datasets / IEEE Winter Conference on Applications of Computer Vision (WACV)</a:t>
            </a:r>
            <a:r>
              <a:rPr lang="en" sz="1000">
                <a:solidFill>
                  <a:schemeClr val="dk1"/>
                </a:solidFill>
                <a:latin typeface="Inter"/>
                <a:ea typeface="Inter"/>
                <a:cs typeface="Inter"/>
                <a:sym typeface="Inter"/>
              </a:rPr>
              <a:t>. </a:t>
            </a:r>
            <a:r>
              <a:rPr lang="en" sz="1000" u="sng">
                <a:solidFill>
                  <a:schemeClr val="hlink"/>
                </a:solidFill>
                <a:latin typeface="Inter"/>
                <a:ea typeface="Inter"/>
                <a:cs typeface="Inter"/>
                <a:sym typeface="Inter"/>
                <a:hlinkClick r:id="rId6"/>
              </a:rPr>
              <a:t>https://huggingface.co/datasets/HuggingFaceM4/FairFace</a:t>
            </a:r>
            <a:endParaRPr sz="1000">
              <a:solidFill>
                <a:schemeClr val="dk1"/>
              </a:solidFill>
              <a:latin typeface="Inter"/>
              <a:ea typeface="Inter"/>
              <a:cs typeface="Inter"/>
              <a:sym typeface="Inter"/>
            </a:endParaRPr>
          </a:p>
          <a:p>
            <a:pPr indent="-292100" lvl="0" marL="457200" rtl="0" algn="l">
              <a:lnSpc>
                <a:spcPct val="115000"/>
              </a:lnSpc>
              <a:spcBef>
                <a:spcPts val="0"/>
              </a:spcBef>
              <a:spcAft>
                <a:spcPts val="0"/>
              </a:spcAft>
              <a:buClr>
                <a:schemeClr val="dk1"/>
              </a:buClr>
              <a:buSzPts val="1000"/>
              <a:buFont typeface="Inter"/>
              <a:buAutoNum type="arabicPeriod"/>
            </a:pPr>
            <a:r>
              <a:rPr lang="en" sz="1000">
                <a:solidFill>
                  <a:schemeClr val="dk1"/>
                </a:solidFill>
                <a:latin typeface="Inter"/>
                <a:ea typeface="Inter"/>
                <a:cs typeface="Inter"/>
                <a:sym typeface="Inter"/>
              </a:rPr>
              <a:t>Pfisterer, F., Wei, S., &amp; Lang, M. (2026). COMPAS Dataset [Data file and code artifact]. In </a:t>
            </a:r>
            <a:r>
              <a:rPr i="1" lang="en" sz="1000">
                <a:solidFill>
                  <a:schemeClr val="dk1"/>
                </a:solidFill>
                <a:latin typeface="Inter"/>
                <a:ea typeface="Inter"/>
                <a:cs typeface="Inter"/>
                <a:sym typeface="Inter"/>
              </a:rPr>
              <a:t>mlr3fairness: Fairness Auditing and Bias Mitigation</a:t>
            </a:r>
            <a:r>
              <a:rPr lang="en" sz="1000">
                <a:solidFill>
                  <a:schemeClr val="dk1"/>
                </a:solidFill>
                <a:latin typeface="Inter"/>
                <a:ea typeface="Inter"/>
                <a:cs typeface="Inter"/>
                <a:sym typeface="Inter"/>
              </a:rPr>
              <a:t>.</a:t>
            </a:r>
            <a:r>
              <a:rPr lang="en" sz="1000">
                <a:solidFill>
                  <a:schemeClr val="dk1"/>
                </a:solidFill>
                <a:uFill>
                  <a:noFill/>
                </a:uFill>
                <a:latin typeface="Inter"/>
                <a:ea typeface="Inter"/>
                <a:cs typeface="Inter"/>
                <a:sym typeface="Inter"/>
                <a:hlinkClick r:id="rId7">
                  <a:extLst>
                    <a:ext uri="{A12FA001-AC4F-418D-AE19-62706E023703}">
                      <ahyp:hlinkClr val="tx"/>
                    </a:ext>
                  </a:extLst>
                </a:hlinkClick>
              </a:rPr>
              <a:t> </a:t>
            </a:r>
            <a:r>
              <a:rPr lang="en" sz="1000" u="sng">
                <a:solidFill>
                  <a:schemeClr val="hlink"/>
                </a:solidFill>
                <a:latin typeface="Inter"/>
                <a:ea typeface="Inter"/>
                <a:cs typeface="Inter"/>
                <a:sym typeface="Inter"/>
                <a:hlinkClick r:id="rId8"/>
              </a:rPr>
              <a:t>https://mlr3fairness.mlr-org.com/reference/compas.html</a:t>
            </a:r>
            <a:r>
              <a:rPr lang="en" sz="1000">
                <a:solidFill>
                  <a:schemeClr val="dk1"/>
                </a:solidFill>
                <a:latin typeface="Inter"/>
                <a:ea typeface="Inter"/>
                <a:cs typeface="Inter"/>
                <a:sym typeface="Inter"/>
              </a:rPr>
              <a:t> </a:t>
            </a:r>
            <a:endParaRPr sz="1000">
              <a:solidFill>
                <a:schemeClr val="dk1"/>
              </a:solidFill>
              <a:latin typeface="Inter"/>
              <a:ea typeface="Inter"/>
              <a:cs typeface="Inter"/>
              <a:sym typeface="Inter"/>
            </a:endParaRPr>
          </a:p>
          <a:p>
            <a:pPr indent="-292100" lvl="0" marL="457200" rtl="0" algn="l">
              <a:lnSpc>
                <a:spcPct val="115000"/>
              </a:lnSpc>
              <a:spcBef>
                <a:spcPts val="0"/>
              </a:spcBef>
              <a:spcAft>
                <a:spcPts val="0"/>
              </a:spcAft>
              <a:buClr>
                <a:schemeClr val="dk1"/>
              </a:buClr>
              <a:buSzPts val="1000"/>
              <a:buFont typeface="Inter"/>
              <a:buAutoNum type="arabicPeriod"/>
            </a:pPr>
            <a:r>
              <a:rPr lang="en" sz="1000">
                <a:solidFill>
                  <a:schemeClr val="dk1"/>
                </a:solidFill>
                <a:latin typeface="Inter"/>
                <a:ea typeface="Inter"/>
                <a:cs typeface="Inter"/>
                <a:sym typeface="Inter"/>
              </a:rPr>
              <a:t>COMPAS/ProPublica: </a:t>
            </a:r>
            <a:r>
              <a:rPr lang="en" sz="1000" u="sng">
                <a:solidFill>
                  <a:schemeClr val="hlink"/>
                </a:solidFill>
                <a:latin typeface="Inter"/>
                <a:ea typeface="Inter"/>
                <a:cs typeface="Inter"/>
                <a:sym typeface="Inter"/>
                <a:hlinkClick r:id="rId9"/>
              </a:rPr>
              <a:t>https://www.propublica.org/article/how-we-analyzed-the-compas-recidivism-algorithm</a:t>
            </a:r>
            <a:r>
              <a:rPr lang="en" sz="1000">
                <a:solidFill>
                  <a:schemeClr val="dk1"/>
                </a:solidFill>
                <a:latin typeface="Inter"/>
                <a:ea typeface="Inter"/>
                <a:cs typeface="Inter"/>
                <a:sym typeface="Inter"/>
              </a:rPr>
              <a:t> </a:t>
            </a:r>
            <a:endParaRPr sz="1000">
              <a:solidFill>
                <a:schemeClr val="dk1"/>
              </a:solidFill>
              <a:latin typeface="Inter"/>
              <a:ea typeface="Inter"/>
              <a:cs typeface="Inter"/>
              <a:sym typeface="Inter"/>
            </a:endParaRPr>
          </a:p>
          <a:p>
            <a:pPr indent="0" lvl="0" marL="0" rtl="0" algn="l">
              <a:lnSpc>
                <a:spcPct val="115000"/>
              </a:lnSpc>
              <a:spcBef>
                <a:spcPts val="0"/>
              </a:spcBef>
              <a:spcAft>
                <a:spcPts val="0"/>
              </a:spcAft>
              <a:buSzPts val="2800"/>
              <a:buNone/>
            </a:pPr>
            <a:r>
              <a:t/>
            </a:r>
            <a:endParaRPr sz="1000">
              <a:solidFill>
                <a:schemeClr val="dk1"/>
              </a:solidFill>
              <a:latin typeface="Inter"/>
              <a:ea typeface="Inter"/>
              <a:cs typeface="Inter"/>
              <a:sym typeface="Inter"/>
            </a:endParaRPr>
          </a:p>
        </p:txBody>
      </p:sp>
      <p:sp>
        <p:nvSpPr>
          <p:cNvPr id="520" name="Google Shape;520;p26"/>
          <p:cNvSpPr txBox="1"/>
          <p:nvPr>
            <p:ph idx="1" type="subTitle"/>
          </p:nvPr>
        </p:nvSpPr>
        <p:spPr>
          <a:xfrm>
            <a:off x="409575" y="447125"/>
            <a:ext cx="8125500" cy="855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2800"/>
              <a:buNone/>
            </a:pPr>
            <a:r>
              <a:rPr b="1" lang="en" sz="3500">
                <a:solidFill>
                  <a:schemeClr val="dk1"/>
                </a:solidFill>
                <a:latin typeface="Roboto"/>
                <a:ea typeface="Roboto"/>
                <a:cs typeface="Roboto"/>
                <a:sym typeface="Roboto"/>
              </a:rPr>
              <a:t>Credits and References</a:t>
            </a:r>
            <a:endParaRPr i="1" sz="3500">
              <a:solidFill>
                <a:schemeClr val="dk1"/>
              </a:solidFill>
              <a:latin typeface="Roboto"/>
              <a:ea typeface="Roboto"/>
              <a:cs typeface="Roboto"/>
              <a:sym typeface="Roboto"/>
            </a:endParaRPr>
          </a:p>
        </p:txBody>
      </p:sp>
      <p:grpSp>
        <p:nvGrpSpPr>
          <p:cNvPr id="521" name="Google Shape;521;p26"/>
          <p:cNvGrpSpPr/>
          <p:nvPr/>
        </p:nvGrpSpPr>
        <p:grpSpPr>
          <a:xfrm>
            <a:off x="8625" y="0"/>
            <a:ext cx="9144000" cy="267600"/>
            <a:chOff x="8625" y="0"/>
            <a:chExt cx="9144000" cy="267600"/>
          </a:xfrm>
        </p:grpSpPr>
        <p:sp>
          <p:nvSpPr>
            <p:cNvPr id="522" name="Google Shape;522;p26"/>
            <p:cNvSpPr/>
            <p:nvPr/>
          </p:nvSpPr>
          <p:spPr>
            <a:xfrm>
              <a:off x="8625" y="0"/>
              <a:ext cx="9144000" cy="2676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23" name="Google Shape;523;p26" title="Logo Header.png"/>
            <p:cNvPicPr preferRelativeResize="0"/>
            <p:nvPr/>
          </p:nvPicPr>
          <p:blipFill rotWithShape="1">
            <a:blip r:embed="rId10">
              <a:alphaModFix/>
            </a:blip>
            <a:srcRect b="0" l="0" r="0" t="0"/>
            <a:stretch/>
          </p:blipFill>
          <p:spPr>
            <a:xfrm>
              <a:off x="8348195" y="15790"/>
              <a:ext cx="634775" cy="199625"/>
            </a:xfrm>
            <a:prstGeom prst="rect">
              <a:avLst/>
            </a:prstGeom>
            <a:noFill/>
            <a:ln>
              <a:noFill/>
            </a:ln>
          </p:spPr>
        </p:pic>
      </p:grpSp>
      <p:pic>
        <p:nvPicPr>
          <p:cNvPr id="524" name="Google Shape;524;p26" title="Logo Main.png"/>
          <p:cNvPicPr preferRelativeResize="0"/>
          <p:nvPr/>
        </p:nvPicPr>
        <p:blipFill rotWithShape="1">
          <a:blip r:embed="rId11">
            <a:alphaModFix/>
          </a:blip>
          <a:srcRect b="0" l="0" r="0" t="0"/>
          <a:stretch/>
        </p:blipFill>
        <p:spPr>
          <a:xfrm>
            <a:off x="452725" y="4321701"/>
            <a:ext cx="1529475" cy="434512"/>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